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Tasa de reprobacion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reprobacion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strRef>
              <c:f>Sheet1!$A$2:$A$6</c:f>
              <c:strCache>
                <c:ptCount val="5"/>
                <c:pt idx="0">
                  <c:v>Matematicas II</c:v>
                </c:pt>
                <c:pt idx="1">
                  <c:v>Fisica I</c:v>
                </c:pt>
                <c:pt idx="2">
                  <c:v>Algebra Lineal</c:v>
                </c:pt>
                <c:pt idx="3">
                  <c:v>Matematicas I</c:v>
                </c:pt>
                <c:pt idx="4">
                  <c:v>Fund. Programacion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26</c:v>
                </c:pt>
                <c:pt idx="2">
                  <c:v>29</c:v>
                </c:pt>
                <c:pt idx="3">
                  <c:v>26</c:v>
                </c:pt>
                <c:pt idx="4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Podemos </a:t>
            </a:r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predecir el fracaso
</a:t>
            </a:r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que ocurra?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Prediccion de Riesgo Academico mediante Aprendizaje Automatico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Arango &amp; Martinez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Unillanos  · 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4251960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0D2137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42519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Cohortes 2017-2 y 2018-1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desafio institucional critico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DESERCION TOTAL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186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los estudiantes de Ingenieria de Sistemas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llega a graduarse.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515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800600" y="2788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ABANDONO TEMPRANO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32186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retira con apenas 2 semestres activos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menos.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mayoria abandona en los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primeros 2 semestres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Periodos academicos activos antes del retiro  |  N = 54 no graduados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57784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0972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1887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172200" y="18470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estudiantes nunca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cursaron un semestre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actividad real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2706624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0D3B38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79806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172200" y="34564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retira con 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menos semestres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activos cursados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 la </a:t>
            </a:r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poblacion estudiantil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89 estudiantes | Cohortes 2017-2 y 2018-1 | Ingenieria de Sistemas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574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7101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Hombres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14300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14300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27101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Est.1-2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70048" y="207568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Estratos predominantes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= 1.92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114300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7176" y="1143000"/>
            <a:ext cx="20574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837176" y="127101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28616" y="207568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Zona urbana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114300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14300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27101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40880" y="207568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Repitio ano escolar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del ingreso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834640"/>
            <a:ext cx="20574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626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Beneficiarios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SISBEN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2834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8608" y="2834640"/>
            <a:ext cx="2057400" cy="548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608" y="29626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anos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670048" y="376732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Edad media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ingreso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37176" y="2834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2834640"/>
            <a:ext cx="20574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29626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928616" y="376732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Mujeres en muestra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(poder estad. limitado)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49440" y="2834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2834640"/>
            <a:ext cx="20574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9626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040880" y="376732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Colegio publico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preguntas que guian el estudio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16459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4173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16152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 una brecha de genero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rendimiento academico?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01768" y="14173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0" y="1216152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nivel educativo de los padres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predice el rendimiento de sus hijos?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1208" y="318211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980944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repitencia escolar previa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predice el bajo rendimiento universitario?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724912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01768" y="318211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001768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15000" y="2980944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Cuales son las 5 materias mas criticas?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posible predecir su reprobacion?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Metodologia: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CRISP-DM</a:t>
            </a:r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datos reales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fuentes institucionales  |  18 variables de entrada  |  Division 80/20 estratificada  |  CV-5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8595360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913632"/>
            <a:ext cx="1609344" cy="82296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913632"/>
            <a:ext cx="160934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Caracterizacion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11680" y="3913632"/>
            <a:ext cx="1609344" cy="82296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0" y="3913632"/>
            <a:ext cx="160934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 materias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749040" y="3913632"/>
            <a:ext cx="1609344" cy="82296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3913632"/>
            <a:ext cx="160934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Promedios carrera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0" y="3913632"/>
            <a:ext cx="1609344" cy="82296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3913632"/>
            <a:ext cx="160934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Promedios semestre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23760" y="3913632"/>
            <a:ext cx="1609344" cy="82296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3913632"/>
            <a:ext cx="160934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estados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hallazgo central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primer semestre </a:t>
            </a:r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dice todo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37.8%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importancia total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Random Forest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21945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prom_sem1</a:t>
            </a:r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variable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 predictiva del modelo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234440"/>
            <a:ext cx="5577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algoritmo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mejor el riesgo?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CV-5  |  Target: rendimiento_bajo  |  Umbral optimizado: 0.29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3035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1097280"/>
            <a:ext cx="3017520" cy="374904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2252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88352" y="12252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Recall+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12252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1682496"/>
            <a:ext cx="27432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Arbol Dec.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88352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0.757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92440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0.736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2194560"/>
            <a:ext cx="27432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2249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88352" y="22494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92440" y="22494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2706624"/>
            <a:ext cx="27432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88352" y="27614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92440" y="27614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0.775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870448" y="3236976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0D3B3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70448" y="3236976"/>
            <a:ext cx="3017520" cy="14173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
</a:t>
            </a:r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Recall+ 0.811 — detecta el
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81% de los estudiantes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riesgo real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Resultados: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el modelo puede hacer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Validacion cruzada estratificada  |  StratifiedKFold k=5  |  n=89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069080" cy="47548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241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rendimiento_bajo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609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0.811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03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203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0.775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98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798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92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F1-macro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3392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9534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train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2316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024128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024128"/>
            <a:ext cx="4069080" cy="47548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0241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graduado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1609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1609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0.714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983480" y="211226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203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AUC-ROC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2203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0.870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983480" y="270662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798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Umbral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2798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330098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392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F1-macro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392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83480" y="3895344"/>
            <a:ext cx="3566160" cy="1645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train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Validacion: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matrices y curvas ROC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20624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02336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777240"/>
            <a:ext cx="4206240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22960"/>
            <a:ext cx="4023360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Matrices de confusion -- CV-5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Curvas ROC y Precision-Recall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" y="422452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0D3B38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4224528"/>
            <a:ext cx="850392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Umbral 0.29 </a:t>
            </a:r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 el Recall+ de 0.568 a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0.811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(+24.3 pp) capturando el 81% de los estudiantes en riesgo real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materias que </a:t>
            </a:r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concentran el riesgo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5 ciclo basico  |  Indice: reprobacion + repitencia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87568" y="1225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18120" y="12252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87568" y="1572768"/>
            <a:ext cx="2980944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1609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Matematicas II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18120" y="1609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0.826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87568" y="1956816"/>
            <a:ext cx="2980944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Fisica 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818120" y="19933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87568" y="2340864"/>
            <a:ext cx="2980944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5687568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Algebra Lineal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18120" y="23774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0.958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87568" y="2724912"/>
            <a:ext cx="2980944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6"/>
          <p:cNvSpPr/>
          <p:nvPr/>
        </p:nvSpPr>
        <p:spPr>
          <a:xfrm>
            <a:off x="5687568" y="27614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Matematicas I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18120" y="27614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87568" y="3108960"/>
            <a:ext cx="2980944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19"/>
          <p:cNvSpPr/>
          <p:nvPr/>
        </p:nvSpPr>
        <p:spPr>
          <a:xfrm>
            <a:off x="5687568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Fund. Programacion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818120" y="31455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0.986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577840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 in-sample por materia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7840" y="4224528"/>
            <a:ext cx="3291840" cy="621792"/>
          </a:xfrm>
          <a:prstGeom prst="roundRect">
            <a:avLst>
              <a:gd name="adj" fmla="val 17647"/>
            </a:avLst>
          </a:prstGeom>
          <a:solidFill>
            <a:srgbClr val="3B0D0D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4224528"/>
            <a:ext cx="329184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44%</a:t>
            </a:r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reprobacion en Matematicas II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aprendimos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proximos pasos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20700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promedio del 1er semestre es la senal de alerta mas temprana y confiable (importancia 37.8%)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048256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detecta el 81% de los estudiantes en riesgo -- cumple el criterio institucional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88950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Fisica I y Matematicas II son las asignaturas mas criticas del plan (F1-w &gt; 0.96)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7307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factores socioeconomicos predicen graduacion mas que el promedio -- efecto no lineal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3210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Proximo paso: ampliar con nuevas cohortes y desplegar alertas tempranas en el sistema institucional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4980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1381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Romero &amp; S. Ventura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Data Mining: Review of the State of the Art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IEEE TSMCC, 40(6), 2010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7393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R. Wirth &amp; J. Hipp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CRISP-DM: Towards a Standard Process Model for Data Mining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Proc. 4th KDD Conf., 2000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3405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L. Breiman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Forests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Learning, 45(1), pp. 5-32, 2001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69417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T. Chen &amp; C. Guestrin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XGBoost: A Scalable Tree Boosting System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Proc. ACM SIGKDD, pp. 785-794, 2016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74980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81381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J. L. Barragan et al.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Prediccion del rendimiento academico usando mineria de datos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Rev. Cientifica, 29, 2017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0992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7393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N. V. Chawla et al.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SMOTE: Synthetic Minority Over-sampling Technique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JAIR, 16, pp. 321-357, 2002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7004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73405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 Colombia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 de Estadisticas de Educacion Superior -- Desercion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Bogota, MEN, 2022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944368"/>
            <a:ext cx="29260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090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Haider Johan Arango Diaz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4198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Joan David Martinez Hernandez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{hjarango, joan.martinez}@unillanos.edu.co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Facultad de Ciencias Basicas e Ingenieria  |  Universidad de los Llanos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Riesgo Academico en Ingenieria de Sistemas</dc:title>
  <dc:subject>PptxGenJS Presentation</dc:subject>
  <dc:creator>Arango &amp; Martinez - Unillanos 2025</dc:creator>
  <cp:lastModifiedBy>Arango &amp; Martinez - Unillanos 2025</cp:lastModifiedBy>
  <cp:revision>1</cp:revision>
  <dcterms:created xsi:type="dcterms:W3CDTF">2026-06-04T14:35:12Z</dcterms:created>
  <dcterms:modified xsi:type="dcterms:W3CDTF">2026-06-04T14:35:12Z</dcterms:modified>
</cp:coreProperties>
</file>