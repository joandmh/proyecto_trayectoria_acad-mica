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sldIdLst>
    <p:sldId id="256" r:id="rId2"/>
    <p:sldId id="257" r:id="rId3"/>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87"/>
    <p:restoredTop sz="95685"/>
  </p:normalViewPr>
  <p:slideViewPr>
    <p:cSldViewPr snapToGrid="0" snapToObjects="1">
      <p:cViewPr varScale="1">
        <p:scale>
          <a:sx n="120" d="100"/>
          <a:sy n="120" d="100"/>
        </p:scale>
        <p:origin x="184" y="21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AUC-PR</c:v>
                </c:pt>
              </c:strCache>
            </c:strRef>
          </c:tx>
          <c:dPt>
            <c:idx val="0"/>
            <c:spPr>
              <a:solidFill>
                <a:srgbClr val="94A3B8"/>
              </a:solidFill>
            </c:spPr>
          </c:dPt>
          <c:dPt>
            <c:idx val="1"/>
            <c:spPr>
              <a:solidFill>
                <a:srgbClr val="9DB9E3"/>
              </a:solidFill>
            </c:spPr>
          </c:dPt>
          <c:dPt>
            <c:idx val="2"/>
            <c:spPr>
              <a:solidFill>
                <a:srgbClr val="9DB9E3"/>
              </a:solidFill>
            </c:spPr>
          </c:dPt>
          <c:dPt>
            <c:idx val="3"/>
            <c:spPr>
              <a:solidFill>
                <a:srgbClr val="9DB9E3"/>
              </a:solidFill>
            </c:spPr>
          </c:dPt>
          <c:dPt>
            <c:idx val="4"/>
            <c:spPr>
              <a:solidFill>
                <a:srgbClr val="9DB9E3"/>
              </a:solidFill>
            </c:spPr>
          </c:dPt>
          <c:dPt>
            <c:idx val="5"/>
            <c:spPr>
              <a:solidFill>
                <a:srgbClr val="1F5FAE"/>
              </a:solidFill>
            </c:spPr>
          </c:dPt>
          <c:cat>
            <c:strRef>
              <c:f>Sheet1!$A$2:$A$7</c:f>
              <c:strCache>
                <c:ptCount val="6"/>
                <c:pt idx="0">
                  <c:v>Azar (proporción de casos)</c:v>
                </c:pt>
                <c:pt idx="1">
                  <c:v>Regresión logística</c:v>
                </c:pt>
                <c:pt idx="2">
                  <c:v>Árbol de decisión</c:v>
                </c:pt>
                <c:pt idx="3">
                  <c:v>XGBoost</c:v>
                </c:pt>
                <c:pt idx="4">
                  <c:v>SVM</c:v>
                </c:pt>
                <c:pt idx="5">
                  <c:v>Random Forest</c:v>
                </c:pt>
              </c:strCache>
            </c:strRef>
          </c:cat>
          <c:val>
            <c:numRef>
              <c:f>Sheet1!$B$2:$B$7</c:f>
              <c:numCache>
                <c:formatCode>General</c:formatCode>
                <c:ptCount val="6"/>
                <c:pt idx="0">
                  <c:v>0.2375</c:v>
                </c:pt>
                <c:pt idx="1">
                  <c:v>0.55</c:v>
                </c:pt>
                <c:pt idx="2">
                  <c:v>0.614</c:v>
                </c:pt>
                <c:pt idx="3">
                  <c:v>0.63</c:v>
                </c:pt>
                <c:pt idx="4">
                  <c:v>0.714</c:v>
                </c:pt>
                <c:pt idx="5">
                  <c:v>0.745</c:v>
                </c:pt>
              </c:numCache>
            </c:numRef>
          </c:val>
        </c:ser>
        <c:dLbls>
          <c:numFmt formatCode="0.000" sourceLinked="0"/>
          <c:txPr>
            <a:bodyPr/>
            <a:lstStyle/>
            <a:p>
              <a:pPr>
                <a:defRPr sz="13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CBD5E1"/>
            </a:solidFill>
          </a:ln>
        </c:spPr>
        <c:txPr>
          <a:bodyPr/>
          <a:lstStyle/>
          <a:p>
            <a:pPr>
              <a:defRPr sz="1300"/>
            </a:pPr>
          </a:p>
        </c:txPr>
        <c:crossAx val="-2113994440"/>
        <c:crosses val="autoZero"/>
        <c:auto val="1"/>
        <c:lblAlgn val="ctr"/>
        <c:lblOffset val="100"/>
        <c:noMultiLvlLbl val="0"/>
      </c:catAx>
      <c:valAx>
        <c:axId val="-2113994440"/>
        <c:scaling>
          <c:max val="1.0"/>
          <c:min val="0.0"/>
        </c:scaling>
        <c:delete val="0"/>
        <c:axPos val="b"/>
        <c:majorGridlines>
          <c:spPr>
            <a:ln>
              <a:solidFill>
                <a:srgbClr val="E2E8F0"/>
              </a:solidFill>
            </a:ln>
          </c:spPr>
        </c:majorGridlines>
        <c:majorTickMark val="out"/>
        <c:minorTickMark val="none"/>
        <c:tickLblPos val="nextTo"/>
        <c:spPr>
          <a:ln>
            <a:noFill/>
          </a:ln>
        </c:spPr>
        <c:txPr>
          <a:bodyPr/>
          <a:lstStyle/>
          <a:p>
            <a:pPr>
              <a:defRPr sz="1100">
                <a:solidFill>
                  <a:srgbClr val="55657E"/>
                </a:solidFill>
              </a:defRPr>
            </a:pPr>
          </a:p>
        </c:txPr>
        <c:crossAx val="-2068027336"/>
        <c:crosses val="autoZero"/>
        <c:majorUnit val="0.2"/>
      </c:valAx>
    </c:plotArea>
    <c:dispBlanksAs val="gap"/>
  </c:chart>
  <c:txPr>
    <a:bodyPr/>
    <a:lstStyle/>
    <a:p>
      <a:pPr>
        <a:defRPr sz="1300">
          <a:solidFill>
            <a:srgbClr val="0F1E3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0:45] Portada</a:t>
            </a:r>
          </a:p>
          <a:p/>
          <a:p>
            <a:r>
              <a:t>Buenos días. Mi nombre es Joan David Martínez, estudiante de Ingeniería de Sistemas de la Universidad de los Llanos. Presento el trabajo 129, desarrollado con las profesoras Diana Marcela Cardona y Sara Cristina Guerrero, dentro del proyecto de investigación sobre la trayectoria de los estudiantes de la Facultad. La pregunta que nos guía es sencilla: ¿podemos anticipar, con los datos que la universidad ya tiene, qué estudiantes están en riesgo académico?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1:00] El problema del abandono</a:t>
            </a:r>
          </a:p>
          <a:p/>
          <a:p>
            <a:r>
              <a:t>Empecemos por el tamaño del problema. En Colombia, solo el 45 por ciento de quienes ingresan a la educación superior se gradúa después de quince semestres. En las dos cohortes que estudiamos, las que ingresaron a Ingeniería de Sistemas en 2017 y 2018, el 63 por ciento no se había graduado al momento de la consulta. Y el dato que más nos importa es el tercero: de los estudiantes que dejaron de estudiar, casi dos de cada tres lo hicieron en los dos primeros semestres. Esto tiene una consecuencia práctica: si queremos ayudar a tiempo, la alerta debe darse al terminar el primer semestre. Por eso el modelo solo puede usar información disponible en ese momento: los datos de ingreso y las notas del primer semestre.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 1:15] Pregunta, datos y método</a:t>
            </a:r>
          </a:p>
          <a:p/>
          <a:p>
            <a:r>
              <a:t>La pregunta central del trabajo es comparativa: entre varios algoritmos de aprendizaje automático, ¿cuál predice mejor el rendimiento académico? Para responderla seguimos la metodología CRISP-DM, que organiza un proyecto de minería de datos en seis fases, desde entender el problema hasta poner el modelo en uso. Trabajamos con seis archivos que entregó la Oficina de Sistemas: más de ocho mil quinientas notas y casi dos mil registros del estado de cada estudiante en cada semestre. Estos archivos fueron hechos para la gestión administrativa, no para análisis, y su documentación no siempre coincidía con su contenido. Por eso la mayor parte del trabajo fue limpiarlos: recuperamos 76 registros, completamos 541 estados faltantes y descartamos 17 trámites posteriores al grado. Cada corrección quedó escrita como una regla, sin modificar los archivos originales. Al final quedaron 90 estudiantes con actividad académica.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 1:15] Lo que publicamos</a:t>
            </a:r>
          </a:p>
          <a:p/>
          <a:p>
            <a:r>
              <a:t>Esta tabla resume lo que enviamos al congreso. Comparamos tres algoritmos con dos objetivos: detectar a los estudiantes con bajo rendimiento y predecir quién se gradúa. La columna de exhaustividad indica qué proporción de los estudiantes en riesgo detecta el modelo. Para bajo rendimiento, Random Forest detectó ocho de cada diez; para graduación, XGBoost obtuvo el mayor AUC, una medida de qué tan bien el modelo separa a quienes se gradúan de quienes no, donde 1 es perfecto y 0,5 es azar. En ambos casos, la variable más importante fue el promedio del primer semestre: concentró el 40 por ciento de la importancia. Y abajo, un resultado negativo que también es valioso: el género, la educación de los padres y haber repetido un año escolar no mostraron relación con el rendimiento en esta población. Estas cifras están bien calculadas y se reproducen desde el código.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 · 0:45] Asignaturas críticas</a:t>
            </a:r>
          </a:p>
          <a:p/>
          <a:p>
            <a:r>
              <a:t>El tercer resultado identifica las asignaturas más difíciles. Calculamos un índice que combina el porcentaje de estudiantes que reprueban y cuántas veces, en promedio, deben repetirlas. Las cinco más críticas son de los primeros semestres: Matemáticas II, Física I, Álgebra Lineal, Matemáticas I y Fundamentos de Programación. Desde el envío del resumen hicimos un avance: el programa cambió de plan de estudios en 2018, y con la resolución oficial de equivalencias tradujimos cada curso a su nombre en el plan nuevo, que aparece a la derecha. El orden se conserva: el apoyo debe concentrarse en los mismos cursos.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 · 1:15] Antes de desplegar, auditamos</a:t>
            </a:r>
          </a:p>
          <a:p/>
          <a:p>
            <a:r>
              <a:t>Antes de convertir el modelo en una herramienta, revisamos nuestro propio diseño con lupa, y encontramos tres problemas. No eran errores de programación, sino de diseño experimental. Primero: la variable objetivo. Definíamos bajo rendimiento como un promedio de carrera menor que 3. Pero ese promedio incluye el primer semestre, que era justamente nuestro predictor: el modelo en parte se predecía a sí mismo. La reemplazamos por la definición oficial del Reglamento Estudiantil: el artículo 19, que establece cuándo un estudiante pierde la calidad de estudiante por bajo rendimiento. Segundo: los parámetros de los algoritmos se ajustaban mirando también los datos con los que después se evaluaban, lo que da una ventaja injusta, y no la misma a todos los algoritmos. Tercero: elegimos las variables mirando todos los datos, lo que inflaba el resultado en 15 puntos. La lección: en muestras pequeñas, cómo se mide influye más que qué algoritmo se usa.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[6:15 · 1:15] Resultado con el protocolo corregido</a:t>
            </a:r>
          </a:p>
          <a:p/>
          <a:p>
            <a:r>
              <a:t>Corregidos los tres problemas, repetimos la comparación con cinco algoritmos y un protocolo más estricto. Los datos de evaluación nunca participan en ninguna decisión del modelo, y todo se repite diez veces para asegurar que el resultado no depende del azar. Usamos una métrica llamada AUC-PR, adecuada cuando los casos de interés son pocos. Se lee así: 1 sería un modelo perfecto, y el azar equivale a la proporción de casos, que aquí es 0,24, la barra gris del gráfico. Random Forest obtiene 0,745: tres veces más que el azar, usando solo seis variables: el promedio del primer semestre, un indicador de si lo cursó y cuatro puntajes de la prueba Saber 11. Es la misma conclusión del resumen, ahora con una medición más exigente. Para graduación, Random Forest y SVM quedan estadísticamente empatados, y por simplicidad elegimos Random Forest. Aquí corrijo lo publicado: con este protocolo el mejor para graduación no es XGBoost.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 · 1:15] Qué puede y qué no puede el modelo</a:t>
            </a:r>
          </a:p>
          <a:p/>
          <a:p>
            <a:r>
              <a:t>Un modelo responsable debe decir también qué no puede hacer. Primero, en lugar de un único corte, usamos dos niveles de alerta. En el nivel confirmado, de cada 13 estudiantes señalados, 12 efectivamente tuvieron bajo rendimiento. En el nivel de seguimiento se detecta al 79 por ciento de los casos, a cambio de señalar a la mitad de la cohorte. Cuántos estudiantes acompañar lo decide la universidad según su capacidad, no el modelo. A la derecha, tres límites que medimos. Casi la mitad de los casos ocurre ya en el primer semestre: ahí el modelo confirma, no anticipa. Ajustar las probabilidades para que sean porcentajes exactos no mejoró el modelo, así que mostramos niveles y no porcentajes. Y predecir semestre a semestre no superó al azar; por eso, para el seguimiento semestral usamos directamente las reglas del reglamento.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[8:45 · 1:15] Dos planes de estudio, un solo sistema</a:t>
            </a:r>
          </a:p>
          <a:p/>
          <a:p>
            <a:r>
              <a:t>Una herramienta institucional debe funcionar también con los estudiantes nuevos. El programa tiene dos planes de estudio: el de 2011 y el de 2018, y una resolución oficial define qué curso de un plan equivale a cuál del otro. Transcribimos esas 72 equivalencias y construimos una capa que traduce cada curso a su nombre vigente. Esto importa, por ejemplo, porque el reglamento castiga reprobar el mismo curso cuatro veces: si alguien reprueba Matemáticas II en el plan antiguo y luego Cálculo integral en el nuevo, es el mismo curso. Con los datos actuales esta capa no cambia ninguna cifra, y lo verifican 24 pruebas automáticas. Además simulamos el primer semestre del plan nuevo: el modelo mantiene su capacidad, aunque el promedio sube algo más de una décima, así que los umbrales deberán ajustarse con la primera cohorte real.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 · 1:00] TRAYECTA</a:t>
            </a:r>
          </a:p>
          <a:p/>
          <a:p>
            <a:r>
              <a:t>Con lo que superó la auditoría construimos TRAYECTA, un prototipo de software de seguimiento. Tomamos como referencia SPADIES, el sistema nacional del Ministerio de Educación para el seguimiento de la deserción, pero llevado al nivel de un programa y con las reglas de nuestra universidad. El flujo es el que ven: se carga el extracto académico, sin nombres; la capa de equivalencias unifica los planes de estudio; se aplican las reglas del reglamento semestre a semestre y los dos modelos validados; y el resultado se presenta en pantallas para el equipo académico. La diferencia más importante con otras herramientas es la transparencia: cada indicador muestra de dónde sale y cuáles son sus límites.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 1:15] Demostración: panorama de la cohorte</a:t>
            </a:r>
          </a:p>
          <a:p/>
          <a:p>
            <a:r>
              <a:t>Veamos el sistema. Para proteger la privacidad, la demostración usa una cohorte simulada: ningún estudiante es real, pero los modelos sí son los entrenados con los datos reales. En la parte superior están los totales de la cohorte y cuántos estudiantes tienen alerta confirmada o de seguimiento. Cada punto de la gráfica principal es un estudiante, ubicado según su nivel de riesgo; al pasar el cursor aparece su información. A la derecha se ve, semestre a semestre, en qué situación del reglamento está la cohorte: normal, con carga restringida, repitiendo cursos o con pérdida de la calidad de estudiante. Abajo está la lista de priorización que puede descargar el equipo de acompañamiento.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[12:15 · 1:00] Demostración: ficha del estudiante y carga de cohortes</a:t>
            </a:r>
          </a:p>
          <a:p/>
          <a:p>
            <a:r>
              <a:t>Al seleccionar un estudiante se abre su ficha, la vista inspirada en SPADIES. Muestra su recorrido semestre a semestre: el promedio de cada periodo, el promedio acumulado, los créditos aprobados y perdidos, y las condiciones del reglamento que se activaron en cada semestre. También compara sus datos de ingreso con los de su cohorte. A la derecha está la carga de una cohorte nueva: el sistema reconoce automáticamente el plan de estudios, valida cada código de curso contra el catálogo oficial y advierte si algún estudiante tiene cursos de los dos planes.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[13:15 · 1:00] Conclusiones</a:t>
            </a:r>
          </a:p>
          <a:p/>
          <a:p>
            <a:r>
              <a:t>Para cerrar, cuatro conclusiones. Primera: Random Forest es el algoritmo más adecuado para estos datos, tanto en el resumen publicado como con el protocolo estricto, con una capacidad tres veces superior al azar. Segunda: el promedio del primer semestre concentra la información útil, lo que permite alertar al final del primer periodo, justo cuando ocurre la mayor parte del abandono. Tercera: con pocos datos, la forma de medir puede cambiar los resultados más que la elección del algoritmo; medimos diferencias de hasta 15 puntos. Y cuarta: es posible llevar un modelo honesto a un producto útil, que predice donde hay información suficiente y aplica el reglamento donde no la hay.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[14:15 · 0:45] Límites y siguiente paso</a:t>
            </a:r>
          </a:p>
          <a:p/>
          <a:p>
            <a:r>
              <a:t>Quiero ser claro con los límites. Todos los resultados provienen de una sola muestra de 80 estudiantes; todavía no hemos probado el modelo con estudiantes nuevos, y por eso este es un estudio exploratorio. Ya solicitamos los datos de cohortes recientes para validarlo sin modificarlo. Luego extenderemos el sistema a Ingeniería Electrónica y Biología. Agradecemos al proyecto de investigación C07-02-2026-027 y a la Oficina de Sistemas. Muchas gracias; quedo atento a sus preguntas.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 —] Anexo para preguntas</a:t>
            </a:r>
          </a:p>
          <a:p/>
          <a:p>
            <a:r>
              <a:t>Lámina de respaldo; no se presenta. ¿Por qué el reglamento de 2022 si las cohortes estudiaron con el de 2003? Porque es la definición vigente, la que regirá a los estudiantes en quienes se usará el modelo; lo declaramos como supuesto. ¿Es suficiente la muestra? La curva de aprendizaje sigue subiendo; estimamos un techo de 0,84 y que duplicar los datos aportaría unos 5 puntos. ¿Por qué no redes neuronales profundas? Con 80 casos no hay datos suficientes para entrenarlas. ¿Qué significa la variable sin primer semestre? Identifica a quienes ingresaron por homologación al plan 2018; sin ellos el resultado es prácticamente igual, 0,756. ¿Por qué AUC-PR y no exactitud? Porque los casos de riesgo son el 24 por ciento: un modelo que dijera siempre no habría riesgo tendría 76 por ciento de exactitud sin servir para nada.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a:lvl1pPr>
          </a:lstStyle>
          <a:p>
            <a:r>
              <a:rPr lang="es-ES_tradnl" dirty="0"/>
              <a:t>ID ##: Título del trabajo</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_tradnl" dirty="0"/>
              <a:t>Nombres y Apellidos de Autores</a:t>
            </a:r>
          </a:p>
          <a:p>
            <a:r>
              <a:rPr lang="es-ES_tradnl" dirty="0"/>
              <a:t>Afiliación de autores</a:t>
            </a:r>
            <a:endParaRPr lang="en-US" dirty="0"/>
          </a:p>
        </p:txBody>
      </p:sp>
    </p:spTree>
    <p:extLst>
      <p:ext uri="{BB962C8B-B14F-4D97-AF65-F5344CB8AC3E}">
        <p14:creationId xmlns:p14="http://schemas.microsoft.com/office/powerpoint/2010/main" val="1548233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_tradnl" dirty="0"/>
              <a:t>Haga clic para modificar el estilo de título del patrón</a:t>
            </a:r>
            <a:endParaRPr lang="en-US" dirty="0"/>
          </a:p>
        </p:txBody>
      </p:sp>
      <p:sp>
        <p:nvSpPr>
          <p:cNvPr id="3" name="Content Placeholder 2"/>
          <p:cNvSpPr>
            <a:spLocks noGrp="1"/>
          </p:cNvSpPr>
          <p:nvPr>
            <p:ph idx="1" hasCustomPrompt="1"/>
          </p:nvPr>
        </p:nvSpPr>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Date Placeholder 3"/>
          <p:cNvSpPr>
            <a:spLocks noGrp="1"/>
          </p:cNvSpPr>
          <p:nvPr>
            <p:ph type="dt" sz="half" idx="10"/>
          </p:nvPr>
        </p:nvSpPr>
        <p:spPr/>
        <p:txBody>
          <a:bodyPr/>
          <a:lstStyle/>
          <a:p>
            <a:fld id="{6747AB31-954A-7842-ADD2-0741990EB64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610515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1" y="1709738"/>
            <a:ext cx="10515600" cy="2852737"/>
          </a:xfrm>
        </p:spPr>
        <p:txBody>
          <a:bodyPr anchor="b"/>
          <a:lstStyle>
            <a:lvl1pPr>
              <a:defRPr sz="6000"/>
            </a:lvl1pPr>
          </a:lstStyle>
          <a:p>
            <a:r>
              <a:rPr lang="es-ES_tradnl" dirty="0"/>
              <a:t>Haga clic para modificar el estilo de título del patrón</a:t>
            </a:r>
            <a:endParaRPr lang="en-US" dirty="0"/>
          </a:p>
        </p:txBody>
      </p:sp>
      <p:sp>
        <p:nvSpPr>
          <p:cNvPr id="3" name="Text Placeholder 2"/>
          <p:cNvSpPr>
            <a:spLocks noGrp="1"/>
          </p:cNvSpPr>
          <p:nvPr>
            <p:ph type="body" idx="1" hasCustomPrompt="1"/>
          </p:nvPr>
        </p:nvSpPr>
        <p:spPr>
          <a:xfrm>
            <a:off x="831851"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_tradnl" dirty="0"/>
              <a:t>Haga clic para modificar el estilo del texto</a:t>
            </a:r>
          </a:p>
        </p:txBody>
      </p:sp>
      <p:sp>
        <p:nvSpPr>
          <p:cNvPr id="4" name="Date Placeholder 3"/>
          <p:cNvSpPr>
            <a:spLocks noGrp="1"/>
          </p:cNvSpPr>
          <p:nvPr>
            <p:ph type="dt" sz="half" idx="10"/>
          </p:nvPr>
        </p:nvSpPr>
        <p:spPr/>
        <p:txBody>
          <a:bodyPr/>
          <a:lstStyle/>
          <a:p>
            <a:fld id="{6747AB31-954A-7842-ADD2-0741990EB64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1585990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_tradnl" dirty="0"/>
              <a:t>Haga clic para modificar el estilo de título del patrón</a:t>
            </a:r>
            <a:endParaRPr lang="en-US" dirty="0"/>
          </a:p>
        </p:txBody>
      </p:sp>
      <p:sp>
        <p:nvSpPr>
          <p:cNvPr id="3" name="Content Placeholder 2"/>
          <p:cNvSpPr>
            <a:spLocks noGrp="1"/>
          </p:cNvSpPr>
          <p:nvPr>
            <p:ph sz="half" idx="1" hasCustomPrompt="1"/>
          </p:nvPr>
        </p:nvSpPr>
        <p:spPr>
          <a:xfrm>
            <a:off x="838200" y="1825625"/>
            <a:ext cx="5156200" cy="4351338"/>
          </a:xfrm>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Content Placeholder 3"/>
          <p:cNvSpPr>
            <a:spLocks noGrp="1"/>
          </p:cNvSpPr>
          <p:nvPr>
            <p:ph sz="half" idx="2" hasCustomPrompt="1"/>
          </p:nvPr>
        </p:nvSpPr>
        <p:spPr>
          <a:xfrm>
            <a:off x="6197600" y="1825625"/>
            <a:ext cx="5156200" cy="4351338"/>
          </a:xfrm>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Tree>
    <p:extLst>
      <p:ext uri="{BB962C8B-B14F-4D97-AF65-F5344CB8AC3E}">
        <p14:creationId xmlns:p14="http://schemas.microsoft.com/office/powerpoint/2010/main" val="1374344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0317" y="365125"/>
            <a:ext cx="10515600" cy="1325563"/>
          </a:xfrm>
        </p:spPr>
        <p:txBody>
          <a:bodyPr/>
          <a:lstStyle/>
          <a:p>
            <a:r>
              <a:rPr lang="es-ES_tradnl" dirty="0"/>
              <a:t>Haga clic para modificar el estilo de título del patrón</a:t>
            </a:r>
            <a:endParaRPr lang="en-US" dirty="0"/>
          </a:p>
        </p:txBody>
      </p:sp>
      <p:sp>
        <p:nvSpPr>
          <p:cNvPr id="3" name="Text Placeholder 2"/>
          <p:cNvSpPr>
            <a:spLocks noGrp="1"/>
          </p:cNvSpPr>
          <p:nvPr>
            <p:ph type="body" idx="1" hasCustomPrompt="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del texto</a:t>
            </a:r>
          </a:p>
        </p:txBody>
      </p:sp>
      <p:sp>
        <p:nvSpPr>
          <p:cNvPr id="4" name="Content Placeholder 3"/>
          <p:cNvSpPr>
            <a:spLocks noGrp="1"/>
          </p:cNvSpPr>
          <p:nvPr>
            <p:ph sz="half" idx="2" hasCustomPrompt="1"/>
          </p:nvPr>
        </p:nvSpPr>
        <p:spPr>
          <a:xfrm>
            <a:off x="840317" y="2505075"/>
            <a:ext cx="5158316" cy="3684588"/>
          </a:xfrm>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5" name="Text Placeholder 4"/>
          <p:cNvSpPr>
            <a:spLocks noGrp="1"/>
          </p:cNvSpPr>
          <p:nvPr>
            <p:ph type="body" sz="quarter" idx="3" hasCustomPrompt="1"/>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del texto</a:t>
            </a:r>
          </a:p>
        </p:txBody>
      </p:sp>
      <p:sp>
        <p:nvSpPr>
          <p:cNvPr id="6" name="Content Placeholder 5"/>
          <p:cNvSpPr>
            <a:spLocks noGrp="1"/>
          </p:cNvSpPr>
          <p:nvPr>
            <p:ph sz="quarter" idx="4" hasCustomPrompt="1"/>
          </p:nvPr>
        </p:nvSpPr>
        <p:spPr>
          <a:xfrm>
            <a:off x="6172200" y="2505075"/>
            <a:ext cx="5183717" cy="3684588"/>
          </a:xfrm>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7" name="Date Placeholder 6"/>
          <p:cNvSpPr>
            <a:spLocks noGrp="1"/>
          </p:cNvSpPr>
          <p:nvPr>
            <p:ph type="dt" sz="half" idx="10"/>
          </p:nvPr>
        </p:nvSpPr>
        <p:spPr/>
        <p:txBody>
          <a:bodyPr/>
          <a:lstStyle/>
          <a:p>
            <a:fld id="{6747AB31-954A-7842-ADD2-0741990EB64F}" type="datetimeFigureOut">
              <a:rPr lang="en-US" smtClean="0"/>
              <a:t>9/10/26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76031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_tradnl" dirty="0"/>
              <a:t>Haga clic para modificar el estilo de título del patrón</a:t>
            </a:r>
            <a:endParaRPr lang="en-US" dirty="0"/>
          </a:p>
        </p:txBody>
      </p:sp>
      <p:sp>
        <p:nvSpPr>
          <p:cNvPr id="3" name="Date Placeholder 2"/>
          <p:cNvSpPr>
            <a:spLocks noGrp="1"/>
          </p:cNvSpPr>
          <p:nvPr>
            <p:ph type="dt" sz="half" idx="10"/>
          </p:nvPr>
        </p:nvSpPr>
        <p:spPr/>
        <p:txBody>
          <a:bodyPr/>
          <a:lstStyle/>
          <a:p>
            <a:fld id="{6747AB31-954A-7842-ADD2-0741990EB64F}" type="datetimeFigureOut">
              <a:rPr lang="en-US" smtClean="0"/>
              <a:t>9/10/26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147717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47AB31-954A-7842-ADD2-0741990EB64F}" type="datetimeFigureOut">
              <a:rPr lang="en-US" smtClean="0"/>
              <a:t>9/10/26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356426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0317" y="457200"/>
            <a:ext cx="3932767" cy="1600200"/>
          </a:xfrm>
        </p:spPr>
        <p:txBody>
          <a:bodyPr anchor="b"/>
          <a:lstStyle>
            <a:lvl1pPr>
              <a:defRPr sz="3200"/>
            </a:lvl1pPr>
          </a:lstStyle>
          <a:p>
            <a:r>
              <a:rPr lang="es-ES_tradnl" dirty="0"/>
              <a:t>Haga clic para modificar el estilo de título del patrón</a:t>
            </a:r>
            <a:endParaRPr lang="en-US" dirty="0"/>
          </a:p>
        </p:txBody>
      </p:sp>
      <p:sp>
        <p:nvSpPr>
          <p:cNvPr id="3" name="Content Placeholder 2"/>
          <p:cNvSpPr>
            <a:spLocks noGrp="1"/>
          </p:cNvSpPr>
          <p:nvPr>
            <p:ph idx="1" hasCustomPrompt="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Text Placeholder 3"/>
          <p:cNvSpPr>
            <a:spLocks noGrp="1"/>
          </p:cNvSpPr>
          <p:nvPr>
            <p:ph type="body" sz="half" idx="2" hasCustomPrompt="1"/>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dirty="0"/>
              <a:t>Haga clic para modificar el estilo del texto</a:t>
            </a:r>
          </a:p>
        </p:txBody>
      </p:sp>
      <p:sp>
        <p:nvSpPr>
          <p:cNvPr id="5" name="Date Placeholder 4"/>
          <p:cNvSpPr>
            <a:spLocks noGrp="1"/>
          </p:cNvSpPr>
          <p:nvPr>
            <p:ph type="dt" sz="half" idx="10"/>
          </p:nvPr>
        </p:nvSpPr>
        <p:spPr/>
        <p:txBody>
          <a:bodyPr/>
          <a:lstStyle/>
          <a:p>
            <a:fld id="{6747AB31-954A-7842-ADD2-0741990EB64F}"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945117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0317" y="457200"/>
            <a:ext cx="3932767" cy="1600200"/>
          </a:xfrm>
        </p:spPr>
        <p:txBody>
          <a:bodyPr anchor="b"/>
          <a:lstStyle>
            <a:lvl1pPr>
              <a:defRPr sz="3200"/>
            </a:lvl1pPr>
          </a:lstStyle>
          <a:p>
            <a:r>
              <a:rPr lang="es-ES_tradnl" dirty="0"/>
              <a:t>Haga clic para modificar el estilo de título del patrón</a:t>
            </a:r>
            <a:endParaRPr lang="en-US" dirty="0"/>
          </a:p>
        </p:txBody>
      </p:sp>
      <p:sp>
        <p:nvSpPr>
          <p:cNvPr id="3" name="Picture Placeholder 2"/>
          <p:cNvSpPr>
            <a:spLocks noGrp="1"/>
          </p:cNvSpPr>
          <p:nvPr>
            <p:ph type="pic" idx="1"/>
          </p:nvPr>
        </p:nvSpPr>
        <p:spPr>
          <a:xfrm>
            <a:off x="5183717"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hasCustomPrompt="1"/>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dirty="0"/>
              <a:t>Haga clic para modificar el estilo del texto</a:t>
            </a:r>
          </a:p>
        </p:txBody>
      </p:sp>
      <p:sp>
        <p:nvSpPr>
          <p:cNvPr id="5" name="Date Placeholder 4"/>
          <p:cNvSpPr>
            <a:spLocks noGrp="1"/>
          </p:cNvSpPr>
          <p:nvPr>
            <p:ph type="dt" sz="half" idx="10"/>
          </p:nvPr>
        </p:nvSpPr>
        <p:spPr/>
        <p:txBody>
          <a:bodyPr/>
          <a:lstStyle/>
          <a:p>
            <a:fld id="{6747AB31-954A-7842-ADD2-0741990EB64F}"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188994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_tradnl" dirty="0"/>
              <a:t>Haga clic para modificar el estilo de título del patrón</a:t>
            </a:r>
            <a:endParaRPr lang="en-US" dirty="0"/>
          </a:p>
        </p:txBody>
      </p:sp>
      <p:sp>
        <p:nvSpPr>
          <p:cNvPr id="3" name="Vertical Text Placeholder 2"/>
          <p:cNvSpPr>
            <a:spLocks noGrp="1"/>
          </p:cNvSpPr>
          <p:nvPr>
            <p:ph type="body" orient="vert" idx="1" hasCustomPrompt="1"/>
          </p:nvPr>
        </p:nvSpPr>
        <p:spPr/>
        <p:txBody>
          <a:bodyPr vert="eaVert"/>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Date Placeholder 3"/>
          <p:cNvSpPr>
            <a:spLocks noGrp="1"/>
          </p:cNvSpPr>
          <p:nvPr>
            <p:ph type="dt" sz="half" idx="10"/>
          </p:nvPr>
        </p:nvSpPr>
        <p:spPr/>
        <p:txBody>
          <a:bodyPr/>
          <a:lstStyle/>
          <a:p>
            <a:fld id="{6747AB31-954A-7842-ADD2-0741990EB64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1780695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p>
            <a:r>
              <a:rPr lang="es-ES_tradnl" dirty="0"/>
              <a:t>Haga clic para modificar el estilo de título del patrón</a:t>
            </a:r>
            <a:endParaRPr lang="en-US" dirty="0"/>
          </a:p>
        </p:txBody>
      </p:sp>
      <p:sp>
        <p:nvSpPr>
          <p:cNvPr id="3" name="Vertical Text Placeholder 2"/>
          <p:cNvSpPr>
            <a:spLocks noGrp="1"/>
          </p:cNvSpPr>
          <p:nvPr>
            <p:ph type="body" orient="vert" idx="1" hasCustomPrompt="1"/>
          </p:nvPr>
        </p:nvSpPr>
        <p:spPr>
          <a:xfrm>
            <a:off x="838200" y="365125"/>
            <a:ext cx="7683500" cy="5811838"/>
          </a:xfrm>
        </p:spPr>
        <p:txBody>
          <a:bodyPr vert="eaVert"/>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Date Placeholder 3"/>
          <p:cNvSpPr>
            <a:spLocks noGrp="1"/>
          </p:cNvSpPr>
          <p:nvPr>
            <p:ph type="dt" sz="half" idx="10"/>
          </p:nvPr>
        </p:nvSpPr>
        <p:spPr/>
        <p:txBody>
          <a:bodyPr/>
          <a:lstStyle/>
          <a:p>
            <a:fld id="{6747AB31-954A-7842-ADD2-0741990EB64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709393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Date Placeholder 3"/>
          <p:cNvSpPr>
            <a:spLocks noGrp="1"/>
          </p:cNvSpPr>
          <p:nvPr>
            <p:ph type="dt" sz="half" idx="2"/>
          </p:nvPr>
        </p:nvSpPr>
        <p:spPr>
          <a:xfrm>
            <a:off x="9524035" y="6234837"/>
            <a:ext cx="1371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47AB31-954A-7842-ADD2-0741990EB64F}" type="datetimeFigureOut">
              <a:rPr lang="en-US" smtClean="0"/>
              <a:t>9/10/26</a:t>
            </a:fld>
            <a:endParaRPr lang="en-US"/>
          </a:p>
        </p:txBody>
      </p:sp>
      <p:sp>
        <p:nvSpPr>
          <p:cNvPr id="5" name="Footer Placeholder 4"/>
          <p:cNvSpPr>
            <a:spLocks noGrp="1"/>
          </p:cNvSpPr>
          <p:nvPr>
            <p:ph type="ftr" sz="quarter" idx="3"/>
          </p:nvPr>
        </p:nvSpPr>
        <p:spPr>
          <a:xfrm>
            <a:off x="9517283" y="5869711"/>
            <a:ext cx="267471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895635" y="6234838"/>
            <a:ext cx="129636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CA37C3-BF9F-8242-8F9B-2E9EADE96552}" type="slidenum">
              <a:rPr lang="en-US" smtClean="0"/>
              <a:t>‹#›</a:t>
            </a:fld>
            <a:endParaRPr lang="en-US"/>
          </a:p>
        </p:txBody>
      </p:sp>
    </p:spTree>
    <p:extLst>
      <p:ext uri="{BB962C8B-B14F-4D97-AF65-F5344CB8AC3E}">
        <p14:creationId xmlns:p14="http://schemas.microsoft.com/office/powerpoint/2010/main" val="199889881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a:buNone/>
        <a:tabLst/>
        <a:defRPr sz="2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circle with white and green text&#10;&#10;AI-generated content may be incorrect.">
            <a:extLst>
              <a:ext uri="{FF2B5EF4-FFF2-40B4-BE49-F238E27FC236}">
                <a16:creationId xmlns:a16="http://schemas.microsoft.com/office/drawing/2014/main" id="{4C9D16E6-4A94-D2ED-C38F-A502CC0DCB27}"/>
              </a:ext>
            </a:extLst>
          </p:cNvPr>
          <p:cNvPicPr>
            <a:picLocks noGrp="1" noRot="1" noChangeAspect="1" noMove="1" noResize="1" noEditPoints="1" noAdjustHandles="1" noChangeArrowheads="1" noChangeShapeType="1" noCrop="1"/>
          </p:cNvPicPr>
          <p:nvPr/>
        </p:nvPicPr>
        <p:blipFill>
          <a:blip r:embed="rId2"/>
          <a:stretch>
            <a:fillRect/>
          </a:stretch>
        </p:blipFill>
        <p:spPr>
          <a:xfrm>
            <a:off x="11353798" y="5858538"/>
            <a:ext cx="733647" cy="733647"/>
          </a:xfrm>
          <a:prstGeom prst="rect">
            <a:avLst/>
          </a:prstGeom>
        </p:spPr>
      </p:pic>
      <p:sp>
        <p:nvSpPr>
          <p:cNvPr id="6" name="TextBox 5"/>
          <p:cNvSpPr txBox="1"/>
          <p:nvPr/>
        </p:nvSpPr>
        <p:spPr>
          <a:xfrm>
            <a:off x="914400" y="1691640"/>
            <a:ext cx="10360152" cy="1737360"/>
          </a:xfrm>
          <a:prstGeom prst="rect">
            <a:avLst/>
          </a:prstGeom>
          <a:noFill/>
        </p:spPr>
        <p:txBody>
          <a:bodyPr wrap="square" anchor="ctr" lIns="0" rIns="0" tIns="0" bIns="0">
            <a:spAutoFit/>
          </a:bodyPr>
          <a:lstStyle/>
          <a:p>
            <a:pPr algn="ctr"/>
            <a:r>
              <a:rPr sz="3800" b="1" i="0">
                <a:solidFill>
                  <a:srgbClr val="1F5FAE"/>
                </a:solidFill>
                <a:latin typeface="Calibri"/>
              </a:rPr>
              <a:t>ID 129: </a:t>
            </a:r>
            <a:r>
              <a:rPr sz="3800" b="1" i="0">
                <a:solidFill>
                  <a:srgbClr val="0F1E36"/>
                </a:solidFill>
                <a:latin typeface="Calibri"/>
              </a:rPr>
              <a:t>Aprendizaje automático para predicción del éxito académico en Ingeniería de Sistemas</a:t>
            </a:r>
          </a:p>
        </p:txBody>
      </p:sp>
      <p:sp>
        <p:nvSpPr>
          <p:cNvPr id="7" name="TextBox 6"/>
          <p:cNvSpPr txBox="1"/>
          <p:nvPr/>
        </p:nvSpPr>
        <p:spPr>
          <a:xfrm>
            <a:off x="914400" y="3739896"/>
            <a:ext cx="10360152" cy="365760"/>
          </a:xfrm>
          <a:prstGeom prst="rect">
            <a:avLst/>
          </a:prstGeom>
          <a:noFill/>
        </p:spPr>
        <p:txBody>
          <a:bodyPr wrap="square" anchor="t" lIns="0" rIns="0" tIns="0" bIns="0">
            <a:spAutoFit/>
          </a:bodyPr>
          <a:lstStyle/>
          <a:p>
            <a:pPr algn="ctr"/>
            <a:r>
              <a:rPr sz="1700" b="0" i="0">
                <a:solidFill>
                  <a:srgbClr val="0F1E36"/>
                </a:solidFill>
                <a:latin typeface="Calibri"/>
              </a:rPr>
              <a:t>Joan David Martínez Hernández  -  Diana Marcela Cardona Román  -  Sara Cristina Guerrero</a:t>
            </a:r>
          </a:p>
        </p:txBody>
      </p:sp>
      <p:sp>
        <p:nvSpPr>
          <p:cNvPr id="8" name="TextBox 7"/>
          <p:cNvSpPr txBox="1"/>
          <p:nvPr/>
        </p:nvSpPr>
        <p:spPr>
          <a:xfrm>
            <a:off x="914400" y="4754880"/>
            <a:ext cx="10360152" cy="320040"/>
          </a:xfrm>
          <a:prstGeom prst="rect">
            <a:avLst/>
          </a:prstGeom>
          <a:noFill/>
        </p:spPr>
        <p:txBody>
          <a:bodyPr wrap="square" anchor="t" lIns="0" rIns="0" tIns="0" bIns="0">
            <a:spAutoFit/>
          </a:bodyPr>
          <a:lstStyle/>
          <a:p>
            <a:pPr algn="ctr"/>
            <a:r>
              <a:rPr sz="1350" b="0" i="0">
                <a:solidFill>
                  <a:srgbClr val="55657E"/>
                </a:solidFill>
                <a:latin typeface="Calibri"/>
              </a:rPr>
              <a:t>Facultad de Ciencias Básicas e Ingeniería · Universidad de los Llanos · Villavicencio, Meta, Colombia</a:t>
            </a:r>
          </a:p>
        </p:txBody>
      </p:sp>
      <p:sp>
        <p:nvSpPr>
          <p:cNvPr id="9" name="TextBox 8"/>
          <p:cNvSpPr txBox="1"/>
          <p:nvPr/>
        </p:nvSpPr>
        <p:spPr>
          <a:xfrm>
            <a:off x="914400" y="5120640"/>
            <a:ext cx="10360152" cy="274320"/>
          </a:xfrm>
          <a:prstGeom prst="rect">
            <a:avLst/>
          </a:prstGeom>
          <a:noFill/>
        </p:spPr>
        <p:txBody>
          <a:bodyPr wrap="square" anchor="t" lIns="0" rIns="0" tIns="0" bIns="0">
            <a:spAutoFit/>
          </a:bodyPr>
          <a:lstStyle/>
          <a:p>
            <a:pPr algn="ctr"/>
            <a:r>
              <a:rPr sz="1200" b="0" i="0">
                <a:solidFill>
                  <a:srgbClr val="55657E"/>
                </a:solidFill>
                <a:latin typeface="Calibri"/>
              </a:rPr>
              <a:t>Proyecto DGI/Unillanos C07-02-2026-027</a:t>
            </a:r>
          </a:p>
        </p:txBody>
      </p:sp>
      <p:pic>
        <p:nvPicPr>
          <p:cNvPr id="10" name="Picture 9" descr="image.png"/>
          <p:cNvPicPr>
            <a:picLocks noChangeAspect="1"/>
          </p:cNvPicPr>
          <p:nvPr/>
        </p:nvPicPr>
        <p:blipFill>
          <a:blip r:embed="rId3"/>
          <a:srcRect/>
          <a:stretch>
            <a:fillRect/>
          </a:stretch>
        </p:blipFill>
        <p:spPr>
          <a:xfrm>
            <a:off x="104555" y="5745251"/>
            <a:ext cx="2454442" cy="960219"/>
          </a:xfrm>
          <a:prstGeom prst="rect">
            <a:avLst/>
          </a:prstGeom>
        </p:spPr>
      </p:pic>
      <p:pic>
        <p:nvPicPr>
          <p:cNvPr id="11" name="Picture 10" descr="image.png"/>
          <p:cNvPicPr>
            <a:picLocks noChangeAspect="1"/>
          </p:cNvPicPr>
          <p:nvPr/>
        </p:nvPicPr>
        <p:blipFill>
          <a:blip r:embed="rId4"/>
          <a:srcRect/>
          <a:stretch>
            <a:fillRect/>
          </a:stretch>
        </p:blipFill>
        <p:spPr>
          <a:xfrm>
            <a:off x="6094476" y="5935610"/>
            <a:ext cx="576018" cy="611141"/>
          </a:xfrm>
          <a:prstGeom prst="rect">
            <a:avLst/>
          </a:prstGeom>
        </p:spPr>
      </p:pic>
      <p:pic>
        <p:nvPicPr>
          <p:cNvPr id="12" name="Picture 11" descr="image.png"/>
          <p:cNvPicPr>
            <a:picLocks noChangeAspect="1"/>
          </p:cNvPicPr>
          <p:nvPr/>
        </p:nvPicPr>
        <p:blipFill>
          <a:blip r:embed="rId5"/>
          <a:srcRect/>
          <a:stretch>
            <a:fillRect/>
          </a:stretch>
        </p:blipFill>
        <p:spPr>
          <a:xfrm>
            <a:off x="6821873" y="5941412"/>
            <a:ext cx="2238375" cy="504825"/>
          </a:xfrm>
          <a:prstGeom prst="rect">
            <a:avLst/>
          </a:prstGeom>
        </p:spPr>
      </p:pic>
      <p:pic>
        <p:nvPicPr>
          <p:cNvPr id="13" name="Picture 12" descr="image.png"/>
          <p:cNvPicPr>
            <a:picLocks noChangeAspect="1"/>
          </p:cNvPicPr>
          <p:nvPr/>
        </p:nvPicPr>
        <p:blipFill>
          <a:blip r:embed="rId6"/>
          <a:srcRect/>
          <a:stretch>
            <a:fillRect/>
          </a:stretch>
        </p:blipFill>
        <p:spPr>
          <a:xfrm>
            <a:off x="9195884" y="5935610"/>
            <a:ext cx="652810" cy="611141"/>
          </a:xfrm>
          <a:prstGeom prst="rect">
            <a:avLst/>
          </a:prstGeom>
        </p:spPr>
      </p:pic>
      <p:pic>
        <p:nvPicPr>
          <p:cNvPr id="14" name="Picture 13" descr="image.png"/>
          <p:cNvPicPr>
            <a:picLocks noChangeAspect="1"/>
          </p:cNvPicPr>
          <p:nvPr/>
        </p:nvPicPr>
        <p:blipFill>
          <a:blip r:embed="rId7"/>
          <a:srcRect/>
          <a:stretch>
            <a:fillRect/>
          </a:stretch>
        </p:blipFill>
        <p:spPr>
          <a:xfrm>
            <a:off x="9976624" y="5888253"/>
            <a:ext cx="1249244" cy="611141"/>
          </a:xfrm>
          <a:prstGeom prst="rect">
            <a:avLst/>
          </a:prstGeom>
        </p:spPr>
      </p:pic>
    </p:spTree>
    <p:extLst>
      <p:ext uri="{BB962C8B-B14F-4D97-AF65-F5344CB8AC3E}">
        <p14:creationId xmlns:p14="http://schemas.microsoft.com/office/powerpoint/2010/main" val="77404459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El problema del abandono</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Más de la mitad no se gradúa y, en nuestro programa, el abandono es temprano</a:t>
            </a:r>
          </a:p>
        </p:txBody>
      </p:sp>
      <p:sp>
        <p:nvSpPr>
          <p:cNvPr id="7" name="Rounded Rectangle 6"/>
          <p:cNvSpPr/>
          <p:nvPr/>
        </p:nvSpPr>
        <p:spPr>
          <a:xfrm>
            <a:off x="731520" y="1691640"/>
            <a:ext cx="3291840" cy="17373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1828800"/>
            <a:ext cx="2926080" cy="777240"/>
          </a:xfrm>
          <a:prstGeom prst="rect">
            <a:avLst/>
          </a:prstGeom>
          <a:noFill/>
        </p:spPr>
        <p:txBody>
          <a:bodyPr wrap="square" anchor="t" lIns="0" rIns="0" tIns="0" bIns="0">
            <a:spAutoFit/>
          </a:bodyPr>
          <a:lstStyle/>
          <a:p>
            <a:pPr algn="ctr"/>
            <a:r>
              <a:rPr sz="4400" b="1" i="0">
                <a:solidFill>
                  <a:srgbClr val="D97706"/>
                </a:solidFill>
                <a:latin typeface="Calibri"/>
              </a:rPr>
              <a:t>45,1 %</a:t>
            </a:r>
          </a:p>
        </p:txBody>
      </p:sp>
      <p:sp>
        <p:nvSpPr>
          <p:cNvPr id="9" name="TextBox 8"/>
          <p:cNvSpPr txBox="1"/>
          <p:nvPr/>
        </p:nvSpPr>
        <p:spPr>
          <a:xfrm>
            <a:off x="914400" y="2606040"/>
            <a:ext cx="2926080" cy="320040"/>
          </a:xfrm>
          <a:prstGeom prst="rect">
            <a:avLst/>
          </a:prstGeom>
          <a:noFill/>
        </p:spPr>
        <p:txBody>
          <a:bodyPr wrap="square" anchor="t" lIns="0" rIns="0" tIns="0" bIns="0">
            <a:spAutoFit/>
          </a:bodyPr>
          <a:lstStyle/>
          <a:p>
            <a:pPr algn="ctr"/>
            <a:r>
              <a:rPr sz="1500" b="1" i="0">
                <a:solidFill>
                  <a:srgbClr val="0F1E36"/>
                </a:solidFill>
                <a:latin typeface="Calibri"/>
              </a:rPr>
              <a:t>Graduación nacional</a:t>
            </a:r>
          </a:p>
        </p:txBody>
      </p:sp>
      <p:sp>
        <p:nvSpPr>
          <p:cNvPr id="10" name="TextBox 9"/>
          <p:cNvSpPr txBox="1"/>
          <p:nvPr/>
        </p:nvSpPr>
        <p:spPr>
          <a:xfrm>
            <a:off x="914400" y="2926080"/>
            <a:ext cx="2926080" cy="411480"/>
          </a:xfrm>
          <a:prstGeom prst="rect">
            <a:avLst/>
          </a:prstGeom>
          <a:noFill/>
        </p:spPr>
        <p:txBody>
          <a:bodyPr wrap="square" anchor="t" lIns="0" rIns="0" tIns="0" bIns="0">
            <a:spAutoFit/>
          </a:bodyPr>
          <a:lstStyle/>
          <a:p>
            <a:pPr algn="ctr"/>
            <a:r>
              <a:rPr sz="1150" b="0" i="0">
                <a:solidFill>
                  <a:srgbClr val="55657E"/>
                </a:solidFill>
                <a:latin typeface="Calibri"/>
              </a:rPr>
              <a:t>tras 15 semestres (LEE, 2023)</a:t>
            </a:r>
          </a:p>
        </p:txBody>
      </p:sp>
      <p:sp>
        <p:nvSpPr>
          <p:cNvPr id="11" name="Rounded Rectangle 10"/>
          <p:cNvSpPr/>
          <p:nvPr/>
        </p:nvSpPr>
        <p:spPr>
          <a:xfrm>
            <a:off x="4297680" y="1691640"/>
            <a:ext cx="3291840" cy="17373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80560" y="1828800"/>
            <a:ext cx="2926080" cy="777240"/>
          </a:xfrm>
          <a:prstGeom prst="rect">
            <a:avLst/>
          </a:prstGeom>
          <a:noFill/>
        </p:spPr>
        <p:txBody>
          <a:bodyPr wrap="square" anchor="t" lIns="0" rIns="0" tIns="0" bIns="0">
            <a:spAutoFit/>
          </a:bodyPr>
          <a:lstStyle/>
          <a:p>
            <a:pPr algn="ctr"/>
            <a:r>
              <a:rPr sz="4400" b="1" i="0">
                <a:solidFill>
                  <a:srgbClr val="DC2626"/>
                </a:solidFill>
                <a:latin typeface="Calibri"/>
              </a:rPr>
              <a:t>63 %</a:t>
            </a:r>
          </a:p>
        </p:txBody>
      </p:sp>
      <p:sp>
        <p:nvSpPr>
          <p:cNvPr id="13" name="TextBox 12"/>
          <p:cNvSpPr txBox="1"/>
          <p:nvPr/>
        </p:nvSpPr>
        <p:spPr>
          <a:xfrm>
            <a:off x="4480560" y="2606040"/>
            <a:ext cx="2926080" cy="320040"/>
          </a:xfrm>
          <a:prstGeom prst="rect">
            <a:avLst/>
          </a:prstGeom>
          <a:noFill/>
        </p:spPr>
        <p:txBody>
          <a:bodyPr wrap="square" anchor="t" lIns="0" rIns="0" tIns="0" bIns="0">
            <a:spAutoFit/>
          </a:bodyPr>
          <a:lstStyle/>
          <a:p>
            <a:pPr algn="ctr"/>
            <a:r>
              <a:rPr sz="1500" b="1" i="0">
                <a:solidFill>
                  <a:srgbClr val="0F1E36"/>
                </a:solidFill>
                <a:latin typeface="Calibri"/>
              </a:rPr>
              <a:t>Sin graduación</a:t>
            </a:r>
          </a:p>
        </p:txBody>
      </p:sp>
      <p:sp>
        <p:nvSpPr>
          <p:cNvPr id="14" name="TextBox 13"/>
          <p:cNvSpPr txBox="1"/>
          <p:nvPr/>
        </p:nvSpPr>
        <p:spPr>
          <a:xfrm>
            <a:off x="4480560" y="2926080"/>
            <a:ext cx="2926080" cy="411480"/>
          </a:xfrm>
          <a:prstGeom prst="rect">
            <a:avLst/>
          </a:prstGeom>
          <a:noFill/>
        </p:spPr>
        <p:txBody>
          <a:bodyPr wrap="square" anchor="t" lIns="0" rIns="0" tIns="0" bIns="0">
            <a:spAutoFit/>
          </a:bodyPr>
          <a:lstStyle/>
          <a:p>
            <a:pPr algn="ctr"/>
            <a:r>
              <a:rPr sz="1150" b="0" i="0">
                <a:solidFill>
                  <a:srgbClr val="55657E"/>
                </a:solidFill>
                <a:latin typeface="Calibri"/>
              </a:rPr>
              <a:t>cohortes 2017-2 y 2018-1 de Ing. de Sistemas</a:t>
            </a:r>
          </a:p>
        </p:txBody>
      </p:sp>
      <p:sp>
        <p:nvSpPr>
          <p:cNvPr id="15" name="Rounded Rectangle 14"/>
          <p:cNvSpPr/>
          <p:nvPr/>
        </p:nvSpPr>
        <p:spPr>
          <a:xfrm>
            <a:off x="7863840" y="1691640"/>
            <a:ext cx="3291840" cy="17373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9" y="1828800"/>
            <a:ext cx="2926080" cy="777240"/>
          </a:xfrm>
          <a:prstGeom prst="rect">
            <a:avLst/>
          </a:prstGeom>
          <a:noFill/>
        </p:spPr>
        <p:txBody>
          <a:bodyPr wrap="square" anchor="t" lIns="0" rIns="0" tIns="0" bIns="0">
            <a:spAutoFit/>
          </a:bodyPr>
          <a:lstStyle/>
          <a:p>
            <a:pPr algn="ctr"/>
            <a:r>
              <a:rPr sz="4400" b="1" i="0">
                <a:solidFill>
                  <a:srgbClr val="0369A1"/>
                </a:solidFill>
                <a:latin typeface="Calibri"/>
              </a:rPr>
              <a:t>64 %</a:t>
            </a:r>
          </a:p>
        </p:txBody>
      </p:sp>
      <p:sp>
        <p:nvSpPr>
          <p:cNvPr id="17" name="TextBox 16"/>
          <p:cNvSpPr txBox="1"/>
          <p:nvPr/>
        </p:nvSpPr>
        <p:spPr>
          <a:xfrm>
            <a:off x="8046719" y="2606040"/>
            <a:ext cx="2926080" cy="320040"/>
          </a:xfrm>
          <a:prstGeom prst="rect">
            <a:avLst/>
          </a:prstGeom>
          <a:noFill/>
        </p:spPr>
        <p:txBody>
          <a:bodyPr wrap="square" anchor="t" lIns="0" rIns="0" tIns="0" bIns="0">
            <a:spAutoFit/>
          </a:bodyPr>
          <a:lstStyle/>
          <a:p>
            <a:pPr algn="ctr"/>
            <a:r>
              <a:rPr sz="1500" b="1" i="0">
                <a:solidFill>
                  <a:srgbClr val="0F1E36"/>
                </a:solidFill>
                <a:latin typeface="Calibri"/>
              </a:rPr>
              <a:t>Abandono temprano</a:t>
            </a:r>
          </a:p>
        </p:txBody>
      </p:sp>
      <p:sp>
        <p:nvSpPr>
          <p:cNvPr id="18" name="TextBox 17"/>
          <p:cNvSpPr txBox="1"/>
          <p:nvPr/>
        </p:nvSpPr>
        <p:spPr>
          <a:xfrm>
            <a:off x="8046719" y="2926080"/>
            <a:ext cx="2926080" cy="411480"/>
          </a:xfrm>
          <a:prstGeom prst="rect">
            <a:avLst/>
          </a:prstGeom>
          <a:noFill/>
        </p:spPr>
        <p:txBody>
          <a:bodyPr wrap="square" anchor="t" lIns="0" rIns="0" tIns="0" bIns="0">
            <a:spAutoFit/>
          </a:bodyPr>
          <a:lstStyle/>
          <a:p>
            <a:pPr algn="ctr"/>
            <a:r>
              <a:rPr sz="1150" b="0" i="0">
                <a:solidFill>
                  <a:srgbClr val="55657E"/>
                </a:solidFill>
                <a:latin typeface="Calibri"/>
              </a:rPr>
              <a:t>de quienes interrumpen, lo hacen en ≤ 2 semestres</a:t>
            </a:r>
          </a:p>
        </p:txBody>
      </p:sp>
      <p:sp>
        <p:nvSpPr>
          <p:cNvPr id="19" name="Rounded Rectangle 18"/>
          <p:cNvSpPr/>
          <p:nvPr/>
        </p:nvSpPr>
        <p:spPr>
          <a:xfrm>
            <a:off x="731520" y="3840480"/>
            <a:ext cx="10424160" cy="91440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0120" y="3886200"/>
            <a:ext cx="9966960" cy="822960"/>
          </a:xfrm>
          <a:prstGeom prst="rect">
            <a:avLst/>
          </a:prstGeom>
          <a:noFill/>
        </p:spPr>
        <p:txBody>
          <a:bodyPr wrap="square" anchor="ctr" lIns="0" rIns="0" tIns="0" bIns="0">
            <a:spAutoFit/>
          </a:bodyPr>
          <a:lstStyle/>
          <a:p>
            <a:pPr algn="l"/>
            <a:r>
              <a:rPr sz="1450" b="1" i="0">
                <a:solidFill>
                  <a:srgbClr val="C2610C"/>
                </a:solidFill>
                <a:latin typeface="Calibri"/>
              </a:rPr>
              <a:t>Consecuencia:  </a:t>
            </a:r>
            <a:r>
              <a:rPr sz="1450" b="0" i="0">
                <a:solidFill>
                  <a:srgbClr val="0F1E36"/>
                </a:solidFill>
                <a:latin typeface="Calibri"/>
              </a:rPr>
              <a:t>una alerta que llega en tercer semestre llega tarde. El modelo solo puede usar lo que se sabe al ingreso y al cierre del primer semestre.</a:t>
            </a:r>
          </a:p>
        </p:txBody>
      </p:sp>
      <p:sp>
        <p:nvSpPr>
          <p:cNvPr id="21" name="Rounded Rectangle 20"/>
          <p:cNvSpPr/>
          <p:nvPr/>
        </p:nvSpPr>
        <p:spPr>
          <a:xfrm>
            <a:off x="731520" y="4983480"/>
            <a:ext cx="10424160" cy="640080"/>
          </a:xfrm>
          <a:prstGeom prst="roundRect">
            <a:avLst>
              <a:gd name="adj" fmla="val 6000"/>
            </a:avLst>
          </a:prstGeom>
          <a:solidFill>
            <a:srgbClr val="FFFFFF"/>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5047488"/>
            <a:ext cx="2377440" cy="548640"/>
          </a:xfrm>
          <a:prstGeom prst="rect">
            <a:avLst/>
          </a:prstGeom>
          <a:noFill/>
        </p:spPr>
        <p:txBody>
          <a:bodyPr wrap="square" anchor="t" lIns="0" rIns="0" tIns="0" bIns="0">
            <a:spAutoFit/>
          </a:bodyPr>
          <a:lstStyle/>
          <a:p>
            <a:pPr algn="ctr"/>
            <a:r>
              <a:rPr sz="1300" b="1" i="0">
                <a:solidFill>
                  <a:srgbClr val="0F1E36"/>
                </a:solidFill>
                <a:latin typeface="Calibri"/>
              </a:rPr>
              <a:t>Ingreso</a:t>
            </a:r>
          </a:p>
          <a:p>
            <a:pPr algn="ctr"/>
            <a:r>
              <a:rPr sz="1150" b="0" i="0">
                <a:solidFill>
                  <a:srgbClr val="55657E"/>
                </a:solidFill>
                <a:latin typeface="Calibri"/>
              </a:rPr>
              <a:t>Saber 11</a:t>
            </a:r>
          </a:p>
        </p:txBody>
      </p:sp>
      <p:sp>
        <p:nvSpPr>
          <p:cNvPr id="23" name="TextBox 22"/>
          <p:cNvSpPr txBox="1"/>
          <p:nvPr/>
        </p:nvSpPr>
        <p:spPr>
          <a:xfrm>
            <a:off x="3291840" y="5120640"/>
            <a:ext cx="274320" cy="365760"/>
          </a:xfrm>
          <a:prstGeom prst="rect">
            <a:avLst/>
          </a:prstGeom>
          <a:noFill/>
        </p:spPr>
        <p:txBody>
          <a:bodyPr wrap="square" anchor="t" lIns="0" rIns="0" tIns="0" bIns="0">
            <a:spAutoFit/>
          </a:bodyPr>
          <a:lstStyle/>
          <a:p>
            <a:pPr algn="ctr"/>
            <a:r>
              <a:rPr sz="1600" b="0" i="0">
                <a:solidFill>
                  <a:srgbClr val="55657E"/>
                </a:solidFill>
                <a:latin typeface="Calibri"/>
              </a:rPr>
              <a:t>→</a:t>
            </a:r>
          </a:p>
        </p:txBody>
      </p:sp>
      <p:sp>
        <p:nvSpPr>
          <p:cNvPr id="24" name="TextBox 23"/>
          <p:cNvSpPr txBox="1"/>
          <p:nvPr/>
        </p:nvSpPr>
        <p:spPr>
          <a:xfrm>
            <a:off x="3520440" y="5047488"/>
            <a:ext cx="2377440" cy="548640"/>
          </a:xfrm>
          <a:prstGeom prst="rect">
            <a:avLst/>
          </a:prstGeom>
          <a:noFill/>
        </p:spPr>
        <p:txBody>
          <a:bodyPr wrap="square" anchor="t" lIns="0" rIns="0" tIns="0" bIns="0">
            <a:spAutoFit/>
          </a:bodyPr>
          <a:lstStyle/>
          <a:p>
            <a:pPr algn="ctr"/>
            <a:r>
              <a:rPr sz="1300" b="1" i="0">
                <a:solidFill>
                  <a:srgbClr val="0F1E36"/>
                </a:solidFill>
                <a:latin typeface="Calibri"/>
              </a:rPr>
              <a:t>1.er semestre</a:t>
            </a:r>
          </a:p>
          <a:p>
            <a:pPr algn="ctr"/>
            <a:r>
              <a:rPr sz="1150" b="1" i="0">
                <a:solidFill>
                  <a:srgbClr val="1F5FAE"/>
                </a:solidFill>
                <a:latin typeface="Calibri"/>
              </a:rPr>
              <a:t>notas → ALERTA</a:t>
            </a:r>
          </a:p>
        </p:txBody>
      </p:sp>
      <p:sp>
        <p:nvSpPr>
          <p:cNvPr id="25" name="TextBox 24"/>
          <p:cNvSpPr txBox="1"/>
          <p:nvPr/>
        </p:nvSpPr>
        <p:spPr>
          <a:xfrm>
            <a:off x="5897880" y="5120640"/>
            <a:ext cx="274320" cy="365760"/>
          </a:xfrm>
          <a:prstGeom prst="rect">
            <a:avLst/>
          </a:prstGeom>
          <a:noFill/>
        </p:spPr>
        <p:txBody>
          <a:bodyPr wrap="square" anchor="t" lIns="0" rIns="0" tIns="0" bIns="0">
            <a:spAutoFit/>
          </a:bodyPr>
          <a:lstStyle/>
          <a:p>
            <a:pPr algn="ctr"/>
            <a:r>
              <a:rPr sz="1600" b="0" i="0">
                <a:solidFill>
                  <a:srgbClr val="55657E"/>
                </a:solidFill>
                <a:latin typeface="Calibri"/>
              </a:rPr>
              <a:t>→</a:t>
            </a:r>
          </a:p>
        </p:txBody>
      </p:sp>
      <p:sp>
        <p:nvSpPr>
          <p:cNvPr id="26" name="TextBox 25"/>
          <p:cNvSpPr txBox="1"/>
          <p:nvPr/>
        </p:nvSpPr>
        <p:spPr>
          <a:xfrm>
            <a:off x="6126480" y="5047488"/>
            <a:ext cx="2377440" cy="548640"/>
          </a:xfrm>
          <a:prstGeom prst="rect">
            <a:avLst/>
          </a:prstGeom>
          <a:noFill/>
        </p:spPr>
        <p:txBody>
          <a:bodyPr wrap="square" anchor="t" lIns="0" rIns="0" tIns="0" bIns="0">
            <a:spAutoFit/>
          </a:bodyPr>
          <a:lstStyle/>
          <a:p>
            <a:pPr algn="ctr"/>
            <a:r>
              <a:rPr sz="1300" b="1" i="0">
                <a:solidFill>
                  <a:srgbClr val="0F1E36"/>
                </a:solidFill>
                <a:latin typeface="Calibri"/>
              </a:rPr>
              <a:t>2.º semestre</a:t>
            </a:r>
          </a:p>
          <a:p>
            <a:pPr algn="ctr"/>
            <a:r>
              <a:rPr sz="1150" b="0" i="0">
                <a:solidFill>
                  <a:srgbClr val="55657E"/>
                </a:solidFill>
                <a:latin typeface="Calibri"/>
              </a:rPr>
              <a:t>mayor abandono</a:t>
            </a:r>
          </a:p>
        </p:txBody>
      </p:sp>
      <p:sp>
        <p:nvSpPr>
          <p:cNvPr id="27" name="TextBox 26"/>
          <p:cNvSpPr txBox="1"/>
          <p:nvPr/>
        </p:nvSpPr>
        <p:spPr>
          <a:xfrm>
            <a:off x="8503920" y="5120640"/>
            <a:ext cx="274320" cy="365760"/>
          </a:xfrm>
          <a:prstGeom prst="rect">
            <a:avLst/>
          </a:prstGeom>
          <a:noFill/>
        </p:spPr>
        <p:txBody>
          <a:bodyPr wrap="square" anchor="t" lIns="0" rIns="0" tIns="0" bIns="0">
            <a:spAutoFit/>
          </a:bodyPr>
          <a:lstStyle/>
          <a:p>
            <a:pPr algn="ctr"/>
            <a:r>
              <a:rPr sz="1600" b="0" i="0">
                <a:solidFill>
                  <a:srgbClr val="55657E"/>
                </a:solidFill>
                <a:latin typeface="Calibri"/>
              </a:rPr>
              <a:t>→</a:t>
            </a:r>
          </a:p>
        </p:txBody>
      </p:sp>
      <p:sp>
        <p:nvSpPr>
          <p:cNvPr id="28" name="TextBox 27"/>
          <p:cNvSpPr txBox="1"/>
          <p:nvPr/>
        </p:nvSpPr>
        <p:spPr>
          <a:xfrm>
            <a:off x="8732520" y="5047488"/>
            <a:ext cx="2377440" cy="548640"/>
          </a:xfrm>
          <a:prstGeom prst="rect">
            <a:avLst/>
          </a:prstGeom>
          <a:noFill/>
        </p:spPr>
        <p:txBody>
          <a:bodyPr wrap="square" anchor="t" lIns="0" rIns="0" tIns="0" bIns="0">
            <a:spAutoFit/>
          </a:bodyPr>
          <a:lstStyle/>
          <a:p>
            <a:pPr algn="ctr"/>
            <a:r>
              <a:rPr sz="1300" b="1" i="0">
                <a:solidFill>
                  <a:srgbClr val="0F1E36"/>
                </a:solidFill>
                <a:latin typeface="Calibri"/>
              </a:rPr>
              <a:t>3.º en adelante</a:t>
            </a:r>
          </a:p>
          <a:p>
            <a:pPr algn="ctr"/>
            <a:r>
              <a:rPr sz="1150" b="0" i="0">
                <a:solidFill>
                  <a:srgbClr val="55657E"/>
                </a:solidFill>
                <a:latin typeface="Calibri"/>
              </a:rPr>
              <a:t>seguimiento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3</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Pregunta, datos y método</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Metodología CRISP-DM: seis fases, con regresos cuando aparecían inconsistencias</a:t>
            </a:r>
          </a:p>
        </p:txBody>
      </p:sp>
      <p:sp>
        <p:nvSpPr>
          <p:cNvPr id="7" name="Rounded Rectangle 6"/>
          <p:cNvSpPr/>
          <p:nvPr/>
        </p:nvSpPr>
        <p:spPr>
          <a:xfrm>
            <a:off x="731520" y="1508760"/>
            <a:ext cx="10424160" cy="82296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1554480"/>
            <a:ext cx="9966960" cy="731520"/>
          </a:xfrm>
          <a:prstGeom prst="rect">
            <a:avLst/>
          </a:prstGeom>
          <a:noFill/>
        </p:spPr>
        <p:txBody>
          <a:bodyPr wrap="square" anchor="ctr" lIns="0" rIns="0" tIns="0" bIns="0">
            <a:spAutoFit/>
          </a:bodyPr>
          <a:lstStyle/>
          <a:p>
            <a:pPr algn="l"/>
            <a:r>
              <a:rPr sz="1700" b="1" i="0">
                <a:solidFill>
                  <a:srgbClr val="1F5FAE"/>
                </a:solidFill>
                <a:latin typeface="Calibri"/>
              </a:rPr>
              <a:t>Pregunta central  </a:t>
            </a:r>
            <a:r>
              <a:rPr sz="1700" b="0" i="0">
                <a:solidFill>
                  <a:srgbClr val="0F1E36"/>
                </a:solidFill>
                <a:latin typeface="Calibri"/>
              </a:rPr>
              <a:t>¿Qué algoritmo de aprendizaje automático predice mejor el rendimiento académico?</a:t>
            </a:r>
          </a:p>
        </p:txBody>
      </p:sp>
      <p:sp>
        <p:nvSpPr>
          <p:cNvPr id="9" name="Rounded Rectangle 8"/>
          <p:cNvSpPr/>
          <p:nvPr/>
        </p:nvSpPr>
        <p:spPr>
          <a:xfrm>
            <a:off x="731520" y="2560320"/>
            <a:ext cx="1600200" cy="960120"/>
          </a:xfrm>
          <a:prstGeom prst="roundRect">
            <a:avLst>
              <a:gd name="adj" fmla="val 6000"/>
            </a:avLst>
          </a:prstGeom>
          <a:solidFill>
            <a:srgbClr val="FFFFFF"/>
          </a:solidFill>
          <a:ln w="19050">
            <a:solidFill>
              <a:srgbClr val="1F5FA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2606040"/>
            <a:ext cx="1600200" cy="868680"/>
          </a:xfrm>
          <a:prstGeom prst="rect">
            <a:avLst/>
          </a:prstGeom>
          <a:noFill/>
        </p:spPr>
        <p:txBody>
          <a:bodyPr wrap="square" anchor="ctr" lIns="0" rIns="0" tIns="0" bIns="0">
            <a:spAutoFit/>
          </a:bodyPr>
          <a:lstStyle/>
          <a:p>
            <a:pPr algn="ctr"/>
            <a:r>
              <a:rPr sz="1100" b="1" i="0">
                <a:solidFill>
                  <a:srgbClr val="1F5FAE"/>
                </a:solidFill>
                <a:latin typeface="Calibri"/>
              </a:rPr>
              <a:t>Fase 1</a:t>
            </a:r>
          </a:p>
          <a:p>
            <a:pPr algn="ctr"/>
            <a:r>
              <a:rPr sz="1500" b="1" i="0">
                <a:solidFill>
                  <a:srgbClr val="0F1E36"/>
                </a:solidFill>
                <a:latin typeface="Calibri"/>
              </a:rPr>
              <a:t>Negocio</a:t>
            </a:r>
          </a:p>
          <a:p>
            <a:pPr algn="ctr"/>
            <a:r>
              <a:rPr sz="1100" b="0" i="0">
                <a:solidFill>
                  <a:srgbClr val="55657E"/>
                </a:solidFill>
                <a:latin typeface="Calibri"/>
              </a:rPr>
              <a:t>definir el problema</a:t>
            </a:r>
          </a:p>
        </p:txBody>
      </p:sp>
      <p:sp>
        <p:nvSpPr>
          <p:cNvPr id="11" name="Rounded Rectangle 10"/>
          <p:cNvSpPr/>
          <p:nvPr/>
        </p:nvSpPr>
        <p:spPr>
          <a:xfrm>
            <a:off x="2496312" y="2560320"/>
            <a:ext cx="1600200" cy="960120"/>
          </a:xfrm>
          <a:prstGeom prst="roundRect">
            <a:avLst>
              <a:gd name="adj" fmla="val 6000"/>
            </a:avLst>
          </a:prstGeom>
          <a:solidFill>
            <a:srgbClr val="FFFFFF"/>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496312" y="2606040"/>
            <a:ext cx="1600200" cy="868680"/>
          </a:xfrm>
          <a:prstGeom prst="rect">
            <a:avLst/>
          </a:prstGeom>
          <a:noFill/>
        </p:spPr>
        <p:txBody>
          <a:bodyPr wrap="square" anchor="ctr" lIns="0" rIns="0" tIns="0" bIns="0">
            <a:spAutoFit/>
          </a:bodyPr>
          <a:lstStyle/>
          <a:p>
            <a:pPr algn="ctr"/>
            <a:r>
              <a:rPr sz="1100" b="1" i="0">
                <a:solidFill>
                  <a:srgbClr val="047857"/>
                </a:solidFill>
                <a:latin typeface="Calibri"/>
              </a:rPr>
              <a:t>Fase 2</a:t>
            </a:r>
          </a:p>
          <a:p>
            <a:pPr algn="ctr"/>
            <a:r>
              <a:rPr sz="1500" b="1" i="0">
                <a:solidFill>
                  <a:srgbClr val="0F1E36"/>
                </a:solidFill>
                <a:latin typeface="Calibri"/>
              </a:rPr>
              <a:t>Datos</a:t>
            </a:r>
          </a:p>
          <a:p>
            <a:pPr algn="ctr"/>
            <a:r>
              <a:rPr sz="1100" b="0" i="0">
                <a:solidFill>
                  <a:srgbClr val="55657E"/>
                </a:solidFill>
                <a:latin typeface="Calibri"/>
              </a:rPr>
              <a:t>entender las fuentes</a:t>
            </a:r>
          </a:p>
        </p:txBody>
      </p:sp>
      <p:sp>
        <p:nvSpPr>
          <p:cNvPr id="13" name="Rounded Rectangle 12"/>
          <p:cNvSpPr/>
          <p:nvPr/>
        </p:nvSpPr>
        <p:spPr>
          <a:xfrm>
            <a:off x="4261104" y="2560320"/>
            <a:ext cx="1600200" cy="960120"/>
          </a:xfrm>
          <a:prstGeom prst="roundRect">
            <a:avLst>
              <a:gd name="adj" fmla="val 6000"/>
            </a:avLst>
          </a:prstGeom>
          <a:solidFill>
            <a:srgbClr val="FFFFFF"/>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61104" y="2606040"/>
            <a:ext cx="1600200" cy="868680"/>
          </a:xfrm>
          <a:prstGeom prst="rect">
            <a:avLst/>
          </a:prstGeom>
          <a:noFill/>
        </p:spPr>
        <p:txBody>
          <a:bodyPr wrap="square" anchor="ctr" lIns="0" rIns="0" tIns="0" bIns="0">
            <a:spAutoFit/>
          </a:bodyPr>
          <a:lstStyle/>
          <a:p>
            <a:pPr algn="ctr"/>
            <a:r>
              <a:rPr sz="1100" b="1" i="0">
                <a:solidFill>
                  <a:srgbClr val="D97706"/>
                </a:solidFill>
                <a:latin typeface="Calibri"/>
              </a:rPr>
              <a:t>Fase 3</a:t>
            </a:r>
          </a:p>
          <a:p>
            <a:pPr algn="ctr"/>
            <a:r>
              <a:rPr sz="1500" b="1" i="0">
                <a:solidFill>
                  <a:srgbClr val="0F1E36"/>
                </a:solidFill>
                <a:latin typeface="Calibri"/>
              </a:rPr>
              <a:t>Preparación</a:t>
            </a:r>
          </a:p>
          <a:p>
            <a:pPr algn="ctr"/>
            <a:r>
              <a:rPr sz="1100" b="0" i="0">
                <a:solidFill>
                  <a:srgbClr val="55657E"/>
                </a:solidFill>
                <a:latin typeface="Calibri"/>
              </a:rPr>
              <a:t>limpiar e integrar</a:t>
            </a:r>
          </a:p>
        </p:txBody>
      </p:sp>
      <p:sp>
        <p:nvSpPr>
          <p:cNvPr id="15" name="Rounded Rectangle 14"/>
          <p:cNvSpPr/>
          <p:nvPr/>
        </p:nvSpPr>
        <p:spPr>
          <a:xfrm>
            <a:off x="6025896" y="2560320"/>
            <a:ext cx="1600200" cy="960120"/>
          </a:xfrm>
          <a:prstGeom prst="roundRect">
            <a:avLst>
              <a:gd name="adj" fmla="val 6000"/>
            </a:avLst>
          </a:prstGeom>
          <a:solidFill>
            <a:srgbClr val="FFFFFF"/>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25896" y="2606040"/>
            <a:ext cx="1600200" cy="868680"/>
          </a:xfrm>
          <a:prstGeom prst="rect">
            <a:avLst/>
          </a:prstGeom>
          <a:noFill/>
        </p:spPr>
        <p:txBody>
          <a:bodyPr wrap="square" anchor="ctr" lIns="0" rIns="0" tIns="0" bIns="0">
            <a:spAutoFit/>
          </a:bodyPr>
          <a:lstStyle/>
          <a:p>
            <a:pPr algn="ctr"/>
            <a:r>
              <a:rPr sz="1100" b="1" i="0">
                <a:solidFill>
                  <a:srgbClr val="B91C1C"/>
                </a:solidFill>
                <a:latin typeface="Calibri"/>
              </a:rPr>
              <a:t>Fase 4</a:t>
            </a:r>
          </a:p>
          <a:p>
            <a:pPr algn="ctr"/>
            <a:r>
              <a:rPr sz="1500" b="1" i="0">
                <a:solidFill>
                  <a:srgbClr val="0F1E36"/>
                </a:solidFill>
                <a:latin typeface="Calibri"/>
              </a:rPr>
              <a:t>Modelado</a:t>
            </a:r>
          </a:p>
          <a:p>
            <a:pPr algn="ctr"/>
            <a:r>
              <a:rPr sz="1100" b="0" i="0">
                <a:solidFill>
                  <a:srgbClr val="55657E"/>
                </a:solidFill>
                <a:latin typeface="Calibri"/>
              </a:rPr>
              <a:t>entrenar algoritmos</a:t>
            </a:r>
          </a:p>
        </p:txBody>
      </p:sp>
      <p:sp>
        <p:nvSpPr>
          <p:cNvPr id="17" name="Rounded Rectangle 16"/>
          <p:cNvSpPr/>
          <p:nvPr/>
        </p:nvSpPr>
        <p:spPr>
          <a:xfrm>
            <a:off x="7790688" y="2560320"/>
            <a:ext cx="1600200" cy="960120"/>
          </a:xfrm>
          <a:prstGeom prst="roundRect">
            <a:avLst>
              <a:gd name="adj" fmla="val 6000"/>
            </a:avLst>
          </a:prstGeom>
          <a:solidFill>
            <a:srgbClr val="FFFFFF"/>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90688" y="2606040"/>
            <a:ext cx="1600200" cy="868680"/>
          </a:xfrm>
          <a:prstGeom prst="rect">
            <a:avLst/>
          </a:prstGeom>
          <a:noFill/>
        </p:spPr>
        <p:txBody>
          <a:bodyPr wrap="square" anchor="ctr" lIns="0" rIns="0" tIns="0" bIns="0">
            <a:spAutoFit/>
          </a:bodyPr>
          <a:lstStyle/>
          <a:p>
            <a:pPr algn="ctr"/>
            <a:r>
              <a:rPr sz="1100" b="1" i="0">
                <a:solidFill>
                  <a:srgbClr val="6D28D9"/>
                </a:solidFill>
                <a:latin typeface="Calibri"/>
              </a:rPr>
              <a:t>Fase 5</a:t>
            </a:r>
          </a:p>
          <a:p>
            <a:pPr algn="ctr"/>
            <a:r>
              <a:rPr sz="1500" b="1" i="0">
                <a:solidFill>
                  <a:srgbClr val="0F1E36"/>
                </a:solidFill>
                <a:latin typeface="Calibri"/>
              </a:rPr>
              <a:t>Evaluación</a:t>
            </a:r>
          </a:p>
          <a:p>
            <a:pPr algn="ctr"/>
            <a:r>
              <a:rPr sz="1100" b="0" i="0">
                <a:solidFill>
                  <a:srgbClr val="55657E"/>
                </a:solidFill>
                <a:latin typeface="Calibri"/>
              </a:rPr>
              <a:t>medir y comparar</a:t>
            </a:r>
          </a:p>
        </p:txBody>
      </p:sp>
      <p:sp>
        <p:nvSpPr>
          <p:cNvPr id="19" name="Rounded Rectangle 18"/>
          <p:cNvSpPr/>
          <p:nvPr/>
        </p:nvSpPr>
        <p:spPr>
          <a:xfrm>
            <a:off x="9555480" y="2560320"/>
            <a:ext cx="1600200" cy="960120"/>
          </a:xfrm>
          <a:prstGeom prst="roundRect">
            <a:avLst>
              <a:gd name="adj" fmla="val 6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55480" y="2606040"/>
            <a:ext cx="1600200" cy="868680"/>
          </a:xfrm>
          <a:prstGeom prst="rect">
            <a:avLst/>
          </a:prstGeom>
          <a:noFill/>
        </p:spPr>
        <p:txBody>
          <a:bodyPr wrap="square" anchor="ctr" lIns="0" rIns="0" tIns="0" bIns="0">
            <a:spAutoFit/>
          </a:bodyPr>
          <a:lstStyle/>
          <a:p>
            <a:pPr algn="ctr"/>
            <a:r>
              <a:rPr sz="1100" b="1" i="0">
                <a:solidFill>
                  <a:srgbClr val="0F766E"/>
                </a:solidFill>
                <a:latin typeface="Calibri"/>
              </a:rPr>
              <a:t>Fase 6</a:t>
            </a:r>
          </a:p>
          <a:p>
            <a:pPr algn="ctr"/>
            <a:r>
              <a:rPr sz="1500" b="1" i="0">
                <a:solidFill>
                  <a:srgbClr val="0F1E36"/>
                </a:solidFill>
                <a:latin typeface="Calibri"/>
              </a:rPr>
              <a:t>Despliegue</a:t>
            </a:r>
          </a:p>
          <a:p>
            <a:pPr algn="ctr"/>
            <a:r>
              <a:rPr sz="1100" b="0" i="0">
                <a:solidFill>
                  <a:srgbClr val="55657E"/>
                </a:solidFill>
                <a:latin typeface="Calibri"/>
              </a:rPr>
              <a:t>llevar a uso</a:t>
            </a:r>
          </a:p>
        </p:txBody>
      </p:sp>
      <p:sp>
        <p:nvSpPr>
          <p:cNvPr id="21" name="TextBox 20"/>
          <p:cNvSpPr txBox="1"/>
          <p:nvPr/>
        </p:nvSpPr>
        <p:spPr>
          <a:xfrm>
            <a:off x="731520" y="3749039"/>
            <a:ext cx="1600200" cy="548640"/>
          </a:xfrm>
          <a:prstGeom prst="rect">
            <a:avLst/>
          </a:prstGeom>
          <a:noFill/>
        </p:spPr>
        <p:txBody>
          <a:bodyPr wrap="square" anchor="t" lIns="0" rIns="0" tIns="0" bIns="0">
            <a:spAutoFit/>
          </a:bodyPr>
          <a:lstStyle/>
          <a:p>
            <a:pPr algn="ctr"/>
            <a:r>
              <a:rPr sz="2600" b="1" i="0">
                <a:solidFill>
                  <a:srgbClr val="D97706"/>
                </a:solidFill>
                <a:latin typeface="Calibri"/>
              </a:rPr>
              <a:t>8 503</a:t>
            </a:r>
          </a:p>
        </p:txBody>
      </p:sp>
      <p:sp>
        <p:nvSpPr>
          <p:cNvPr id="22" name="TextBox 21"/>
          <p:cNvSpPr txBox="1"/>
          <p:nvPr/>
        </p:nvSpPr>
        <p:spPr>
          <a:xfrm>
            <a:off x="731520" y="4297680"/>
            <a:ext cx="1600200" cy="411480"/>
          </a:xfrm>
          <a:prstGeom prst="rect">
            <a:avLst/>
          </a:prstGeom>
          <a:noFill/>
        </p:spPr>
        <p:txBody>
          <a:bodyPr wrap="square" anchor="t" lIns="0" rIns="0" tIns="0" bIns="0">
            <a:spAutoFit/>
          </a:bodyPr>
          <a:lstStyle/>
          <a:p>
            <a:pPr algn="ctr"/>
            <a:r>
              <a:rPr sz="1200" b="0" i="0">
                <a:solidFill>
                  <a:srgbClr val="55657E"/>
                </a:solidFill>
                <a:latin typeface="Calibri"/>
              </a:rPr>
              <a:t>notas</a:t>
            </a:r>
          </a:p>
        </p:txBody>
      </p:sp>
      <p:sp>
        <p:nvSpPr>
          <p:cNvPr id="23" name="TextBox 22"/>
          <p:cNvSpPr txBox="1"/>
          <p:nvPr/>
        </p:nvSpPr>
        <p:spPr>
          <a:xfrm>
            <a:off x="2496312" y="3749039"/>
            <a:ext cx="1600200" cy="548640"/>
          </a:xfrm>
          <a:prstGeom prst="rect">
            <a:avLst/>
          </a:prstGeom>
          <a:noFill/>
        </p:spPr>
        <p:txBody>
          <a:bodyPr wrap="square" anchor="t" lIns="0" rIns="0" tIns="0" bIns="0">
            <a:spAutoFit/>
          </a:bodyPr>
          <a:lstStyle/>
          <a:p>
            <a:pPr algn="ctr"/>
            <a:r>
              <a:rPr sz="2600" b="1" i="0">
                <a:solidFill>
                  <a:srgbClr val="D97706"/>
                </a:solidFill>
                <a:latin typeface="Calibri"/>
              </a:rPr>
              <a:t>1 968</a:t>
            </a:r>
          </a:p>
        </p:txBody>
      </p:sp>
      <p:sp>
        <p:nvSpPr>
          <p:cNvPr id="24" name="TextBox 23"/>
          <p:cNvSpPr txBox="1"/>
          <p:nvPr/>
        </p:nvSpPr>
        <p:spPr>
          <a:xfrm>
            <a:off x="2496312" y="4297680"/>
            <a:ext cx="1600200" cy="411480"/>
          </a:xfrm>
          <a:prstGeom prst="rect">
            <a:avLst/>
          </a:prstGeom>
          <a:noFill/>
        </p:spPr>
        <p:txBody>
          <a:bodyPr wrap="square" anchor="t" lIns="0" rIns="0" tIns="0" bIns="0">
            <a:spAutoFit/>
          </a:bodyPr>
          <a:lstStyle/>
          <a:p>
            <a:pPr algn="ctr"/>
            <a:r>
              <a:rPr sz="1200" b="0" i="0">
                <a:solidFill>
                  <a:srgbClr val="55657E"/>
                </a:solidFill>
                <a:latin typeface="Calibri"/>
              </a:rPr>
              <a:t>estados por semestre</a:t>
            </a:r>
          </a:p>
        </p:txBody>
      </p:sp>
      <p:sp>
        <p:nvSpPr>
          <p:cNvPr id="25" name="TextBox 24"/>
          <p:cNvSpPr txBox="1"/>
          <p:nvPr/>
        </p:nvSpPr>
        <p:spPr>
          <a:xfrm>
            <a:off x="4261104" y="3749039"/>
            <a:ext cx="1600200" cy="548640"/>
          </a:xfrm>
          <a:prstGeom prst="rect">
            <a:avLst/>
          </a:prstGeom>
          <a:noFill/>
        </p:spPr>
        <p:txBody>
          <a:bodyPr wrap="square" anchor="t" lIns="0" rIns="0" tIns="0" bIns="0">
            <a:spAutoFit/>
          </a:bodyPr>
          <a:lstStyle/>
          <a:p>
            <a:pPr algn="ctr"/>
            <a:r>
              <a:rPr sz="2600" b="1" i="0">
                <a:solidFill>
                  <a:srgbClr val="D97706"/>
                </a:solidFill>
                <a:latin typeface="Calibri"/>
              </a:rPr>
              <a:t>76</a:t>
            </a:r>
          </a:p>
        </p:txBody>
      </p:sp>
      <p:sp>
        <p:nvSpPr>
          <p:cNvPr id="26" name="TextBox 25"/>
          <p:cNvSpPr txBox="1"/>
          <p:nvPr/>
        </p:nvSpPr>
        <p:spPr>
          <a:xfrm>
            <a:off x="4261104" y="4297680"/>
            <a:ext cx="1600200" cy="411480"/>
          </a:xfrm>
          <a:prstGeom prst="rect">
            <a:avLst/>
          </a:prstGeom>
          <a:noFill/>
        </p:spPr>
        <p:txBody>
          <a:bodyPr wrap="square" anchor="t" lIns="0" rIns="0" tIns="0" bIns="0">
            <a:spAutoFit/>
          </a:bodyPr>
          <a:lstStyle/>
          <a:p>
            <a:pPr algn="ctr"/>
            <a:r>
              <a:rPr sz="1200" b="0" i="0">
                <a:solidFill>
                  <a:srgbClr val="55657E"/>
                </a:solidFill>
                <a:latin typeface="Calibri"/>
              </a:rPr>
              <a:t>registros recuperados</a:t>
            </a:r>
          </a:p>
        </p:txBody>
      </p:sp>
      <p:sp>
        <p:nvSpPr>
          <p:cNvPr id="27" name="TextBox 26"/>
          <p:cNvSpPr txBox="1"/>
          <p:nvPr/>
        </p:nvSpPr>
        <p:spPr>
          <a:xfrm>
            <a:off x="6025896" y="3749039"/>
            <a:ext cx="1600200" cy="548640"/>
          </a:xfrm>
          <a:prstGeom prst="rect">
            <a:avLst/>
          </a:prstGeom>
          <a:noFill/>
        </p:spPr>
        <p:txBody>
          <a:bodyPr wrap="square" anchor="t" lIns="0" rIns="0" tIns="0" bIns="0">
            <a:spAutoFit/>
          </a:bodyPr>
          <a:lstStyle/>
          <a:p>
            <a:pPr algn="ctr"/>
            <a:r>
              <a:rPr sz="2600" b="1" i="0">
                <a:solidFill>
                  <a:srgbClr val="D97706"/>
                </a:solidFill>
                <a:latin typeface="Calibri"/>
              </a:rPr>
              <a:t>541</a:t>
            </a:r>
          </a:p>
        </p:txBody>
      </p:sp>
      <p:sp>
        <p:nvSpPr>
          <p:cNvPr id="28" name="TextBox 27"/>
          <p:cNvSpPr txBox="1"/>
          <p:nvPr/>
        </p:nvSpPr>
        <p:spPr>
          <a:xfrm>
            <a:off x="6025896" y="4297680"/>
            <a:ext cx="1600200" cy="411480"/>
          </a:xfrm>
          <a:prstGeom prst="rect">
            <a:avLst/>
          </a:prstGeom>
          <a:noFill/>
        </p:spPr>
        <p:txBody>
          <a:bodyPr wrap="square" anchor="t" lIns="0" rIns="0" tIns="0" bIns="0">
            <a:spAutoFit/>
          </a:bodyPr>
          <a:lstStyle/>
          <a:p>
            <a:pPr algn="ctr"/>
            <a:r>
              <a:rPr sz="1200" b="0" i="0">
                <a:solidFill>
                  <a:srgbClr val="55657E"/>
                </a:solidFill>
                <a:latin typeface="Calibri"/>
              </a:rPr>
              <a:t>estados completados</a:t>
            </a:r>
          </a:p>
        </p:txBody>
      </p:sp>
      <p:sp>
        <p:nvSpPr>
          <p:cNvPr id="29" name="TextBox 28"/>
          <p:cNvSpPr txBox="1"/>
          <p:nvPr/>
        </p:nvSpPr>
        <p:spPr>
          <a:xfrm>
            <a:off x="7790688" y="3749039"/>
            <a:ext cx="1600200" cy="548640"/>
          </a:xfrm>
          <a:prstGeom prst="rect">
            <a:avLst/>
          </a:prstGeom>
          <a:noFill/>
        </p:spPr>
        <p:txBody>
          <a:bodyPr wrap="square" anchor="t" lIns="0" rIns="0" tIns="0" bIns="0">
            <a:spAutoFit/>
          </a:bodyPr>
          <a:lstStyle/>
          <a:p>
            <a:pPr algn="ctr"/>
            <a:r>
              <a:rPr sz="2600" b="1" i="0">
                <a:solidFill>
                  <a:srgbClr val="D97706"/>
                </a:solidFill>
                <a:latin typeface="Calibri"/>
              </a:rPr>
              <a:t>17</a:t>
            </a:r>
          </a:p>
        </p:txBody>
      </p:sp>
      <p:sp>
        <p:nvSpPr>
          <p:cNvPr id="30" name="TextBox 29"/>
          <p:cNvSpPr txBox="1"/>
          <p:nvPr/>
        </p:nvSpPr>
        <p:spPr>
          <a:xfrm>
            <a:off x="7790688" y="4297680"/>
            <a:ext cx="1600200" cy="411480"/>
          </a:xfrm>
          <a:prstGeom prst="rect">
            <a:avLst/>
          </a:prstGeom>
          <a:noFill/>
        </p:spPr>
        <p:txBody>
          <a:bodyPr wrap="square" anchor="t" lIns="0" rIns="0" tIns="0" bIns="0">
            <a:spAutoFit/>
          </a:bodyPr>
          <a:lstStyle/>
          <a:p>
            <a:pPr algn="ctr"/>
            <a:r>
              <a:rPr sz="1200" b="0" i="0">
                <a:solidFill>
                  <a:srgbClr val="55657E"/>
                </a:solidFill>
                <a:latin typeface="Calibri"/>
              </a:rPr>
              <a:t>trámites descartados</a:t>
            </a:r>
          </a:p>
        </p:txBody>
      </p:sp>
      <p:sp>
        <p:nvSpPr>
          <p:cNvPr id="31" name="TextBox 30"/>
          <p:cNvSpPr txBox="1"/>
          <p:nvPr/>
        </p:nvSpPr>
        <p:spPr>
          <a:xfrm>
            <a:off x="9555480" y="3749039"/>
            <a:ext cx="1600200" cy="548640"/>
          </a:xfrm>
          <a:prstGeom prst="rect">
            <a:avLst/>
          </a:prstGeom>
          <a:noFill/>
        </p:spPr>
        <p:txBody>
          <a:bodyPr wrap="square" anchor="t" lIns="0" rIns="0" tIns="0" bIns="0">
            <a:spAutoFit/>
          </a:bodyPr>
          <a:lstStyle/>
          <a:p>
            <a:pPr algn="ctr"/>
            <a:r>
              <a:rPr sz="2600" b="1" i="0">
                <a:solidFill>
                  <a:srgbClr val="D97706"/>
                </a:solidFill>
                <a:latin typeface="Calibri"/>
              </a:rPr>
              <a:t>N = 90</a:t>
            </a:r>
          </a:p>
        </p:txBody>
      </p:sp>
      <p:sp>
        <p:nvSpPr>
          <p:cNvPr id="32" name="TextBox 31"/>
          <p:cNvSpPr txBox="1"/>
          <p:nvPr/>
        </p:nvSpPr>
        <p:spPr>
          <a:xfrm>
            <a:off x="9555480" y="4297680"/>
            <a:ext cx="1600200" cy="411480"/>
          </a:xfrm>
          <a:prstGeom prst="rect">
            <a:avLst/>
          </a:prstGeom>
          <a:noFill/>
        </p:spPr>
        <p:txBody>
          <a:bodyPr wrap="square" anchor="t" lIns="0" rIns="0" tIns="0" bIns="0">
            <a:spAutoFit/>
          </a:bodyPr>
          <a:lstStyle/>
          <a:p>
            <a:pPr algn="ctr"/>
            <a:r>
              <a:rPr sz="1200" b="0" i="0">
                <a:solidFill>
                  <a:srgbClr val="55657E"/>
                </a:solidFill>
                <a:latin typeface="Calibri"/>
              </a:rPr>
              <a:t>estudiantes con actividad</a:t>
            </a:r>
          </a:p>
        </p:txBody>
      </p:sp>
      <p:sp>
        <p:nvSpPr>
          <p:cNvPr id="33" name="Rounded Rectangle 32"/>
          <p:cNvSpPr/>
          <p:nvPr/>
        </p:nvSpPr>
        <p:spPr>
          <a:xfrm>
            <a:off x="731520" y="5029200"/>
            <a:ext cx="10424160" cy="73152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0120" y="5074920"/>
            <a:ext cx="9966960" cy="640080"/>
          </a:xfrm>
          <a:prstGeom prst="rect">
            <a:avLst/>
          </a:prstGeom>
          <a:noFill/>
        </p:spPr>
        <p:txBody>
          <a:bodyPr wrap="square" anchor="ctr" lIns="0" rIns="0" tIns="0" bIns="0">
            <a:spAutoFit/>
          </a:bodyPr>
          <a:lstStyle/>
          <a:p>
            <a:pPr algn="l"/>
            <a:r>
              <a:rPr sz="1450" b="1" i="0">
                <a:solidFill>
                  <a:srgbClr val="C2610C"/>
                </a:solidFill>
                <a:latin typeface="Calibri"/>
              </a:rPr>
              <a:t>Dato clave:  </a:t>
            </a:r>
            <a:r>
              <a:rPr sz="1450" b="0" i="0">
                <a:solidFill>
                  <a:srgbClr val="0F1E36"/>
                </a:solidFill>
                <a:latin typeface="Calibri"/>
              </a:rPr>
              <a:t>las seis fuentes de la Oficina de Sistemas se hicieron para gestión, no para análisis. Limpiarlas, con reglas escritas y sin tocar los originales, fue la mayor parte del trabajo.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4</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Lo que publicamos</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Resumen enviado al CICI · validación cruzada de cinco pliegues · N = 90</a:t>
            </a:r>
          </a:p>
        </p:txBody>
      </p:sp>
      <p:graphicFrame>
        <p:nvGraphicFramePr>
          <p:cNvPr id="7" name="Table 6"/>
          <p:cNvGraphicFramePr>
            <a:graphicFrameLocks noGrp="1"/>
          </p:cNvGraphicFramePr>
          <p:nvPr/>
        </p:nvGraphicFramePr>
        <p:xfrm>
          <a:off x="731520" y="1508760"/>
          <a:ext cx="6766560" cy="2688336"/>
        </p:xfrm>
        <a:graphic>
          <a:graphicData uri="http://schemas.openxmlformats.org/drawingml/2006/table">
            <a:tbl>
              <a:tblPr firstRow="1" bandRow="1">
                <a:tableStyleId>{5C22544A-7EE6-4342-B048-85BDC9FD1C3A}</a:tableStyleId>
              </a:tblPr>
              <a:tblGrid>
                <a:gridCol w="2011680"/>
                <a:gridCol w="1463040"/>
                <a:gridCol w="822960"/>
                <a:gridCol w="868680"/>
                <a:gridCol w="777240"/>
                <a:gridCol w="822960"/>
              </a:tblGrid>
              <a:tr h="384048">
                <a:tc>
                  <a:txBody>
                    <a:bodyPr/>
                    <a:lstStyle/>
                    <a:p>
                      <a:pPr algn="l"/>
                      <a:r>
                        <a:rPr sz="1200" b="1">
                          <a:solidFill>
                            <a:srgbClr val="55657E"/>
                          </a:solidFill>
                          <a:latin typeface="Calibri"/>
                        </a:rPr>
                        <a:t>Objetivo</a:t>
                      </a:r>
                    </a:p>
                  </a:txBody>
                  <a:tcPr marL="73152" marR="73152" anchor="ctr">
                    <a:solidFill>
                      <a:srgbClr val="E3EAF4"/>
                    </a:solidFill>
                  </a:tcPr>
                </a:tc>
                <a:tc>
                  <a:txBody>
                    <a:bodyPr/>
                    <a:lstStyle/>
                    <a:p>
                      <a:pPr algn="l"/>
                      <a:r>
                        <a:rPr sz="1200" b="1">
                          <a:solidFill>
                            <a:srgbClr val="55657E"/>
                          </a:solidFill>
                          <a:latin typeface="Calibri"/>
                        </a:rPr>
                        <a:t>Modelo</a:t>
                      </a:r>
                    </a:p>
                  </a:txBody>
                  <a:tcPr marL="73152" marR="73152" anchor="ctr">
                    <a:solidFill>
                      <a:srgbClr val="E3EAF4"/>
                    </a:solidFill>
                  </a:tcPr>
                </a:tc>
                <a:tc>
                  <a:txBody>
                    <a:bodyPr/>
                    <a:lstStyle/>
                    <a:p>
                      <a:pPr algn="ctr"/>
                      <a:r>
                        <a:rPr sz="1200" b="1">
                          <a:solidFill>
                            <a:srgbClr val="55657E"/>
                          </a:solidFill>
                          <a:latin typeface="Calibri"/>
                        </a:rPr>
                        <a:t>Exhaust.</a:t>
                      </a:r>
                    </a:p>
                  </a:txBody>
                  <a:tcPr marL="73152" marR="73152" anchor="ctr">
                    <a:solidFill>
                      <a:srgbClr val="E3EAF4"/>
                    </a:solidFill>
                  </a:tcPr>
                </a:tc>
                <a:tc>
                  <a:txBody>
                    <a:bodyPr/>
                    <a:lstStyle/>
                    <a:p>
                      <a:pPr algn="ctr"/>
                      <a:r>
                        <a:rPr sz="1200" b="1">
                          <a:solidFill>
                            <a:srgbClr val="55657E"/>
                          </a:solidFill>
                          <a:latin typeface="Calibri"/>
                        </a:rPr>
                        <a:t>Precisión</a:t>
                      </a:r>
                    </a:p>
                  </a:txBody>
                  <a:tcPr marL="73152" marR="73152" anchor="ctr">
                    <a:solidFill>
                      <a:srgbClr val="E3EAF4"/>
                    </a:solidFill>
                  </a:tcPr>
                </a:tc>
                <a:tc>
                  <a:txBody>
                    <a:bodyPr/>
                    <a:lstStyle/>
                    <a:p>
                      <a:pPr algn="ctr"/>
                      <a:r>
                        <a:rPr sz="1200" b="1">
                          <a:solidFill>
                            <a:srgbClr val="55657E"/>
                          </a:solidFill>
                          <a:latin typeface="Calibri"/>
                        </a:rPr>
                        <a:t>AUC</a:t>
                      </a:r>
                    </a:p>
                  </a:txBody>
                  <a:tcPr marL="73152" marR="73152" anchor="ctr">
                    <a:solidFill>
                      <a:srgbClr val="E3EAF4"/>
                    </a:solidFill>
                  </a:tcPr>
                </a:tc>
                <a:tc>
                  <a:txBody>
                    <a:bodyPr/>
                    <a:lstStyle/>
                    <a:p>
                      <a:pPr algn="ctr"/>
                      <a:r>
                        <a:rPr sz="1200" b="1">
                          <a:solidFill>
                            <a:srgbClr val="55657E"/>
                          </a:solidFill>
                          <a:latin typeface="Calibri"/>
                        </a:rPr>
                        <a:t>MCC</a:t>
                      </a:r>
                    </a:p>
                  </a:txBody>
                  <a:tcPr marL="73152" marR="73152" anchor="ctr">
                    <a:solidFill>
                      <a:srgbClr val="E3EAF4"/>
                    </a:solidFill>
                  </a:tcPr>
                </a:tc>
              </a:tr>
              <a:tr h="384048">
                <a:tc>
                  <a:txBody>
                    <a:bodyPr/>
                    <a:lstStyle/>
                    <a:p>
                      <a:pPr algn="l"/>
                      <a:r>
                        <a:rPr sz="1250" b="0">
                          <a:solidFill>
                            <a:srgbClr val="0F1E36"/>
                          </a:solidFill>
                          <a:latin typeface="Calibri"/>
                        </a:rPr>
                        <a:t>Bajo rendimiento (u = 0,29)</a:t>
                      </a:r>
                    </a:p>
                  </a:txBody>
                  <a:tcPr marL="73152" marR="73152" anchor="ctr">
                    <a:solidFill>
                      <a:srgbClr val="FFFFFF"/>
                    </a:solidFill>
                  </a:tcPr>
                </a:tc>
                <a:tc>
                  <a:txBody>
                    <a:bodyPr/>
                    <a:lstStyle/>
                    <a:p>
                      <a:pPr algn="l"/>
                      <a:r>
                        <a:rPr sz="1250" b="0">
                          <a:solidFill>
                            <a:srgbClr val="0F1E36"/>
                          </a:solidFill>
                          <a:latin typeface="Calibri"/>
                        </a:rPr>
                        <a:t>Decision Tree</a:t>
                      </a:r>
                    </a:p>
                  </a:txBody>
                  <a:tcPr marL="73152" marR="73152" anchor="ctr">
                    <a:solidFill>
                      <a:srgbClr val="FFFFFF"/>
                    </a:solidFill>
                  </a:tcPr>
                </a:tc>
                <a:tc>
                  <a:txBody>
                    <a:bodyPr/>
                    <a:lstStyle/>
                    <a:p>
                      <a:pPr algn="ctr"/>
                      <a:r>
                        <a:rPr sz="1250" b="0">
                          <a:solidFill>
                            <a:srgbClr val="0F1E36"/>
                          </a:solidFill>
                          <a:latin typeface="Calibri"/>
                        </a:rPr>
                        <a:t>0,632</a:t>
                      </a:r>
                    </a:p>
                  </a:txBody>
                  <a:tcPr marL="73152" marR="73152" anchor="ctr">
                    <a:solidFill>
                      <a:srgbClr val="FFFFFF"/>
                    </a:solidFill>
                  </a:tcPr>
                </a:tc>
                <a:tc>
                  <a:txBody>
                    <a:bodyPr/>
                    <a:lstStyle/>
                    <a:p>
                      <a:pPr algn="ctr"/>
                      <a:r>
                        <a:rPr sz="1250" b="0">
                          <a:solidFill>
                            <a:srgbClr val="0F1E36"/>
                          </a:solidFill>
                          <a:latin typeface="Calibri"/>
                        </a:rPr>
                        <a:t>0,667</a:t>
                      </a:r>
                    </a:p>
                  </a:txBody>
                  <a:tcPr marL="73152" marR="73152" anchor="ctr">
                    <a:solidFill>
                      <a:srgbClr val="FFFFFF"/>
                    </a:solidFill>
                  </a:tcPr>
                </a:tc>
                <a:tc>
                  <a:txBody>
                    <a:bodyPr/>
                    <a:lstStyle/>
                    <a:p>
                      <a:pPr algn="ctr"/>
                      <a:r>
                        <a:rPr sz="1250" b="0">
                          <a:solidFill>
                            <a:srgbClr val="0F1E36"/>
                          </a:solidFill>
                          <a:latin typeface="Calibri"/>
                        </a:rPr>
                        <a:t>0,702</a:t>
                      </a:r>
                    </a:p>
                  </a:txBody>
                  <a:tcPr marL="73152" marR="73152" anchor="ctr">
                    <a:solidFill>
                      <a:srgbClr val="FFFFFF"/>
                    </a:solidFill>
                  </a:tcPr>
                </a:tc>
                <a:tc>
                  <a:txBody>
                    <a:bodyPr/>
                    <a:lstStyle/>
                    <a:p>
                      <a:pPr algn="ctr"/>
                      <a:r>
                        <a:rPr sz="1250" b="0">
                          <a:solidFill>
                            <a:srgbClr val="0F1E36"/>
                          </a:solidFill>
                          <a:latin typeface="Calibri"/>
                        </a:rPr>
                        <a:t>0,404</a:t>
                      </a:r>
                    </a:p>
                  </a:txBody>
                  <a:tcPr marL="73152" marR="73152" anchor="ctr">
                    <a:solidFill>
                      <a:srgbClr val="FFFFFF"/>
                    </a:solidFill>
                  </a:tcPr>
                </a:tc>
              </a:tr>
              <a:tr h="384048">
                <a:tc>
                  <a:txBody>
                    <a:bodyPr/>
                    <a:lstStyle/>
                    <a:p>
                      <a:pPr algn="l"/>
                      <a:r>
                        <a:rPr sz="1250" b="1">
                          <a:solidFill>
                            <a:srgbClr val="047857"/>
                          </a:solidFill>
                          <a:latin typeface="Calibri"/>
                        </a:rPr>
                        <a:t/>
                      </a:r>
                    </a:p>
                  </a:txBody>
                  <a:tcPr marL="73152" marR="73152" anchor="ctr">
                    <a:solidFill>
                      <a:srgbClr val="F7F9FC"/>
                    </a:solidFill>
                  </a:tcPr>
                </a:tc>
                <a:tc>
                  <a:txBody>
                    <a:bodyPr/>
                    <a:lstStyle/>
                    <a:p>
                      <a:pPr algn="l"/>
                      <a:r>
                        <a:rPr sz="1250" b="1">
                          <a:solidFill>
                            <a:srgbClr val="047857"/>
                          </a:solidFill>
                          <a:latin typeface="Calibri"/>
                        </a:rPr>
                        <a:t>Random Forest ✓</a:t>
                      </a:r>
                    </a:p>
                  </a:txBody>
                  <a:tcPr marL="73152" marR="73152" anchor="ctr">
                    <a:solidFill>
                      <a:srgbClr val="F7F9FC"/>
                    </a:solidFill>
                  </a:tcPr>
                </a:tc>
                <a:tc>
                  <a:txBody>
                    <a:bodyPr/>
                    <a:lstStyle/>
                    <a:p>
                      <a:pPr algn="ctr"/>
                      <a:r>
                        <a:rPr sz="1250" b="0">
                          <a:solidFill>
                            <a:srgbClr val="047857"/>
                          </a:solidFill>
                          <a:latin typeface="Calibri"/>
                        </a:rPr>
                        <a:t>0,816</a:t>
                      </a:r>
                    </a:p>
                  </a:txBody>
                  <a:tcPr marL="73152" marR="73152" anchor="ctr">
                    <a:solidFill>
                      <a:srgbClr val="F7F9FC"/>
                    </a:solidFill>
                  </a:tcPr>
                </a:tc>
                <a:tc>
                  <a:txBody>
                    <a:bodyPr/>
                    <a:lstStyle/>
                    <a:p>
                      <a:pPr algn="ctr"/>
                      <a:r>
                        <a:rPr sz="1250" b="0">
                          <a:solidFill>
                            <a:srgbClr val="047857"/>
                          </a:solidFill>
                          <a:latin typeface="Calibri"/>
                        </a:rPr>
                        <a:t>0,484</a:t>
                      </a:r>
                    </a:p>
                  </a:txBody>
                  <a:tcPr marL="73152" marR="73152" anchor="ctr">
                    <a:solidFill>
                      <a:srgbClr val="F7F9FC"/>
                    </a:solidFill>
                  </a:tcPr>
                </a:tc>
                <a:tc>
                  <a:txBody>
                    <a:bodyPr/>
                    <a:lstStyle/>
                    <a:p>
                      <a:pPr algn="ctr"/>
                      <a:r>
                        <a:rPr sz="1250" b="0">
                          <a:solidFill>
                            <a:srgbClr val="047857"/>
                          </a:solidFill>
                          <a:latin typeface="Calibri"/>
                        </a:rPr>
                        <a:t>0,752</a:t>
                      </a:r>
                    </a:p>
                  </a:txBody>
                  <a:tcPr marL="73152" marR="73152" anchor="ctr">
                    <a:solidFill>
                      <a:srgbClr val="F7F9FC"/>
                    </a:solidFill>
                  </a:tcPr>
                </a:tc>
                <a:tc>
                  <a:txBody>
                    <a:bodyPr/>
                    <a:lstStyle/>
                    <a:p>
                      <a:pPr algn="ctr"/>
                      <a:r>
                        <a:rPr sz="1250" b="0">
                          <a:solidFill>
                            <a:srgbClr val="047857"/>
                          </a:solidFill>
                          <a:latin typeface="Calibri"/>
                        </a:rPr>
                        <a:t>0,197</a:t>
                      </a:r>
                    </a:p>
                  </a:txBody>
                  <a:tcPr marL="73152" marR="73152" anchor="ctr">
                    <a:solidFill>
                      <a:srgbClr val="F7F9FC"/>
                    </a:solidFill>
                  </a:tcPr>
                </a:tc>
              </a:tr>
              <a:tr h="384048">
                <a:tc>
                  <a:txBody>
                    <a:bodyPr/>
                    <a:lstStyle/>
                    <a:p>
                      <a:pPr algn="l"/>
                      <a:r>
                        <a:rPr sz="1250" b="0">
                          <a:solidFill>
                            <a:srgbClr val="0F1E36"/>
                          </a:solidFill>
                          <a:latin typeface="Calibri"/>
                        </a:rPr>
                        <a:t/>
                      </a:r>
                    </a:p>
                  </a:txBody>
                  <a:tcPr marL="73152" marR="73152" anchor="ctr">
                    <a:solidFill>
                      <a:srgbClr val="FFFFFF"/>
                    </a:solidFill>
                  </a:tcPr>
                </a:tc>
                <a:tc>
                  <a:txBody>
                    <a:bodyPr/>
                    <a:lstStyle/>
                    <a:p>
                      <a:pPr algn="l"/>
                      <a:r>
                        <a:rPr sz="1250" b="0">
                          <a:solidFill>
                            <a:srgbClr val="0F1E36"/>
                          </a:solidFill>
                          <a:latin typeface="Calibri"/>
                        </a:rPr>
                        <a:t>XGBoost</a:t>
                      </a:r>
                    </a:p>
                  </a:txBody>
                  <a:tcPr marL="73152" marR="73152" anchor="ctr">
                    <a:solidFill>
                      <a:srgbClr val="FFFFFF"/>
                    </a:solidFill>
                  </a:tcPr>
                </a:tc>
                <a:tc>
                  <a:txBody>
                    <a:bodyPr/>
                    <a:lstStyle/>
                    <a:p>
                      <a:pPr algn="ctr"/>
                      <a:r>
                        <a:rPr sz="1250" b="0">
                          <a:solidFill>
                            <a:srgbClr val="0F1E36"/>
                          </a:solidFill>
                          <a:latin typeface="Calibri"/>
                        </a:rPr>
                        <a:t>0,737</a:t>
                      </a:r>
                    </a:p>
                  </a:txBody>
                  <a:tcPr marL="73152" marR="73152" anchor="ctr">
                    <a:solidFill>
                      <a:srgbClr val="FFFFFF"/>
                    </a:solidFill>
                  </a:tcPr>
                </a:tc>
                <a:tc>
                  <a:txBody>
                    <a:bodyPr/>
                    <a:lstStyle/>
                    <a:p>
                      <a:pPr algn="ctr"/>
                      <a:r>
                        <a:rPr sz="1250" b="0">
                          <a:solidFill>
                            <a:srgbClr val="0F1E36"/>
                          </a:solidFill>
                          <a:latin typeface="Calibri"/>
                        </a:rPr>
                        <a:t>0,596</a:t>
                      </a:r>
                    </a:p>
                  </a:txBody>
                  <a:tcPr marL="73152" marR="73152" anchor="ctr">
                    <a:solidFill>
                      <a:srgbClr val="FFFFFF"/>
                    </a:solidFill>
                  </a:tcPr>
                </a:tc>
                <a:tc>
                  <a:txBody>
                    <a:bodyPr/>
                    <a:lstStyle/>
                    <a:p>
                      <a:pPr algn="ctr"/>
                      <a:r>
                        <a:rPr sz="1250" b="0">
                          <a:solidFill>
                            <a:srgbClr val="0F1E36"/>
                          </a:solidFill>
                          <a:latin typeface="Calibri"/>
                        </a:rPr>
                        <a:t>0,776</a:t>
                      </a:r>
                    </a:p>
                  </a:txBody>
                  <a:tcPr marL="73152" marR="73152" anchor="ctr">
                    <a:solidFill>
                      <a:srgbClr val="FFFFFF"/>
                    </a:solidFill>
                  </a:tcPr>
                </a:tc>
                <a:tc>
                  <a:txBody>
                    <a:bodyPr/>
                    <a:lstStyle/>
                    <a:p>
                      <a:pPr algn="ctr"/>
                      <a:r>
                        <a:rPr sz="1250" b="0">
                          <a:solidFill>
                            <a:srgbClr val="0F1E36"/>
                          </a:solidFill>
                          <a:latin typeface="Calibri"/>
                        </a:rPr>
                        <a:t>0,367</a:t>
                      </a:r>
                    </a:p>
                  </a:txBody>
                  <a:tcPr marL="73152" marR="73152" anchor="ctr">
                    <a:solidFill>
                      <a:srgbClr val="FFFFFF"/>
                    </a:solidFill>
                  </a:tcPr>
                </a:tc>
              </a:tr>
              <a:tr h="384048">
                <a:tc>
                  <a:txBody>
                    <a:bodyPr/>
                    <a:lstStyle/>
                    <a:p>
                      <a:pPr algn="l"/>
                      <a:r>
                        <a:rPr sz="1250" b="0">
                          <a:solidFill>
                            <a:srgbClr val="0F1E36"/>
                          </a:solidFill>
                          <a:latin typeface="Calibri"/>
                        </a:rPr>
                        <a:t>Graduación (u = 0,50)</a:t>
                      </a:r>
                    </a:p>
                  </a:txBody>
                  <a:tcPr marL="73152" marR="73152" anchor="ctr">
                    <a:solidFill>
                      <a:srgbClr val="F7F9FC"/>
                    </a:solidFill>
                  </a:tcPr>
                </a:tc>
                <a:tc>
                  <a:txBody>
                    <a:bodyPr/>
                    <a:lstStyle/>
                    <a:p>
                      <a:pPr algn="l"/>
                      <a:r>
                        <a:rPr sz="1250" b="0">
                          <a:solidFill>
                            <a:srgbClr val="0F1E36"/>
                          </a:solidFill>
                          <a:latin typeface="Calibri"/>
                        </a:rPr>
                        <a:t>Decision Tree</a:t>
                      </a:r>
                    </a:p>
                  </a:txBody>
                  <a:tcPr marL="73152" marR="73152" anchor="ctr">
                    <a:solidFill>
                      <a:srgbClr val="F7F9FC"/>
                    </a:solidFill>
                  </a:tcPr>
                </a:tc>
                <a:tc>
                  <a:txBody>
                    <a:bodyPr/>
                    <a:lstStyle/>
                    <a:p>
                      <a:pPr algn="ctr"/>
                      <a:r>
                        <a:rPr sz="1250" b="0">
                          <a:solidFill>
                            <a:srgbClr val="0F1E36"/>
                          </a:solidFill>
                          <a:latin typeface="Calibri"/>
                        </a:rPr>
                        <a:t>0,686</a:t>
                      </a:r>
                    </a:p>
                  </a:txBody>
                  <a:tcPr marL="73152" marR="73152" anchor="ctr">
                    <a:solidFill>
                      <a:srgbClr val="F7F9FC"/>
                    </a:solidFill>
                  </a:tcPr>
                </a:tc>
                <a:tc>
                  <a:txBody>
                    <a:bodyPr/>
                    <a:lstStyle/>
                    <a:p>
                      <a:pPr algn="ctr"/>
                      <a:r>
                        <a:rPr sz="1250" b="0">
                          <a:solidFill>
                            <a:srgbClr val="0F1E36"/>
                          </a:solidFill>
                          <a:latin typeface="Calibri"/>
                        </a:rPr>
                        <a:t>0,686</a:t>
                      </a:r>
                    </a:p>
                  </a:txBody>
                  <a:tcPr marL="73152" marR="73152" anchor="ctr">
                    <a:solidFill>
                      <a:srgbClr val="F7F9FC"/>
                    </a:solidFill>
                  </a:tcPr>
                </a:tc>
                <a:tc>
                  <a:txBody>
                    <a:bodyPr/>
                    <a:lstStyle/>
                    <a:p>
                      <a:pPr algn="ctr"/>
                      <a:r>
                        <a:rPr sz="1250" b="0">
                          <a:solidFill>
                            <a:srgbClr val="0F1E36"/>
                          </a:solidFill>
                          <a:latin typeface="Calibri"/>
                        </a:rPr>
                        <a:t>0,728</a:t>
                      </a:r>
                    </a:p>
                  </a:txBody>
                  <a:tcPr marL="73152" marR="73152" anchor="ctr">
                    <a:solidFill>
                      <a:srgbClr val="F7F9FC"/>
                    </a:solidFill>
                  </a:tcPr>
                </a:tc>
                <a:tc>
                  <a:txBody>
                    <a:bodyPr/>
                    <a:lstStyle/>
                    <a:p>
                      <a:pPr algn="ctr"/>
                      <a:r>
                        <a:rPr sz="1250" b="0">
                          <a:solidFill>
                            <a:srgbClr val="0F1E36"/>
                          </a:solidFill>
                          <a:latin typeface="Calibri"/>
                        </a:rPr>
                        <a:t>0,486</a:t>
                      </a:r>
                    </a:p>
                  </a:txBody>
                  <a:tcPr marL="73152" marR="73152" anchor="ctr">
                    <a:solidFill>
                      <a:srgbClr val="F7F9FC"/>
                    </a:solidFill>
                  </a:tcPr>
                </a:tc>
              </a:tr>
              <a:tr h="384048">
                <a:tc>
                  <a:txBody>
                    <a:bodyPr/>
                    <a:lstStyle/>
                    <a:p>
                      <a:pPr algn="l"/>
                      <a:r>
                        <a:rPr sz="1250" b="0">
                          <a:solidFill>
                            <a:srgbClr val="0F1E36"/>
                          </a:solidFill>
                          <a:latin typeface="Calibri"/>
                        </a:rPr>
                        <a:t/>
                      </a:r>
                    </a:p>
                  </a:txBody>
                  <a:tcPr marL="73152" marR="73152" anchor="ctr">
                    <a:solidFill>
                      <a:srgbClr val="FFFFFF"/>
                    </a:solidFill>
                  </a:tcPr>
                </a:tc>
                <a:tc>
                  <a:txBody>
                    <a:bodyPr/>
                    <a:lstStyle/>
                    <a:p>
                      <a:pPr algn="l"/>
                      <a:r>
                        <a:rPr sz="1250" b="0">
                          <a:solidFill>
                            <a:srgbClr val="0F1E36"/>
                          </a:solidFill>
                          <a:latin typeface="Calibri"/>
                        </a:rPr>
                        <a:t>Random Forest</a:t>
                      </a:r>
                    </a:p>
                  </a:txBody>
                  <a:tcPr marL="73152" marR="73152" anchor="ctr">
                    <a:solidFill>
                      <a:srgbClr val="FFFFFF"/>
                    </a:solidFill>
                  </a:tcPr>
                </a:tc>
                <a:tc>
                  <a:txBody>
                    <a:bodyPr/>
                    <a:lstStyle/>
                    <a:p>
                      <a:pPr algn="ctr"/>
                      <a:r>
                        <a:rPr sz="1250" b="0">
                          <a:solidFill>
                            <a:srgbClr val="0F1E36"/>
                          </a:solidFill>
                          <a:latin typeface="Calibri"/>
                        </a:rPr>
                        <a:t>0,657</a:t>
                      </a:r>
                    </a:p>
                  </a:txBody>
                  <a:tcPr marL="73152" marR="73152" anchor="ctr">
                    <a:solidFill>
                      <a:srgbClr val="FFFFFF"/>
                    </a:solidFill>
                  </a:tcPr>
                </a:tc>
                <a:tc>
                  <a:txBody>
                    <a:bodyPr/>
                    <a:lstStyle/>
                    <a:p>
                      <a:pPr algn="ctr"/>
                      <a:r>
                        <a:rPr sz="1250" b="0">
                          <a:solidFill>
                            <a:srgbClr val="0F1E36"/>
                          </a:solidFill>
                          <a:latin typeface="Calibri"/>
                        </a:rPr>
                        <a:t>0,821</a:t>
                      </a:r>
                    </a:p>
                  </a:txBody>
                  <a:tcPr marL="73152" marR="73152" anchor="ctr">
                    <a:solidFill>
                      <a:srgbClr val="FFFFFF"/>
                    </a:solidFill>
                  </a:tcPr>
                </a:tc>
                <a:tc>
                  <a:txBody>
                    <a:bodyPr/>
                    <a:lstStyle/>
                    <a:p>
                      <a:pPr algn="ctr"/>
                      <a:r>
                        <a:rPr sz="1250" b="0">
                          <a:solidFill>
                            <a:srgbClr val="0F1E36"/>
                          </a:solidFill>
                          <a:latin typeface="Calibri"/>
                        </a:rPr>
                        <a:t>0,844</a:t>
                      </a:r>
                    </a:p>
                  </a:txBody>
                  <a:tcPr marL="73152" marR="73152" anchor="ctr">
                    <a:solidFill>
                      <a:srgbClr val="FFFFFF"/>
                    </a:solidFill>
                  </a:tcPr>
                </a:tc>
                <a:tc>
                  <a:txBody>
                    <a:bodyPr/>
                    <a:lstStyle/>
                    <a:p>
                      <a:pPr algn="ctr"/>
                      <a:r>
                        <a:rPr sz="1250" b="0">
                          <a:solidFill>
                            <a:srgbClr val="0F1E36"/>
                          </a:solidFill>
                          <a:latin typeface="Calibri"/>
                        </a:rPr>
                        <a:t>0,596</a:t>
                      </a:r>
                    </a:p>
                  </a:txBody>
                  <a:tcPr marL="73152" marR="73152" anchor="ctr">
                    <a:solidFill>
                      <a:srgbClr val="FFFFFF"/>
                    </a:solidFill>
                  </a:tcPr>
                </a:tc>
              </a:tr>
              <a:tr h="384048">
                <a:tc>
                  <a:txBody>
                    <a:bodyPr/>
                    <a:lstStyle/>
                    <a:p>
                      <a:pPr algn="l"/>
                      <a:r>
                        <a:rPr sz="1250" b="1">
                          <a:solidFill>
                            <a:srgbClr val="047857"/>
                          </a:solidFill>
                          <a:latin typeface="Calibri"/>
                        </a:rPr>
                        <a:t/>
                      </a:r>
                    </a:p>
                  </a:txBody>
                  <a:tcPr marL="73152" marR="73152" anchor="ctr">
                    <a:solidFill>
                      <a:srgbClr val="F7F9FC"/>
                    </a:solidFill>
                  </a:tcPr>
                </a:tc>
                <a:tc>
                  <a:txBody>
                    <a:bodyPr/>
                    <a:lstStyle/>
                    <a:p>
                      <a:pPr algn="l"/>
                      <a:r>
                        <a:rPr sz="1250" b="1">
                          <a:solidFill>
                            <a:srgbClr val="047857"/>
                          </a:solidFill>
                          <a:latin typeface="Calibri"/>
                        </a:rPr>
                        <a:t>XGBoost ✓</a:t>
                      </a:r>
                    </a:p>
                  </a:txBody>
                  <a:tcPr marL="73152" marR="73152" anchor="ctr">
                    <a:solidFill>
                      <a:srgbClr val="F7F9FC"/>
                    </a:solidFill>
                  </a:tcPr>
                </a:tc>
                <a:tc>
                  <a:txBody>
                    <a:bodyPr/>
                    <a:lstStyle/>
                    <a:p>
                      <a:pPr algn="ctr"/>
                      <a:r>
                        <a:rPr sz="1250" b="0">
                          <a:solidFill>
                            <a:srgbClr val="047857"/>
                          </a:solidFill>
                          <a:latin typeface="Calibri"/>
                        </a:rPr>
                        <a:t>0,600</a:t>
                      </a:r>
                    </a:p>
                  </a:txBody>
                  <a:tcPr marL="73152" marR="73152" anchor="ctr">
                    <a:solidFill>
                      <a:srgbClr val="F7F9FC"/>
                    </a:solidFill>
                  </a:tcPr>
                </a:tc>
                <a:tc>
                  <a:txBody>
                    <a:bodyPr/>
                    <a:lstStyle/>
                    <a:p>
                      <a:pPr algn="ctr"/>
                      <a:r>
                        <a:rPr sz="1250" b="0">
                          <a:solidFill>
                            <a:srgbClr val="047857"/>
                          </a:solidFill>
                          <a:latin typeface="Calibri"/>
                        </a:rPr>
                        <a:t>0,808</a:t>
                      </a:r>
                    </a:p>
                  </a:txBody>
                  <a:tcPr marL="73152" marR="73152" anchor="ctr">
                    <a:solidFill>
                      <a:srgbClr val="F7F9FC"/>
                    </a:solidFill>
                  </a:tcPr>
                </a:tc>
                <a:tc>
                  <a:txBody>
                    <a:bodyPr/>
                    <a:lstStyle/>
                    <a:p>
                      <a:pPr algn="ctr"/>
                      <a:r>
                        <a:rPr sz="1250" b="0">
                          <a:solidFill>
                            <a:srgbClr val="047857"/>
                          </a:solidFill>
                          <a:latin typeface="Calibri"/>
                        </a:rPr>
                        <a:t>0,853</a:t>
                      </a:r>
                    </a:p>
                  </a:txBody>
                  <a:tcPr marL="73152" marR="73152" anchor="ctr">
                    <a:solidFill>
                      <a:srgbClr val="F7F9FC"/>
                    </a:solidFill>
                  </a:tcPr>
                </a:tc>
                <a:tc>
                  <a:txBody>
                    <a:bodyPr/>
                    <a:lstStyle/>
                    <a:p>
                      <a:pPr algn="ctr"/>
                      <a:r>
                        <a:rPr sz="1250" b="0">
                          <a:solidFill>
                            <a:srgbClr val="047857"/>
                          </a:solidFill>
                          <a:latin typeface="Calibri"/>
                        </a:rPr>
                        <a:t>0,548</a:t>
                      </a:r>
                    </a:p>
                  </a:txBody>
                  <a:tcPr marL="73152" marR="73152" anchor="ctr">
                    <a:solidFill>
                      <a:srgbClr val="F7F9FC"/>
                    </a:solidFill>
                  </a:tcPr>
                </a:tc>
              </a:tr>
            </a:tbl>
          </a:graphicData>
        </a:graphic>
      </p:graphicFrame>
      <p:sp>
        <p:nvSpPr>
          <p:cNvPr id="8" name="TextBox 7"/>
          <p:cNvSpPr txBox="1"/>
          <p:nvPr/>
        </p:nvSpPr>
        <p:spPr>
          <a:xfrm>
            <a:off x="731520" y="4279392"/>
            <a:ext cx="6766560" cy="274320"/>
          </a:xfrm>
          <a:prstGeom prst="rect">
            <a:avLst/>
          </a:prstGeom>
          <a:noFill/>
        </p:spPr>
        <p:txBody>
          <a:bodyPr wrap="square" anchor="t" lIns="0" rIns="0" tIns="0" bIns="0">
            <a:spAutoFit/>
          </a:bodyPr>
          <a:lstStyle/>
          <a:p>
            <a:pPr algn="l"/>
            <a:r>
              <a:rPr sz="1100" b="0" i="1">
                <a:solidFill>
                  <a:srgbClr val="55657E"/>
                </a:solidFill>
                <a:latin typeface="Calibri"/>
              </a:rPr>
              <a:t>Exhaustividad = proporción de estudiantes en riesgo que el modelo detecta.  AUC: 1 = perfecto, 0,5 = azar.</a:t>
            </a:r>
          </a:p>
        </p:txBody>
      </p:sp>
      <p:sp>
        <p:nvSpPr>
          <p:cNvPr id="9" name="Rounded Rectangle 8"/>
          <p:cNvSpPr/>
          <p:nvPr/>
        </p:nvSpPr>
        <p:spPr>
          <a:xfrm>
            <a:off x="7818120" y="1508760"/>
            <a:ext cx="3337560" cy="274320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79" y="1645920"/>
            <a:ext cx="3063240" cy="822960"/>
          </a:xfrm>
          <a:prstGeom prst="rect">
            <a:avLst/>
          </a:prstGeom>
          <a:noFill/>
        </p:spPr>
        <p:txBody>
          <a:bodyPr wrap="square" anchor="t" lIns="0" rIns="0" tIns="0" bIns="0">
            <a:spAutoFit/>
          </a:bodyPr>
          <a:lstStyle/>
          <a:p>
            <a:pPr algn="ctr"/>
            <a:r>
              <a:rPr sz="5000" b="1" i="0">
                <a:solidFill>
                  <a:srgbClr val="0369A1"/>
                </a:solidFill>
                <a:latin typeface="Calibri"/>
              </a:rPr>
              <a:t>40,4 %</a:t>
            </a:r>
          </a:p>
        </p:txBody>
      </p:sp>
      <p:sp>
        <p:nvSpPr>
          <p:cNvPr id="11" name="TextBox 10"/>
          <p:cNvSpPr txBox="1"/>
          <p:nvPr/>
        </p:nvSpPr>
        <p:spPr>
          <a:xfrm>
            <a:off x="8001000" y="2560320"/>
            <a:ext cx="2971800" cy="1554480"/>
          </a:xfrm>
          <a:prstGeom prst="rect">
            <a:avLst/>
          </a:prstGeom>
          <a:noFill/>
        </p:spPr>
        <p:txBody>
          <a:bodyPr wrap="square" anchor="t" lIns="0" rIns="0" tIns="0" bIns="0">
            <a:spAutoFit/>
          </a:bodyPr>
          <a:lstStyle/>
          <a:p>
            <a:pPr algn="ctr"/>
            <a:r>
              <a:rPr sz="1350" b="0" i="0">
                <a:solidFill>
                  <a:srgbClr val="0F1E36"/>
                </a:solidFill>
                <a:latin typeface="Calibri"/>
              </a:rPr>
              <a:t>de la importancia en el modelo de bajo rendimiento corresponde al promedio del 1.er semestre (19,7 % en graduación)</a:t>
            </a:r>
          </a:p>
        </p:txBody>
      </p:sp>
      <p:sp>
        <p:nvSpPr>
          <p:cNvPr id="12" name="TextBox 11"/>
          <p:cNvSpPr txBox="1"/>
          <p:nvPr/>
        </p:nvSpPr>
        <p:spPr>
          <a:xfrm>
            <a:off x="731520" y="4617720"/>
            <a:ext cx="10424160" cy="320040"/>
          </a:xfrm>
          <a:prstGeom prst="rect">
            <a:avLst/>
          </a:prstGeom>
          <a:noFill/>
        </p:spPr>
        <p:txBody>
          <a:bodyPr wrap="square" anchor="t" lIns="0" rIns="0" tIns="0" bIns="0">
            <a:spAutoFit/>
          </a:bodyPr>
          <a:lstStyle/>
          <a:p>
            <a:pPr algn="l"/>
            <a:r>
              <a:rPr sz="1350" b="0" i="0">
                <a:solidFill>
                  <a:srgbClr val="55657E"/>
                </a:solidFill>
                <a:latin typeface="Calibri"/>
              </a:rPr>
              <a:t>Sin relación significativa con el rendimiento (resultados negativos, condicionados por el tamaño de los grupos):</a:t>
            </a:r>
          </a:p>
        </p:txBody>
      </p:sp>
      <p:sp>
        <p:nvSpPr>
          <p:cNvPr id="13" name="Rounded Rectangle 12"/>
          <p:cNvSpPr/>
          <p:nvPr/>
        </p:nvSpPr>
        <p:spPr>
          <a:xfrm>
            <a:off x="731520" y="4983480"/>
            <a:ext cx="3246120" cy="8229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8680" y="5029200"/>
            <a:ext cx="2971800" cy="731520"/>
          </a:xfrm>
          <a:prstGeom prst="rect">
            <a:avLst/>
          </a:prstGeom>
          <a:noFill/>
        </p:spPr>
        <p:txBody>
          <a:bodyPr wrap="square" anchor="ctr" lIns="0" rIns="0" tIns="0" bIns="0">
            <a:spAutoFit/>
          </a:bodyPr>
          <a:lstStyle/>
          <a:p>
            <a:pPr algn="ctr"/>
            <a:r>
              <a:rPr sz="1450" b="1" i="0">
                <a:solidFill>
                  <a:srgbClr val="0F1E36"/>
                </a:solidFill>
                <a:latin typeface="Calibri"/>
              </a:rPr>
              <a:t>Género</a:t>
            </a:r>
          </a:p>
          <a:p>
            <a:pPr algn="ctr"/>
            <a:r>
              <a:rPr sz="1450" b="0" i="0">
                <a:solidFill>
                  <a:srgbClr val="C2610C"/>
                </a:solidFill>
                <a:latin typeface="Calibri"/>
              </a:rPr>
              <a:t>Mann-Whitney p = 0,246</a:t>
            </a:r>
          </a:p>
        </p:txBody>
      </p:sp>
      <p:sp>
        <p:nvSpPr>
          <p:cNvPr id="15" name="Rounded Rectangle 14"/>
          <p:cNvSpPr/>
          <p:nvPr/>
        </p:nvSpPr>
        <p:spPr>
          <a:xfrm>
            <a:off x="4251960" y="4983480"/>
            <a:ext cx="3246120" cy="8229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389120" y="5029200"/>
            <a:ext cx="2971800" cy="731520"/>
          </a:xfrm>
          <a:prstGeom prst="rect">
            <a:avLst/>
          </a:prstGeom>
          <a:noFill/>
        </p:spPr>
        <p:txBody>
          <a:bodyPr wrap="square" anchor="ctr" lIns="0" rIns="0" tIns="0" bIns="0">
            <a:spAutoFit/>
          </a:bodyPr>
          <a:lstStyle/>
          <a:p>
            <a:pPr algn="ctr"/>
            <a:r>
              <a:rPr sz="1450" b="1" i="0">
                <a:solidFill>
                  <a:srgbClr val="0F1E36"/>
                </a:solidFill>
                <a:latin typeface="Calibri"/>
              </a:rPr>
              <a:t>Educación de los padres</a:t>
            </a:r>
          </a:p>
          <a:p>
            <a:pPr algn="ctr"/>
            <a:r>
              <a:rPr sz="1450" b="0" i="0">
                <a:solidFill>
                  <a:srgbClr val="C2610C"/>
                </a:solidFill>
                <a:latin typeface="Calibri"/>
              </a:rPr>
              <a:t>Spearman p &gt; 0,6</a:t>
            </a:r>
          </a:p>
        </p:txBody>
      </p:sp>
      <p:sp>
        <p:nvSpPr>
          <p:cNvPr id="17" name="Rounded Rectangle 16"/>
          <p:cNvSpPr/>
          <p:nvPr/>
        </p:nvSpPr>
        <p:spPr>
          <a:xfrm>
            <a:off x="7772400" y="4983480"/>
            <a:ext cx="3246120" cy="8229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09560" y="5029200"/>
            <a:ext cx="2971800" cy="731520"/>
          </a:xfrm>
          <a:prstGeom prst="rect">
            <a:avLst/>
          </a:prstGeom>
          <a:noFill/>
        </p:spPr>
        <p:txBody>
          <a:bodyPr wrap="square" anchor="ctr" lIns="0" rIns="0" tIns="0" bIns="0">
            <a:spAutoFit/>
          </a:bodyPr>
          <a:lstStyle/>
          <a:p>
            <a:pPr algn="ctr"/>
            <a:r>
              <a:rPr sz="1450" b="1" i="0">
                <a:solidFill>
                  <a:srgbClr val="0F1E36"/>
                </a:solidFill>
                <a:latin typeface="Calibri"/>
              </a:rPr>
              <a:t>Repitencia escolar</a:t>
            </a:r>
          </a:p>
          <a:p>
            <a:pPr algn="ctr"/>
            <a:r>
              <a:rPr sz="1450" b="0" i="0">
                <a:solidFill>
                  <a:srgbClr val="C2610C"/>
                </a:solidFill>
                <a:latin typeface="Calibri"/>
              </a:rPr>
              <a:t>χ² p = 0,215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5</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Asignaturas críticas</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Índice = 0,70 × tasa de reprobación + 0,30 × repeticiones promedio (descriptivo, no predictivo)</a:t>
            </a:r>
          </a:p>
        </p:txBody>
      </p:sp>
      <p:sp>
        <p:nvSpPr>
          <p:cNvPr id="7" name="TextBox 6"/>
          <p:cNvSpPr txBox="1"/>
          <p:nvPr/>
        </p:nvSpPr>
        <p:spPr>
          <a:xfrm>
            <a:off x="731520" y="1481328"/>
            <a:ext cx="3291840" cy="320040"/>
          </a:xfrm>
          <a:prstGeom prst="rect">
            <a:avLst/>
          </a:prstGeom>
          <a:noFill/>
        </p:spPr>
        <p:txBody>
          <a:bodyPr wrap="square" anchor="t" lIns="0" rIns="0" tIns="0" bIns="0">
            <a:spAutoFit/>
          </a:bodyPr>
          <a:lstStyle/>
          <a:p>
            <a:pPr algn="l"/>
            <a:r>
              <a:rPr sz="1300" b="1" i="0">
                <a:solidFill>
                  <a:srgbClr val="55657E"/>
                </a:solidFill>
                <a:latin typeface="Calibri"/>
              </a:rPr>
              <a:t>Plan 2011 (resumen enviado)</a:t>
            </a:r>
          </a:p>
        </p:txBody>
      </p:sp>
      <p:sp>
        <p:nvSpPr>
          <p:cNvPr id="8" name="TextBox 7"/>
          <p:cNvSpPr txBox="1"/>
          <p:nvPr/>
        </p:nvSpPr>
        <p:spPr>
          <a:xfrm>
            <a:off x="3977639" y="1481328"/>
            <a:ext cx="3291840" cy="320040"/>
          </a:xfrm>
          <a:prstGeom prst="rect">
            <a:avLst/>
          </a:prstGeom>
          <a:noFill/>
        </p:spPr>
        <p:txBody>
          <a:bodyPr wrap="square" anchor="t" lIns="0" rIns="0" tIns="0" bIns="0">
            <a:spAutoFit/>
          </a:bodyPr>
          <a:lstStyle/>
          <a:p>
            <a:pPr algn="l"/>
            <a:r>
              <a:rPr sz="1300" b="1" i="0">
                <a:solidFill>
                  <a:srgbClr val="55657E"/>
                </a:solidFill>
                <a:latin typeface="Calibri"/>
              </a:rPr>
              <a:t>Índice</a:t>
            </a:r>
          </a:p>
        </p:txBody>
      </p:sp>
      <p:sp>
        <p:nvSpPr>
          <p:cNvPr id="9" name="TextBox 8"/>
          <p:cNvSpPr txBox="1"/>
          <p:nvPr/>
        </p:nvSpPr>
        <p:spPr>
          <a:xfrm>
            <a:off x="8001000" y="1481328"/>
            <a:ext cx="3291840" cy="320040"/>
          </a:xfrm>
          <a:prstGeom prst="rect">
            <a:avLst/>
          </a:prstGeom>
          <a:noFill/>
        </p:spPr>
        <p:txBody>
          <a:bodyPr wrap="square" anchor="t" lIns="0" rIns="0" tIns="0" bIns="0">
            <a:spAutoFit/>
          </a:bodyPr>
          <a:lstStyle/>
          <a:p>
            <a:pPr algn="l"/>
            <a:r>
              <a:rPr sz="1300" b="1" i="0">
                <a:solidFill>
                  <a:srgbClr val="55657E"/>
                </a:solidFill>
                <a:latin typeface="Calibri"/>
              </a:rPr>
              <a:t>Equivale en el plan 2018 (Res. 036 de 2017)</a:t>
            </a:r>
          </a:p>
        </p:txBody>
      </p:sp>
      <p:sp>
        <p:nvSpPr>
          <p:cNvPr id="10" name="TextBox 9"/>
          <p:cNvSpPr txBox="1"/>
          <p:nvPr/>
        </p:nvSpPr>
        <p:spPr>
          <a:xfrm>
            <a:off x="731520" y="1874519"/>
            <a:ext cx="3154680" cy="502920"/>
          </a:xfrm>
          <a:prstGeom prst="rect">
            <a:avLst/>
          </a:prstGeom>
          <a:noFill/>
        </p:spPr>
        <p:txBody>
          <a:bodyPr wrap="square" anchor="ctr" lIns="0" rIns="0" tIns="0" bIns="0">
            <a:spAutoFit/>
          </a:bodyPr>
          <a:lstStyle/>
          <a:p>
            <a:pPr algn="l"/>
            <a:r>
              <a:rPr sz="1600" b="1" i="0">
                <a:solidFill>
                  <a:srgbClr val="0F1E36"/>
                </a:solidFill>
                <a:latin typeface="Calibri"/>
              </a:rPr>
              <a:t>1.  Matemáticas II</a:t>
            </a:r>
          </a:p>
        </p:txBody>
      </p:sp>
      <p:sp>
        <p:nvSpPr>
          <p:cNvPr id="11" name="Rounded Rectangle 10"/>
          <p:cNvSpPr/>
          <p:nvPr/>
        </p:nvSpPr>
        <p:spPr>
          <a:xfrm>
            <a:off x="3977639" y="1984248"/>
            <a:ext cx="3291840" cy="292608"/>
          </a:xfrm>
          <a:prstGeom prst="roundRect">
            <a:avLst>
              <a:gd name="adj" fmla="val 50000"/>
            </a:avLst>
          </a:prstGeom>
          <a:solidFill>
            <a:srgbClr val="E6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3977639" y="1984248"/>
            <a:ext cx="3235878" cy="292608"/>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69480" y="1874519"/>
            <a:ext cx="685800" cy="502920"/>
          </a:xfrm>
          <a:prstGeom prst="rect">
            <a:avLst/>
          </a:prstGeom>
          <a:noFill/>
        </p:spPr>
        <p:txBody>
          <a:bodyPr wrap="square" anchor="ctr" lIns="0" rIns="0" tIns="0" bIns="0">
            <a:spAutoFit/>
          </a:bodyPr>
          <a:lstStyle/>
          <a:p>
            <a:pPr algn="r"/>
            <a:r>
              <a:rPr sz="1300" b="0" i="0">
                <a:solidFill>
                  <a:srgbClr val="0F1E36"/>
                </a:solidFill>
                <a:latin typeface="Calibri"/>
              </a:rPr>
              <a:t>0,983</a:t>
            </a:r>
          </a:p>
        </p:txBody>
      </p:sp>
      <p:sp>
        <p:nvSpPr>
          <p:cNvPr id="14" name="TextBox 13"/>
          <p:cNvSpPr txBox="1"/>
          <p:nvPr/>
        </p:nvSpPr>
        <p:spPr>
          <a:xfrm>
            <a:off x="8092440" y="1874519"/>
            <a:ext cx="3108960" cy="502920"/>
          </a:xfrm>
          <a:prstGeom prst="rect">
            <a:avLst/>
          </a:prstGeom>
          <a:noFill/>
        </p:spPr>
        <p:txBody>
          <a:bodyPr wrap="square" anchor="ctr" lIns="0" rIns="0" tIns="0" bIns="0">
            <a:spAutoFit/>
          </a:bodyPr>
          <a:lstStyle/>
          <a:p>
            <a:pPr algn="l"/>
            <a:r>
              <a:rPr sz="1550" b="0" i="0">
                <a:solidFill>
                  <a:srgbClr val="0369A1"/>
                </a:solidFill>
                <a:latin typeface="Calibri"/>
              </a:rPr>
              <a:t>≡  Cálculo integral</a:t>
            </a:r>
          </a:p>
        </p:txBody>
      </p:sp>
      <p:sp>
        <p:nvSpPr>
          <p:cNvPr id="15" name="TextBox 14"/>
          <p:cNvSpPr txBox="1"/>
          <p:nvPr/>
        </p:nvSpPr>
        <p:spPr>
          <a:xfrm>
            <a:off x="731520" y="2587752"/>
            <a:ext cx="3154680" cy="502920"/>
          </a:xfrm>
          <a:prstGeom prst="rect">
            <a:avLst/>
          </a:prstGeom>
          <a:noFill/>
        </p:spPr>
        <p:txBody>
          <a:bodyPr wrap="square" anchor="ctr" lIns="0" rIns="0" tIns="0" bIns="0">
            <a:spAutoFit/>
          </a:bodyPr>
          <a:lstStyle/>
          <a:p>
            <a:pPr algn="l"/>
            <a:r>
              <a:rPr sz="1600" b="1" i="0">
                <a:solidFill>
                  <a:srgbClr val="0F1E36"/>
                </a:solidFill>
                <a:latin typeface="Calibri"/>
              </a:rPr>
              <a:t>2.  Física I</a:t>
            </a:r>
          </a:p>
        </p:txBody>
      </p:sp>
      <p:sp>
        <p:nvSpPr>
          <p:cNvPr id="16" name="Rounded Rectangle 15"/>
          <p:cNvSpPr/>
          <p:nvPr/>
        </p:nvSpPr>
        <p:spPr>
          <a:xfrm>
            <a:off x="3977639" y="2697480"/>
            <a:ext cx="3291840" cy="292608"/>
          </a:xfrm>
          <a:prstGeom prst="roundRect">
            <a:avLst>
              <a:gd name="adj" fmla="val 50000"/>
            </a:avLst>
          </a:prstGeom>
          <a:solidFill>
            <a:srgbClr val="E6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977639" y="2697480"/>
            <a:ext cx="3021909" cy="292608"/>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69480" y="2587752"/>
            <a:ext cx="685800" cy="502920"/>
          </a:xfrm>
          <a:prstGeom prst="rect">
            <a:avLst/>
          </a:prstGeom>
          <a:noFill/>
        </p:spPr>
        <p:txBody>
          <a:bodyPr wrap="square" anchor="ctr" lIns="0" rIns="0" tIns="0" bIns="0">
            <a:spAutoFit/>
          </a:bodyPr>
          <a:lstStyle/>
          <a:p>
            <a:pPr algn="r"/>
            <a:r>
              <a:rPr sz="1300" b="0" i="0">
                <a:solidFill>
                  <a:srgbClr val="0F1E36"/>
                </a:solidFill>
                <a:latin typeface="Calibri"/>
              </a:rPr>
              <a:t>0,918</a:t>
            </a:r>
          </a:p>
        </p:txBody>
      </p:sp>
      <p:sp>
        <p:nvSpPr>
          <p:cNvPr id="19" name="TextBox 18"/>
          <p:cNvSpPr txBox="1"/>
          <p:nvPr/>
        </p:nvSpPr>
        <p:spPr>
          <a:xfrm>
            <a:off x="8092440" y="2587752"/>
            <a:ext cx="3108960" cy="502920"/>
          </a:xfrm>
          <a:prstGeom prst="rect">
            <a:avLst/>
          </a:prstGeom>
          <a:noFill/>
        </p:spPr>
        <p:txBody>
          <a:bodyPr wrap="square" anchor="ctr" lIns="0" rIns="0" tIns="0" bIns="0">
            <a:spAutoFit/>
          </a:bodyPr>
          <a:lstStyle/>
          <a:p>
            <a:pPr algn="l"/>
            <a:r>
              <a:rPr sz="1550" b="0" i="0">
                <a:solidFill>
                  <a:srgbClr val="0369A1"/>
                </a:solidFill>
                <a:latin typeface="Calibri"/>
              </a:rPr>
              <a:t>≡  Física mecánica</a:t>
            </a:r>
          </a:p>
        </p:txBody>
      </p:sp>
      <p:sp>
        <p:nvSpPr>
          <p:cNvPr id="20" name="TextBox 19"/>
          <p:cNvSpPr txBox="1"/>
          <p:nvPr/>
        </p:nvSpPr>
        <p:spPr>
          <a:xfrm>
            <a:off x="731520" y="3300984"/>
            <a:ext cx="3154680" cy="502920"/>
          </a:xfrm>
          <a:prstGeom prst="rect">
            <a:avLst/>
          </a:prstGeom>
          <a:noFill/>
        </p:spPr>
        <p:txBody>
          <a:bodyPr wrap="square" anchor="ctr" lIns="0" rIns="0" tIns="0" bIns="0">
            <a:spAutoFit/>
          </a:bodyPr>
          <a:lstStyle/>
          <a:p>
            <a:pPr algn="l"/>
            <a:r>
              <a:rPr sz="1600" b="1" i="0">
                <a:solidFill>
                  <a:srgbClr val="0F1E36"/>
                </a:solidFill>
                <a:latin typeface="Calibri"/>
              </a:rPr>
              <a:t>3.  Álgebra Lineal</a:t>
            </a:r>
          </a:p>
        </p:txBody>
      </p:sp>
      <p:sp>
        <p:nvSpPr>
          <p:cNvPr id="21" name="Rounded Rectangle 20"/>
          <p:cNvSpPr/>
          <p:nvPr/>
        </p:nvSpPr>
        <p:spPr>
          <a:xfrm>
            <a:off x="3977639" y="3410712"/>
            <a:ext cx="3291840" cy="292608"/>
          </a:xfrm>
          <a:prstGeom prst="roundRect">
            <a:avLst>
              <a:gd name="adj" fmla="val 50000"/>
            </a:avLst>
          </a:prstGeom>
          <a:solidFill>
            <a:srgbClr val="E6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3977639" y="3410712"/>
            <a:ext cx="2748686" cy="292608"/>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69480" y="3300984"/>
            <a:ext cx="685800" cy="502920"/>
          </a:xfrm>
          <a:prstGeom prst="rect">
            <a:avLst/>
          </a:prstGeom>
          <a:noFill/>
        </p:spPr>
        <p:txBody>
          <a:bodyPr wrap="square" anchor="ctr" lIns="0" rIns="0" tIns="0" bIns="0">
            <a:spAutoFit/>
          </a:bodyPr>
          <a:lstStyle/>
          <a:p>
            <a:pPr algn="r"/>
            <a:r>
              <a:rPr sz="1300" b="0" i="0">
                <a:solidFill>
                  <a:srgbClr val="0F1E36"/>
                </a:solidFill>
                <a:latin typeface="Calibri"/>
              </a:rPr>
              <a:t>0,835</a:t>
            </a:r>
          </a:p>
        </p:txBody>
      </p:sp>
      <p:sp>
        <p:nvSpPr>
          <p:cNvPr id="24" name="TextBox 23"/>
          <p:cNvSpPr txBox="1"/>
          <p:nvPr/>
        </p:nvSpPr>
        <p:spPr>
          <a:xfrm>
            <a:off x="8092440" y="3300984"/>
            <a:ext cx="3108960" cy="502920"/>
          </a:xfrm>
          <a:prstGeom prst="rect">
            <a:avLst/>
          </a:prstGeom>
          <a:noFill/>
        </p:spPr>
        <p:txBody>
          <a:bodyPr wrap="square" anchor="ctr" lIns="0" rIns="0" tIns="0" bIns="0">
            <a:spAutoFit/>
          </a:bodyPr>
          <a:lstStyle/>
          <a:p>
            <a:pPr algn="l"/>
            <a:r>
              <a:rPr sz="1550" b="0" i="0">
                <a:solidFill>
                  <a:srgbClr val="0369A1"/>
                </a:solidFill>
                <a:latin typeface="Calibri"/>
              </a:rPr>
              <a:t>≡  Álgebra lineal</a:t>
            </a:r>
          </a:p>
        </p:txBody>
      </p:sp>
      <p:sp>
        <p:nvSpPr>
          <p:cNvPr id="25" name="TextBox 24"/>
          <p:cNvSpPr txBox="1"/>
          <p:nvPr/>
        </p:nvSpPr>
        <p:spPr>
          <a:xfrm>
            <a:off x="731520" y="4014215"/>
            <a:ext cx="3154680" cy="502920"/>
          </a:xfrm>
          <a:prstGeom prst="rect">
            <a:avLst/>
          </a:prstGeom>
          <a:noFill/>
        </p:spPr>
        <p:txBody>
          <a:bodyPr wrap="square" anchor="ctr" lIns="0" rIns="0" tIns="0" bIns="0">
            <a:spAutoFit/>
          </a:bodyPr>
          <a:lstStyle/>
          <a:p>
            <a:pPr algn="l"/>
            <a:r>
              <a:rPr sz="1600" b="1" i="0">
                <a:solidFill>
                  <a:srgbClr val="0F1E36"/>
                </a:solidFill>
                <a:latin typeface="Calibri"/>
              </a:rPr>
              <a:t>4.  Matemáticas I</a:t>
            </a:r>
          </a:p>
        </p:txBody>
      </p:sp>
      <p:sp>
        <p:nvSpPr>
          <p:cNvPr id="26" name="Rounded Rectangle 25"/>
          <p:cNvSpPr/>
          <p:nvPr/>
        </p:nvSpPr>
        <p:spPr>
          <a:xfrm>
            <a:off x="3977639" y="4123944"/>
            <a:ext cx="3291840" cy="292608"/>
          </a:xfrm>
          <a:prstGeom prst="roundRect">
            <a:avLst>
              <a:gd name="adj" fmla="val 50000"/>
            </a:avLst>
          </a:prstGeom>
          <a:solidFill>
            <a:srgbClr val="E6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977639" y="4123944"/>
            <a:ext cx="2050816"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269480" y="4014215"/>
            <a:ext cx="685800" cy="502920"/>
          </a:xfrm>
          <a:prstGeom prst="rect">
            <a:avLst/>
          </a:prstGeom>
          <a:noFill/>
        </p:spPr>
        <p:txBody>
          <a:bodyPr wrap="square" anchor="ctr" lIns="0" rIns="0" tIns="0" bIns="0">
            <a:spAutoFit/>
          </a:bodyPr>
          <a:lstStyle/>
          <a:p>
            <a:pPr algn="r"/>
            <a:r>
              <a:rPr sz="1300" b="0" i="0">
                <a:solidFill>
                  <a:srgbClr val="0F1E36"/>
                </a:solidFill>
                <a:latin typeface="Calibri"/>
              </a:rPr>
              <a:t>0,623</a:t>
            </a:r>
          </a:p>
        </p:txBody>
      </p:sp>
      <p:sp>
        <p:nvSpPr>
          <p:cNvPr id="29" name="TextBox 28"/>
          <p:cNvSpPr txBox="1"/>
          <p:nvPr/>
        </p:nvSpPr>
        <p:spPr>
          <a:xfrm>
            <a:off x="8092440" y="4014215"/>
            <a:ext cx="3108960" cy="502920"/>
          </a:xfrm>
          <a:prstGeom prst="rect">
            <a:avLst/>
          </a:prstGeom>
          <a:noFill/>
        </p:spPr>
        <p:txBody>
          <a:bodyPr wrap="square" anchor="ctr" lIns="0" rIns="0" tIns="0" bIns="0">
            <a:spAutoFit/>
          </a:bodyPr>
          <a:lstStyle/>
          <a:p>
            <a:pPr algn="l"/>
            <a:r>
              <a:rPr sz="1550" b="0" i="0">
                <a:solidFill>
                  <a:srgbClr val="0369A1"/>
                </a:solidFill>
                <a:latin typeface="Calibri"/>
              </a:rPr>
              <a:t>≡  Cálculo diferencial</a:t>
            </a:r>
          </a:p>
        </p:txBody>
      </p:sp>
      <p:sp>
        <p:nvSpPr>
          <p:cNvPr id="30" name="TextBox 29"/>
          <p:cNvSpPr txBox="1"/>
          <p:nvPr/>
        </p:nvSpPr>
        <p:spPr>
          <a:xfrm>
            <a:off x="731520" y="4727448"/>
            <a:ext cx="3154680" cy="502920"/>
          </a:xfrm>
          <a:prstGeom prst="rect">
            <a:avLst/>
          </a:prstGeom>
          <a:noFill/>
        </p:spPr>
        <p:txBody>
          <a:bodyPr wrap="square" anchor="ctr" lIns="0" rIns="0" tIns="0" bIns="0">
            <a:spAutoFit/>
          </a:bodyPr>
          <a:lstStyle/>
          <a:p>
            <a:pPr algn="l"/>
            <a:r>
              <a:rPr sz="1600" b="1" i="0">
                <a:solidFill>
                  <a:srgbClr val="0F1E36"/>
                </a:solidFill>
                <a:latin typeface="Calibri"/>
              </a:rPr>
              <a:t>5.  Fundamentos de Programación</a:t>
            </a:r>
          </a:p>
        </p:txBody>
      </p:sp>
      <p:sp>
        <p:nvSpPr>
          <p:cNvPr id="31" name="Rounded Rectangle 30"/>
          <p:cNvSpPr/>
          <p:nvPr/>
        </p:nvSpPr>
        <p:spPr>
          <a:xfrm>
            <a:off x="3977639" y="4837176"/>
            <a:ext cx="3291840" cy="292608"/>
          </a:xfrm>
          <a:prstGeom prst="roundRect">
            <a:avLst>
              <a:gd name="adj" fmla="val 50000"/>
            </a:avLst>
          </a:prstGeom>
          <a:solidFill>
            <a:srgbClr val="E6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3977639" y="4837176"/>
            <a:ext cx="1757842"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69480" y="4727448"/>
            <a:ext cx="685800" cy="502920"/>
          </a:xfrm>
          <a:prstGeom prst="rect">
            <a:avLst/>
          </a:prstGeom>
          <a:noFill/>
        </p:spPr>
        <p:txBody>
          <a:bodyPr wrap="square" anchor="ctr" lIns="0" rIns="0" tIns="0" bIns="0">
            <a:spAutoFit/>
          </a:bodyPr>
          <a:lstStyle/>
          <a:p>
            <a:pPr algn="r"/>
            <a:r>
              <a:rPr sz="1300" b="0" i="0">
                <a:solidFill>
                  <a:srgbClr val="0F1E36"/>
                </a:solidFill>
                <a:latin typeface="Calibri"/>
              </a:rPr>
              <a:t>0,534</a:t>
            </a:r>
          </a:p>
        </p:txBody>
      </p:sp>
      <p:sp>
        <p:nvSpPr>
          <p:cNvPr id="34" name="TextBox 33"/>
          <p:cNvSpPr txBox="1"/>
          <p:nvPr/>
        </p:nvSpPr>
        <p:spPr>
          <a:xfrm>
            <a:off x="8092440" y="4727448"/>
            <a:ext cx="3108960" cy="502920"/>
          </a:xfrm>
          <a:prstGeom prst="rect">
            <a:avLst/>
          </a:prstGeom>
          <a:noFill/>
        </p:spPr>
        <p:txBody>
          <a:bodyPr wrap="square" anchor="ctr" lIns="0" rIns="0" tIns="0" bIns="0">
            <a:spAutoFit/>
          </a:bodyPr>
          <a:lstStyle/>
          <a:p>
            <a:pPr algn="l"/>
            <a:r>
              <a:rPr sz="1550" b="0" i="0">
                <a:solidFill>
                  <a:srgbClr val="0369A1"/>
                </a:solidFill>
                <a:latin typeface="Calibri"/>
              </a:rPr>
              <a:t>≡  Algoritmia y programación</a:t>
            </a:r>
          </a:p>
        </p:txBody>
      </p:sp>
      <p:sp>
        <p:nvSpPr>
          <p:cNvPr id="35" name="Rounded Rectangle 34"/>
          <p:cNvSpPr/>
          <p:nvPr/>
        </p:nvSpPr>
        <p:spPr>
          <a:xfrm>
            <a:off x="731520" y="5486400"/>
            <a:ext cx="10424160" cy="54864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60120" y="5532120"/>
            <a:ext cx="9966960" cy="457200"/>
          </a:xfrm>
          <a:prstGeom prst="rect">
            <a:avLst/>
          </a:prstGeom>
          <a:noFill/>
        </p:spPr>
        <p:txBody>
          <a:bodyPr wrap="square" anchor="ctr" lIns="0" rIns="0" tIns="0" bIns="0">
            <a:spAutoFit/>
          </a:bodyPr>
          <a:lstStyle/>
          <a:p>
            <a:pPr algn="l"/>
            <a:r>
              <a:rPr sz="1450" b="1" i="0">
                <a:solidFill>
                  <a:srgbClr val="047857"/>
                </a:solidFill>
                <a:latin typeface="Calibri"/>
              </a:rPr>
              <a:t>Avance:  </a:t>
            </a:r>
            <a:r>
              <a:rPr sz="1450" b="0" i="0">
                <a:solidFill>
                  <a:srgbClr val="0F1E36"/>
                </a:solidFill>
                <a:latin typeface="Calibri"/>
              </a:rPr>
              <a:t>traducido al plan vigente, el top 5 se conserva: el apoyo debe concentrarse en los mismos cursos del primer año.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6</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Antes de desplegar, auditamos</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Tres problemas de diseño experimental (no de código), cada uno medido con nuestros datos</a:t>
            </a:r>
          </a:p>
        </p:txBody>
      </p:sp>
      <p:sp>
        <p:nvSpPr>
          <p:cNvPr id="7" name="Rounded Rectangle 6"/>
          <p:cNvSpPr/>
          <p:nvPr/>
        </p:nvSpPr>
        <p:spPr>
          <a:xfrm>
            <a:off x="731520" y="1508760"/>
            <a:ext cx="3246120" cy="352044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645920"/>
            <a:ext cx="2834640" cy="411480"/>
          </a:xfrm>
          <a:prstGeom prst="rect">
            <a:avLst/>
          </a:prstGeom>
          <a:noFill/>
        </p:spPr>
        <p:txBody>
          <a:bodyPr wrap="square" anchor="t" lIns="0" rIns="0" tIns="0" bIns="0">
            <a:spAutoFit/>
          </a:bodyPr>
          <a:lstStyle/>
          <a:p>
            <a:pPr algn="l"/>
            <a:r>
              <a:rPr sz="1800" b="1" i="0">
                <a:solidFill>
                  <a:srgbClr val="B91C1C"/>
                </a:solidFill>
                <a:latin typeface="Calibri"/>
              </a:rPr>
              <a:t>1 · Variable objetivo</a:t>
            </a:r>
          </a:p>
        </p:txBody>
      </p:sp>
      <p:sp>
        <p:nvSpPr>
          <p:cNvPr id="9" name="TextBox 8"/>
          <p:cNvSpPr txBox="1"/>
          <p:nvPr/>
        </p:nvSpPr>
        <p:spPr>
          <a:xfrm>
            <a:off x="932688" y="2103120"/>
            <a:ext cx="2834640" cy="1005840"/>
          </a:xfrm>
          <a:prstGeom prst="rect">
            <a:avLst/>
          </a:prstGeom>
          <a:noFill/>
        </p:spPr>
        <p:txBody>
          <a:bodyPr wrap="square" anchor="t" lIns="0" rIns="0" tIns="0" bIns="0">
            <a:spAutoFit/>
          </a:bodyPr>
          <a:lstStyle/>
          <a:p>
            <a:pPr algn="l"/>
            <a:r>
              <a:rPr sz="1350" b="0" i="0">
                <a:solidFill>
                  <a:srgbClr val="0F1E36"/>
                </a:solidFill>
                <a:latin typeface="Calibri"/>
              </a:rPr>
              <a:t>Bajo rendimiento = promedio de carrera &lt; 3,0. Ese promedio incluye el 1.er semestre: el modelo se predecía a sí mismo.</a:t>
            </a:r>
          </a:p>
        </p:txBody>
      </p:sp>
      <p:sp>
        <p:nvSpPr>
          <p:cNvPr id="10" name="TextBox 9"/>
          <p:cNvSpPr txBox="1"/>
          <p:nvPr/>
        </p:nvSpPr>
        <p:spPr>
          <a:xfrm>
            <a:off x="932688" y="3154680"/>
            <a:ext cx="2834640" cy="548640"/>
          </a:xfrm>
          <a:prstGeom prst="rect">
            <a:avLst/>
          </a:prstGeom>
          <a:noFill/>
        </p:spPr>
        <p:txBody>
          <a:bodyPr wrap="square" anchor="ctr" lIns="0" rIns="0" tIns="0" bIns="0">
            <a:spAutoFit/>
          </a:bodyPr>
          <a:lstStyle/>
          <a:p>
            <a:pPr algn="l"/>
            <a:r>
              <a:rPr sz="1800" b="1" i="0">
                <a:solidFill>
                  <a:srgbClr val="D97706"/>
                </a:solidFill>
                <a:latin typeface="Calibri"/>
              </a:rPr>
              <a:t>Sin esa variable: 0,48 (azar)</a:t>
            </a:r>
          </a:p>
        </p:txBody>
      </p:sp>
      <p:sp>
        <p:nvSpPr>
          <p:cNvPr id="11" name="TextBox 10"/>
          <p:cNvSpPr txBox="1"/>
          <p:nvPr/>
        </p:nvSpPr>
        <p:spPr>
          <a:xfrm>
            <a:off x="932688" y="3794760"/>
            <a:ext cx="2834640" cy="1097280"/>
          </a:xfrm>
          <a:prstGeom prst="rect">
            <a:avLst/>
          </a:prstGeom>
          <a:noFill/>
        </p:spPr>
        <p:txBody>
          <a:bodyPr wrap="square" anchor="t" lIns="0" rIns="0" tIns="0" bIns="0">
            <a:spAutoFit/>
          </a:bodyPr>
          <a:lstStyle/>
          <a:p>
            <a:pPr algn="l"/>
            <a:r>
              <a:rPr sz="1300" b="0" i="0">
                <a:solidFill>
                  <a:srgbClr val="55657E"/>
                </a:solidFill>
                <a:latin typeface="Calibri"/>
              </a:rPr>
              <a:t>Ahora: art. 19 del Reglamento Estudiantil, pérdida de la calidad de estudiante por bajo rendimiento.</a:t>
            </a:r>
          </a:p>
        </p:txBody>
      </p:sp>
      <p:sp>
        <p:nvSpPr>
          <p:cNvPr id="12" name="Rounded Rectangle 11"/>
          <p:cNvSpPr/>
          <p:nvPr/>
        </p:nvSpPr>
        <p:spPr>
          <a:xfrm>
            <a:off x="4251960" y="1508760"/>
            <a:ext cx="3246120" cy="352044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53128" y="1645920"/>
            <a:ext cx="2834640" cy="411480"/>
          </a:xfrm>
          <a:prstGeom prst="rect">
            <a:avLst/>
          </a:prstGeom>
          <a:noFill/>
        </p:spPr>
        <p:txBody>
          <a:bodyPr wrap="square" anchor="t" lIns="0" rIns="0" tIns="0" bIns="0">
            <a:spAutoFit/>
          </a:bodyPr>
          <a:lstStyle/>
          <a:p>
            <a:pPr algn="l"/>
            <a:r>
              <a:rPr sz="1800" b="1" i="0">
                <a:solidFill>
                  <a:srgbClr val="D97706"/>
                </a:solidFill>
                <a:latin typeface="Calibri"/>
              </a:rPr>
              <a:t>2 · Ajuste de parámetros</a:t>
            </a:r>
          </a:p>
        </p:txBody>
      </p:sp>
      <p:sp>
        <p:nvSpPr>
          <p:cNvPr id="14" name="TextBox 13"/>
          <p:cNvSpPr txBox="1"/>
          <p:nvPr/>
        </p:nvSpPr>
        <p:spPr>
          <a:xfrm>
            <a:off x="4453128" y="2103120"/>
            <a:ext cx="2834640" cy="1005840"/>
          </a:xfrm>
          <a:prstGeom prst="rect">
            <a:avLst/>
          </a:prstGeom>
          <a:noFill/>
        </p:spPr>
        <p:txBody>
          <a:bodyPr wrap="square" anchor="t" lIns="0" rIns="0" tIns="0" bIns="0">
            <a:spAutoFit/>
          </a:bodyPr>
          <a:lstStyle/>
          <a:p>
            <a:pPr algn="l"/>
            <a:r>
              <a:rPr sz="1350" b="0" i="0">
                <a:solidFill>
                  <a:srgbClr val="0F1E36"/>
                </a:solidFill>
                <a:latin typeface="Calibri"/>
              </a:rPr>
              <a:t>Los parámetros se elegían mirando también los datos de evaluación: ventaja injusta, distinta para cada algoritmo.</a:t>
            </a:r>
          </a:p>
        </p:txBody>
      </p:sp>
      <p:sp>
        <p:nvSpPr>
          <p:cNvPr id="15" name="TextBox 14"/>
          <p:cNvSpPr txBox="1"/>
          <p:nvPr/>
        </p:nvSpPr>
        <p:spPr>
          <a:xfrm>
            <a:off x="4453128" y="3154680"/>
            <a:ext cx="2834640" cy="548640"/>
          </a:xfrm>
          <a:prstGeom prst="rect">
            <a:avLst/>
          </a:prstGeom>
          <a:noFill/>
        </p:spPr>
        <p:txBody>
          <a:bodyPr wrap="square" anchor="ctr" lIns="0" rIns="0" tIns="0" bIns="0">
            <a:spAutoFit/>
          </a:bodyPr>
          <a:lstStyle/>
          <a:p>
            <a:pPr algn="l"/>
            <a:r>
              <a:rPr sz="1800" b="1" i="0">
                <a:solidFill>
                  <a:srgbClr val="D97706"/>
                </a:solidFill>
                <a:latin typeface="Calibri"/>
              </a:rPr>
              <a:t>+0,046 XGBoost vs +0,008 RF</a:t>
            </a:r>
          </a:p>
        </p:txBody>
      </p:sp>
      <p:sp>
        <p:nvSpPr>
          <p:cNvPr id="16" name="TextBox 15"/>
          <p:cNvSpPr txBox="1"/>
          <p:nvPr/>
        </p:nvSpPr>
        <p:spPr>
          <a:xfrm>
            <a:off x="4453128" y="3794760"/>
            <a:ext cx="2834640" cy="1097280"/>
          </a:xfrm>
          <a:prstGeom prst="rect">
            <a:avLst/>
          </a:prstGeom>
          <a:noFill/>
        </p:spPr>
        <p:txBody>
          <a:bodyPr wrap="square" anchor="t" lIns="0" rIns="0" tIns="0" bIns="0">
            <a:spAutoFit/>
          </a:bodyPr>
          <a:lstStyle/>
          <a:p>
            <a:pPr algn="l"/>
            <a:r>
              <a:rPr sz="1300" b="0" i="0">
                <a:solidFill>
                  <a:srgbClr val="55657E"/>
                </a:solidFill>
                <a:latin typeface="Calibri"/>
              </a:rPr>
              <a:t>Ahora: validación anidada, los datos de evaluación nunca participan en las decisiones.</a:t>
            </a:r>
          </a:p>
        </p:txBody>
      </p:sp>
      <p:sp>
        <p:nvSpPr>
          <p:cNvPr id="17" name="Rounded Rectangle 16"/>
          <p:cNvSpPr/>
          <p:nvPr/>
        </p:nvSpPr>
        <p:spPr>
          <a:xfrm>
            <a:off x="7772400" y="1508760"/>
            <a:ext cx="3246120" cy="352044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73568" y="1645920"/>
            <a:ext cx="2834640" cy="411480"/>
          </a:xfrm>
          <a:prstGeom prst="rect">
            <a:avLst/>
          </a:prstGeom>
          <a:noFill/>
        </p:spPr>
        <p:txBody>
          <a:bodyPr wrap="square" anchor="t" lIns="0" rIns="0" tIns="0" bIns="0">
            <a:spAutoFit/>
          </a:bodyPr>
          <a:lstStyle/>
          <a:p>
            <a:pPr algn="l"/>
            <a:r>
              <a:rPr sz="1800" b="1" i="0">
                <a:solidFill>
                  <a:srgbClr val="6D28D9"/>
                </a:solidFill>
                <a:latin typeface="Calibri"/>
              </a:rPr>
              <a:t>3 · Selección de variables</a:t>
            </a:r>
          </a:p>
        </p:txBody>
      </p:sp>
      <p:sp>
        <p:nvSpPr>
          <p:cNvPr id="19" name="TextBox 18"/>
          <p:cNvSpPr txBox="1"/>
          <p:nvPr/>
        </p:nvSpPr>
        <p:spPr>
          <a:xfrm>
            <a:off x="7973568" y="2103120"/>
            <a:ext cx="2834640" cy="1005840"/>
          </a:xfrm>
          <a:prstGeom prst="rect">
            <a:avLst/>
          </a:prstGeom>
          <a:noFill/>
        </p:spPr>
        <p:txBody>
          <a:bodyPr wrap="square" anchor="t" lIns="0" rIns="0" tIns="0" bIns="0">
            <a:spAutoFit/>
          </a:bodyPr>
          <a:lstStyle/>
          <a:p>
            <a:pPr algn="l"/>
            <a:r>
              <a:rPr sz="1350" b="0" i="0">
                <a:solidFill>
                  <a:srgbClr val="0F1E36"/>
                </a:solidFill>
                <a:latin typeface="Calibri"/>
              </a:rPr>
              <a:t>El «top 5» de variables se elegía mirando toda la muestra.</a:t>
            </a:r>
          </a:p>
        </p:txBody>
      </p:sp>
      <p:sp>
        <p:nvSpPr>
          <p:cNvPr id="20" name="TextBox 19"/>
          <p:cNvSpPr txBox="1"/>
          <p:nvPr/>
        </p:nvSpPr>
        <p:spPr>
          <a:xfrm>
            <a:off x="7973568" y="3154680"/>
            <a:ext cx="2834640" cy="548640"/>
          </a:xfrm>
          <a:prstGeom prst="rect">
            <a:avLst/>
          </a:prstGeom>
          <a:noFill/>
        </p:spPr>
        <p:txBody>
          <a:bodyPr wrap="square" anchor="ctr" lIns="0" rIns="0" tIns="0" bIns="0">
            <a:spAutoFit/>
          </a:bodyPr>
          <a:lstStyle/>
          <a:p>
            <a:pPr algn="l"/>
            <a:r>
              <a:rPr sz="1800" b="1" i="0">
                <a:solidFill>
                  <a:srgbClr val="D97706"/>
                </a:solidFill>
                <a:latin typeface="Calibri"/>
              </a:rPr>
              <a:t>+0,15 de AUC-PR inflado</a:t>
            </a:r>
          </a:p>
        </p:txBody>
      </p:sp>
      <p:sp>
        <p:nvSpPr>
          <p:cNvPr id="21" name="TextBox 20"/>
          <p:cNvSpPr txBox="1"/>
          <p:nvPr/>
        </p:nvSpPr>
        <p:spPr>
          <a:xfrm>
            <a:off x="7973568" y="3794760"/>
            <a:ext cx="2834640" cy="1097280"/>
          </a:xfrm>
          <a:prstGeom prst="rect">
            <a:avLst/>
          </a:prstGeom>
          <a:noFill/>
        </p:spPr>
        <p:txBody>
          <a:bodyPr wrap="square" anchor="t" lIns="0" rIns="0" tIns="0" bIns="0">
            <a:spAutoFit/>
          </a:bodyPr>
          <a:lstStyle/>
          <a:p>
            <a:pPr algn="l"/>
            <a:r>
              <a:rPr sz="1300" b="0" i="0">
                <a:solidFill>
                  <a:srgbClr val="55657E"/>
                </a:solidFill>
                <a:latin typeface="Calibri"/>
              </a:rPr>
              <a:t>Ahora: selección dentro de cada partición; quedan 6 variables.</a:t>
            </a:r>
          </a:p>
        </p:txBody>
      </p:sp>
      <p:sp>
        <p:nvSpPr>
          <p:cNvPr id="22" name="Rounded Rectangle 21"/>
          <p:cNvSpPr/>
          <p:nvPr/>
        </p:nvSpPr>
        <p:spPr>
          <a:xfrm>
            <a:off x="731520" y="5257800"/>
            <a:ext cx="10424160" cy="68580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0120" y="5303520"/>
            <a:ext cx="9966960" cy="594360"/>
          </a:xfrm>
          <a:prstGeom prst="rect">
            <a:avLst/>
          </a:prstGeom>
          <a:noFill/>
        </p:spPr>
        <p:txBody>
          <a:bodyPr wrap="square" anchor="ctr" lIns="0" rIns="0" tIns="0" bIns="0">
            <a:spAutoFit/>
          </a:bodyPr>
          <a:lstStyle/>
          <a:p>
            <a:pPr algn="l"/>
            <a:r>
              <a:rPr sz="1450" b="1" i="0">
                <a:solidFill>
                  <a:srgbClr val="1F5FAE"/>
                </a:solidFill>
                <a:latin typeface="Calibri"/>
              </a:rPr>
              <a:t>Lección:  </a:t>
            </a:r>
            <a:r>
              <a:rPr sz="1450" b="0" i="0">
                <a:solidFill>
                  <a:srgbClr val="0F1E36"/>
                </a:solidFill>
                <a:latin typeface="Calibri"/>
              </a:rPr>
              <a:t>con pocos datos, la forma de medir mueve el resultado más que la elección del algoritmo. Documentamos 21 problemas en una bitácora reproducible.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7</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Resultado con el protocolo corregido</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Art. 19 · 80 estudiantes, 19 casos · validación cruzada anidada 5 × 10 · métrica AUC-PR</a:t>
            </a:r>
          </a:p>
        </p:txBody>
      </p:sp>
      <p:graphicFrame>
        <p:nvGraphicFramePr>
          <p:cNvPr id="7" name="Chart 6"/>
          <p:cNvGraphicFramePr>
            <a:graphicFrameLocks noGrp="1"/>
          </p:cNvGraphicFramePr>
          <p:nvPr/>
        </p:nvGraphicFramePr>
        <p:xfrm>
          <a:off x="731520" y="1463040"/>
          <a:ext cx="6675120" cy="3931920"/>
        </p:xfrm>
        <a:graphic>
          <a:graphicData uri="http://schemas.openxmlformats.org/drawingml/2006/chart">
            <c:chart xmlns:c="http://schemas.openxmlformats.org/drawingml/2006/chart" r:id="rId3"/>
          </a:graphicData>
        </a:graphic>
      </p:graphicFrame>
      <p:sp>
        <p:nvSpPr>
          <p:cNvPr id="8" name="Rounded Rectangle 7"/>
          <p:cNvSpPr/>
          <p:nvPr/>
        </p:nvSpPr>
        <p:spPr>
          <a:xfrm>
            <a:off x="7772400" y="1463040"/>
            <a:ext cx="3383280" cy="214884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0" y="1554480"/>
            <a:ext cx="3200400" cy="777240"/>
          </a:xfrm>
          <a:prstGeom prst="rect">
            <a:avLst/>
          </a:prstGeom>
          <a:noFill/>
        </p:spPr>
        <p:txBody>
          <a:bodyPr wrap="square" anchor="t" lIns="0" rIns="0" tIns="0" bIns="0">
            <a:spAutoFit/>
          </a:bodyPr>
          <a:lstStyle/>
          <a:p>
            <a:pPr algn="ctr"/>
            <a:r>
              <a:rPr sz="5000" b="1" i="0">
                <a:solidFill>
                  <a:srgbClr val="1F5FAE"/>
                </a:solidFill>
                <a:latin typeface="Calibri"/>
              </a:rPr>
              <a:t>0,745</a:t>
            </a:r>
          </a:p>
        </p:txBody>
      </p:sp>
      <p:sp>
        <p:nvSpPr>
          <p:cNvPr id="10" name="TextBox 9"/>
          <p:cNvSpPr txBox="1"/>
          <p:nvPr/>
        </p:nvSpPr>
        <p:spPr>
          <a:xfrm>
            <a:off x="7909560" y="2377440"/>
            <a:ext cx="3108960" cy="1097280"/>
          </a:xfrm>
          <a:prstGeom prst="rect">
            <a:avLst/>
          </a:prstGeom>
          <a:noFill/>
        </p:spPr>
        <p:txBody>
          <a:bodyPr wrap="square" anchor="t" lIns="0" rIns="0" tIns="0" bIns="0">
            <a:spAutoFit/>
          </a:bodyPr>
          <a:lstStyle/>
          <a:p>
            <a:pPr algn="ctr"/>
            <a:r>
              <a:rPr sz="1400" b="1" i="0">
                <a:solidFill>
                  <a:srgbClr val="0F1E36"/>
                </a:solidFill>
                <a:latin typeface="Calibri"/>
              </a:rPr>
              <a:t>AUC-PR de Random Forest</a:t>
            </a:r>
          </a:p>
          <a:p>
            <a:pPr algn="ctr"/>
            <a:r>
              <a:rPr sz="1400" b="0" i="0">
                <a:solidFill>
                  <a:srgbClr val="55657E"/>
                </a:solidFill>
                <a:latin typeface="Calibri"/>
              </a:rPr>
              <a:t>3,1 veces el azar · solo 6 variables</a:t>
            </a:r>
          </a:p>
        </p:txBody>
      </p:sp>
      <p:sp>
        <p:nvSpPr>
          <p:cNvPr id="11" name="Rounded Rectangle 10"/>
          <p:cNvSpPr/>
          <p:nvPr/>
        </p:nvSpPr>
        <p:spPr>
          <a:xfrm>
            <a:off x="7772400" y="3794760"/>
            <a:ext cx="3383280" cy="160020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09560" y="3840480"/>
            <a:ext cx="3108960" cy="1508760"/>
          </a:xfrm>
          <a:prstGeom prst="rect">
            <a:avLst/>
          </a:prstGeom>
          <a:noFill/>
        </p:spPr>
        <p:txBody>
          <a:bodyPr wrap="square" anchor="ctr" lIns="0" rIns="0" tIns="0" bIns="0">
            <a:spAutoFit/>
          </a:bodyPr>
          <a:lstStyle/>
          <a:p>
            <a:pPr algn="ctr"/>
            <a:r>
              <a:rPr sz="1350" b="1" i="0">
                <a:solidFill>
                  <a:srgbClr val="047857"/>
                </a:solidFill>
                <a:latin typeface="Calibri"/>
              </a:rPr>
              <a:t>Graduación (90 estudiantes)</a:t>
            </a:r>
          </a:p>
          <a:p>
            <a:pPr algn="ctr"/>
            <a:r>
              <a:rPr sz="1350" b="0" i="0">
                <a:solidFill>
                  <a:srgbClr val="0F1E36"/>
                </a:solidFill>
                <a:latin typeface="Calibri"/>
              </a:rPr>
              <a:t>Random Forest 0,705 ≈ SVM 0,725</a:t>
            </a:r>
          </a:p>
          <a:p>
            <a:pPr algn="ctr"/>
            <a:r>
              <a:rPr sz="1350" b="0" i="0">
                <a:solidFill>
                  <a:srgbClr val="55657E"/>
                </a:solidFill>
                <a:latin typeface="Calibri"/>
              </a:rPr>
              <a:t>empate → se elige el más simple: RF</a:t>
            </a:r>
          </a:p>
          <a:p>
            <a:pPr algn="ctr"/>
            <a:r>
              <a:rPr sz="1350" b="0" i="0">
                <a:solidFill>
                  <a:srgbClr val="C2610C"/>
                </a:solidFill>
                <a:latin typeface="Calibri"/>
              </a:rPr>
              <a:t>corrige el resumen (allí: XGBoost)</a:t>
            </a:r>
          </a:p>
        </p:txBody>
      </p:sp>
      <p:sp>
        <p:nvSpPr>
          <p:cNvPr id="13" name="Rounded Rectangle 12"/>
          <p:cNvSpPr/>
          <p:nvPr/>
        </p:nvSpPr>
        <p:spPr>
          <a:xfrm>
            <a:off x="731520" y="5532120"/>
            <a:ext cx="10424160" cy="54864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0120" y="5577840"/>
            <a:ext cx="9966960" cy="457200"/>
          </a:xfrm>
          <a:prstGeom prst="rect">
            <a:avLst/>
          </a:prstGeom>
          <a:noFill/>
        </p:spPr>
        <p:txBody>
          <a:bodyPr wrap="square" anchor="ctr" lIns="0" rIns="0" tIns="0" bIns="0">
            <a:spAutoFit/>
          </a:bodyPr>
          <a:lstStyle/>
          <a:p>
            <a:pPr algn="l"/>
            <a:r>
              <a:rPr sz="1450" b="1" i="0">
                <a:solidFill>
                  <a:srgbClr val="047857"/>
                </a:solidFill>
                <a:latin typeface="Calibri"/>
              </a:rPr>
              <a:t>Cómo leer AUC-PR:  </a:t>
            </a:r>
            <a:r>
              <a:rPr sz="1450" b="0" i="0">
                <a:solidFill>
                  <a:srgbClr val="0F1E36"/>
                </a:solidFill>
                <a:latin typeface="Calibri"/>
              </a:rPr>
              <a:t>1 = modelo perfecto; el azar vale la proporción de casos (0,24). Random Forest se confirma, ahora por una regla fijada antes de ver los resultados.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8</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Qué puede y qué no puede el modelo</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Dos niveles de alerta en lugar de un único corte; límites medidos, no supuestos</a:t>
            </a:r>
          </a:p>
        </p:txBody>
      </p:sp>
      <p:sp>
        <p:nvSpPr>
          <p:cNvPr id="7" name="Rounded Rectangle 6"/>
          <p:cNvSpPr/>
          <p:nvPr/>
        </p:nvSpPr>
        <p:spPr>
          <a:xfrm>
            <a:off x="731520" y="1508760"/>
            <a:ext cx="5029200" cy="19659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1600200"/>
            <a:ext cx="2286000" cy="365760"/>
          </a:xfrm>
          <a:prstGeom prst="rect">
            <a:avLst/>
          </a:prstGeom>
          <a:noFill/>
        </p:spPr>
        <p:txBody>
          <a:bodyPr wrap="square" anchor="t" lIns="0" rIns="0" tIns="0" bIns="0">
            <a:spAutoFit/>
          </a:bodyPr>
          <a:lstStyle/>
          <a:p>
            <a:pPr algn="l"/>
            <a:r>
              <a:rPr sz="1500" b="1" i="0">
                <a:solidFill>
                  <a:srgbClr val="B91C1C"/>
                </a:solidFill>
                <a:latin typeface="Calibri"/>
              </a:rPr>
              <a:t>CONFIRMADO</a:t>
            </a:r>
          </a:p>
        </p:txBody>
      </p:sp>
      <p:sp>
        <p:nvSpPr>
          <p:cNvPr id="9" name="TextBox 8"/>
          <p:cNvSpPr txBox="1"/>
          <p:nvPr/>
        </p:nvSpPr>
        <p:spPr>
          <a:xfrm>
            <a:off x="914400" y="1965960"/>
            <a:ext cx="2286000" cy="685800"/>
          </a:xfrm>
          <a:prstGeom prst="rect">
            <a:avLst/>
          </a:prstGeom>
          <a:noFill/>
        </p:spPr>
        <p:txBody>
          <a:bodyPr wrap="square" anchor="t" lIns="0" rIns="0" tIns="0" bIns="0">
            <a:spAutoFit/>
          </a:bodyPr>
          <a:lstStyle/>
          <a:p>
            <a:pPr algn="l"/>
            <a:r>
              <a:rPr sz="3600" b="1" i="0">
                <a:solidFill>
                  <a:srgbClr val="0F1E36"/>
                </a:solidFill>
                <a:latin typeface="Calibri"/>
              </a:rPr>
              <a:t>12 de 13</a:t>
            </a:r>
          </a:p>
        </p:txBody>
      </p:sp>
      <p:sp>
        <p:nvSpPr>
          <p:cNvPr id="10" name="TextBox 9"/>
          <p:cNvSpPr txBox="1"/>
          <p:nvPr/>
        </p:nvSpPr>
        <p:spPr>
          <a:xfrm>
            <a:off x="914400" y="2697480"/>
            <a:ext cx="2240280" cy="685800"/>
          </a:xfrm>
          <a:prstGeom prst="rect">
            <a:avLst/>
          </a:prstGeom>
          <a:noFill/>
        </p:spPr>
        <p:txBody>
          <a:bodyPr wrap="square" anchor="t" lIns="0" rIns="0" tIns="0" bIns="0">
            <a:spAutoFit/>
          </a:bodyPr>
          <a:lstStyle/>
          <a:p>
            <a:pPr algn="l"/>
            <a:r>
              <a:rPr sz="1200" b="0" i="0">
                <a:solidFill>
                  <a:srgbClr val="55657E"/>
                </a:solidFill>
                <a:latin typeface="Calibri"/>
              </a:rPr>
              <a:t>señalados que sí tuvieron bajo rendimiento</a:t>
            </a:r>
          </a:p>
        </p:txBody>
      </p:sp>
      <p:sp>
        <p:nvSpPr>
          <p:cNvPr id="11" name="TextBox 10"/>
          <p:cNvSpPr txBox="1"/>
          <p:nvPr/>
        </p:nvSpPr>
        <p:spPr>
          <a:xfrm>
            <a:off x="3337560" y="1600200"/>
            <a:ext cx="2286000" cy="365760"/>
          </a:xfrm>
          <a:prstGeom prst="rect">
            <a:avLst/>
          </a:prstGeom>
          <a:noFill/>
        </p:spPr>
        <p:txBody>
          <a:bodyPr wrap="square" anchor="t" lIns="0" rIns="0" tIns="0" bIns="0">
            <a:spAutoFit/>
          </a:bodyPr>
          <a:lstStyle/>
          <a:p>
            <a:pPr algn="l"/>
            <a:r>
              <a:rPr sz="1500" b="1" i="0">
                <a:solidFill>
                  <a:srgbClr val="B45309"/>
                </a:solidFill>
                <a:latin typeface="Calibri"/>
              </a:rPr>
              <a:t>SEGUIMIENTO</a:t>
            </a:r>
          </a:p>
        </p:txBody>
      </p:sp>
      <p:sp>
        <p:nvSpPr>
          <p:cNvPr id="12" name="TextBox 11"/>
          <p:cNvSpPr txBox="1"/>
          <p:nvPr/>
        </p:nvSpPr>
        <p:spPr>
          <a:xfrm>
            <a:off x="3337560" y="1965960"/>
            <a:ext cx="2286000" cy="685800"/>
          </a:xfrm>
          <a:prstGeom prst="rect">
            <a:avLst/>
          </a:prstGeom>
          <a:noFill/>
        </p:spPr>
        <p:txBody>
          <a:bodyPr wrap="square" anchor="t" lIns="0" rIns="0" tIns="0" bIns="0">
            <a:spAutoFit/>
          </a:bodyPr>
          <a:lstStyle/>
          <a:p>
            <a:pPr algn="l"/>
            <a:r>
              <a:rPr sz="3600" b="1" i="0">
                <a:solidFill>
                  <a:srgbClr val="0F1E36"/>
                </a:solidFill>
                <a:latin typeface="Calibri"/>
              </a:rPr>
              <a:t>79 %</a:t>
            </a:r>
          </a:p>
        </p:txBody>
      </p:sp>
      <p:sp>
        <p:nvSpPr>
          <p:cNvPr id="13" name="TextBox 12"/>
          <p:cNvSpPr txBox="1"/>
          <p:nvPr/>
        </p:nvSpPr>
        <p:spPr>
          <a:xfrm>
            <a:off x="3337560" y="2697480"/>
            <a:ext cx="2240280" cy="685800"/>
          </a:xfrm>
          <a:prstGeom prst="rect">
            <a:avLst/>
          </a:prstGeom>
          <a:noFill/>
        </p:spPr>
        <p:txBody>
          <a:bodyPr wrap="square" anchor="t" lIns="0" rIns="0" tIns="0" bIns="0">
            <a:spAutoFit/>
          </a:bodyPr>
          <a:lstStyle/>
          <a:p>
            <a:pPr algn="l"/>
            <a:r>
              <a:rPr sz="1200" b="0" i="0">
                <a:solidFill>
                  <a:srgbClr val="55657E"/>
                </a:solidFill>
                <a:latin typeface="Calibri"/>
              </a:rPr>
              <a:t>de los casos detectados, señalando a la mitad de la cohorte</a:t>
            </a:r>
          </a:p>
        </p:txBody>
      </p:sp>
      <p:sp>
        <p:nvSpPr>
          <p:cNvPr id="14" name="TextBox 13"/>
          <p:cNvSpPr txBox="1"/>
          <p:nvPr/>
        </p:nvSpPr>
        <p:spPr>
          <a:xfrm>
            <a:off x="731520" y="3611880"/>
            <a:ext cx="5029200" cy="594360"/>
          </a:xfrm>
          <a:prstGeom prst="rect">
            <a:avLst/>
          </a:prstGeom>
          <a:noFill/>
        </p:spPr>
        <p:txBody>
          <a:bodyPr wrap="square" anchor="t" lIns="0" rIns="0" tIns="0" bIns="0">
            <a:spAutoFit/>
          </a:bodyPr>
          <a:lstStyle/>
          <a:p>
            <a:pPr algn="l"/>
            <a:r>
              <a:rPr sz="1400" b="0" i="1">
                <a:solidFill>
                  <a:srgbClr val="1F5FAE"/>
                </a:solidFill>
                <a:latin typeface="Calibri"/>
              </a:rPr>
              <a:t>Cuántos estudiantes acompañar lo decide la Universidad según su capacidad (art. 23), no el modelo.</a:t>
            </a:r>
          </a:p>
        </p:txBody>
      </p:sp>
      <p:sp>
        <p:nvSpPr>
          <p:cNvPr id="15" name="Rounded Rectangle 14"/>
          <p:cNvSpPr/>
          <p:nvPr/>
        </p:nvSpPr>
        <p:spPr>
          <a:xfrm>
            <a:off x="6080760" y="1508760"/>
            <a:ext cx="5074920" cy="1033271"/>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263640" y="1801368"/>
            <a:ext cx="438912" cy="43891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7" name="TextBox 16"/>
          <p:cNvSpPr txBox="1"/>
          <p:nvPr/>
        </p:nvSpPr>
        <p:spPr>
          <a:xfrm>
            <a:off x="6858000" y="1554480"/>
            <a:ext cx="4160520" cy="941832"/>
          </a:xfrm>
          <a:prstGeom prst="rect">
            <a:avLst/>
          </a:prstGeom>
          <a:noFill/>
        </p:spPr>
        <p:txBody>
          <a:bodyPr wrap="square" anchor="ctr" lIns="0" rIns="0" tIns="0" bIns="0">
            <a:spAutoFit/>
          </a:bodyPr>
          <a:lstStyle/>
          <a:p>
            <a:pPr algn="l"/>
            <a:r>
              <a:rPr sz="1300" b="1" i="0">
                <a:solidFill>
                  <a:srgbClr val="0F1E36"/>
                </a:solidFill>
                <a:latin typeface="Calibri"/>
              </a:rPr>
              <a:t>Casi la mitad de los casos ocurre en el 1.er semestre</a:t>
            </a:r>
          </a:p>
          <a:p>
            <a:pPr algn="l"/>
            <a:r>
              <a:rPr sz="1300" b="0" i="0">
                <a:solidFill>
                  <a:srgbClr val="55657E"/>
                </a:solidFill>
                <a:latin typeface="Calibri"/>
              </a:rPr>
              <a:t>ahí el modelo confirma, no anticipa. Solo con casos futuros: AUC-PR 0,473, aún 3,1 veces el azar.</a:t>
            </a:r>
          </a:p>
        </p:txBody>
      </p:sp>
      <p:sp>
        <p:nvSpPr>
          <p:cNvPr id="18" name="Rounded Rectangle 17"/>
          <p:cNvSpPr/>
          <p:nvPr/>
        </p:nvSpPr>
        <p:spPr>
          <a:xfrm>
            <a:off x="6080760" y="2670048"/>
            <a:ext cx="5074920" cy="1033271"/>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263640" y="2962656"/>
            <a:ext cx="438912" cy="43891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20" name="TextBox 19"/>
          <p:cNvSpPr txBox="1"/>
          <p:nvPr/>
        </p:nvSpPr>
        <p:spPr>
          <a:xfrm>
            <a:off x="6858000" y="2715768"/>
            <a:ext cx="4160520" cy="941832"/>
          </a:xfrm>
          <a:prstGeom prst="rect">
            <a:avLst/>
          </a:prstGeom>
          <a:noFill/>
        </p:spPr>
        <p:txBody>
          <a:bodyPr wrap="square" anchor="ctr" lIns="0" rIns="0" tIns="0" bIns="0">
            <a:spAutoFit/>
          </a:bodyPr>
          <a:lstStyle/>
          <a:p>
            <a:pPr algn="l"/>
            <a:r>
              <a:rPr sz="1300" b="1" i="0">
                <a:solidFill>
                  <a:srgbClr val="0F1E36"/>
                </a:solidFill>
                <a:latin typeface="Calibri"/>
              </a:rPr>
              <a:t>Ajustar probabilidades no mejoró</a:t>
            </a:r>
          </a:p>
          <a:p>
            <a:pPr algn="l"/>
            <a:r>
              <a:rPr sz="1300" b="0" i="0">
                <a:solidFill>
                  <a:srgbClr val="55657E"/>
                </a:solidFill>
                <a:latin typeface="Calibri"/>
              </a:rPr>
              <a:t>convertir el puntaje en un porcentaje «exacto» empeoró el modelo: se muestran niveles, no porcentajes.</a:t>
            </a:r>
          </a:p>
        </p:txBody>
      </p:sp>
      <p:sp>
        <p:nvSpPr>
          <p:cNvPr id="21" name="Rounded Rectangle 20"/>
          <p:cNvSpPr/>
          <p:nvPr/>
        </p:nvSpPr>
        <p:spPr>
          <a:xfrm>
            <a:off x="6080760" y="3831335"/>
            <a:ext cx="5074920" cy="1033271"/>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263640" y="4123944"/>
            <a:ext cx="438912" cy="43891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23" name="TextBox 22"/>
          <p:cNvSpPr txBox="1"/>
          <p:nvPr/>
        </p:nvSpPr>
        <p:spPr>
          <a:xfrm>
            <a:off x="6858000" y="3877055"/>
            <a:ext cx="4160520" cy="941832"/>
          </a:xfrm>
          <a:prstGeom prst="rect">
            <a:avLst/>
          </a:prstGeom>
          <a:noFill/>
        </p:spPr>
        <p:txBody>
          <a:bodyPr wrap="square" anchor="ctr" lIns="0" rIns="0" tIns="0" bIns="0">
            <a:spAutoFit/>
          </a:bodyPr>
          <a:lstStyle/>
          <a:p>
            <a:pPr algn="l"/>
            <a:r>
              <a:rPr sz="1300" b="1" i="0">
                <a:solidFill>
                  <a:srgbClr val="0F1E36"/>
                </a:solidFill>
                <a:latin typeface="Calibri"/>
              </a:rPr>
              <a:t>Semestre a semestre: sin señal</a:t>
            </a:r>
          </a:p>
          <a:p>
            <a:pPr algn="l"/>
            <a:r>
              <a:rPr sz="1300" b="0" i="0">
                <a:solidFill>
                  <a:srgbClr val="55657E"/>
                </a:solidFill>
                <a:latin typeface="Calibri"/>
              </a:rPr>
              <a:t>predecir por cortes el art. 20 no superó al azar. El seguimiento semestral usa las reglas del reglamento.</a:t>
            </a:r>
          </a:p>
        </p:txBody>
      </p:sp>
      <p:sp>
        <p:nvSpPr>
          <p:cNvPr id="24" name="Rounded Rectangle 23"/>
          <p:cNvSpPr/>
          <p:nvPr/>
        </p:nvSpPr>
        <p:spPr>
          <a:xfrm>
            <a:off x="731520" y="5120640"/>
            <a:ext cx="10424160" cy="68580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0120" y="5166359"/>
            <a:ext cx="9966960" cy="594360"/>
          </a:xfrm>
          <a:prstGeom prst="rect">
            <a:avLst/>
          </a:prstGeom>
          <a:noFill/>
        </p:spPr>
        <p:txBody>
          <a:bodyPr wrap="square" anchor="ctr" lIns="0" rIns="0" tIns="0" bIns="0">
            <a:spAutoFit/>
          </a:bodyPr>
          <a:lstStyle/>
          <a:p>
            <a:pPr algn="l"/>
            <a:r>
              <a:rPr sz="1450" b="1" i="0">
                <a:solidFill>
                  <a:srgbClr val="047857"/>
                </a:solidFill>
                <a:latin typeface="Calibri"/>
              </a:rPr>
              <a:t>Diseño:  </a:t>
            </a:r>
            <a:r>
              <a:rPr sz="1450" b="0" i="0">
                <a:solidFill>
                  <a:srgbClr val="0F1E36"/>
                </a:solidFill>
                <a:latin typeface="Calibri"/>
              </a:rPr>
              <a:t>predecir donde hay información suficiente (cierre del 1.er semestre) y aplicar el reglamento donde no la hay.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9</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Dos planes de estudio, un solo sistema</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Acuerdo 008 de 2011 · Acuerdo 001 de 2017 · Resolución Académica 036 de 2017</a:t>
            </a:r>
          </a:p>
        </p:txBody>
      </p:sp>
      <p:sp>
        <p:nvSpPr>
          <p:cNvPr id="7" name="Rounded Rectangle 6"/>
          <p:cNvSpPr/>
          <p:nvPr/>
        </p:nvSpPr>
        <p:spPr>
          <a:xfrm>
            <a:off x="731520" y="1554480"/>
            <a:ext cx="2377440" cy="17373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1691639"/>
            <a:ext cx="2011680" cy="777240"/>
          </a:xfrm>
          <a:prstGeom prst="rect">
            <a:avLst/>
          </a:prstGeom>
          <a:noFill/>
        </p:spPr>
        <p:txBody>
          <a:bodyPr wrap="square" anchor="t" lIns="0" rIns="0" tIns="0" bIns="0">
            <a:spAutoFit/>
          </a:bodyPr>
          <a:lstStyle/>
          <a:p>
            <a:pPr algn="ctr"/>
            <a:r>
              <a:rPr sz="4400" b="1" i="0">
                <a:solidFill>
                  <a:srgbClr val="D97706"/>
                </a:solidFill>
                <a:latin typeface="Calibri"/>
              </a:rPr>
              <a:t>167</a:t>
            </a:r>
          </a:p>
        </p:txBody>
      </p:sp>
      <p:sp>
        <p:nvSpPr>
          <p:cNvPr id="9" name="TextBox 8"/>
          <p:cNvSpPr txBox="1"/>
          <p:nvPr/>
        </p:nvSpPr>
        <p:spPr>
          <a:xfrm>
            <a:off x="914400" y="2468880"/>
            <a:ext cx="2011680" cy="320040"/>
          </a:xfrm>
          <a:prstGeom prst="rect">
            <a:avLst/>
          </a:prstGeom>
          <a:noFill/>
        </p:spPr>
        <p:txBody>
          <a:bodyPr wrap="square" anchor="t" lIns="0" rIns="0" tIns="0" bIns="0">
            <a:spAutoFit/>
          </a:bodyPr>
          <a:lstStyle/>
          <a:p>
            <a:pPr algn="ctr"/>
            <a:r>
              <a:rPr sz="1500" b="1" i="0">
                <a:solidFill>
                  <a:srgbClr val="0F1E36"/>
                </a:solidFill>
                <a:latin typeface="Calibri"/>
              </a:rPr>
              <a:t>créditos · plan 2011</a:t>
            </a:r>
          </a:p>
        </p:txBody>
      </p:sp>
      <p:sp>
        <p:nvSpPr>
          <p:cNvPr id="10" name="TextBox 9"/>
          <p:cNvSpPr txBox="1"/>
          <p:nvPr/>
        </p:nvSpPr>
        <p:spPr>
          <a:xfrm>
            <a:off x="914400" y="2788920"/>
            <a:ext cx="2011680" cy="411480"/>
          </a:xfrm>
          <a:prstGeom prst="rect">
            <a:avLst/>
          </a:prstGeom>
          <a:noFill/>
        </p:spPr>
        <p:txBody>
          <a:bodyPr wrap="square" anchor="t" lIns="0" rIns="0" tIns="0" bIns="0">
            <a:spAutoFit/>
          </a:bodyPr>
          <a:lstStyle/>
          <a:p>
            <a:pPr algn="ctr"/>
            <a:r>
              <a:rPr sz="1150" b="0" i="0">
                <a:solidFill>
                  <a:srgbClr val="55657E"/>
                </a:solidFill>
                <a:latin typeface="Calibri"/>
              </a:rPr>
              <a:t>códigos 602xxx</a:t>
            </a:r>
          </a:p>
        </p:txBody>
      </p:sp>
      <p:sp>
        <p:nvSpPr>
          <p:cNvPr id="11" name="Rounded Rectangle 10"/>
          <p:cNvSpPr/>
          <p:nvPr/>
        </p:nvSpPr>
        <p:spPr>
          <a:xfrm>
            <a:off x="3291840" y="1554480"/>
            <a:ext cx="2377440" cy="17373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474720" y="1691639"/>
            <a:ext cx="2011680" cy="777240"/>
          </a:xfrm>
          <a:prstGeom prst="rect">
            <a:avLst/>
          </a:prstGeom>
          <a:noFill/>
        </p:spPr>
        <p:txBody>
          <a:bodyPr wrap="square" anchor="t" lIns="0" rIns="0" tIns="0" bIns="0">
            <a:spAutoFit/>
          </a:bodyPr>
          <a:lstStyle/>
          <a:p>
            <a:pPr algn="ctr"/>
            <a:r>
              <a:rPr sz="4400" b="1" i="0">
                <a:solidFill>
                  <a:srgbClr val="0369A1"/>
                </a:solidFill>
                <a:latin typeface="Calibri"/>
              </a:rPr>
              <a:t>165</a:t>
            </a:r>
          </a:p>
        </p:txBody>
      </p:sp>
      <p:sp>
        <p:nvSpPr>
          <p:cNvPr id="13" name="TextBox 12"/>
          <p:cNvSpPr txBox="1"/>
          <p:nvPr/>
        </p:nvSpPr>
        <p:spPr>
          <a:xfrm>
            <a:off x="3474720" y="2468880"/>
            <a:ext cx="2011680" cy="320040"/>
          </a:xfrm>
          <a:prstGeom prst="rect">
            <a:avLst/>
          </a:prstGeom>
          <a:noFill/>
        </p:spPr>
        <p:txBody>
          <a:bodyPr wrap="square" anchor="t" lIns="0" rIns="0" tIns="0" bIns="0">
            <a:spAutoFit/>
          </a:bodyPr>
          <a:lstStyle/>
          <a:p>
            <a:pPr algn="ctr"/>
            <a:r>
              <a:rPr sz="1500" b="1" i="0">
                <a:solidFill>
                  <a:srgbClr val="0F1E36"/>
                </a:solidFill>
                <a:latin typeface="Calibri"/>
              </a:rPr>
              <a:t>créditos · plan 2018</a:t>
            </a:r>
          </a:p>
        </p:txBody>
      </p:sp>
      <p:sp>
        <p:nvSpPr>
          <p:cNvPr id="14" name="TextBox 13"/>
          <p:cNvSpPr txBox="1"/>
          <p:nvPr/>
        </p:nvSpPr>
        <p:spPr>
          <a:xfrm>
            <a:off x="3474720" y="2788920"/>
            <a:ext cx="2011680" cy="411480"/>
          </a:xfrm>
          <a:prstGeom prst="rect">
            <a:avLst/>
          </a:prstGeom>
          <a:noFill/>
        </p:spPr>
        <p:txBody>
          <a:bodyPr wrap="square" anchor="t" lIns="0" rIns="0" tIns="0" bIns="0">
            <a:spAutoFit/>
          </a:bodyPr>
          <a:lstStyle/>
          <a:p>
            <a:pPr algn="ctr"/>
            <a:r>
              <a:rPr sz="1150" b="0" i="0">
                <a:solidFill>
                  <a:srgbClr val="55657E"/>
                </a:solidFill>
                <a:latin typeface="Calibri"/>
              </a:rPr>
              <a:t>códigos 603xxx</a:t>
            </a:r>
          </a:p>
        </p:txBody>
      </p:sp>
      <p:sp>
        <p:nvSpPr>
          <p:cNvPr id="15" name="Rounded Rectangle 14"/>
          <p:cNvSpPr/>
          <p:nvPr/>
        </p:nvSpPr>
        <p:spPr>
          <a:xfrm>
            <a:off x="731520" y="3474720"/>
            <a:ext cx="2377440" cy="17373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611879"/>
            <a:ext cx="2011680" cy="777240"/>
          </a:xfrm>
          <a:prstGeom prst="rect">
            <a:avLst/>
          </a:prstGeom>
          <a:noFill/>
        </p:spPr>
        <p:txBody>
          <a:bodyPr wrap="square" anchor="t" lIns="0" rIns="0" tIns="0" bIns="0">
            <a:spAutoFit/>
          </a:bodyPr>
          <a:lstStyle/>
          <a:p>
            <a:pPr algn="ctr"/>
            <a:r>
              <a:rPr sz="4400" b="1" i="0">
                <a:solidFill>
                  <a:srgbClr val="047857"/>
                </a:solidFill>
                <a:latin typeface="Calibri"/>
              </a:rPr>
              <a:t>72</a:t>
            </a:r>
          </a:p>
        </p:txBody>
      </p:sp>
      <p:sp>
        <p:nvSpPr>
          <p:cNvPr id="17" name="TextBox 16"/>
          <p:cNvSpPr txBox="1"/>
          <p:nvPr/>
        </p:nvSpPr>
        <p:spPr>
          <a:xfrm>
            <a:off x="914400" y="4389120"/>
            <a:ext cx="2011680" cy="320040"/>
          </a:xfrm>
          <a:prstGeom prst="rect">
            <a:avLst/>
          </a:prstGeom>
          <a:noFill/>
        </p:spPr>
        <p:txBody>
          <a:bodyPr wrap="square" anchor="t" lIns="0" rIns="0" tIns="0" bIns="0">
            <a:spAutoFit/>
          </a:bodyPr>
          <a:lstStyle/>
          <a:p>
            <a:pPr algn="ctr"/>
            <a:r>
              <a:rPr sz="1500" b="1" i="0">
                <a:solidFill>
                  <a:srgbClr val="0F1E36"/>
                </a:solidFill>
                <a:latin typeface="Calibri"/>
              </a:rPr>
              <a:t>equivalencias</a:t>
            </a:r>
          </a:p>
        </p:txBody>
      </p:sp>
      <p:sp>
        <p:nvSpPr>
          <p:cNvPr id="18" name="TextBox 17"/>
          <p:cNvSpPr txBox="1"/>
          <p:nvPr/>
        </p:nvSpPr>
        <p:spPr>
          <a:xfrm>
            <a:off x="914400" y="4709160"/>
            <a:ext cx="2011680" cy="411480"/>
          </a:xfrm>
          <a:prstGeom prst="rect">
            <a:avLst/>
          </a:prstGeom>
          <a:noFill/>
        </p:spPr>
        <p:txBody>
          <a:bodyPr wrap="square" anchor="t" lIns="0" rIns="0" tIns="0" bIns="0">
            <a:spAutoFit/>
          </a:bodyPr>
          <a:lstStyle/>
          <a:p>
            <a:pPr algn="ctr"/>
            <a:r>
              <a:rPr sz="1150" b="0" i="0">
                <a:solidFill>
                  <a:srgbClr val="55657E"/>
                </a:solidFill>
                <a:latin typeface="Calibri"/>
              </a:rPr>
              <a:t>transcritas de la resolución</a:t>
            </a:r>
          </a:p>
        </p:txBody>
      </p:sp>
      <p:sp>
        <p:nvSpPr>
          <p:cNvPr id="19" name="Rounded Rectangle 18"/>
          <p:cNvSpPr/>
          <p:nvPr/>
        </p:nvSpPr>
        <p:spPr>
          <a:xfrm>
            <a:off x="3291840" y="3474720"/>
            <a:ext cx="2377440" cy="173736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74720" y="3611879"/>
            <a:ext cx="2011680" cy="777240"/>
          </a:xfrm>
          <a:prstGeom prst="rect">
            <a:avLst/>
          </a:prstGeom>
          <a:noFill/>
        </p:spPr>
        <p:txBody>
          <a:bodyPr wrap="square" anchor="t" lIns="0" rIns="0" tIns="0" bIns="0">
            <a:spAutoFit/>
          </a:bodyPr>
          <a:lstStyle/>
          <a:p>
            <a:pPr algn="ctr"/>
            <a:r>
              <a:rPr sz="4400" b="1" i="0">
                <a:solidFill>
                  <a:srgbClr val="6D28D9"/>
                </a:solidFill>
                <a:latin typeface="Calibri"/>
              </a:rPr>
              <a:t>24</a:t>
            </a:r>
          </a:p>
        </p:txBody>
      </p:sp>
      <p:sp>
        <p:nvSpPr>
          <p:cNvPr id="21" name="TextBox 20"/>
          <p:cNvSpPr txBox="1"/>
          <p:nvPr/>
        </p:nvSpPr>
        <p:spPr>
          <a:xfrm>
            <a:off x="3474720" y="4389120"/>
            <a:ext cx="2011680" cy="320040"/>
          </a:xfrm>
          <a:prstGeom prst="rect">
            <a:avLst/>
          </a:prstGeom>
          <a:noFill/>
        </p:spPr>
        <p:txBody>
          <a:bodyPr wrap="square" anchor="t" lIns="0" rIns="0" tIns="0" bIns="0">
            <a:spAutoFit/>
          </a:bodyPr>
          <a:lstStyle/>
          <a:p>
            <a:pPr algn="ctr"/>
            <a:r>
              <a:rPr sz="1500" b="1" i="0">
                <a:solidFill>
                  <a:srgbClr val="0F1E36"/>
                </a:solidFill>
                <a:latin typeface="Calibri"/>
              </a:rPr>
              <a:t>pruebas automáticas</a:t>
            </a:r>
          </a:p>
        </p:txBody>
      </p:sp>
      <p:sp>
        <p:nvSpPr>
          <p:cNvPr id="22" name="TextBox 21"/>
          <p:cNvSpPr txBox="1"/>
          <p:nvPr/>
        </p:nvSpPr>
        <p:spPr>
          <a:xfrm>
            <a:off x="3474720" y="4709160"/>
            <a:ext cx="2011680" cy="411480"/>
          </a:xfrm>
          <a:prstGeom prst="rect">
            <a:avLst/>
          </a:prstGeom>
          <a:noFill/>
        </p:spPr>
        <p:txBody>
          <a:bodyPr wrap="square" anchor="t" lIns="0" rIns="0" tIns="0" bIns="0">
            <a:spAutoFit/>
          </a:bodyPr>
          <a:lstStyle/>
          <a:p>
            <a:pPr algn="ctr"/>
            <a:r>
              <a:rPr sz="1150" b="0" i="0">
                <a:solidFill>
                  <a:srgbClr val="55657E"/>
                </a:solidFill>
                <a:latin typeface="Calibri"/>
              </a:rPr>
              <a:t>ninguna cifra actual cambia</a:t>
            </a:r>
          </a:p>
        </p:txBody>
      </p:sp>
      <p:sp>
        <p:nvSpPr>
          <p:cNvPr id="23" name="Rounded Rectangle 22"/>
          <p:cNvSpPr/>
          <p:nvPr/>
        </p:nvSpPr>
        <p:spPr>
          <a:xfrm>
            <a:off x="5989320" y="1554480"/>
            <a:ext cx="5166360" cy="205740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17920" y="1664208"/>
            <a:ext cx="4754880" cy="1874519"/>
          </a:xfrm>
          <a:prstGeom prst="rect">
            <a:avLst/>
          </a:prstGeom>
          <a:noFill/>
        </p:spPr>
        <p:txBody>
          <a:bodyPr wrap="square" anchor="t" lIns="0" rIns="0" tIns="0" bIns="0">
            <a:spAutoFit/>
          </a:bodyPr>
          <a:lstStyle/>
          <a:p>
            <a:pPr algn="l"/>
            <a:r>
              <a:rPr sz="1400" b="1" i="0">
                <a:solidFill>
                  <a:srgbClr val="1F5FAE"/>
                </a:solidFill>
                <a:latin typeface="Calibri"/>
              </a:rPr>
              <a:t>Por qué importa</a:t>
            </a:r>
          </a:p>
          <a:p>
            <a:pPr algn="l"/>
            <a:r>
              <a:rPr sz="1400" b="0" i="0">
                <a:solidFill>
                  <a:srgbClr val="0F1E36"/>
                </a:solidFill>
                <a:latin typeface="Calibri"/>
              </a:rPr>
              <a:t>El reglamento sanciona reprobar el mismo curso cuatro veces. Reprobar Matemáticas II (2011) y luego Cálculo integral (2018) es repetir el mismo curso: sin la capa de equivalencias pasaría inadvertido.</a:t>
            </a:r>
          </a:p>
        </p:txBody>
      </p:sp>
      <p:sp>
        <p:nvSpPr>
          <p:cNvPr id="25" name="Rounded Rectangle 24"/>
          <p:cNvSpPr/>
          <p:nvPr/>
        </p:nvSpPr>
        <p:spPr>
          <a:xfrm>
            <a:off x="5989320" y="3749039"/>
            <a:ext cx="5166360" cy="146304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3840480"/>
            <a:ext cx="4754880" cy="1325880"/>
          </a:xfrm>
          <a:prstGeom prst="rect">
            <a:avLst/>
          </a:prstGeom>
          <a:noFill/>
        </p:spPr>
        <p:txBody>
          <a:bodyPr wrap="square" anchor="t" lIns="0" rIns="0" tIns="0" bIns="0">
            <a:spAutoFit/>
          </a:bodyPr>
          <a:lstStyle/>
          <a:p>
            <a:pPr algn="l"/>
            <a:r>
              <a:rPr sz="1350" b="1" i="0">
                <a:solidFill>
                  <a:srgbClr val="C2610C"/>
                </a:solidFill>
                <a:latin typeface="Calibri"/>
              </a:rPr>
              <a:t>Primer semestre del plan 2018 (simulado)</a:t>
            </a:r>
          </a:p>
          <a:p>
            <a:pPr algn="l"/>
            <a:r>
              <a:rPr sz="1350" b="0" i="0">
                <a:solidFill>
                  <a:srgbClr val="0F1E36"/>
                </a:solidFill>
                <a:latin typeface="Calibri"/>
              </a:rPr>
              <a:t>AUC-PR 0,749 sin reentrenar (antes 0,751): el modelo conserva su capacidad. El promedio sube +0,125 → ajustar los umbrales con la primera cohorte real.</a:t>
            </a:r>
          </a:p>
        </p:txBody>
      </p:sp>
      <p:sp>
        <p:nvSpPr>
          <p:cNvPr id="27" name="Rounded Rectangle 26"/>
          <p:cNvSpPr/>
          <p:nvPr/>
        </p:nvSpPr>
        <p:spPr>
          <a:xfrm>
            <a:off x="731520" y="5440680"/>
            <a:ext cx="10424160" cy="59436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0120" y="5486400"/>
            <a:ext cx="9966960" cy="502920"/>
          </a:xfrm>
          <a:prstGeom prst="rect">
            <a:avLst/>
          </a:prstGeom>
          <a:noFill/>
        </p:spPr>
        <p:txBody>
          <a:bodyPr wrap="square" anchor="ctr" lIns="0" rIns="0" tIns="0" bIns="0">
            <a:spAutoFit/>
          </a:bodyPr>
          <a:lstStyle/>
          <a:p>
            <a:pPr algn="l"/>
            <a:r>
              <a:rPr sz="1450" b="1" i="0">
                <a:solidFill>
                  <a:srgbClr val="C2610C"/>
                </a:solidFill>
                <a:latin typeface="Calibri"/>
              </a:rPr>
              <a:t>En los datos:  </a:t>
            </a:r>
            <a:r>
              <a:rPr sz="1450" b="0" i="0">
                <a:solidFill>
                  <a:srgbClr val="0F1E36"/>
                </a:solidFill>
                <a:latin typeface="Calibri"/>
              </a:rPr>
              <a:t>la cohorte 2018-1 cursó el plan 2011 (PENSUM 602), un desfase habitual al implantar un plan; la capa lo absorbe.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10</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TRAYECTA: alerta y trayectoria académica</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Referencia: SPADIES (MEN), llevado a escala de programa y con el reglamento de la Universidad</a:t>
            </a:r>
          </a:p>
        </p:txBody>
      </p:sp>
      <p:sp>
        <p:nvSpPr>
          <p:cNvPr id="7" name="Rounded Rectangle 6"/>
          <p:cNvSpPr/>
          <p:nvPr/>
        </p:nvSpPr>
        <p:spPr>
          <a:xfrm>
            <a:off x="731520" y="1645920"/>
            <a:ext cx="1783080" cy="1417320"/>
          </a:xfrm>
          <a:prstGeom prst="roundRect">
            <a:avLst>
              <a:gd name="adj" fmla="val 10000"/>
            </a:avLst>
          </a:prstGeom>
          <a:solidFill>
            <a:srgbClr val="FFFFFF"/>
          </a:solidFill>
          <a:ln w="22225">
            <a:solidFill>
              <a:srgbClr val="55657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691640"/>
            <a:ext cx="1691640" cy="1325880"/>
          </a:xfrm>
          <a:prstGeom prst="rect">
            <a:avLst/>
          </a:prstGeom>
          <a:noFill/>
        </p:spPr>
        <p:txBody>
          <a:bodyPr wrap="square" anchor="ctr" lIns="0" rIns="0" tIns="0" bIns="0">
            <a:spAutoFit/>
          </a:bodyPr>
          <a:lstStyle/>
          <a:p>
            <a:pPr algn="ctr"/>
            <a:r>
              <a:rPr sz="1600" b="1" i="0">
                <a:solidFill>
                  <a:srgbClr val="55657E"/>
                </a:solidFill>
                <a:latin typeface="Calibri"/>
              </a:rPr>
              <a:t>Extracto SIIF</a:t>
            </a:r>
          </a:p>
          <a:p>
            <a:pPr algn="ctr"/>
            <a:r>
              <a:rPr sz="1200" b="0" i="0">
                <a:solidFill>
                  <a:srgbClr val="0F1E36"/>
                </a:solidFill>
                <a:latin typeface="Calibri"/>
              </a:rPr>
              <a:t>notas + Saber 11</a:t>
            </a:r>
          </a:p>
          <a:p>
            <a:pPr algn="ctr"/>
            <a:r>
              <a:rPr sz="1200" b="0" i="0">
                <a:solidFill>
                  <a:srgbClr val="0F1E36"/>
                </a:solidFill>
                <a:latin typeface="Calibri"/>
              </a:rPr>
              <a:t>sin nombres</a:t>
            </a:r>
          </a:p>
        </p:txBody>
      </p:sp>
      <p:sp>
        <p:nvSpPr>
          <p:cNvPr id="9" name="TextBox 8"/>
          <p:cNvSpPr txBox="1"/>
          <p:nvPr/>
        </p:nvSpPr>
        <p:spPr>
          <a:xfrm>
            <a:off x="2514600" y="2103120"/>
            <a:ext cx="347472" cy="457200"/>
          </a:xfrm>
          <a:prstGeom prst="rect">
            <a:avLst/>
          </a:prstGeom>
          <a:noFill/>
        </p:spPr>
        <p:txBody>
          <a:bodyPr wrap="square" anchor="t" lIns="0" rIns="0" tIns="0" bIns="0">
            <a:spAutoFit/>
          </a:bodyPr>
          <a:lstStyle/>
          <a:p>
            <a:pPr algn="ctr"/>
            <a:r>
              <a:rPr sz="2000" b="0" i="0">
                <a:solidFill>
                  <a:srgbClr val="55657E"/>
                </a:solidFill>
                <a:latin typeface="Calibri"/>
              </a:rPr>
              <a:t>➜</a:t>
            </a:r>
          </a:p>
        </p:txBody>
      </p:sp>
      <p:sp>
        <p:nvSpPr>
          <p:cNvPr id="10" name="Rounded Rectangle 9"/>
          <p:cNvSpPr/>
          <p:nvPr/>
        </p:nvSpPr>
        <p:spPr>
          <a:xfrm>
            <a:off x="2862072" y="1645920"/>
            <a:ext cx="1783080" cy="1417320"/>
          </a:xfrm>
          <a:prstGeom prst="roundRect">
            <a:avLst>
              <a:gd name="adj" fmla="val 10000"/>
            </a:avLst>
          </a:prstGeom>
          <a:solidFill>
            <a:srgbClr val="FFFFFF"/>
          </a:solidFill>
          <a:ln w="222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907791" y="1691640"/>
            <a:ext cx="1691640" cy="1325880"/>
          </a:xfrm>
          <a:prstGeom prst="rect">
            <a:avLst/>
          </a:prstGeom>
          <a:noFill/>
        </p:spPr>
        <p:txBody>
          <a:bodyPr wrap="square" anchor="ctr" lIns="0" rIns="0" tIns="0" bIns="0">
            <a:spAutoFit/>
          </a:bodyPr>
          <a:lstStyle/>
          <a:p>
            <a:pPr algn="ctr"/>
            <a:r>
              <a:rPr sz="1600" b="1" i="0">
                <a:solidFill>
                  <a:srgbClr val="D97706"/>
                </a:solidFill>
                <a:latin typeface="Calibri"/>
              </a:rPr>
              <a:t>Equivalencias</a:t>
            </a:r>
          </a:p>
          <a:p>
            <a:pPr algn="ctr"/>
            <a:r>
              <a:rPr sz="1200" b="0" i="0">
                <a:solidFill>
                  <a:srgbClr val="0F1E36"/>
                </a:solidFill>
                <a:latin typeface="Calibri"/>
              </a:rPr>
              <a:t>plan 2011 / 2018</a:t>
            </a:r>
          </a:p>
          <a:p>
            <a:pPr algn="ctr"/>
            <a:r>
              <a:rPr sz="1200" b="0" i="0">
                <a:solidFill>
                  <a:srgbClr val="0F1E36"/>
                </a:solidFill>
                <a:latin typeface="Calibri"/>
              </a:rPr>
              <a:t>validación de códigos</a:t>
            </a:r>
          </a:p>
        </p:txBody>
      </p:sp>
      <p:sp>
        <p:nvSpPr>
          <p:cNvPr id="12" name="TextBox 11"/>
          <p:cNvSpPr txBox="1"/>
          <p:nvPr/>
        </p:nvSpPr>
        <p:spPr>
          <a:xfrm>
            <a:off x="4645152" y="2103120"/>
            <a:ext cx="347472" cy="457200"/>
          </a:xfrm>
          <a:prstGeom prst="rect">
            <a:avLst/>
          </a:prstGeom>
          <a:noFill/>
        </p:spPr>
        <p:txBody>
          <a:bodyPr wrap="square" anchor="t" lIns="0" rIns="0" tIns="0" bIns="0">
            <a:spAutoFit/>
          </a:bodyPr>
          <a:lstStyle/>
          <a:p>
            <a:pPr algn="ctr"/>
            <a:r>
              <a:rPr sz="2000" b="0" i="0">
                <a:solidFill>
                  <a:srgbClr val="55657E"/>
                </a:solidFill>
                <a:latin typeface="Calibri"/>
              </a:rPr>
              <a:t>➜</a:t>
            </a:r>
          </a:p>
        </p:txBody>
      </p:sp>
      <p:sp>
        <p:nvSpPr>
          <p:cNvPr id="13" name="Rounded Rectangle 12"/>
          <p:cNvSpPr/>
          <p:nvPr/>
        </p:nvSpPr>
        <p:spPr>
          <a:xfrm>
            <a:off x="4992624" y="1645920"/>
            <a:ext cx="1783080" cy="1417320"/>
          </a:xfrm>
          <a:prstGeom prst="roundRect">
            <a:avLst>
              <a:gd name="adj" fmla="val 10000"/>
            </a:avLst>
          </a:prstGeom>
          <a:solidFill>
            <a:srgbClr val="FFFFFF"/>
          </a:solidFill>
          <a:ln w="22225">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038344" y="1691640"/>
            <a:ext cx="1691640" cy="1325880"/>
          </a:xfrm>
          <a:prstGeom prst="rect">
            <a:avLst/>
          </a:prstGeom>
          <a:noFill/>
        </p:spPr>
        <p:txBody>
          <a:bodyPr wrap="square" anchor="ctr" lIns="0" rIns="0" tIns="0" bIns="0">
            <a:spAutoFit/>
          </a:bodyPr>
          <a:lstStyle/>
          <a:p>
            <a:pPr algn="ctr"/>
            <a:r>
              <a:rPr sz="1600" b="1" i="0">
                <a:solidFill>
                  <a:srgbClr val="047857"/>
                </a:solidFill>
                <a:latin typeface="Calibri"/>
              </a:rPr>
              <a:t>Reglas</a:t>
            </a:r>
          </a:p>
          <a:p>
            <a:pPr algn="ctr"/>
            <a:r>
              <a:rPr sz="1200" b="0" i="0">
                <a:solidFill>
                  <a:srgbClr val="0F1E36"/>
                </a:solidFill>
                <a:latin typeface="Calibri"/>
              </a:rPr>
              <a:t>arts. 19, 20 y 21</a:t>
            </a:r>
          </a:p>
          <a:p>
            <a:pPr algn="ctr"/>
            <a:r>
              <a:rPr sz="1200" b="0" i="0">
                <a:solidFill>
                  <a:srgbClr val="0F1E36"/>
                </a:solidFill>
                <a:latin typeface="Calibri"/>
              </a:rPr>
              <a:t>semestre a semestre</a:t>
            </a:r>
          </a:p>
        </p:txBody>
      </p:sp>
      <p:sp>
        <p:nvSpPr>
          <p:cNvPr id="15" name="TextBox 14"/>
          <p:cNvSpPr txBox="1"/>
          <p:nvPr/>
        </p:nvSpPr>
        <p:spPr>
          <a:xfrm>
            <a:off x="6775704" y="2103120"/>
            <a:ext cx="347472" cy="457200"/>
          </a:xfrm>
          <a:prstGeom prst="rect">
            <a:avLst/>
          </a:prstGeom>
          <a:noFill/>
        </p:spPr>
        <p:txBody>
          <a:bodyPr wrap="square" anchor="t" lIns="0" rIns="0" tIns="0" bIns="0">
            <a:spAutoFit/>
          </a:bodyPr>
          <a:lstStyle/>
          <a:p>
            <a:pPr algn="ctr"/>
            <a:r>
              <a:rPr sz="2000" b="0" i="0">
                <a:solidFill>
                  <a:srgbClr val="55657E"/>
                </a:solidFill>
                <a:latin typeface="Calibri"/>
              </a:rPr>
              <a:t>➜</a:t>
            </a:r>
          </a:p>
        </p:txBody>
      </p:sp>
      <p:sp>
        <p:nvSpPr>
          <p:cNvPr id="16" name="Rounded Rectangle 15"/>
          <p:cNvSpPr/>
          <p:nvPr/>
        </p:nvSpPr>
        <p:spPr>
          <a:xfrm>
            <a:off x="7123176" y="1645920"/>
            <a:ext cx="1783080" cy="1417320"/>
          </a:xfrm>
          <a:prstGeom prst="roundRect">
            <a:avLst>
              <a:gd name="adj" fmla="val 10000"/>
            </a:avLst>
          </a:prstGeom>
          <a:solidFill>
            <a:srgbClr val="FFFFFF"/>
          </a:solidFill>
          <a:ln w="22225">
            <a:solidFill>
              <a:srgbClr val="1F5FA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68896" y="1691640"/>
            <a:ext cx="1691640" cy="1325880"/>
          </a:xfrm>
          <a:prstGeom prst="rect">
            <a:avLst/>
          </a:prstGeom>
          <a:noFill/>
        </p:spPr>
        <p:txBody>
          <a:bodyPr wrap="square" anchor="ctr" lIns="0" rIns="0" tIns="0" bIns="0">
            <a:spAutoFit/>
          </a:bodyPr>
          <a:lstStyle/>
          <a:p>
            <a:pPr algn="ctr"/>
            <a:r>
              <a:rPr sz="1600" b="1" i="0">
                <a:solidFill>
                  <a:srgbClr val="1F5FAE"/>
                </a:solidFill>
                <a:latin typeface="Calibri"/>
              </a:rPr>
              <a:t>Modelos</a:t>
            </a:r>
          </a:p>
          <a:p>
            <a:pPr algn="ctr"/>
            <a:r>
              <a:rPr sz="1200" b="0" i="0">
                <a:solidFill>
                  <a:srgbClr val="0F1E36"/>
                </a:solidFill>
                <a:latin typeface="Calibri"/>
              </a:rPr>
              <a:t>alerta art. 19</a:t>
            </a:r>
          </a:p>
          <a:p>
            <a:pPr algn="ctr"/>
            <a:r>
              <a:rPr sz="1200" b="0" i="0">
                <a:solidFill>
                  <a:srgbClr val="0F1E36"/>
                </a:solidFill>
                <a:latin typeface="Calibri"/>
              </a:rPr>
              <a:t>graduación</a:t>
            </a:r>
          </a:p>
        </p:txBody>
      </p:sp>
      <p:sp>
        <p:nvSpPr>
          <p:cNvPr id="18" name="TextBox 17"/>
          <p:cNvSpPr txBox="1"/>
          <p:nvPr/>
        </p:nvSpPr>
        <p:spPr>
          <a:xfrm>
            <a:off x="8906256" y="2103120"/>
            <a:ext cx="347472" cy="457200"/>
          </a:xfrm>
          <a:prstGeom prst="rect">
            <a:avLst/>
          </a:prstGeom>
          <a:noFill/>
        </p:spPr>
        <p:txBody>
          <a:bodyPr wrap="square" anchor="t" lIns="0" rIns="0" tIns="0" bIns="0">
            <a:spAutoFit/>
          </a:bodyPr>
          <a:lstStyle/>
          <a:p>
            <a:pPr algn="ctr"/>
            <a:r>
              <a:rPr sz="2000" b="0" i="0">
                <a:solidFill>
                  <a:srgbClr val="55657E"/>
                </a:solidFill>
                <a:latin typeface="Calibri"/>
              </a:rPr>
              <a:t>➜</a:t>
            </a:r>
          </a:p>
        </p:txBody>
      </p:sp>
      <p:sp>
        <p:nvSpPr>
          <p:cNvPr id="19" name="Rounded Rectangle 18"/>
          <p:cNvSpPr/>
          <p:nvPr/>
        </p:nvSpPr>
        <p:spPr>
          <a:xfrm>
            <a:off x="9253728" y="1645920"/>
            <a:ext cx="1783080" cy="1417320"/>
          </a:xfrm>
          <a:prstGeom prst="roundRect">
            <a:avLst>
              <a:gd name="adj" fmla="val 10000"/>
            </a:avLst>
          </a:prstGeom>
          <a:solidFill>
            <a:srgbClr val="FFFFFF"/>
          </a:solidFill>
          <a:ln w="2222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299448" y="1691640"/>
            <a:ext cx="1691640" cy="1325880"/>
          </a:xfrm>
          <a:prstGeom prst="rect">
            <a:avLst/>
          </a:prstGeom>
          <a:noFill/>
        </p:spPr>
        <p:txBody>
          <a:bodyPr wrap="square" anchor="ctr" lIns="0" rIns="0" tIns="0" bIns="0">
            <a:spAutoFit/>
          </a:bodyPr>
          <a:lstStyle/>
          <a:p>
            <a:pPr algn="ctr"/>
            <a:r>
              <a:rPr sz="1600" b="1" i="0">
                <a:solidFill>
                  <a:srgbClr val="6D28D9"/>
                </a:solidFill>
                <a:latin typeface="Calibri"/>
              </a:rPr>
              <a:t>Pantallas</a:t>
            </a:r>
          </a:p>
          <a:p>
            <a:pPr algn="ctr"/>
            <a:r>
              <a:rPr sz="1200" b="0" i="0">
                <a:solidFill>
                  <a:srgbClr val="0F1E36"/>
                </a:solidFill>
                <a:latin typeface="Calibri"/>
              </a:rPr>
              <a:t>cohorte · ficha</a:t>
            </a:r>
          </a:p>
          <a:p>
            <a:pPr algn="ctr"/>
            <a:r>
              <a:rPr sz="1200" b="0" i="0">
                <a:solidFill>
                  <a:srgbClr val="0F1E36"/>
                </a:solidFill>
                <a:latin typeface="Calibri"/>
              </a:rPr>
              <a:t>carga · evidencia</a:t>
            </a:r>
          </a:p>
        </p:txBody>
      </p:sp>
      <p:graphicFrame>
        <p:nvGraphicFramePr>
          <p:cNvPr id="21" name="Table 20"/>
          <p:cNvGraphicFramePr>
            <a:graphicFrameLocks noGrp="1"/>
          </p:cNvGraphicFramePr>
          <p:nvPr/>
        </p:nvGraphicFramePr>
        <p:xfrm>
          <a:off x="731520" y="3429000"/>
          <a:ext cx="10424160" cy="2011680"/>
        </p:xfrm>
        <a:graphic>
          <a:graphicData uri="http://schemas.openxmlformats.org/drawingml/2006/table">
            <a:tbl>
              <a:tblPr firstRow="1" bandRow="1">
                <a:tableStyleId>{5C22544A-7EE6-4342-B048-85BDC9FD1C3A}</a:tableStyleId>
              </a:tblPr>
              <a:tblGrid>
                <a:gridCol w="2194560"/>
                <a:gridCol w="3840480"/>
                <a:gridCol w="4389120"/>
              </a:tblGrid>
              <a:tr h="402336">
                <a:tc>
                  <a:txBody>
                    <a:bodyPr/>
                    <a:lstStyle/>
                    <a:p>
                      <a:pPr algn="l"/>
                      <a:r>
                        <a:rPr sz="1250" b="1">
                          <a:solidFill>
                            <a:srgbClr val="55657E"/>
                          </a:solidFill>
                          <a:latin typeface="Calibri"/>
                        </a:rPr>
                        <a:t/>
                      </a:r>
                    </a:p>
                  </a:txBody>
                  <a:tcPr marL="73152" marR="73152" anchor="ctr">
                    <a:solidFill>
                      <a:srgbClr val="E3EAF4"/>
                    </a:solidFill>
                  </a:tcPr>
                </a:tc>
                <a:tc>
                  <a:txBody>
                    <a:bodyPr/>
                    <a:lstStyle/>
                    <a:p>
                      <a:pPr algn="l"/>
                      <a:r>
                        <a:rPr sz="1250" b="1">
                          <a:solidFill>
                            <a:srgbClr val="55657E"/>
                          </a:solidFill>
                          <a:latin typeface="Calibri"/>
                        </a:rPr>
                        <a:t>SPADIES (referencia nacional)</a:t>
                      </a:r>
                    </a:p>
                  </a:txBody>
                  <a:tcPr marL="73152" marR="73152" anchor="ctr">
                    <a:solidFill>
                      <a:srgbClr val="E3EAF4"/>
                    </a:solidFill>
                  </a:tcPr>
                </a:tc>
                <a:tc>
                  <a:txBody>
                    <a:bodyPr/>
                    <a:lstStyle/>
                    <a:p>
                      <a:pPr algn="l"/>
                      <a:r>
                        <a:rPr sz="1250" b="1">
                          <a:solidFill>
                            <a:srgbClr val="55657E"/>
                          </a:solidFill>
                          <a:latin typeface="Calibri"/>
                        </a:rPr>
                        <a:t>TRAYECTA (este trabajo)</a:t>
                      </a:r>
                    </a:p>
                  </a:txBody>
                  <a:tcPr marL="73152" marR="73152" anchor="ctr">
                    <a:solidFill>
                      <a:srgbClr val="E3EAF4"/>
                    </a:solidFill>
                  </a:tcPr>
                </a:tc>
              </a:tr>
              <a:tr h="402336">
                <a:tc>
                  <a:txBody>
                    <a:bodyPr/>
                    <a:lstStyle/>
                    <a:p>
                      <a:pPr algn="l"/>
                      <a:r>
                        <a:rPr sz="1300" b="0">
                          <a:solidFill>
                            <a:srgbClr val="0F1E36"/>
                          </a:solidFill>
                          <a:latin typeface="Calibri"/>
                        </a:rPr>
                        <a:t>Unidad</a:t>
                      </a:r>
                    </a:p>
                  </a:txBody>
                  <a:tcPr marL="73152" marR="73152" anchor="ctr">
                    <a:solidFill>
                      <a:srgbClr val="FFFFFF"/>
                    </a:solidFill>
                  </a:tcPr>
                </a:tc>
                <a:tc>
                  <a:txBody>
                    <a:bodyPr/>
                    <a:lstStyle/>
                    <a:p>
                      <a:pPr algn="l"/>
                      <a:r>
                        <a:rPr sz="1300" b="0">
                          <a:solidFill>
                            <a:srgbClr val="0F1E36"/>
                          </a:solidFill>
                          <a:latin typeface="Calibri"/>
                        </a:rPr>
                        <a:t>instituciones de todo el país</a:t>
                      </a:r>
                    </a:p>
                  </a:txBody>
                  <a:tcPr marL="73152" marR="73152" anchor="ctr">
                    <a:solidFill>
                      <a:srgbClr val="FFFFFF"/>
                    </a:solidFill>
                  </a:tcPr>
                </a:tc>
                <a:tc>
                  <a:txBody>
                    <a:bodyPr/>
                    <a:lstStyle/>
                    <a:p>
                      <a:pPr algn="l"/>
                      <a:r>
                        <a:rPr sz="1300" b="0">
                          <a:solidFill>
                            <a:srgbClr val="0F1E36"/>
                          </a:solidFill>
                          <a:latin typeface="Calibri"/>
                        </a:rPr>
                        <a:t>un programa: Ing. de Sistemas</a:t>
                      </a:r>
                    </a:p>
                  </a:txBody>
                  <a:tcPr marL="73152" marR="73152" anchor="ctr">
                    <a:solidFill>
                      <a:srgbClr val="FFFFFF"/>
                    </a:solidFill>
                  </a:tcPr>
                </a:tc>
              </a:tr>
              <a:tr h="402336">
                <a:tc>
                  <a:txBody>
                    <a:bodyPr/>
                    <a:lstStyle/>
                    <a:p>
                      <a:pPr algn="l"/>
                      <a:r>
                        <a:rPr sz="1300" b="0">
                          <a:solidFill>
                            <a:srgbClr val="0F1E36"/>
                          </a:solidFill>
                          <a:latin typeface="Calibri"/>
                        </a:rPr>
                        <a:t>Criterio de riesgo</a:t>
                      </a:r>
                    </a:p>
                  </a:txBody>
                  <a:tcPr marL="73152" marR="73152" anchor="ctr">
                    <a:solidFill>
                      <a:srgbClr val="F7F9FC"/>
                    </a:solidFill>
                  </a:tcPr>
                </a:tc>
                <a:tc>
                  <a:txBody>
                    <a:bodyPr/>
                    <a:lstStyle/>
                    <a:p>
                      <a:pPr algn="l"/>
                      <a:r>
                        <a:rPr sz="1300" b="0">
                          <a:solidFill>
                            <a:srgbClr val="0F1E36"/>
                          </a:solidFill>
                          <a:latin typeface="Calibri"/>
                        </a:rPr>
                        <a:t>deserción</a:t>
                      </a:r>
                    </a:p>
                  </a:txBody>
                  <a:tcPr marL="73152" marR="73152" anchor="ctr">
                    <a:solidFill>
                      <a:srgbClr val="F7F9FC"/>
                    </a:solidFill>
                  </a:tcPr>
                </a:tc>
                <a:tc>
                  <a:txBody>
                    <a:bodyPr/>
                    <a:lstStyle/>
                    <a:p>
                      <a:pPr algn="l"/>
                      <a:r>
                        <a:rPr sz="1300" b="0">
                          <a:solidFill>
                            <a:srgbClr val="0F1E36"/>
                          </a:solidFill>
                          <a:latin typeface="Calibri"/>
                        </a:rPr>
                        <a:t>Reglamento Estudiantil: arts. 19, 20 y 21</a:t>
                      </a:r>
                    </a:p>
                  </a:txBody>
                  <a:tcPr marL="73152" marR="73152" anchor="ctr">
                    <a:solidFill>
                      <a:srgbClr val="F7F9FC"/>
                    </a:solidFill>
                  </a:tcPr>
                </a:tc>
              </a:tr>
              <a:tr h="402336">
                <a:tc>
                  <a:txBody>
                    <a:bodyPr/>
                    <a:lstStyle/>
                    <a:p>
                      <a:pPr algn="l"/>
                      <a:r>
                        <a:rPr sz="1300" b="0">
                          <a:solidFill>
                            <a:srgbClr val="0F1E36"/>
                          </a:solidFill>
                          <a:latin typeface="Calibri"/>
                        </a:rPr>
                        <a:t>Planes de estudio</a:t>
                      </a:r>
                    </a:p>
                  </a:txBody>
                  <a:tcPr marL="73152" marR="73152" anchor="ctr">
                    <a:solidFill>
                      <a:srgbClr val="FFFFFF"/>
                    </a:solidFill>
                  </a:tcPr>
                </a:tc>
                <a:tc>
                  <a:txBody>
                    <a:bodyPr/>
                    <a:lstStyle/>
                    <a:p>
                      <a:pPr algn="l"/>
                      <a:r>
                        <a:rPr sz="1300" b="0">
                          <a:solidFill>
                            <a:srgbClr val="0F1E36"/>
                          </a:solidFill>
                          <a:latin typeface="Calibri"/>
                        </a:rPr>
                        <a:t>fuera de su alcance (escala nacional)</a:t>
                      </a:r>
                    </a:p>
                  </a:txBody>
                  <a:tcPr marL="73152" marR="73152" anchor="ctr">
                    <a:solidFill>
                      <a:srgbClr val="FFFFFF"/>
                    </a:solidFill>
                  </a:tcPr>
                </a:tc>
                <a:tc>
                  <a:txBody>
                    <a:bodyPr/>
                    <a:lstStyle/>
                    <a:p>
                      <a:pPr algn="l"/>
                      <a:r>
                        <a:rPr sz="1300" b="0">
                          <a:solidFill>
                            <a:srgbClr val="0F1E36"/>
                          </a:solidFill>
                          <a:latin typeface="Calibri"/>
                        </a:rPr>
                        <a:t>equivalencias 2011 ↔ 2018 (Res. 036)</a:t>
                      </a:r>
                    </a:p>
                  </a:txBody>
                  <a:tcPr marL="73152" marR="73152" anchor="ctr">
                    <a:solidFill>
                      <a:srgbClr val="FFFFFF"/>
                    </a:solidFill>
                  </a:tcPr>
                </a:tc>
              </a:tr>
              <a:tr h="402336">
                <a:tc>
                  <a:txBody>
                    <a:bodyPr/>
                    <a:lstStyle/>
                    <a:p>
                      <a:pPr algn="l"/>
                      <a:r>
                        <a:rPr sz="1300" b="0">
                          <a:solidFill>
                            <a:srgbClr val="0F1E36"/>
                          </a:solidFill>
                          <a:latin typeface="Calibri"/>
                        </a:rPr>
                        <a:t>Evidencia del modelo</a:t>
                      </a:r>
                    </a:p>
                  </a:txBody>
                  <a:tcPr marL="73152" marR="73152" anchor="ctr">
                    <a:solidFill>
                      <a:srgbClr val="F7F9FC"/>
                    </a:solidFill>
                  </a:tcPr>
                </a:tc>
                <a:tc>
                  <a:txBody>
                    <a:bodyPr/>
                    <a:lstStyle/>
                    <a:p>
                      <a:pPr algn="l"/>
                      <a:r>
                        <a:rPr sz="1300" b="0">
                          <a:solidFill>
                            <a:srgbClr val="0F1E36"/>
                          </a:solidFill>
                          <a:latin typeface="Calibri"/>
                        </a:rPr>
                        <a:t>indicadores agregados</a:t>
                      </a:r>
                    </a:p>
                  </a:txBody>
                  <a:tcPr marL="73152" marR="73152" anchor="ctr">
                    <a:solidFill>
                      <a:srgbClr val="F7F9FC"/>
                    </a:solidFill>
                  </a:tcPr>
                </a:tc>
                <a:tc>
                  <a:txBody>
                    <a:bodyPr/>
                    <a:lstStyle/>
                    <a:p>
                      <a:pPr algn="l"/>
                      <a:r>
                        <a:rPr sz="1300" b="0">
                          <a:solidFill>
                            <a:srgbClr val="0F1E36"/>
                          </a:solidFill>
                          <a:latin typeface="Calibri"/>
                        </a:rPr>
                        <a:t>métricas, límites y resultados negativos en pantalla</a:t>
                      </a:r>
                    </a:p>
                  </a:txBody>
                  <a:tcPr marL="73152" marR="73152" anchor="ctr">
                    <a:solidFill>
                      <a:srgbClr val="F7F9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11</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Demostración · panorama de la cohorte</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Cohorte simulada: ningún estudiante es real · los modelos sí son los entrenados con los datos reales</a:t>
            </a:r>
          </a:p>
        </p:txBody>
      </p:sp>
      <p:pic>
        <p:nvPicPr>
          <p:cNvPr id="7" name="Picture 6" descr="s_panorama.jpg"/>
          <p:cNvPicPr>
            <a:picLocks noChangeAspect="1"/>
          </p:cNvPicPr>
          <p:nvPr/>
        </p:nvPicPr>
        <p:blipFill>
          <a:blip r:embed="rId3"/>
          <a:stretch>
            <a:fillRect/>
          </a:stretch>
        </p:blipFill>
        <p:spPr>
          <a:xfrm>
            <a:off x="1143000" y="1463040"/>
            <a:ext cx="8778240" cy="4937760"/>
          </a:xfrm>
          <a:prstGeom prst="rect">
            <a:avLst/>
          </a:prstGeom>
        </p:spPr>
      </p:pic>
      <p:sp>
        <p:nvSpPr>
          <p:cNvPr id="8" name="Rounded Rectangle 7"/>
          <p:cNvSpPr/>
          <p:nvPr/>
        </p:nvSpPr>
        <p:spPr>
          <a:xfrm>
            <a:off x="1143000" y="1463040"/>
            <a:ext cx="8778240" cy="4937760"/>
          </a:xfrm>
          <a:prstGeom prst="roundRect">
            <a:avLst>
              <a:gd name="adj" fmla="val 6000"/>
            </a:avLst>
          </a:prstGeom>
          <a:no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12</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Demostración · ficha del estudiante y carga de cohortes</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Recorrido semestre a semestre con las condiciones del reglamento · validación del plan de estudios</a:t>
            </a:r>
          </a:p>
        </p:txBody>
      </p:sp>
      <p:pic>
        <p:nvPicPr>
          <p:cNvPr id="7" name="Picture 6" descr="s_ficha.jpg"/>
          <p:cNvPicPr>
            <a:picLocks noChangeAspect="1"/>
          </p:cNvPicPr>
          <p:nvPr/>
        </p:nvPicPr>
        <p:blipFill>
          <a:blip r:embed="rId3"/>
          <a:stretch>
            <a:fillRect/>
          </a:stretch>
        </p:blipFill>
        <p:spPr>
          <a:xfrm>
            <a:off x="731520" y="1508760"/>
            <a:ext cx="6126480" cy="4087368"/>
          </a:xfrm>
          <a:prstGeom prst="rect">
            <a:avLst/>
          </a:prstGeom>
        </p:spPr>
      </p:pic>
      <p:pic>
        <p:nvPicPr>
          <p:cNvPr id="8" name="Picture 7" descr="s_carga.jpg"/>
          <p:cNvPicPr>
            <a:picLocks noChangeAspect="1"/>
          </p:cNvPicPr>
          <p:nvPr/>
        </p:nvPicPr>
        <p:blipFill>
          <a:blip r:embed="rId4"/>
          <a:stretch>
            <a:fillRect/>
          </a:stretch>
        </p:blipFill>
        <p:spPr>
          <a:xfrm>
            <a:off x="7086600" y="1508760"/>
            <a:ext cx="4069080" cy="868680"/>
          </a:xfrm>
          <a:prstGeom prst="rect">
            <a:avLst/>
          </a:prstGeom>
        </p:spPr>
      </p:pic>
      <p:sp>
        <p:nvSpPr>
          <p:cNvPr id="9" name="TextBox 8"/>
          <p:cNvSpPr txBox="1"/>
          <p:nvPr/>
        </p:nvSpPr>
        <p:spPr>
          <a:xfrm>
            <a:off x="7086600" y="2606040"/>
            <a:ext cx="4069080" cy="1371600"/>
          </a:xfrm>
          <a:prstGeom prst="rect">
            <a:avLst/>
          </a:prstGeom>
          <a:noFill/>
        </p:spPr>
        <p:txBody>
          <a:bodyPr wrap="square" anchor="t" lIns="0" rIns="0" tIns="0" bIns="0">
            <a:spAutoFit/>
          </a:bodyPr>
          <a:lstStyle/>
          <a:p>
            <a:pPr algn="l"/>
            <a:r>
              <a:rPr sz="1350" b="1" i="0">
                <a:solidFill>
                  <a:srgbClr val="1F5FAE"/>
                </a:solidFill>
                <a:latin typeface="Calibri"/>
              </a:rPr>
              <a:t>Al cargar una cohorte</a:t>
            </a:r>
          </a:p>
          <a:p>
            <a:pPr algn="l"/>
            <a:r>
              <a:rPr sz="1350" b="0" i="0">
                <a:solidFill>
                  <a:srgbClr val="0F1E36"/>
                </a:solidFill>
                <a:latin typeface="Calibri"/>
              </a:rPr>
              <a:t>reconoce el plan de estudios, valida cada código contra el catálogo oficial, muestra cómo se tradujo cada registro y advierte si algún estudiante tiene cursos de los dos planes.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13</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Conclusiones</a:t>
            </a:r>
          </a:p>
        </p:txBody>
      </p:sp>
      <p:sp>
        <p:nvSpPr>
          <p:cNvPr id="6" name="Rounded Rectangle 5"/>
          <p:cNvSpPr/>
          <p:nvPr/>
        </p:nvSpPr>
        <p:spPr>
          <a:xfrm>
            <a:off x="731520" y="1417320"/>
            <a:ext cx="5120640" cy="201168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05840" y="1737360"/>
            <a:ext cx="685800" cy="685800"/>
          </a:xfrm>
          <a:prstGeom prst="ellipse">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1</a:t>
            </a:r>
          </a:p>
        </p:txBody>
      </p:sp>
      <p:sp>
        <p:nvSpPr>
          <p:cNvPr id="8" name="TextBox 7"/>
          <p:cNvSpPr txBox="1"/>
          <p:nvPr/>
        </p:nvSpPr>
        <p:spPr>
          <a:xfrm>
            <a:off x="1920240" y="1645920"/>
            <a:ext cx="3749039" cy="1600200"/>
          </a:xfrm>
          <a:prstGeom prst="rect">
            <a:avLst/>
          </a:prstGeom>
          <a:noFill/>
        </p:spPr>
        <p:txBody>
          <a:bodyPr wrap="square" anchor="ctr" lIns="0" rIns="0" tIns="0" bIns="0">
            <a:spAutoFit/>
          </a:bodyPr>
          <a:lstStyle/>
          <a:p>
            <a:pPr algn="l"/>
            <a:r>
              <a:rPr sz="1800" b="1" i="0">
                <a:solidFill>
                  <a:srgbClr val="0F1E36"/>
                </a:solidFill>
                <a:latin typeface="Calibri"/>
              </a:rPr>
              <a:t>Random Forest es el algoritmo más adecuado</a:t>
            </a:r>
          </a:p>
          <a:p>
            <a:pPr algn="l"/>
            <a:r>
              <a:rPr sz="1400" b="0" i="0">
                <a:solidFill>
                  <a:srgbClr val="55657E"/>
                </a:solidFill>
                <a:latin typeface="Calibri"/>
              </a:rPr>
              <a:t>en el resumen publicado y con el protocolo estricto: AUC-PR 0,745, tres veces el azar.</a:t>
            </a:r>
          </a:p>
        </p:txBody>
      </p:sp>
      <p:sp>
        <p:nvSpPr>
          <p:cNvPr id="9" name="Rounded Rectangle 8"/>
          <p:cNvSpPr/>
          <p:nvPr/>
        </p:nvSpPr>
        <p:spPr>
          <a:xfrm>
            <a:off x="6035040" y="1417320"/>
            <a:ext cx="5120640" cy="201168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09359" y="1737360"/>
            <a:ext cx="685800" cy="6858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2</a:t>
            </a:r>
          </a:p>
        </p:txBody>
      </p:sp>
      <p:sp>
        <p:nvSpPr>
          <p:cNvPr id="11" name="TextBox 10"/>
          <p:cNvSpPr txBox="1"/>
          <p:nvPr/>
        </p:nvSpPr>
        <p:spPr>
          <a:xfrm>
            <a:off x="7223759" y="1645920"/>
            <a:ext cx="3749039" cy="1600200"/>
          </a:xfrm>
          <a:prstGeom prst="rect">
            <a:avLst/>
          </a:prstGeom>
          <a:noFill/>
        </p:spPr>
        <p:txBody>
          <a:bodyPr wrap="square" anchor="ctr" lIns="0" rIns="0" tIns="0" bIns="0">
            <a:spAutoFit/>
          </a:bodyPr>
          <a:lstStyle/>
          <a:p>
            <a:pPr algn="l"/>
            <a:r>
              <a:rPr sz="1800" b="1" i="0">
                <a:solidFill>
                  <a:srgbClr val="0F1E36"/>
                </a:solidFill>
                <a:latin typeface="Calibri"/>
              </a:rPr>
              <a:t>El 1.er semestre concentra la información</a:t>
            </a:r>
          </a:p>
          <a:p>
            <a:pPr algn="l"/>
            <a:r>
              <a:rPr sz="1400" b="0" i="0">
                <a:solidFill>
                  <a:srgbClr val="55657E"/>
                </a:solidFill>
                <a:latin typeface="Calibri"/>
              </a:rPr>
              <a:t>la alerta llega al cierre del primer periodo, cuando ocurre la mayor parte del abandono.</a:t>
            </a:r>
          </a:p>
        </p:txBody>
      </p:sp>
      <p:sp>
        <p:nvSpPr>
          <p:cNvPr id="12" name="Rounded Rectangle 11"/>
          <p:cNvSpPr/>
          <p:nvPr/>
        </p:nvSpPr>
        <p:spPr>
          <a:xfrm>
            <a:off x="731520" y="3657600"/>
            <a:ext cx="5120640" cy="201168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05840" y="3977639"/>
            <a:ext cx="685800" cy="68580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3</a:t>
            </a:r>
          </a:p>
        </p:txBody>
      </p:sp>
      <p:sp>
        <p:nvSpPr>
          <p:cNvPr id="14" name="TextBox 13"/>
          <p:cNvSpPr txBox="1"/>
          <p:nvPr/>
        </p:nvSpPr>
        <p:spPr>
          <a:xfrm>
            <a:off x="1920240" y="3886200"/>
            <a:ext cx="3749039" cy="1600200"/>
          </a:xfrm>
          <a:prstGeom prst="rect">
            <a:avLst/>
          </a:prstGeom>
          <a:noFill/>
        </p:spPr>
        <p:txBody>
          <a:bodyPr wrap="square" anchor="ctr" lIns="0" rIns="0" tIns="0" bIns="0">
            <a:spAutoFit/>
          </a:bodyPr>
          <a:lstStyle/>
          <a:p>
            <a:pPr algn="l"/>
            <a:r>
              <a:rPr sz="1800" b="1" i="0">
                <a:solidFill>
                  <a:srgbClr val="0F1E36"/>
                </a:solidFill>
                <a:latin typeface="Calibri"/>
              </a:rPr>
              <a:t>Medir bien pesa más que el algoritmo</a:t>
            </a:r>
          </a:p>
          <a:p>
            <a:pPr algn="l"/>
            <a:r>
              <a:rPr sz="1400" b="0" i="0">
                <a:solidFill>
                  <a:srgbClr val="55657E"/>
                </a:solidFill>
                <a:latin typeface="Calibri"/>
              </a:rPr>
              <a:t>los errores de diseño inflaban el resultado hasta 15 puntos.</a:t>
            </a:r>
          </a:p>
        </p:txBody>
      </p:sp>
      <p:sp>
        <p:nvSpPr>
          <p:cNvPr id="15" name="Rounded Rectangle 14"/>
          <p:cNvSpPr/>
          <p:nvPr/>
        </p:nvSpPr>
        <p:spPr>
          <a:xfrm>
            <a:off x="6035040" y="3657600"/>
            <a:ext cx="5120640" cy="201168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09359" y="3977639"/>
            <a:ext cx="685800" cy="6858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4</a:t>
            </a:r>
          </a:p>
        </p:txBody>
      </p:sp>
      <p:sp>
        <p:nvSpPr>
          <p:cNvPr id="17" name="TextBox 16"/>
          <p:cNvSpPr txBox="1"/>
          <p:nvPr/>
        </p:nvSpPr>
        <p:spPr>
          <a:xfrm>
            <a:off x="7223759" y="3886200"/>
            <a:ext cx="3749039" cy="1600200"/>
          </a:xfrm>
          <a:prstGeom prst="rect">
            <a:avLst/>
          </a:prstGeom>
          <a:noFill/>
        </p:spPr>
        <p:txBody>
          <a:bodyPr wrap="square" anchor="ctr" lIns="0" rIns="0" tIns="0" bIns="0">
            <a:spAutoFit/>
          </a:bodyPr>
          <a:lstStyle/>
          <a:p>
            <a:pPr algn="l"/>
            <a:r>
              <a:rPr sz="1800" b="1" i="0">
                <a:solidFill>
                  <a:srgbClr val="0F1E36"/>
                </a:solidFill>
                <a:latin typeface="Calibri"/>
              </a:rPr>
              <a:t>Un modelo honesto cabe en un producto</a:t>
            </a:r>
          </a:p>
          <a:p>
            <a:pPr algn="l"/>
            <a:r>
              <a:rPr sz="1400" b="0" i="0">
                <a:solidFill>
                  <a:srgbClr val="55657E"/>
                </a:solidFill>
                <a:latin typeface="Calibri"/>
              </a:rPr>
              <a:t>TRAYECTA predice donde hay información y aplica el reglamento donde no la hay.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14</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Límites y siguiente paso</a:t>
            </a:r>
          </a:p>
        </p:txBody>
      </p:sp>
      <p:sp>
        <p:nvSpPr>
          <p:cNvPr id="6" name="TextBox 5"/>
          <p:cNvSpPr txBox="1"/>
          <p:nvPr/>
        </p:nvSpPr>
        <p:spPr>
          <a:xfrm>
            <a:off x="731520" y="1463040"/>
            <a:ext cx="6035040" cy="3566160"/>
          </a:xfrm>
          <a:prstGeom prst="rect">
            <a:avLst/>
          </a:prstGeom>
          <a:noFill/>
        </p:spPr>
        <p:txBody>
          <a:bodyPr wrap="square" anchor="t" lIns="0" rIns="0" tIns="0" bIns="0">
            <a:spAutoFit/>
          </a:bodyPr>
          <a:lstStyle/>
          <a:p>
            <a:pPr algn="l">
              <a:spcAft>
                <a:spcPts val="1000"/>
              </a:spcAft>
            </a:pPr>
            <a:r>
              <a:rPr sz="1700" b="0" i="0">
                <a:solidFill>
                  <a:srgbClr val="0F1E36"/>
                </a:solidFill>
                <a:latin typeface="Calibri"/>
              </a:rPr>
              <a:t>▸  Todos los resultados vienen de una sola muestra de 80 estudiantes: estudio exploratorio.</a:t>
            </a:r>
          </a:p>
          <a:p>
            <a:pPr algn="l">
              <a:spcAft>
                <a:spcPts val="1000"/>
              </a:spcAft>
            </a:pPr>
            <a:r>
              <a:rPr sz="1700" b="0" i="0">
                <a:solidFill>
                  <a:srgbClr val="0F1E36"/>
                </a:solidFill>
                <a:latin typeface="Calibri"/>
              </a:rPr>
              <a:t>▸  Las etiquetas usan el reglamento vigente sobre cohortes de 2017 y 2018.</a:t>
            </a:r>
          </a:p>
          <a:p>
            <a:pPr algn="l">
              <a:spcAft>
                <a:spcPts val="1000"/>
              </a:spcAft>
            </a:pPr>
            <a:r>
              <a:rPr sz="1700" b="0" i="0">
                <a:solidFill>
                  <a:srgbClr val="0F1E36"/>
                </a:solidFill>
                <a:latin typeface="Calibri"/>
              </a:rPr>
              <a:t>▸  Ya solicitamos cohortes recientes para validar el modelo sin modificarlo.</a:t>
            </a:r>
          </a:p>
          <a:p>
            <a:pPr algn="l">
              <a:spcAft>
                <a:spcPts val="1000"/>
              </a:spcAft>
            </a:pPr>
            <a:r>
              <a:rPr sz="1700" b="0" i="0">
                <a:solidFill>
                  <a:srgbClr val="0F1E36"/>
                </a:solidFill>
                <a:latin typeface="Calibri"/>
              </a:rPr>
              <a:t>▸  Después: Ingeniería Electrónica y Biología (un modelo por programa).</a:t>
            </a:r>
          </a:p>
        </p:txBody>
      </p:sp>
      <p:sp>
        <p:nvSpPr>
          <p:cNvPr id="7" name="Rounded Rectangle 6"/>
          <p:cNvSpPr/>
          <p:nvPr/>
        </p:nvSpPr>
        <p:spPr>
          <a:xfrm>
            <a:off x="7223760" y="1463040"/>
            <a:ext cx="3931920" cy="329184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0" y="1554480"/>
            <a:ext cx="3749039" cy="3108960"/>
          </a:xfrm>
          <a:prstGeom prst="rect">
            <a:avLst/>
          </a:prstGeom>
          <a:noFill/>
        </p:spPr>
        <p:txBody>
          <a:bodyPr wrap="square" anchor="ctr" lIns="0" rIns="0" tIns="0" bIns="0">
            <a:spAutoFit/>
          </a:bodyPr>
          <a:lstStyle/>
          <a:p>
            <a:pPr algn="ctr"/>
            <a:r>
              <a:rPr sz="4000" b="1" i="0">
                <a:solidFill>
                  <a:srgbClr val="1F5FAE"/>
                </a:solidFill>
                <a:latin typeface="Calibri"/>
              </a:rPr>
              <a:t>¡Gracias!</a:t>
            </a:r>
          </a:p>
          <a:p>
            <a:pPr algn="ctr"/>
            <a:r>
              <a:rPr sz="2200" b="0" i="0">
                <a:solidFill>
                  <a:srgbClr val="0F1E36"/>
                </a:solidFill>
                <a:latin typeface="Calibri"/>
              </a:rPr>
              <a:t>Preguntas</a:t>
            </a:r>
          </a:p>
          <a:p>
            <a:pPr algn="ctr"/>
            <a:r>
              <a:rPr sz="1000" b="0" i="0">
                <a:solidFill>
                  <a:srgbClr val="0F1E36"/>
                </a:solidFill>
                <a:latin typeface="Calibri"/>
              </a:rPr>
              <a:t> </a:t>
            </a:r>
          </a:p>
          <a:p>
            <a:pPr algn="ctr"/>
            <a:r>
              <a:rPr sz="1400" b="0" i="0">
                <a:solidFill>
                  <a:srgbClr val="55657E"/>
                </a:solidFill>
                <a:latin typeface="Calibri"/>
              </a:rPr>
              <a:t>joan.martinez@unillanos.edu.co</a:t>
            </a:r>
          </a:p>
        </p:txBody>
      </p:sp>
      <p:sp>
        <p:nvSpPr>
          <p:cNvPr id="9" name="TextBox 8"/>
          <p:cNvSpPr txBox="1"/>
          <p:nvPr/>
        </p:nvSpPr>
        <p:spPr>
          <a:xfrm>
            <a:off x="731520" y="5257800"/>
            <a:ext cx="10424160" cy="365760"/>
          </a:xfrm>
          <a:prstGeom prst="rect">
            <a:avLst/>
          </a:prstGeom>
          <a:noFill/>
        </p:spPr>
        <p:txBody>
          <a:bodyPr wrap="square" anchor="t" lIns="0" rIns="0" tIns="0" bIns="0">
            <a:spAutoFit/>
          </a:bodyPr>
          <a:lstStyle/>
          <a:p>
            <a:pPr algn="l"/>
            <a:r>
              <a:rPr sz="1250" b="0" i="0">
                <a:solidFill>
                  <a:srgbClr val="55657E"/>
                </a:solidFill>
                <a:latin typeface="Calibri"/>
              </a:rPr>
              <a:t>Agradecimientos: proyecto DGI/Unillanos C07-02-2026-027 · Oficina de Sistemas, Universidad de los Llanos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A</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Anexo · respuestas preparadas</a:t>
            </a:r>
          </a:p>
        </p:txBody>
      </p:sp>
      <p:sp>
        <p:nvSpPr>
          <p:cNvPr id="6" name="TextBox 5"/>
          <p:cNvSpPr txBox="1"/>
          <p:nvPr/>
        </p:nvSpPr>
        <p:spPr>
          <a:xfrm>
            <a:off x="731520" y="969264"/>
            <a:ext cx="10607040" cy="365760"/>
          </a:xfrm>
          <a:prstGeom prst="rect">
            <a:avLst/>
          </a:prstGeom>
          <a:noFill/>
        </p:spPr>
        <p:txBody>
          <a:bodyPr wrap="square" anchor="t" lIns="0" rIns="0" tIns="0" bIns="0">
            <a:spAutoFit/>
          </a:bodyPr>
          <a:lstStyle/>
          <a:p>
            <a:pPr algn="l"/>
            <a:r>
              <a:rPr sz="1400" b="0" i="0">
                <a:solidFill>
                  <a:srgbClr val="55657E"/>
                </a:solidFill>
                <a:latin typeface="Calibri"/>
              </a:rPr>
              <a:t>Lámina de respaldo para la sesión de preguntas</a:t>
            </a:r>
          </a:p>
        </p:txBody>
      </p:sp>
      <p:sp>
        <p:nvSpPr>
          <p:cNvPr id="7" name="Rounded Rectangle 6"/>
          <p:cNvSpPr/>
          <p:nvPr/>
        </p:nvSpPr>
        <p:spPr>
          <a:xfrm>
            <a:off x="731520" y="1508760"/>
            <a:ext cx="10424160" cy="73152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1554480"/>
            <a:ext cx="9966960" cy="640080"/>
          </a:xfrm>
          <a:prstGeom prst="rect">
            <a:avLst/>
          </a:prstGeom>
          <a:noFill/>
        </p:spPr>
        <p:txBody>
          <a:bodyPr wrap="square" anchor="ctr" lIns="0" rIns="0" tIns="0" bIns="0">
            <a:spAutoFit/>
          </a:bodyPr>
          <a:lstStyle/>
          <a:p>
            <a:pPr algn="l"/>
            <a:r>
              <a:rPr sz="1400" b="1" i="0">
                <a:solidFill>
                  <a:srgbClr val="1F5FAE"/>
                </a:solidFill>
                <a:latin typeface="Calibri"/>
              </a:rPr>
              <a:t>¿Por qué el reglamento de 2022?  </a:t>
            </a:r>
            <a:r>
              <a:rPr sz="1400" b="0" i="0">
                <a:solidFill>
                  <a:srgbClr val="0F1E36"/>
                </a:solidFill>
                <a:latin typeface="Calibri"/>
              </a:rPr>
              <a:t>Es la definición vigente, la que regirá a los estudiantes en quienes se usará el modelo (supuesto declarado).</a:t>
            </a:r>
          </a:p>
        </p:txBody>
      </p:sp>
      <p:sp>
        <p:nvSpPr>
          <p:cNvPr id="9" name="Rounded Rectangle 8"/>
          <p:cNvSpPr/>
          <p:nvPr/>
        </p:nvSpPr>
        <p:spPr>
          <a:xfrm>
            <a:off x="731520" y="2377439"/>
            <a:ext cx="10424160" cy="73152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0120" y="2423159"/>
            <a:ext cx="9966960" cy="640080"/>
          </a:xfrm>
          <a:prstGeom prst="rect">
            <a:avLst/>
          </a:prstGeom>
          <a:noFill/>
        </p:spPr>
        <p:txBody>
          <a:bodyPr wrap="square" anchor="ctr" lIns="0" rIns="0" tIns="0" bIns="0">
            <a:spAutoFit/>
          </a:bodyPr>
          <a:lstStyle/>
          <a:p>
            <a:pPr algn="l"/>
            <a:r>
              <a:rPr sz="1400" b="1" i="0">
                <a:solidFill>
                  <a:srgbClr val="1F5FAE"/>
                </a:solidFill>
                <a:latin typeface="Calibri"/>
              </a:rPr>
              <a:t>¿Muestra suficiente?  </a:t>
            </a:r>
            <a:r>
              <a:rPr sz="1400" b="0" i="0">
                <a:solidFill>
                  <a:srgbClr val="0F1E36"/>
                </a:solidFill>
                <a:latin typeface="Calibri"/>
              </a:rPr>
              <a:t>La curva de aprendizaje sigue subiendo: techo ≈ 0,84; duplicar los datos aportaría ≈ 5 puntos de AUC-PR.</a:t>
            </a:r>
          </a:p>
        </p:txBody>
      </p:sp>
      <p:sp>
        <p:nvSpPr>
          <p:cNvPr id="11" name="Rounded Rectangle 10"/>
          <p:cNvSpPr/>
          <p:nvPr/>
        </p:nvSpPr>
        <p:spPr>
          <a:xfrm>
            <a:off x="731520" y="3246120"/>
            <a:ext cx="10424160" cy="73152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60120" y="3291839"/>
            <a:ext cx="9966960" cy="640080"/>
          </a:xfrm>
          <a:prstGeom prst="rect">
            <a:avLst/>
          </a:prstGeom>
          <a:noFill/>
        </p:spPr>
        <p:txBody>
          <a:bodyPr wrap="square" anchor="ctr" lIns="0" rIns="0" tIns="0" bIns="0">
            <a:spAutoFit/>
          </a:bodyPr>
          <a:lstStyle/>
          <a:p>
            <a:pPr algn="l"/>
            <a:r>
              <a:rPr sz="1400" b="1" i="0">
                <a:solidFill>
                  <a:srgbClr val="1F5FAE"/>
                </a:solidFill>
                <a:latin typeface="Calibri"/>
              </a:rPr>
              <a:t>¿Y redes neuronales profundas?  </a:t>
            </a:r>
            <a:r>
              <a:rPr sz="1400" b="0" i="0">
                <a:solidFill>
                  <a:srgbClr val="0F1E36"/>
                </a:solidFill>
                <a:latin typeface="Calibri"/>
              </a:rPr>
              <a:t>Con 80 casos no hay datos suficientes para entrenarlas.</a:t>
            </a:r>
          </a:p>
        </p:txBody>
      </p:sp>
      <p:sp>
        <p:nvSpPr>
          <p:cNvPr id="13" name="Rounded Rectangle 12"/>
          <p:cNvSpPr/>
          <p:nvPr/>
        </p:nvSpPr>
        <p:spPr>
          <a:xfrm>
            <a:off x="731520" y="4114800"/>
            <a:ext cx="10424160" cy="73152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0120" y="4160520"/>
            <a:ext cx="9966960" cy="640080"/>
          </a:xfrm>
          <a:prstGeom prst="rect">
            <a:avLst/>
          </a:prstGeom>
          <a:noFill/>
        </p:spPr>
        <p:txBody>
          <a:bodyPr wrap="square" anchor="ctr" lIns="0" rIns="0" tIns="0" bIns="0">
            <a:spAutoFit/>
          </a:bodyPr>
          <a:lstStyle/>
          <a:p>
            <a:pPr algn="l"/>
            <a:r>
              <a:rPr sz="1400" b="1" i="0">
                <a:solidFill>
                  <a:srgbClr val="1F5FAE"/>
                </a:solidFill>
                <a:latin typeface="Calibri"/>
              </a:rPr>
              <a:t>«Sin primer semestre»  </a:t>
            </a:r>
            <a:r>
              <a:rPr sz="1400" b="0" i="0">
                <a:solidFill>
                  <a:srgbClr val="0F1E36"/>
                </a:solidFill>
                <a:latin typeface="Calibri"/>
              </a:rPr>
              <a:t>Identifica a quienes ingresaron por homologación al plan 2018; sin ellos, AUC-PR 0,756.</a:t>
            </a:r>
          </a:p>
        </p:txBody>
      </p:sp>
      <p:sp>
        <p:nvSpPr>
          <p:cNvPr id="15" name="Rounded Rectangle 14"/>
          <p:cNvSpPr/>
          <p:nvPr/>
        </p:nvSpPr>
        <p:spPr>
          <a:xfrm>
            <a:off x="731520" y="4983479"/>
            <a:ext cx="10424160" cy="73152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0120" y="5029199"/>
            <a:ext cx="9966960" cy="640080"/>
          </a:xfrm>
          <a:prstGeom prst="rect">
            <a:avLst/>
          </a:prstGeom>
          <a:noFill/>
        </p:spPr>
        <p:txBody>
          <a:bodyPr wrap="square" anchor="ctr" lIns="0" rIns="0" tIns="0" bIns="0">
            <a:spAutoFit/>
          </a:bodyPr>
          <a:lstStyle/>
          <a:p>
            <a:pPr algn="l"/>
            <a:r>
              <a:rPr sz="1400" b="1" i="0">
                <a:solidFill>
                  <a:srgbClr val="1F5FAE"/>
                </a:solidFill>
                <a:latin typeface="Calibri"/>
              </a:rPr>
              <a:t>¿Por qué AUC-PR y no exactitud?  </a:t>
            </a:r>
            <a:r>
              <a:rPr sz="1400" b="0" i="0">
                <a:solidFill>
                  <a:srgbClr val="0F1E36"/>
                </a:solidFill>
                <a:latin typeface="Calibri"/>
              </a:rPr>
              <a:t>Con 24 % de casos, decir siempre «no hay riesgo» daría 76 % de exactitud sin detectar a nadie.</a:t>
            </a:r>
          </a:p>
        </p:txBody>
      </p:sp>
    </p:spTree>
  </p:cSld>
  <p:clrMapOvr>
    <a:masterClrMapping/>
  </p:clrMapOvr>
</p:sld>
</file>

<file path=ppt/theme/theme1.xml><?xml version="1.0" encoding="utf-8"?>
<a:theme xmlns:a="http://schemas.openxmlformats.org/drawingml/2006/main" name="Custom Design">
  <a:themeElements>
    <a:clrScheme name="CICI 2026">
      <a:dk1>
        <a:sysClr val="windowText" lastClr="000000"/>
      </a:dk1>
      <a:lt1>
        <a:sysClr val="window" lastClr="FFFFFF"/>
      </a:lt1>
      <a:dk2>
        <a:srgbClr val="2F2F2F"/>
      </a:dk2>
      <a:lt2>
        <a:srgbClr val="EFF5FA"/>
      </a:lt2>
      <a:accent1>
        <a:srgbClr val="1E73BE"/>
      </a:accent1>
      <a:accent2>
        <a:srgbClr val="8DC63F"/>
      </a:accent2>
      <a:accent3>
        <a:srgbClr val="0B4C86"/>
      </a:accent3>
      <a:accent4>
        <a:srgbClr val="13B5E4"/>
      </a:accent4>
      <a:accent5>
        <a:srgbClr val="5A5A5A"/>
      </a:accent5>
      <a:accent6>
        <a:srgbClr val="2F2F2F"/>
      </a:accent6>
      <a:hlink>
        <a:srgbClr val="1E73BE"/>
      </a:hlink>
      <a:folHlink>
        <a:srgbClr val="0B4C8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44</TotalTime>
  <Words>13</Words>
  <Application>Microsoft Macintosh PowerPoint</Application>
  <PresentationFormat>Widescreen</PresentationFormat>
  <Paragraphs>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Custom Design</vt:lpstr>
      <vt:lpstr>ID ##: Título del trabajo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 ##: Título artículo</dc:title>
  <dc:creator>Microsoft Office User</dc:creator>
  <cp:lastModifiedBy>Angel Cruz</cp:lastModifiedBy>
  <cp:revision>8</cp:revision>
  <dcterms:created xsi:type="dcterms:W3CDTF">2018-07-12T20:50:47Z</dcterms:created>
  <dcterms:modified xsi:type="dcterms:W3CDTF">2026-09-11T02:38:58Z</dcterms:modified>
</cp:coreProperties>
</file>