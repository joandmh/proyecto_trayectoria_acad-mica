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comments/comment5.xml" ContentType="application/vnd.openxmlformats-officedocument.presentationml.comments+xml"/>
  <Override PartName="/ppt/comments/comment6.xml" ContentType="application/vnd.openxmlformats-officedocument.presentationml.comments+xml"/>
  <Override PartName="/ppt/metadata" ContentType="application/binary"/>
  <Override PartName="/ppt/notesMasters/notesMaster1.xml" ContentType="application/vnd.openxmlformats-officedocument.presentationml.notesMaster+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8"/>
  </p:notesMasterIdLst>
  <p:sldIdLst>
    <p:sldId id="294" r:id="rId24"/>
    <p:sldId id="266" r:id="rId25"/>
    <p:sldId id="268" r:id="rId26"/>
    <p:sldId id="269" r:id="rId27"/>
    <p:sldId id="271" r:id="rId28"/>
    <p:sldId id="272" r:id="rId29"/>
    <p:sldId id="273" r:id="rId30"/>
    <p:sldId id="275" r:id="rId31"/>
    <p:sldId id="276" r:id="rId32"/>
    <p:sldId id="278" r:id="rId33"/>
    <p:sldId id="280" r:id="rId34"/>
    <p:sldId id="281" r:id="rId35"/>
    <p:sldId id="282" r:id="rId36"/>
    <p:sldId id="283" r:id="rId37"/>
    <p:sldId id="288"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jnBayp3TKVypL+kv0A/Jzwv0fLE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IANA MARCELA CARDONA ROMAN" initials="" lastIdx="9"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6607F2B-0D1A-44AA-933E-E49CCDE99D64}">
  <a:tblStyle styleId="{F6607F2B-0D1A-44AA-933E-E49CCDE99D6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BF4"/>
          </a:solidFill>
        </a:fill>
      </a:tcStyle>
    </a:wholeTbl>
    <a:band1H>
      <a:tcTxStyle/>
      <a:tcStyle>
        <a:tcBdr/>
        <a:fill>
          <a:solidFill>
            <a:srgbClr val="CBD4E8"/>
          </a:solidFill>
        </a:fill>
      </a:tcStyle>
    </a:band1H>
    <a:band2H>
      <a:tcTxStyle/>
      <a:tcStyle>
        <a:tcBdr/>
      </a:tcStyle>
    </a:band2H>
    <a:band1V>
      <a:tcTxStyle/>
      <a:tcStyle>
        <a:tcBdr/>
        <a:fill>
          <a:solidFill>
            <a:srgbClr val="CBD4E8"/>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41" Type="http://customschemas.google.com/relationships/presentationmetadata" Target="metadata"/><Relationship Id="rId42" Type="http://schemas.openxmlformats.org/officeDocument/2006/relationships/commentAuthors" Target="commentAuthors.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omments/comment5.xml><?xml version="1.0" encoding="utf-8"?>
<p:cmLst xmlns:a="http://schemas.openxmlformats.org/drawingml/2006/main" xmlns:r="http://schemas.openxmlformats.org/officeDocument/2006/relationships" xmlns:p="http://schemas.openxmlformats.org/presentationml/2006/main">
  <p:cm authorId="0" dt="2026-10-01T18:05:57.155" idx="9">
    <p:pos x="379" y="947"/>
    <p:text>Completar las referencias citadas DENTRO de esta presentación</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CGnt378Q"/>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0" dt="2026-10-01T18:15:15.505" idx="6">
    <p:pos x="460" y="218"/>
    <p:text>No me queda claro.
Se 'infla' el problema o se 'infla' el resultado dentro espacio de predicción?</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CGnt378c"/>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h26ced1568c81ade5_1_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h26ced1568c81ade5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Referencias citadas en las láminas del anexo.</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Anexo: respaldo para preguntas</a:t>
            </a:r>
          </a:p>
          <a:p>
            <a:endParaRPr/>
          </a:p>
          <a:p>
            <a:r>
              <a:t>[No se presenta. Use las láminas A1 a A13 solo si se las piden.]</a:t>
            </a:r>
          </a:p>
          <a:p>
            <a:endParaRPr/>
          </a:p>
          <a:p>
            <a:r>
              <a:t>Respuestas preparadas: ¿Qué significa el 0 en la gráfica de abandono? Son 5 estudiantes sin notas registradas. No se puede afirmar que no cursaron: tres de ellos tienen un estado oficial de bajo rendimiento en 2018-1, su primer semestre, lo que indica que sí hubo notas que no llegaron al extracto. Lo tratamos como pérdida de información y por eso quedan fuera de los 90 con actividad. ¿Por qué el reglamento vigente si las cohortes estudiaron con el de 2003? Porque es la norma que regirá a los estudiantes en quienes se usará el modelo; lo declaramos como supuesto. ¿Es suficiente la muestra? La curva de aprendizaje sigue subiendo; estimamos un techo cercano a 0,84. ¿Por qué no redes neuronales? Con 80 casos no hay datos suficientes para entrenarlas. ¿Y la repitencia escolar? A simple vista se asocia, pero quienes repitieron también tienen un promedio de primer semestre más bajo; añadida al modelo con validación anidada no mejora el resultado. ¿Por qué AUC-PR y no exactitud? Porque los casos de riesgo son el 24 por ciento: decir siempre «sin riesgo» daría 76 por ciento de exactitud sin detectar a nadie.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3" name="Google Shape;243;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[Anexo A1, solo si preguntan] Cuánto sobreestimaba el resultado cada error</a:t>
            </a:r>
          </a:p>
          <a:p>
            <a:endParaRPr/>
          </a:p>
          <a:p>
            <a:r>
              <a:t>Ojo: estos errores no cambian el problema ni el modelo; cambian la medición. Hacen que el modelo parezca mejor de lo que es. Cada barra es cuánto subía el AUC-PR medido con el error frente al medido correctamente. Elegir las variables con toda la muestra lo inflaba 15 puntos; ajustar los hiperparámetros con los datos de evaluación favorecía sobre todo a XGBoost. La línea punteada es nuestro umbral de diferencia relevante.</a:t>
            </a:r>
          </a:p>
        </p:txBody>
      </p:sp>
      <p:sp>
        <p:nvSpPr>
          <p:cNvPr id="244" name="Google Shape;244;p1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1" name="Google Shape;281;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[Anexo A2, solo si preguntan] Fase 4 · Algoritmos (1 de 2)</a:t>
            </a:r>
          </a:p>
          <a:p>
            <a:endParaRPr/>
          </a:p>
          <a:p>
            <a:r>
              <a:t>Cinco algoritmos, de más simple a más complejo. La regresión logística convierte una suma ponderada de las variables en una probabilidad mediante la función sigmoide; el parámetro C controla cuánto se castiga la complejidad. El árbol de decisión divide los datos con preguntas sucesivas, y en cada corte elige la que más reduce la impureza. Random Forest promedia 150 árboles, cada uno entrenado con una muestra distinta y con variables elegidas al azar en cada corte.</a:t>
            </a:r>
          </a:p>
        </p:txBody>
      </p:sp>
      <p:sp>
        <p:nvSpPr>
          <p:cNvPr id="282" name="Google Shape;282;p1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5" name="Google Shape;305;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[Anexo A3, solo si preguntan] Fase 4 · Algoritmos (2 de 2)</a:t>
            </a:r>
          </a:p>
          <a:p>
            <a:endParaRPr/>
          </a:p>
          <a:p>
            <a:r>
              <a:t>XGBoost también combina árboles, pero en secuencia: cada árbol nuevo corrige los errores del anterior, con una tasa de aprendizaje eta y una penalización lambda que evita el sobreajuste. La máquina de vectores de soporte busca la frontera de máxima separación, y el kernel radial le permite trazar fronteras curvas. Todas las rejillas tienen entre 16 y 24 combinaciones, para que ningún algoritmo tenga ventaja.</a:t>
            </a:r>
          </a:p>
        </p:txBody>
      </p:sp>
      <p:sp>
        <p:nvSpPr>
          <p:cNvPr id="306" name="Google Shape;306;p1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1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9" name="Google Shape;339;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[Anexo A4, solo si preguntan] Fase 4 · ¿Cuántas variables?</a:t>
            </a:r>
          </a:p>
          <a:p>
            <a:endParaRPr/>
          </a:p>
          <a:p>
            <a:r>
              <a:t>¿Cuántas variables necesitamos? Cada punto es un conjunto de variables evaluado con Random Forest. Las seis variables académicas rinden igual que las diecinueve candidatas, y los datos socioeconómicos solos quedan cerca del azar, la línea roja.</a:t>
            </a:r>
          </a:p>
        </p:txBody>
      </p:sp>
      <p:sp>
        <p:nvSpPr>
          <p:cNvPr id="340" name="Google Shape;340;p1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1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1" name="Google Shape;351;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[Anexo A5, solo si preguntan] Fase 4 · Hiperparámetros elegidos</a:t>
            </a:r>
          </a:p>
          <a:p>
            <a:endParaRPr/>
          </a:p>
          <a:p>
            <a:r>
              <a:t>Esta gráfica muestra qué hiperparámetros eligió Random Forest en cada una de las 50 particiones. Predominan los árboles poco profundos, de profundidad tres, que usan todas las variables en cada corte: un modelo deliberadamente simple, adecuado para una muestra pequeña.</a:t>
            </a:r>
          </a:p>
        </p:txBody>
      </p:sp>
      <p:sp>
        <p:nvSpPr>
          <p:cNvPr id="352" name="Google Shape;352;p1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1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3" name="Google Shape;363;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[Anexo A6, solo si preguntan] Fase 4 · Importancia de las variables</a:t>
            </a:r>
          </a:p>
          <a:p>
            <a:endParaRPr/>
          </a:p>
          <a:p>
            <a:r>
              <a:t>Esta es la importancia por permutación: cuánto cae el desempeño si desordenamos una variable. El promedio del primer semestre domina; las demás aportan poco.</a:t>
            </a:r>
          </a:p>
        </p:txBody>
      </p:sp>
      <p:sp>
        <p:nvSpPr>
          <p:cNvPr id="364" name="Google Shape;364;p1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2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8" name="Google Shape;388;p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[Anexo A7, solo si preguntan] Fase 5 · Comparaciones pareadas</a:t>
            </a:r>
          </a:p>
          <a:p>
            <a:endParaRPr/>
          </a:p>
          <a:p>
            <a:r>
              <a:t>Este mapa compara cada par de algoritmos: la diferencia de AUC-PR y su valor p corregido; en negrita, las diferencias significativas. Random Forest supera a XGBoost, al árbol y a la regresión logística. Frente a SVM la diferencia no es significativa, y en ese caso preferimos el modelo más sencillo.</a:t>
            </a:r>
          </a:p>
        </p:txBody>
      </p:sp>
      <p:sp>
        <p:nvSpPr>
          <p:cNvPr id="389" name="Google Shape;389;p2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2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0" name="Google Shape;400;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[Anexo A8, solo si preguntan] Fase 5 · Curvas PR y ROC</a:t>
            </a:r>
          </a:p>
          <a:p>
            <a:endParaRPr/>
          </a:p>
          <a:p>
            <a:r>
              <a:t>Las curvas completas confirman el patrón. A la izquierda, precisión frente a exhaustividad; a la derecha, la curva ROC. Random Forest, en azul, se mantiene arriba en casi todo el recorrido.</a:t>
            </a:r>
          </a:p>
        </p:txBody>
      </p:sp>
      <p:sp>
        <p:nvSpPr>
          <p:cNvPr id="401" name="Google Shape;401;p2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2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4" name="Google Shape;424;p2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[Anexo A9, solo si preguntan] Fase 5 · Elección del umbral</a:t>
            </a:r>
          </a:p>
          <a:p>
            <a:endParaRPr/>
          </a:p>
          <a:p>
            <a:r>
              <a:t>Esta curva muestra el compromiso completo: al subir el umbral aumenta la precisión, en naranja, y disminuyen los casos detectados, en azul. Cuántos estudiantes acompañar lo decide la universidad según su capacidad.</a:t>
            </a:r>
          </a:p>
        </p:txBody>
      </p:sp>
      <p:sp>
        <p:nvSpPr>
          <p:cNvPr id="425" name="Google Shape;425;p2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2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8" name="Google Shape;448;p2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[Anexo A10, solo si preguntan] Límite 1 · Casos simultáneos</a:t>
            </a:r>
          </a:p>
          <a:p>
            <a:endParaRPr/>
          </a:p>
          <a:p>
            <a:r>
              <a:t>Ahora, los límites, que medimos de forma explícita. El 42 por ciento de los casos ocurre ya en el primer semestre: ahí el modelo confirma, no anticipa. Si evaluamos solo los casos futuros, el desempeño baja a 0,47, pero sigue siendo tres veces el azar.</a:t>
            </a:r>
          </a:p>
        </p:txBody>
      </p:sp>
      <p:sp>
        <p:nvSpPr>
          <p:cNvPr id="449" name="Google Shape;449;p2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2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0" name="Google Shape;460;p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[Anexo A11, solo si preguntan] Límite 2 · Calibración</a:t>
            </a:r>
          </a:p>
          <a:p>
            <a:endParaRPr/>
          </a:p>
          <a:p>
            <a:r>
              <a:t>Intentamos calibrar las probabilidades con dos métodos. Ninguno mejoró al modelo original, así que el sistema muestra niveles de alerta y no porcentajes.</a:t>
            </a:r>
          </a:p>
        </p:txBody>
      </p:sp>
      <p:sp>
        <p:nvSpPr>
          <p:cNvPr id="461" name="Google Shape;461;p2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2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2" name="Google Shape;472;p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[Anexo A12, solo si preguntan] Límite 3 · Semestre a semestre</a:t>
            </a:r>
          </a:p>
          <a:p>
            <a:endParaRPr/>
          </a:p>
          <a:p>
            <a:r>
              <a:t>También intentamos predecir semestre a semestre, en tres cortes sucesivos de la carrera. Las barras quedan alrededor de uno, es decir, al nivel del azar. Por eso no desplegamos ese modelo: el seguimiento semestral se hace con las reglas del reglamento.</a:t>
            </a:r>
          </a:p>
        </p:txBody>
      </p:sp>
      <p:sp>
        <p:nvSpPr>
          <p:cNvPr id="473" name="Google Shape;473;p2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2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4" name="Google Shape;484;p2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[Anexo A13, solo si preguntan] Robustez · Plan 2018</a:t>
            </a:r>
          </a:p>
          <a:p>
            <a:endParaRPr/>
          </a:p>
          <a:p>
            <a:r>
              <a:t>Por último, simulamos que los estudiantes cursaron el plan 2018. El AUC-PR se mantiene entre 0,74 y 0,76, aunque el promedio sube algo más de una décima; los umbrales deberán ajustarse con la primera cohorte real.</a:t>
            </a:r>
          </a:p>
        </p:txBody>
      </p:sp>
      <p:sp>
        <p:nvSpPr>
          <p:cNvPr id="485" name="Google Shape;485;p2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
        <p:cNvGrpSpPr/>
        <p:nvPr/>
      </p:nvGrpSpPr>
      <p:grpSpPr>
        <a:xfrm>
          <a:off x="0" y="0"/>
          <a:ext cx="0" cy="0"/>
          <a:chOff x="0" y="0"/>
          <a:chExt cx="0" cy="0"/>
        </a:xfrm>
      </p:grpSpPr>
      <p:sp>
        <p:nvSpPr>
          <p:cNvPr id="15" name="Google Shape;15;p37"/>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7"/>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37"/>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38"/>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8"/>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8"/>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39"/>
          <p:cNvSpPr txBox="1">
            <a:spLocks noGrp="1"/>
          </p:cNvSpPr>
          <p:nvPr>
            <p:ph type="title"/>
          </p:nvPr>
        </p:nvSpPr>
        <p:spPr>
          <a:xfrm>
            <a:off x="831851"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39"/>
          <p:cNvSpPr txBox="1">
            <a:spLocks noGrp="1"/>
          </p:cNvSpPr>
          <p:nvPr>
            <p:ph type="body" idx="1"/>
          </p:nvPr>
        </p:nvSpPr>
        <p:spPr>
          <a:xfrm>
            <a:off x="831851"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7" name="Google Shape;27;p39"/>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9"/>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9"/>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0"/>
        <p:cNvGrpSpPr/>
        <p:nvPr/>
      </p:nvGrpSpPr>
      <p:grpSpPr>
        <a:xfrm>
          <a:off x="0" y="0"/>
          <a:ext cx="0" cy="0"/>
          <a:chOff x="0" y="0"/>
          <a:chExt cx="0" cy="0"/>
        </a:xfrm>
      </p:grpSpPr>
      <p:sp>
        <p:nvSpPr>
          <p:cNvPr id="31" name="Google Shape;31;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40"/>
          <p:cNvSpPr txBox="1">
            <a:spLocks noGrp="1"/>
          </p:cNvSpPr>
          <p:nvPr>
            <p:ph type="body" idx="1"/>
          </p:nvPr>
        </p:nvSpPr>
        <p:spPr>
          <a:xfrm>
            <a:off x="838200" y="1825625"/>
            <a:ext cx="5156200" cy="435133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40"/>
          <p:cNvSpPr txBox="1">
            <a:spLocks noGrp="1"/>
          </p:cNvSpPr>
          <p:nvPr>
            <p:ph type="body" idx="2"/>
          </p:nvPr>
        </p:nvSpPr>
        <p:spPr>
          <a:xfrm>
            <a:off x="6197600" y="1825625"/>
            <a:ext cx="5156200" cy="435133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4"/>
        <p:cNvGrpSpPr/>
        <p:nvPr/>
      </p:nvGrpSpPr>
      <p:grpSpPr>
        <a:xfrm>
          <a:off x="0" y="0"/>
          <a:ext cx="0" cy="0"/>
          <a:chOff x="0" y="0"/>
          <a:chExt cx="0" cy="0"/>
        </a:xfrm>
      </p:grpSpPr>
      <p:sp>
        <p:nvSpPr>
          <p:cNvPr id="35" name="Google Shape;35;p41"/>
          <p:cNvSpPr txBox="1">
            <a:spLocks noGrp="1"/>
          </p:cNvSpPr>
          <p:nvPr>
            <p:ph type="title"/>
          </p:nvPr>
        </p:nvSpPr>
        <p:spPr>
          <a:xfrm>
            <a:off x="840317"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41"/>
          <p:cNvSpPr txBox="1">
            <a:spLocks noGrp="1"/>
          </p:cNvSpPr>
          <p:nvPr>
            <p:ph type="body" idx="1"/>
          </p:nvPr>
        </p:nvSpPr>
        <p:spPr>
          <a:xfrm>
            <a:off x="840317" y="1681163"/>
            <a:ext cx="5158316"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7" name="Google Shape;37;p41"/>
          <p:cNvSpPr txBox="1">
            <a:spLocks noGrp="1"/>
          </p:cNvSpPr>
          <p:nvPr>
            <p:ph type="body" idx="2"/>
          </p:nvPr>
        </p:nvSpPr>
        <p:spPr>
          <a:xfrm>
            <a:off x="840317" y="2505075"/>
            <a:ext cx="5158316" cy="3684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41"/>
          <p:cNvSpPr txBox="1">
            <a:spLocks noGrp="1"/>
          </p:cNvSpPr>
          <p:nvPr>
            <p:ph type="body" idx="3"/>
          </p:nvPr>
        </p:nvSpPr>
        <p:spPr>
          <a:xfrm>
            <a:off x="6172200" y="1681163"/>
            <a:ext cx="518371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41"/>
          <p:cNvSpPr txBox="1">
            <a:spLocks noGrp="1"/>
          </p:cNvSpPr>
          <p:nvPr>
            <p:ph type="body" idx="4"/>
          </p:nvPr>
        </p:nvSpPr>
        <p:spPr>
          <a:xfrm>
            <a:off x="6172200" y="2505075"/>
            <a:ext cx="5183717" cy="3684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41"/>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41"/>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41"/>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42"/>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42"/>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2"/>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43"/>
          <p:cNvSpPr txBox="1">
            <a:spLocks noGrp="1"/>
          </p:cNvSpPr>
          <p:nvPr>
            <p:ph type="title"/>
          </p:nvPr>
        </p:nvSpPr>
        <p:spPr>
          <a:xfrm>
            <a:off x="840317" y="457200"/>
            <a:ext cx="393276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43"/>
          <p:cNvSpPr txBox="1">
            <a:spLocks noGrp="1"/>
          </p:cNvSpPr>
          <p:nvPr>
            <p:ph type="body" idx="1"/>
          </p:nvPr>
        </p:nvSpPr>
        <p:spPr>
          <a:xfrm>
            <a:off x="5183717"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3200"/>
              <a:buNone/>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43"/>
          <p:cNvSpPr txBox="1">
            <a:spLocks noGrp="1"/>
          </p:cNvSpPr>
          <p:nvPr>
            <p:ph type="body" idx="2"/>
          </p:nvPr>
        </p:nvSpPr>
        <p:spPr>
          <a:xfrm>
            <a:off x="840317" y="2057400"/>
            <a:ext cx="393276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43"/>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3"/>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43"/>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44"/>
          <p:cNvSpPr txBox="1">
            <a:spLocks noGrp="1"/>
          </p:cNvSpPr>
          <p:nvPr>
            <p:ph type="title"/>
          </p:nvPr>
        </p:nvSpPr>
        <p:spPr>
          <a:xfrm>
            <a:off x="840317" y="457200"/>
            <a:ext cx="393276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44"/>
          <p:cNvSpPr>
            <a:spLocks noGrp="1"/>
          </p:cNvSpPr>
          <p:nvPr>
            <p:ph type="pic" idx="2"/>
          </p:nvPr>
        </p:nvSpPr>
        <p:spPr>
          <a:xfrm>
            <a:off x="5183717" y="987425"/>
            <a:ext cx="6172200" cy="4873625"/>
          </a:xfrm>
          <a:prstGeom prst="rect">
            <a:avLst/>
          </a:prstGeom>
          <a:noFill/>
          <a:ln>
            <a:noFill/>
          </a:ln>
        </p:spPr>
      </p:sp>
      <p:sp>
        <p:nvSpPr>
          <p:cNvPr id="58" name="Google Shape;58;p44"/>
          <p:cNvSpPr txBox="1">
            <a:spLocks noGrp="1"/>
          </p:cNvSpPr>
          <p:nvPr>
            <p:ph type="body" idx="1"/>
          </p:nvPr>
        </p:nvSpPr>
        <p:spPr>
          <a:xfrm>
            <a:off x="840317" y="2057400"/>
            <a:ext cx="393276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44"/>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44"/>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44"/>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4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45"/>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5"/>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45"/>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4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6"/>
          <p:cNvSpPr txBox="1">
            <a:spLocks noGrp="1"/>
          </p:cNvSpPr>
          <p:nvPr>
            <p:ph type="body" idx="1"/>
          </p:nvPr>
        </p:nvSpPr>
        <p:spPr>
          <a:xfrm rot="5400000">
            <a:off x="1774031" y="-570706"/>
            <a:ext cx="5811838" cy="7683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46"/>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6"/>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6"/>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35"/>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5"/>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5"/>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comments" Target="../comments/commen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32.png"/><Relationship Id="rId5" Type="http://schemas.openxmlformats.org/officeDocument/2006/relationships/comments" Target="../comments/commen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36.png"/><Relationship Id="rId5" Type="http://schemas.openxmlformats.org/officeDocument/2006/relationships/image" Target="../media/image3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png"/><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png"/><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png"/><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4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png"/><Relationship Id="rId4" Type="http://schemas.openxmlformats.org/officeDocument/2006/relationships/image" Target="../media/image4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png"/><Relationship Id="rId4" Type="http://schemas.openxmlformats.org/officeDocument/2006/relationships/image" Target="../media/image4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png"/><Relationship Id="rId4" Type="http://schemas.openxmlformats.org/officeDocument/2006/relationships/image" Target="../media/image4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png"/><Relationship Id="rId4" Type="http://schemas.openxmlformats.org/officeDocument/2006/relationships/image" Target="../media/image47.png"/></Relationships>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h26ced1568c81ade5_1_4"/>
          <p:cNvSpPr/>
          <p:nvPr/>
        </p:nvSpPr>
        <p:spPr>
          <a:xfrm>
            <a:off x="566928" y="457200"/>
            <a:ext cx="50400" cy="420600"/>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555" name="Google Shape;555;h26ced1568c81ade5_1_4"/>
          <p:cNvSpPr txBox="1"/>
          <p:nvPr/>
        </p:nvSpPr>
        <p:spPr>
          <a:xfrm>
            <a:off x="731520" y="347472"/>
            <a:ext cx="10607100" cy="4617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a:solidFill>
                  <a:srgbClr val="0F1E36"/>
                </a:solidFill>
                <a:latin typeface="Calibri"/>
                <a:ea typeface="Calibri"/>
                <a:cs typeface="Calibri"/>
                <a:sym typeface="Calibri"/>
              </a:rPr>
              <a:t>Referencias</a:t>
            </a:r>
            <a:endParaRPr/>
          </a:p>
        </p:txBody>
      </p:sp>
      <p:sp>
        <p:nvSpPr>
          <p:cNvPr id="556" name="TextBox 555"/>
          <p:cNvSpPr txBox="1"/>
          <p:nvPr/>
        </p:nvSpPr>
        <p:spPr>
          <a:xfrm>
            <a:off x="731520" y="1188720"/>
            <a:ext cx="5212080" cy="4754880"/>
          </a:xfrm>
          <a:prstGeom prst="rect">
            <a:avLst/>
          </a:prstGeom>
          <a:noFill/>
        </p:spPr>
        <p:txBody>
          <a:bodyPr wrap="square" lIns="0" tIns="0" rIns="0" bIns="0" anchor="t">
            <a:spAutoFit/>
          </a:bodyPr>
          <a:lstStyle/>
          <a:p>
            <a:pPr algn="l">
              <a:spcAft>
                <a:spcPts val="500"/>
              </a:spcAft>
            </a:pPr>
            <a:r>
              <a:rPr sz="1150" b="1" i="0" dirty="0">
                <a:solidFill>
                  <a:srgbClr val="1F5FAE"/>
                </a:solidFill>
                <a:latin typeface="Calibri"/>
              </a:rPr>
              <a:t>[1]  </a:t>
            </a:r>
            <a:r>
              <a:rPr sz="1150" b="0" i="0" dirty="0" err="1">
                <a:solidFill>
                  <a:srgbClr val="0F1E36"/>
                </a:solidFill>
                <a:latin typeface="Calibri"/>
              </a:rPr>
              <a:t>Laboratorio</a:t>
            </a:r>
            <a:r>
              <a:rPr sz="1150" b="0" i="0" dirty="0">
                <a:solidFill>
                  <a:srgbClr val="0F1E36"/>
                </a:solidFill>
                <a:latin typeface="Calibri"/>
              </a:rPr>
              <a:t> de </a:t>
            </a:r>
            <a:r>
              <a:rPr sz="1150" b="0" i="0" dirty="0" err="1">
                <a:solidFill>
                  <a:srgbClr val="0F1E36"/>
                </a:solidFill>
                <a:latin typeface="Calibri"/>
              </a:rPr>
              <a:t>Economía</a:t>
            </a:r>
            <a:r>
              <a:rPr sz="1150" b="0" i="0" dirty="0">
                <a:solidFill>
                  <a:srgbClr val="0F1E36"/>
                </a:solidFill>
                <a:latin typeface="Calibri"/>
              </a:rPr>
              <a:t> de la </a:t>
            </a:r>
            <a:r>
              <a:rPr sz="1150" b="0" i="0" dirty="0" err="1">
                <a:solidFill>
                  <a:srgbClr val="0F1E36"/>
                </a:solidFill>
                <a:latin typeface="Calibri"/>
              </a:rPr>
              <a:t>Educación</a:t>
            </a:r>
            <a:r>
              <a:rPr sz="1150" b="0" i="0" dirty="0">
                <a:solidFill>
                  <a:srgbClr val="0F1E36"/>
                </a:solidFill>
                <a:latin typeface="Calibri"/>
              </a:rPr>
              <a:t>, «</a:t>
            </a:r>
            <a:r>
              <a:rPr sz="1150" b="0" i="0" dirty="0" err="1">
                <a:solidFill>
                  <a:srgbClr val="0F1E36"/>
                </a:solidFill>
                <a:latin typeface="Calibri"/>
              </a:rPr>
              <a:t>Deserción</a:t>
            </a:r>
            <a:r>
              <a:rPr sz="1150" b="0" i="0" dirty="0">
                <a:solidFill>
                  <a:srgbClr val="0F1E36"/>
                </a:solidFill>
                <a:latin typeface="Calibri"/>
              </a:rPr>
              <a:t> </a:t>
            </a:r>
            <a:r>
              <a:rPr sz="1150" b="0" i="0" dirty="0" err="1">
                <a:solidFill>
                  <a:srgbClr val="0F1E36"/>
                </a:solidFill>
                <a:latin typeface="Calibri"/>
              </a:rPr>
              <a:t>en</a:t>
            </a:r>
            <a:r>
              <a:rPr sz="1150" b="0" i="0" dirty="0">
                <a:solidFill>
                  <a:srgbClr val="0F1E36"/>
                </a:solidFill>
                <a:latin typeface="Calibri"/>
              </a:rPr>
              <a:t> la </a:t>
            </a:r>
            <a:r>
              <a:rPr sz="1150" b="0" i="0" dirty="0" err="1">
                <a:solidFill>
                  <a:srgbClr val="0F1E36"/>
                </a:solidFill>
                <a:latin typeface="Calibri"/>
              </a:rPr>
              <a:t>educación</a:t>
            </a:r>
            <a:r>
              <a:rPr sz="1150" b="0" i="0" dirty="0">
                <a:solidFill>
                  <a:srgbClr val="0F1E36"/>
                </a:solidFill>
                <a:latin typeface="Calibri"/>
              </a:rPr>
              <a:t> superior </a:t>
            </a:r>
            <a:r>
              <a:rPr sz="1150" b="0" i="0" dirty="0" err="1">
                <a:solidFill>
                  <a:srgbClr val="0F1E36"/>
                </a:solidFill>
                <a:latin typeface="Calibri"/>
              </a:rPr>
              <a:t>en</a:t>
            </a:r>
            <a:r>
              <a:rPr sz="1150" b="0" i="0" dirty="0">
                <a:solidFill>
                  <a:srgbClr val="0F1E36"/>
                </a:solidFill>
                <a:latin typeface="Calibri"/>
              </a:rPr>
              <a:t> Colombia», Informe No. 74, Pontificia Universidad Javeriana, 2023.</a:t>
            </a:r>
          </a:p>
          <a:p>
            <a:pPr algn="l">
              <a:spcAft>
                <a:spcPts val="500"/>
              </a:spcAft>
            </a:pPr>
            <a:r>
              <a:rPr sz="1150" b="1" i="0" dirty="0">
                <a:solidFill>
                  <a:srgbClr val="1F5FAE"/>
                </a:solidFill>
                <a:latin typeface="Calibri"/>
              </a:rPr>
              <a:t>[2]  </a:t>
            </a:r>
            <a:r>
              <a:rPr sz="1150" b="0" i="0" dirty="0">
                <a:solidFill>
                  <a:srgbClr val="0F1E36"/>
                </a:solidFill>
                <a:latin typeface="Calibri"/>
              </a:rPr>
              <a:t>R. Wirth y J. </a:t>
            </a:r>
            <a:r>
              <a:rPr sz="1150" b="0" i="0" dirty="0" err="1">
                <a:solidFill>
                  <a:srgbClr val="0F1E36"/>
                </a:solidFill>
                <a:latin typeface="Calibri"/>
              </a:rPr>
              <a:t>Hipp</a:t>
            </a:r>
            <a:r>
              <a:rPr sz="1150" b="0" i="0" dirty="0">
                <a:solidFill>
                  <a:srgbClr val="0F1E36"/>
                </a:solidFill>
                <a:latin typeface="Calibri"/>
              </a:rPr>
              <a:t>, «CRISP-DM: Towards a standard process model for data mining», Proc. 4th Int. Conf. Practical Applications of Knowledge Discovery and Data Mining, 2000, pp. 29-39.</a:t>
            </a:r>
          </a:p>
          <a:p>
            <a:pPr algn="l">
              <a:spcAft>
                <a:spcPts val="500"/>
              </a:spcAft>
            </a:pPr>
            <a:r>
              <a:rPr sz="1150" b="1" i="0" dirty="0">
                <a:solidFill>
                  <a:srgbClr val="1F5FAE"/>
                </a:solidFill>
                <a:latin typeface="Calibri"/>
              </a:rPr>
              <a:t>[3]  </a:t>
            </a:r>
            <a:r>
              <a:rPr sz="1150" b="0" i="0" dirty="0">
                <a:solidFill>
                  <a:srgbClr val="0F1E36"/>
                </a:solidFill>
                <a:latin typeface="Calibri"/>
              </a:rPr>
              <a:t>IBM Corp., </a:t>
            </a:r>
            <a:r>
              <a:rPr sz="1150" b="0" i="0" dirty="0" err="1">
                <a:solidFill>
                  <a:srgbClr val="0F1E36"/>
                </a:solidFill>
                <a:latin typeface="Calibri"/>
              </a:rPr>
              <a:t>Guía</a:t>
            </a:r>
            <a:r>
              <a:rPr sz="1150" b="0" i="0" dirty="0">
                <a:solidFill>
                  <a:srgbClr val="0F1E36"/>
                </a:solidFill>
                <a:latin typeface="Calibri"/>
              </a:rPr>
              <a:t> de CRISP-DM de IBM SPSS Modeler (v. 18.3). Armonk, NY: IBM, 2021.</a:t>
            </a:r>
          </a:p>
          <a:p>
            <a:pPr algn="l">
              <a:spcAft>
                <a:spcPts val="500"/>
              </a:spcAft>
            </a:pPr>
            <a:r>
              <a:rPr sz="1150" b="1" i="0" dirty="0">
                <a:solidFill>
                  <a:srgbClr val="1F5FAE"/>
                </a:solidFill>
                <a:latin typeface="Calibri"/>
              </a:rPr>
              <a:t>[4]  </a:t>
            </a:r>
            <a:r>
              <a:rPr sz="1150" b="0" i="0" dirty="0">
                <a:solidFill>
                  <a:srgbClr val="0F1E36"/>
                </a:solidFill>
                <a:latin typeface="Calibri"/>
              </a:rPr>
              <a:t>Universidad de los Llanos, </a:t>
            </a:r>
            <a:r>
              <a:rPr sz="1150" b="0" i="0" dirty="0" err="1">
                <a:solidFill>
                  <a:srgbClr val="0F1E36"/>
                </a:solidFill>
                <a:latin typeface="Calibri"/>
              </a:rPr>
              <a:t>Acuerdo</a:t>
            </a:r>
            <a:r>
              <a:rPr sz="1150" b="0" i="0" dirty="0">
                <a:solidFill>
                  <a:srgbClr val="0F1E36"/>
                </a:solidFill>
                <a:latin typeface="Calibri"/>
              </a:rPr>
              <a:t> Superior No. 020 de 2021: </a:t>
            </a:r>
            <a:r>
              <a:rPr sz="1150" b="0" i="0" dirty="0" err="1">
                <a:solidFill>
                  <a:srgbClr val="0F1E36"/>
                </a:solidFill>
                <a:latin typeface="Calibri"/>
              </a:rPr>
              <a:t>Reglamento</a:t>
            </a:r>
            <a:r>
              <a:rPr sz="1150" b="0" i="0" dirty="0">
                <a:solidFill>
                  <a:srgbClr val="0F1E36"/>
                </a:solidFill>
                <a:latin typeface="Calibri"/>
              </a:rPr>
              <a:t> </a:t>
            </a:r>
            <a:r>
              <a:rPr sz="1150" b="0" i="0" dirty="0" err="1">
                <a:solidFill>
                  <a:srgbClr val="0F1E36"/>
                </a:solidFill>
                <a:latin typeface="Calibri"/>
              </a:rPr>
              <a:t>Estudiantil</a:t>
            </a:r>
            <a:r>
              <a:rPr sz="1150" b="0" i="0" dirty="0">
                <a:solidFill>
                  <a:srgbClr val="0F1E36"/>
                </a:solidFill>
                <a:latin typeface="Calibri"/>
              </a:rPr>
              <a:t> de </a:t>
            </a:r>
            <a:r>
              <a:rPr sz="1150" b="0" i="0" dirty="0" err="1">
                <a:solidFill>
                  <a:srgbClr val="0F1E36"/>
                </a:solidFill>
                <a:latin typeface="Calibri"/>
              </a:rPr>
              <a:t>pregrado</a:t>
            </a:r>
            <a:r>
              <a:rPr sz="1150" b="0" i="0" dirty="0">
                <a:solidFill>
                  <a:srgbClr val="0F1E36"/>
                </a:solidFill>
                <a:latin typeface="Calibri"/>
              </a:rPr>
              <a:t>. Villavicencio, 2021.</a:t>
            </a:r>
          </a:p>
          <a:p>
            <a:pPr algn="l">
              <a:spcAft>
                <a:spcPts val="500"/>
              </a:spcAft>
            </a:pPr>
            <a:r>
              <a:rPr sz="1150" b="1" i="0" dirty="0">
                <a:solidFill>
                  <a:srgbClr val="1F5FAE"/>
                </a:solidFill>
                <a:latin typeface="Calibri"/>
              </a:rPr>
              <a:t>[5]  </a:t>
            </a:r>
            <a:r>
              <a:rPr sz="1150" b="0" i="0" dirty="0">
                <a:solidFill>
                  <a:srgbClr val="0F1E36"/>
                </a:solidFill>
                <a:latin typeface="Calibri"/>
              </a:rPr>
              <a:t>S. Varma y R. Simon, «Bias in error estimation when using cross-validation for model selection», BMC Bioinformatics, vol. 7, p. 91, 2006.</a:t>
            </a:r>
          </a:p>
          <a:p>
            <a:pPr algn="l">
              <a:spcAft>
                <a:spcPts val="500"/>
              </a:spcAft>
            </a:pPr>
            <a:r>
              <a:rPr sz="1150" b="1" i="0" dirty="0">
                <a:solidFill>
                  <a:srgbClr val="1F5FAE"/>
                </a:solidFill>
                <a:latin typeface="Calibri"/>
              </a:rPr>
              <a:t>[6]  </a:t>
            </a:r>
            <a:r>
              <a:rPr sz="1150" b="0" i="0" dirty="0">
                <a:solidFill>
                  <a:srgbClr val="0F1E36"/>
                </a:solidFill>
                <a:latin typeface="Calibri"/>
              </a:rPr>
              <a:t>G. C. Cawley y N. L. C. Talbot, «On over-fitting in model selection and subsequent selection bias in performance evaluation», J. Mach. Learn. Res., vol. 11, pp. 2079-2107, 2010.</a:t>
            </a:r>
          </a:p>
          <a:p>
            <a:pPr algn="l">
              <a:spcAft>
                <a:spcPts val="500"/>
              </a:spcAft>
            </a:pPr>
            <a:r>
              <a:rPr sz="1150" b="1" i="0" dirty="0">
                <a:solidFill>
                  <a:srgbClr val="1F5FAE"/>
                </a:solidFill>
                <a:latin typeface="Calibri"/>
              </a:rPr>
              <a:t>[7]  </a:t>
            </a:r>
            <a:r>
              <a:rPr sz="1150" b="0" i="0" dirty="0">
                <a:solidFill>
                  <a:srgbClr val="0F1E36"/>
                </a:solidFill>
                <a:latin typeface="Calibri"/>
              </a:rPr>
              <a:t>C. </a:t>
            </a:r>
            <a:r>
              <a:rPr sz="1150" b="0" i="0" dirty="0" err="1">
                <a:solidFill>
                  <a:srgbClr val="0F1E36"/>
                </a:solidFill>
                <a:latin typeface="Calibri"/>
              </a:rPr>
              <a:t>Ambroise</a:t>
            </a:r>
            <a:r>
              <a:rPr sz="1150" b="0" i="0" dirty="0">
                <a:solidFill>
                  <a:srgbClr val="0F1E36"/>
                </a:solidFill>
                <a:latin typeface="Calibri"/>
              </a:rPr>
              <a:t> y G. J. McLachlan, «Selection bias in gene extraction on the basis of microarray gene-expression data», PNAS, vol. 99, no. 10, pp. 6562-6566, 2002.</a:t>
            </a:r>
          </a:p>
          <a:p>
            <a:pPr algn="l">
              <a:spcAft>
                <a:spcPts val="500"/>
              </a:spcAft>
            </a:pPr>
            <a:r>
              <a:rPr sz="1150" b="1" i="0" dirty="0">
                <a:solidFill>
                  <a:srgbClr val="1F5FAE"/>
                </a:solidFill>
                <a:latin typeface="Calibri"/>
              </a:rPr>
              <a:t>[8]  </a:t>
            </a:r>
            <a:r>
              <a:rPr sz="1150" b="0" i="0" dirty="0">
                <a:solidFill>
                  <a:srgbClr val="0F1E36"/>
                </a:solidFill>
                <a:latin typeface="Calibri"/>
              </a:rPr>
              <a:t>T. Hastie, R. </a:t>
            </a:r>
            <a:r>
              <a:rPr sz="1150" b="0" i="0" dirty="0" err="1">
                <a:solidFill>
                  <a:srgbClr val="0F1E36"/>
                </a:solidFill>
                <a:latin typeface="Calibri"/>
              </a:rPr>
              <a:t>Tibshirani</a:t>
            </a:r>
            <a:r>
              <a:rPr sz="1150" b="0" i="0" dirty="0">
                <a:solidFill>
                  <a:srgbClr val="0F1E36"/>
                </a:solidFill>
                <a:latin typeface="Calibri"/>
              </a:rPr>
              <a:t> y J. Friedman, The Elements of Statistical Learning, 2.ª ed. Nueva York: Springer, 2009.</a:t>
            </a:r>
          </a:p>
        </p:txBody>
      </p:sp>
      <p:sp>
        <p:nvSpPr>
          <p:cNvPr id="557" name="TextBox 556"/>
          <p:cNvSpPr txBox="1"/>
          <p:nvPr/>
        </p:nvSpPr>
        <p:spPr>
          <a:xfrm>
            <a:off x="6172200" y="1188720"/>
            <a:ext cx="5212080" cy="4754880"/>
          </a:xfrm>
          <a:prstGeom prst="rect">
            <a:avLst/>
          </a:prstGeom>
          <a:noFill/>
        </p:spPr>
        <p:txBody>
          <a:bodyPr wrap="square" lIns="0" tIns="0" rIns="0" bIns="0" anchor="t">
            <a:spAutoFit/>
          </a:bodyPr>
          <a:lstStyle/>
          <a:p>
            <a:pPr algn="l">
              <a:spcAft>
                <a:spcPts val="500"/>
              </a:spcAft>
            </a:pPr>
            <a:r>
              <a:rPr sz="1150" b="1" i="0">
                <a:solidFill>
                  <a:srgbClr val="1F5FAE"/>
                </a:solidFill>
                <a:latin typeface="Calibri"/>
              </a:rPr>
              <a:t>[9]  </a:t>
            </a:r>
            <a:r>
              <a:rPr sz="1150" b="0" i="0">
                <a:solidFill>
                  <a:srgbClr val="0F1E36"/>
                </a:solidFill>
                <a:latin typeface="Calibri"/>
              </a:rPr>
              <a:t>L. Breiman, «Random forests», Machine Learning, vol. 45, no. 1, pp. 5-32, 2001.</a:t>
            </a:r>
          </a:p>
          <a:p>
            <a:pPr algn="l">
              <a:spcAft>
                <a:spcPts val="500"/>
              </a:spcAft>
            </a:pPr>
            <a:r>
              <a:rPr sz="1150" b="1" i="0">
                <a:solidFill>
                  <a:srgbClr val="1F5FAE"/>
                </a:solidFill>
                <a:latin typeface="Calibri"/>
              </a:rPr>
              <a:t>[10]  </a:t>
            </a:r>
            <a:r>
              <a:rPr sz="1150" b="0" i="0">
                <a:solidFill>
                  <a:srgbClr val="0F1E36"/>
                </a:solidFill>
                <a:latin typeface="Calibri"/>
              </a:rPr>
              <a:t>T. Chen y C. Guestrin, «XGBoost: A scalable tree boosting system», Proc. 22nd ACM SIGKDD, 2016, pp. 785-794.</a:t>
            </a:r>
          </a:p>
          <a:p>
            <a:pPr algn="l">
              <a:spcAft>
                <a:spcPts val="500"/>
              </a:spcAft>
            </a:pPr>
            <a:r>
              <a:rPr sz="1150" b="1" i="0">
                <a:solidFill>
                  <a:srgbClr val="1F5FAE"/>
                </a:solidFill>
                <a:latin typeface="Calibri"/>
              </a:rPr>
              <a:t>[11]  </a:t>
            </a:r>
            <a:r>
              <a:rPr sz="1150" b="0" i="0">
                <a:solidFill>
                  <a:srgbClr val="0F1E36"/>
                </a:solidFill>
                <a:latin typeface="Calibri"/>
              </a:rPr>
              <a:t>C. Cortes y V. Vapnik, «Support-vector networks», Machine Learning, vol. 20, no. 3, pp. 273-297, 1995.</a:t>
            </a:r>
          </a:p>
          <a:p>
            <a:pPr algn="l">
              <a:spcAft>
                <a:spcPts val="500"/>
              </a:spcAft>
            </a:pPr>
            <a:r>
              <a:rPr sz="1150" b="1" i="0">
                <a:solidFill>
                  <a:srgbClr val="1F5FAE"/>
                </a:solidFill>
                <a:latin typeface="Calibri"/>
              </a:rPr>
              <a:t>[12]  </a:t>
            </a:r>
            <a:r>
              <a:rPr sz="1150" b="0" i="0">
                <a:solidFill>
                  <a:srgbClr val="0F1E36"/>
                </a:solidFill>
                <a:latin typeface="Calibri"/>
              </a:rPr>
              <a:t>C. Nadeau e Y. Bengio, «Inference for the generalization error», Machine Learning, vol. 52, no. 3, pp. 239-281, 2003.</a:t>
            </a:r>
          </a:p>
          <a:p>
            <a:pPr algn="l">
              <a:spcAft>
                <a:spcPts val="500"/>
              </a:spcAft>
            </a:pPr>
            <a:r>
              <a:rPr sz="1150" b="1" i="0">
                <a:solidFill>
                  <a:srgbClr val="1F5FAE"/>
                </a:solidFill>
                <a:latin typeface="Calibri"/>
              </a:rPr>
              <a:t>[13]  </a:t>
            </a:r>
            <a:r>
              <a:rPr sz="1150" b="0" i="0">
                <a:solidFill>
                  <a:srgbClr val="0F1E36"/>
                </a:solidFill>
                <a:latin typeface="Calibri"/>
              </a:rPr>
              <a:t>T. Saito y M. Rehmsmeier, «The precision-recall plot is more informative than the ROC plot when evaluating binary classifiers on imbalanced datasets», PLoS ONE, vol. 10, no. 3, e0118432, 2015.</a:t>
            </a:r>
          </a:p>
          <a:p>
            <a:pPr algn="l">
              <a:spcAft>
                <a:spcPts val="500"/>
              </a:spcAft>
            </a:pPr>
            <a:r>
              <a:rPr sz="1150" b="1" i="0">
                <a:solidFill>
                  <a:srgbClr val="1F5FAE"/>
                </a:solidFill>
                <a:latin typeface="Calibri"/>
              </a:rPr>
              <a:t>[14]  </a:t>
            </a:r>
            <a:r>
              <a:rPr sz="1150" b="0" i="0">
                <a:solidFill>
                  <a:srgbClr val="0F1E36"/>
                </a:solidFill>
                <a:latin typeface="Calibri"/>
              </a:rPr>
              <a:t>F. Pedregosa et al., «Scikit-learn: Machine learning in Python», J. Mach. Learn. Res., vol. 12, pp. 2825-2830, 2011.</a:t>
            </a:r>
          </a:p>
          <a:p>
            <a:pPr algn="l">
              <a:spcAft>
                <a:spcPts val="500"/>
              </a:spcAft>
            </a:pPr>
            <a:r>
              <a:rPr sz="1150" b="1" i="0">
                <a:solidFill>
                  <a:srgbClr val="1F5FAE"/>
                </a:solidFill>
                <a:latin typeface="Calibri"/>
              </a:rPr>
              <a:t>[15]  </a:t>
            </a:r>
            <a:r>
              <a:rPr sz="1150" b="0" i="0">
                <a:solidFill>
                  <a:srgbClr val="0F1E36"/>
                </a:solidFill>
                <a:latin typeface="Calibri"/>
              </a:rPr>
              <a:t>Ministerio de Educación Nacional, SPADIES: Sistema para la Prevención de la Deserción de la Educación Superior. Bogotá: MEN.</a:t>
            </a:r>
          </a:p>
          <a:p>
            <a:pPr algn="l">
              <a:spcAft>
                <a:spcPts val="500"/>
              </a:spcAft>
            </a:pPr>
            <a:r>
              <a:rPr sz="1150" b="1" i="0">
                <a:solidFill>
                  <a:srgbClr val="1F5FAE"/>
                </a:solidFill>
                <a:latin typeface="Calibri"/>
              </a:rPr>
              <a:t>[16]  </a:t>
            </a:r>
            <a:r>
              <a:rPr sz="1150" b="0" i="0">
                <a:solidFill>
                  <a:srgbClr val="0F1E36"/>
                </a:solidFill>
                <a:latin typeface="Calibri"/>
              </a:rPr>
              <a:t>C. Romero y S. Ventura, «Educational data mining: A review of the state of the art», IEEE Trans. Syst., Man, Cybern. C, vol. 40, no. 6, pp. 601-618, 2010.</a:t>
            </a:r>
          </a:p>
        </p:txBody>
      </p:sp>
      <p:pic>
        <p:nvPicPr>
          <p:cNvPr id="558" name="Picture 557" descr="image.png"/>
          <p:cNvPicPr>
            <a:picLocks noChangeAspect="1"/>
          </p:cNvPicPr>
          <p:nvPr/>
        </p:nvPicPr>
        <p:blipFill>
          <a:blip r:embed="rId3"/>
          <a:stretch>
            <a:fillRect/>
          </a:stretch>
        </p:blipFill>
        <p:spPr>
          <a:xfrm>
            <a:off x="11356848" y="5861304"/>
            <a:ext cx="731520" cy="731520"/>
          </a:xfrm>
          <a:prstGeom prst="rect">
            <a:avLst/>
          </a:prstGeom>
        </p:spPr>
      </p:pic>
      <p:sp>
        <p:nvSpPr>
          <p:cNvPr id="559" name="TextBox 558"/>
          <p:cNvSpPr txBox="1"/>
          <p:nvPr/>
        </p:nvSpPr>
        <p:spPr>
          <a:xfrm>
            <a:off x="10789920" y="6053328"/>
            <a:ext cx="457200" cy="274320"/>
          </a:xfrm>
          <a:prstGeom prst="rect">
            <a:avLst/>
          </a:prstGeom>
          <a:noFill/>
        </p:spPr>
        <p:txBody>
          <a:bodyPr wrap="square" lIns="0" tIns="0" rIns="0" bIns="0" anchor="t">
            <a:spAutoFit/>
          </a:bodyPr>
          <a:lstStyle/>
          <a:p>
            <a:pPr algn="r"/>
            <a:r>
              <a:rPr sz="1000" b="0" i="0">
                <a:solidFill>
                  <a:srgbClr val="55657E"/>
                </a:solidFill>
                <a:latin typeface="Calibri"/>
              </a:rPr>
              <a:t>Ref.</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9" name="Google Shape;439;p24"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440" name="Google Shape;440;p24"/>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A</a:t>
            </a:r>
            <a:endParaRPr/>
          </a:p>
        </p:txBody>
      </p:sp>
      <p:sp>
        <p:nvSpPr>
          <p:cNvPr id="441" name="Google Shape;441;p24"/>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6D28D9"/>
                </a:solidFill>
                <a:latin typeface="Calibri"/>
                <a:ea typeface="Calibri"/>
                <a:cs typeface="Calibri"/>
                <a:sym typeface="Calibri"/>
              </a:rPr>
              <a:t>ANEXO</a:t>
            </a:r>
            <a:endParaRPr/>
          </a:p>
        </p:txBody>
      </p:sp>
      <p:sp>
        <p:nvSpPr>
          <p:cNvPr id="442" name="Google Shape;442;p24"/>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43" name="Google Shape;443;p24"/>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Anexo: respaldo para preguntas</a:t>
            </a:r>
            <a:endParaRPr sz="3000" b="1" i="0">
              <a:solidFill>
                <a:srgbClr val="0F1E36"/>
              </a:solidFill>
              <a:latin typeface="Calibri"/>
              <a:ea typeface="Calibri"/>
              <a:cs typeface="Calibri"/>
              <a:sym typeface="Calibri"/>
            </a:endParaRPr>
          </a:p>
        </p:txBody>
      </p:sp>
      <p:sp>
        <p:nvSpPr>
          <p:cNvPr id="444" name="Google Shape;444;p24"/>
          <p:cNvSpPr txBox="1"/>
          <p:nvPr/>
        </p:nvSpPr>
        <p:spPr>
          <a:xfrm>
            <a:off x="731520" y="969264"/>
            <a:ext cx="106071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Material de respaldo de la ponencia ID 129 (CICI 2026); se usa solo si hay preguntas</a:t>
            </a:r>
            <a:endParaRPr/>
          </a:p>
        </p:txBody>
      </p:sp>
      <p:sp>
        <p:nvSpPr>
          <p:cNvPr id="445" name="TextBox 444"/>
          <p:cNvSpPr txBox="1"/>
          <p:nvPr/>
        </p:nvSpPr>
        <p:spPr>
          <a:xfrm>
            <a:off x="731520" y="1828800"/>
            <a:ext cx="10424160" cy="3474720"/>
          </a:xfrm>
          <a:prstGeom prst="rect">
            <a:avLst/>
          </a:prstGeom>
          <a:noFill/>
        </p:spPr>
        <p:txBody>
          <a:bodyPr wrap="square" lIns="0" tIns="0" rIns="0" bIns="0" anchor="t">
            <a:spAutoFit/>
          </a:bodyPr>
          <a:lstStyle/>
          <a:p>
            <a:pPr algn="l">
              <a:spcAft>
                <a:spcPts val="800"/>
              </a:spcAft>
            </a:pPr>
            <a:r>
              <a:rPr sz="2000" b="0">
                <a:solidFill>
                  <a:srgbClr val="0F1E36"/>
                </a:solidFill>
                <a:latin typeface="Calibri"/>
              </a:rPr>
              <a:t>A1  Cuánto inflaba el resultado cada error</a:t>
            </a:r>
          </a:p>
          <a:p>
            <a:pPr algn="l">
              <a:spcAft>
                <a:spcPts val="800"/>
              </a:spcAft>
            </a:pPr>
            <a:r>
              <a:rPr sz="2000" b="0">
                <a:solidFill>
                  <a:srgbClr val="0F1E36"/>
                </a:solidFill>
                <a:latin typeface="Calibri"/>
              </a:rPr>
              <a:t>A2 y A3  Formulación detallada de los cinco algoritmos</a:t>
            </a:r>
          </a:p>
          <a:p>
            <a:pPr algn="l">
              <a:spcAft>
                <a:spcPts val="800"/>
              </a:spcAft>
            </a:pPr>
            <a:r>
              <a:rPr sz="2000" b="0">
                <a:solidFill>
                  <a:srgbClr val="0F1E36"/>
                </a:solidFill>
                <a:latin typeface="Calibri"/>
              </a:rPr>
              <a:t>A4 a A6  Selección de variables, hiperparámetros e importancia</a:t>
            </a:r>
          </a:p>
          <a:p>
            <a:pPr algn="l">
              <a:spcAft>
                <a:spcPts val="800"/>
              </a:spcAft>
            </a:pPr>
            <a:r>
              <a:rPr sz="2000" b="0">
                <a:solidFill>
                  <a:srgbClr val="0F1E36"/>
                </a:solidFill>
                <a:latin typeface="Calibri"/>
              </a:rPr>
              <a:t>A7 a A9  Comparaciones pareadas, curvas PR y ROC, elección del umbral</a:t>
            </a:r>
          </a:p>
          <a:p>
            <a:pPr algn="l">
              <a:spcAft>
                <a:spcPts val="800"/>
              </a:spcAft>
            </a:pPr>
            <a:r>
              <a:rPr sz="2000" b="0">
                <a:solidFill>
                  <a:srgbClr val="0F1E36"/>
                </a:solidFill>
                <a:latin typeface="Calibri"/>
              </a:rPr>
              <a:t>A10 a A13  Límites en detalle y robustez ante el plan 2018</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pic>
        <p:nvPicPr>
          <p:cNvPr id="246" name="Google Shape;246;p11"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247" name="Google Shape;247;p11"/>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A1</a:t>
            </a:r>
            <a:endParaRPr/>
          </a:p>
        </p:txBody>
      </p:sp>
      <p:sp>
        <p:nvSpPr>
          <p:cNvPr id="248" name="Google Shape;248;p11"/>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1F5FAE"/>
                </a:solidFill>
                <a:latin typeface="Calibri"/>
                <a:ea typeface="Calibri"/>
                <a:cs typeface="Calibri"/>
                <a:sym typeface="Calibri"/>
              </a:rPr>
              <a:t>PREPARACIÓN DE LOS DATOS</a:t>
            </a:r>
            <a:endParaRPr/>
          </a:p>
        </p:txBody>
      </p:sp>
      <p:sp>
        <p:nvSpPr>
          <p:cNvPr id="249" name="Google Shape;249;p11"/>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50" name="Google Shape;250;p11"/>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sz="3000" b="1" i="0">
                <a:solidFill>
                  <a:srgbClr val="0F1E36"/>
                </a:solidFill>
                <a:latin typeface="Calibri"/>
              </a:rPr>
              <a:t>Cuánto sobreestimaba el resultado cada error</a:t>
            </a:r>
            <a:endParaRPr/>
          </a:p>
        </p:txBody>
      </p:sp>
      <p:sp>
        <p:nvSpPr>
          <p:cNvPr id="251" name="Google Shape;251;p11"/>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1800" b="0" i="0">
                <a:solidFill>
                  <a:srgbClr val="55657E"/>
                </a:solidFill>
                <a:latin typeface="Calibri"/>
              </a:rPr>
              <a:t>El modelo parecía mejor de lo que era: el AUC-PR medido con el error supera al medido correctamente</a:t>
            </a:r>
            <a:endParaRPr/>
          </a:p>
        </p:txBody>
      </p:sp>
      <p:pic>
        <p:nvPicPr>
          <p:cNvPr id="252" name="Picture 251" descr="f05_sesgos_v5.png"/>
          <p:cNvPicPr>
            <a:picLocks noChangeAspect="1"/>
          </p:cNvPicPr>
          <p:nvPr/>
        </p:nvPicPr>
        <p:blipFill>
          <a:blip r:embed="rId4"/>
          <a:stretch>
            <a:fillRect/>
          </a:stretch>
        </p:blipFill>
        <p:spPr>
          <a:xfrm>
            <a:off x="731520" y="1928260"/>
            <a:ext cx="10515599" cy="341295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pic>
        <p:nvPicPr>
          <p:cNvPr id="284" name="Google Shape;284;p13"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285" name="Google Shape;285;p13"/>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A2</a:t>
            </a:r>
            <a:endParaRPr/>
          </a:p>
        </p:txBody>
      </p:sp>
      <p:sp>
        <p:nvSpPr>
          <p:cNvPr id="286" name="Google Shape;286;p13"/>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C2410C"/>
                </a:solidFill>
                <a:latin typeface="Calibri"/>
                <a:ea typeface="Calibri"/>
                <a:cs typeface="Calibri"/>
                <a:sym typeface="Calibri"/>
              </a:rPr>
              <a:t>MODELADO</a:t>
            </a:r>
            <a:endParaRPr/>
          </a:p>
        </p:txBody>
      </p:sp>
      <p:sp>
        <p:nvSpPr>
          <p:cNvPr id="287" name="Google Shape;287;p13"/>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88" name="Google Shape;288;p13"/>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Cinco algoritmos</a:t>
            </a:r>
            <a:r>
              <a:rPr lang="en-US" sz="3000" b="1">
                <a:solidFill>
                  <a:srgbClr val="0F1E36"/>
                </a:solidFill>
                <a:latin typeface="Calibri"/>
                <a:ea typeface="Calibri"/>
                <a:cs typeface="Calibri"/>
                <a:sym typeface="Calibri"/>
              </a:rPr>
              <a:t>:</a:t>
            </a:r>
            <a:r>
              <a:rPr lang="en-US" sz="3000" b="1" i="0">
                <a:solidFill>
                  <a:srgbClr val="0F1E36"/>
                </a:solidFill>
                <a:latin typeface="Calibri"/>
                <a:ea typeface="Calibri"/>
                <a:cs typeface="Calibri"/>
                <a:sym typeface="Calibri"/>
              </a:rPr>
              <a:t> 1 de 2</a:t>
            </a:r>
            <a:endParaRPr/>
          </a:p>
        </p:txBody>
      </p:sp>
      <p:sp>
        <p:nvSpPr>
          <p:cNvPr id="289" name="Google Shape;289;p13"/>
          <p:cNvSpPr txBox="1"/>
          <p:nvPr/>
        </p:nvSpPr>
        <p:spPr>
          <a:xfrm>
            <a:off x="8381145" y="1005840"/>
            <a:ext cx="31089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a:solidFill>
                  <a:srgbClr val="55657E"/>
                </a:solidFill>
                <a:latin typeface="Calibri"/>
                <a:ea typeface="Calibri"/>
                <a:cs typeface="Calibri"/>
                <a:sym typeface="Calibri"/>
              </a:rPr>
              <a:t>Rejilla de hiperparámetros</a:t>
            </a:r>
            <a:endParaRPr/>
          </a:p>
        </p:txBody>
      </p:sp>
      <p:sp>
        <p:nvSpPr>
          <p:cNvPr id="290" name="Google Shape;290;p13"/>
          <p:cNvSpPr txBox="1"/>
          <p:nvPr/>
        </p:nvSpPr>
        <p:spPr>
          <a:xfrm>
            <a:off x="3657600" y="1005840"/>
            <a:ext cx="402336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a:solidFill>
                  <a:srgbClr val="55657E"/>
                </a:solidFill>
                <a:latin typeface="Calibri"/>
                <a:ea typeface="Calibri"/>
                <a:cs typeface="Calibri"/>
                <a:sym typeface="Calibri"/>
              </a:rPr>
              <a:t>Formulación</a:t>
            </a:r>
            <a:endParaRPr/>
          </a:p>
        </p:txBody>
      </p:sp>
      <p:sp>
        <p:nvSpPr>
          <p:cNvPr id="291" name="Google Shape;291;p13"/>
          <p:cNvSpPr/>
          <p:nvPr/>
        </p:nvSpPr>
        <p:spPr>
          <a:xfrm>
            <a:off x="731520" y="1444752"/>
            <a:ext cx="73152" cy="1271016"/>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92" name="Google Shape;292;p13"/>
          <p:cNvSpPr txBox="1"/>
          <p:nvPr/>
        </p:nvSpPr>
        <p:spPr>
          <a:xfrm>
            <a:off x="905283" y="1803213"/>
            <a:ext cx="2651700" cy="5541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100" b="1" i="0">
                <a:solidFill>
                  <a:srgbClr val="1F5FAE"/>
                </a:solidFill>
                <a:latin typeface="Calibri"/>
                <a:ea typeface="Calibri"/>
                <a:cs typeface="Calibri"/>
                <a:sym typeface="Calibri"/>
              </a:rPr>
              <a:t>Regresión logística</a:t>
            </a:r>
            <a:endParaRPr/>
          </a:p>
          <a:p>
            <a:pPr marL="0" marR="0" lvl="0" indent="0" algn="l" rtl="0">
              <a:spcBef>
                <a:spcPts val="0"/>
              </a:spcBef>
              <a:spcAft>
                <a:spcPts val="0"/>
              </a:spcAft>
              <a:buNone/>
            </a:pPr>
            <a:r>
              <a:rPr lang="en-US" sz="1500" b="0" i="0">
                <a:solidFill>
                  <a:srgbClr val="55657E"/>
                </a:solidFill>
                <a:latin typeface="Calibri"/>
                <a:ea typeface="Calibri"/>
                <a:cs typeface="Calibri"/>
                <a:sym typeface="Calibri"/>
              </a:rPr>
              <a:t>suma ponderada </a:t>
            </a:r>
            <a:r>
              <a:rPr lang="en-US" sz="1500">
                <a:solidFill>
                  <a:srgbClr val="55657E"/>
                </a:solidFill>
                <a:latin typeface="Calibri"/>
                <a:ea typeface="Calibri"/>
                <a:cs typeface="Calibri"/>
                <a:sym typeface="Calibri"/>
              </a:rPr>
              <a:t>-&gt;</a:t>
            </a:r>
            <a:r>
              <a:rPr lang="en-US" sz="1500" b="0" i="0">
                <a:solidFill>
                  <a:srgbClr val="55657E"/>
                </a:solidFill>
                <a:latin typeface="Calibri"/>
                <a:ea typeface="Calibri"/>
                <a:cs typeface="Calibri"/>
                <a:sym typeface="Calibri"/>
              </a:rPr>
              <a:t> probabilidad</a:t>
            </a:r>
            <a:endParaRPr/>
          </a:p>
        </p:txBody>
      </p:sp>
      <p:pic>
        <p:nvPicPr>
          <p:cNvPr id="293" name="Google Shape;293;p13" descr="lr.png"/>
          <p:cNvPicPr preferRelativeResize="0"/>
          <p:nvPr/>
        </p:nvPicPr>
        <p:blipFill rotWithShape="1">
          <a:blip r:embed="rId4">
            <a:alphaModFix/>
          </a:blip>
          <a:srcRect/>
          <a:stretch/>
        </p:blipFill>
        <p:spPr>
          <a:xfrm>
            <a:off x="3657600" y="1476132"/>
            <a:ext cx="4027516" cy="1208254"/>
          </a:xfrm>
          <a:prstGeom prst="rect">
            <a:avLst/>
          </a:prstGeom>
          <a:noFill/>
          <a:ln>
            <a:noFill/>
          </a:ln>
        </p:spPr>
      </p:pic>
      <p:sp>
        <p:nvSpPr>
          <p:cNvPr id="294" name="Google Shape;294;p13"/>
          <p:cNvSpPr txBox="1"/>
          <p:nvPr/>
        </p:nvSpPr>
        <p:spPr>
          <a:xfrm>
            <a:off x="8381145" y="1575707"/>
            <a:ext cx="3154800" cy="6927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a:solidFill>
                  <a:srgbClr val="0F1E36"/>
                </a:solidFill>
                <a:latin typeface="Calibri"/>
                <a:ea typeface="Calibri"/>
                <a:cs typeface="Calibri"/>
                <a:sym typeface="Calibri"/>
              </a:rPr>
              <a:t>C: 0,01 a 100 (8 valores)</a:t>
            </a:r>
            <a:endParaRPr/>
          </a:p>
          <a:p>
            <a:pPr marL="0" marR="0" lvl="0" indent="0" algn="l" rtl="0">
              <a:spcBef>
                <a:spcPts val="0"/>
              </a:spcBef>
              <a:spcAft>
                <a:spcPts val="0"/>
              </a:spcAft>
              <a:buNone/>
            </a:pPr>
            <a:r>
              <a:rPr lang="en-US" sz="1500" b="0" i="0">
                <a:solidFill>
                  <a:srgbClr val="0F1E36"/>
                </a:solidFill>
                <a:latin typeface="Calibri"/>
                <a:ea typeface="Calibri"/>
                <a:cs typeface="Calibri"/>
                <a:sym typeface="Calibri"/>
              </a:rPr>
              <a:t>peso de clase: no / balanceado</a:t>
            </a:r>
            <a:endParaRPr/>
          </a:p>
          <a:p>
            <a:pPr marL="0" marR="0" lvl="0" indent="0" algn="l" rtl="0">
              <a:spcBef>
                <a:spcPts val="0"/>
              </a:spcBef>
              <a:spcAft>
                <a:spcPts val="0"/>
              </a:spcAft>
              <a:buNone/>
            </a:pPr>
            <a:r>
              <a:rPr lang="en-US" sz="1500" b="1" i="0">
                <a:solidFill>
                  <a:srgbClr val="1F5FAE"/>
                </a:solidFill>
                <a:latin typeface="Calibri"/>
                <a:ea typeface="Calibri"/>
                <a:cs typeface="Calibri"/>
                <a:sym typeface="Calibri"/>
              </a:rPr>
              <a:t>16 combinaciones</a:t>
            </a:r>
            <a:endParaRPr/>
          </a:p>
        </p:txBody>
      </p:sp>
      <p:sp>
        <p:nvSpPr>
          <p:cNvPr id="295" name="Google Shape;295;p13"/>
          <p:cNvSpPr/>
          <p:nvPr/>
        </p:nvSpPr>
        <p:spPr>
          <a:xfrm>
            <a:off x="731520" y="2907792"/>
            <a:ext cx="73152" cy="1179576"/>
          </a:xfrm>
          <a:prstGeom prst="rect">
            <a:avLst/>
          </a:prstGeom>
          <a:solidFill>
            <a:srgbClr val="D9770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96" name="Google Shape;296;p13"/>
          <p:cNvSpPr txBox="1"/>
          <p:nvPr/>
        </p:nvSpPr>
        <p:spPr>
          <a:xfrm>
            <a:off x="960120" y="2834640"/>
            <a:ext cx="2651760" cy="13258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100" b="1" i="0">
                <a:solidFill>
                  <a:srgbClr val="D97706"/>
                </a:solidFill>
                <a:latin typeface="Calibri"/>
                <a:ea typeface="Calibri"/>
                <a:cs typeface="Calibri"/>
                <a:sym typeface="Calibri"/>
              </a:rPr>
              <a:t>Árbol de decisión</a:t>
            </a:r>
            <a:endParaRPr/>
          </a:p>
          <a:p>
            <a:pPr marL="0" marR="0" lvl="0" indent="0" algn="l" rtl="0">
              <a:spcBef>
                <a:spcPts val="0"/>
              </a:spcBef>
              <a:spcAft>
                <a:spcPts val="0"/>
              </a:spcAft>
              <a:buNone/>
            </a:pPr>
            <a:r>
              <a:rPr lang="en-US" sz="1500" b="0" i="0">
                <a:solidFill>
                  <a:srgbClr val="55657E"/>
                </a:solidFill>
                <a:latin typeface="Calibri"/>
                <a:ea typeface="Calibri"/>
                <a:cs typeface="Calibri"/>
                <a:sym typeface="Calibri"/>
              </a:rPr>
              <a:t>preguntas sucesivas que reducen la impureza</a:t>
            </a:r>
            <a:endParaRPr/>
          </a:p>
        </p:txBody>
      </p:sp>
      <p:pic>
        <p:nvPicPr>
          <p:cNvPr id="297" name="Google Shape;297;p13" descr="arbol.png"/>
          <p:cNvPicPr preferRelativeResize="0"/>
          <p:nvPr/>
        </p:nvPicPr>
        <p:blipFill rotWithShape="1">
          <a:blip r:embed="rId5">
            <a:alphaModFix/>
          </a:blip>
          <a:srcRect/>
          <a:stretch/>
        </p:blipFill>
        <p:spPr>
          <a:xfrm>
            <a:off x="3657600" y="3036485"/>
            <a:ext cx="4297680" cy="922188"/>
          </a:xfrm>
          <a:prstGeom prst="rect">
            <a:avLst/>
          </a:prstGeom>
          <a:noFill/>
          <a:ln>
            <a:noFill/>
          </a:ln>
        </p:spPr>
      </p:pic>
      <p:sp>
        <p:nvSpPr>
          <p:cNvPr id="298" name="Google Shape;298;p13"/>
          <p:cNvSpPr txBox="1"/>
          <p:nvPr/>
        </p:nvSpPr>
        <p:spPr>
          <a:xfrm>
            <a:off x="8381145" y="3038747"/>
            <a:ext cx="3154800" cy="923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a:solidFill>
                  <a:srgbClr val="0F1E36"/>
                </a:solidFill>
                <a:latin typeface="Calibri"/>
                <a:ea typeface="Calibri"/>
                <a:cs typeface="Calibri"/>
                <a:sym typeface="Calibri"/>
              </a:rPr>
              <a:t>profundidad: 2, 3, 4, 5</a:t>
            </a:r>
            <a:endParaRPr/>
          </a:p>
          <a:p>
            <a:pPr marL="0" marR="0" lvl="0" indent="0" algn="l" rtl="0">
              <a:spcBef>
                <a:spcPts val="0"/>
              </a:spcBef>
              <a:spcAft>
                <a:spcPts val="0"/>
              </a:spcAft>
              <a:buNone/>
            </a:pPr>
            <a:r>
              <a:rPr lang="en-US" sz="1500" b="0" i="0">
                <a:solidFill>
                  <a:srgbClr val="0F1E36"/>
                </a:solidFill>
                <a:latin typeface="Calibri"/>
                <a:ea typeface="Calibri"/>
                <a:cs typeface="Calibri"/>
                <a:sym typeface="Calibri"/>
              </a:rPr>
              <a:t>hoja mínima: 1, 2, 4</a:t>
            </a:r>
            <a:endParaRPr/>
          </a:p>
          <a:p>
            <a:pPr marL="0" marR="0" lvl="0" indent="0" algn="l" rtl="0">
              <a:spcBef>
                <a:spcPts val="0"/>
              </a:spcBef>
              <a:spcAft>
                <a:spcPts val="0"/>
              </a:spcAft>
              <a:buNone/>
            </a:pPr>
            <a:r>
              <a:rPr lang="en-US" sz="1500" b="0" i="0">
                <a:solidFill>
                  <a:srgbClr val="0F1E36"/>
                </a:solidFill>
                <a:latin typeface="Calibri"/>
                <a:ea typeface="Calibri"/>
                <a:cs typeface="Calibri"/>
                <a:sym typeface="Calibri"/>
              </a:rPr>
              <a:t>criterio: Gini / entropía</a:t>
            </a:r>
            <a:endParaRPr/>
          </a:p>
          <a:p>
            <a:pPr marL="0" marR="0" lvl="0" indent="0" algn="l" rtl="0">
              <a:spcBef>
                <a:spcPts val="0"/>
              </a:spcBef>
              <a:spcAft>
                <a:spcPts val="0"/>
              </a:spcAft>
              <a:buNone/>
            </a:pPr>
            <a:r>
              <a:rPr lang="en-US" sz="1500" b="1" i="0">
                <a:solidFill>
                  <a:srgbClr val="D97706"/>
                </a:solidFill>
                <a:latin typeface="Calibri"/>
                <a:ea typeface="Calibri"/>
                <a:cs typeface="Calibri"/>
                <a:sym typeface="Calibri"/>
              </a:rPr>
              <a:t>24 combinaciones</a:t>
            </a:r>
            <a:endParaRPr/>
          </a:p>
        </p:txBody>
      </p:sp>
      <p:sp>
        <p:nvSpPr>
          <p:cNvPr id="299" name="Google Shape;299;p13"/>
          <p:cNvSpPr/>
          <p:nvPr/>
        </p:nvSpPr>
        <p:spPr>
          <a:xfrm>
            <a:off x="731520" y="4279392"/>
            <a:ext cx="73152" cy="1408176"/>
          </a:xfrm>
          <a:prstGeom prst="rect">
            <a:avLst/>
          </a:prstGeom>
          <a:solidFill>
            <a:srgbClr val="04785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00" name="Google Shape;300;p13"/>
          <p:cNvSpPr txBox="1"/>
          <p:nvPr/>
        </p:nvSpPr>
        <p:spPr>
          <a:xfrm>
            <a:off x="960120" y="4206240"/>
            <a:ext cx="2651760" cy="15544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100" b="1" i="0">
                <a:solidFill>
                  <a:srgbClr val="047857"/>
                </a:solidFill>
                <a:latin typeface="Calibri"/>
                <a:ea typeface="Calibri"/>
                <a:cs typeface="Calibri"/>
                <a:sym typeface="Calibri"/>
              </a:rPr>
              <a:t>Random Forest</a:t>
            </a:r>
            <a:endParaRPr/>
          </a:p>
          <a:p>
            <a:pPr marL="0" marR="0" lvl="0" indent="0" algn="l" rtl="0">
              <a:spcBef>
                <a:spcPts val="0"/>
              </a:spcBef>
              <a:spcAft>
                <a:spcPts val="0"/>
              </a:spcAft>
              <a:buNone/>
            </a:pPr>
            <a:r>
              <a:rPr lang="en-US" sz="1500" b="0" i="0">
                <a:solidFill>
                  <a:srgbClr val="55657E"/>
                </a:solidFill>
                <a:latin typeface="Calibri"/>
                <a:ea typeface="Calibri"/>
                <a:cs typeface="Calibri"/>
                <a:sym typeface="Calibri"/>
              </a:rPr>
              <a:t>promedio de B = 150 árboles con bootstrap y variables al azar</a:t>
            </a:r>
            <a:endParaRPr/>
          </a:p>
        </p:txBody>
      </p:sp>
      <p:pic>
        <p:nvPicPr>
          <p:cNvPr id="301" name="Google Shape;301;p13" descr="rf.png"/>
          <p:cNvPicPr preferRelativeResize="0"/>
          <p:nvPr/>
        </p:nvPicPr>
        <p:blipFill rotWithShape="1">
          <a:blip r:embed="rId6">
            <a:alphaModFix/>
          </a:blip>
          <a:srcRect/>
          <a:stretch/>
        </p:blipFill>
        <p:spPr>
          <a:xfrm>
            <a:off x="3657600" y="4590599"/>
            <a:ext cx="1903198" cy="785760"/>
          </a:xfrm>
          <a:prstGeom prst="rect">
            <a:avLst/>
          </a:prstGeom>
          <a:noFill/>
          <a:ln>
            <a:noFill/>
          </a:ln>
        </p:spPr>
      </p:pic>
      <p:sp>
        <p:nvSpPr>
          <p:cNvPr id="302" name="Google Shape;302;p13"/>
          <p:cNvSpPr txBox="1"/>
          <p:nvPr/>
        </p:nvSpPr>
        <p:spPr>
          <a:xfrm>
            <a:off x="8381145" y="4536699"/>
            <a:ext cx="3154800" cy="923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a:solidFill>
                  <a:srgbClr val="0F1E36"/>
                </a:solidFill>
                <a:latin typeface="Calibri"/>
                <a:ea typeface="Calibri"/>
                <a:cs typeface="Calibri"/>
                <a:sym typeface="Calibri"/>
              </a:rPr>
              <a:t>profundidad: 2, 3, 4, sin límite</a:t>
            </a:r>
            <a:endParaRPr/>
          </a:p>
          <a:p>
            <a:pPr marL="0" marR="0" lvl="0" indent="0" algn="l" rtl="0">
              <a:spcBef>
                <a:spcPts val="0"/>
              </a:spcBef>
              <a:spcAft>
                <a:spcPts val="0"/>
              </a:spcAft>
              <a:buNone/>
            </a:pPr>
            <a:r>
              <a:rPr lang="en-US" sz="1500" b="0" i="0">
                <a:solidFill>
                  <a:srgbClr val="0F1E36"/>
                </a:solidFill>
                <a:latin typeface="Calibri"/>
                <a:ea typeface="Calibri"/>
                <a:cs typeface="Calibri"/>
                <a:sym typeface="Calibri"/>
              </a:rPr>
              <a:t>hoja mínima: 1, 2, 4</a:t>
            </a:r>
            <a:endParaRPr/>
          </a:p>
          <a:p>
            <a:pPr marL="0" marR="0" lvl="0" indent="0" algn="l" rtl="0">
              <a:spcBef>
                <a:spcPts val="0"/>
              </a:spcBef>
              <a:spcAft>
                <a:spcPts val="0"/>
              </a:spcAft>
              <a:buNone/>
            </a:pPr>
            <a:r>
              <a:rPr lang="en-US" sz="1500" b="0" i="0">
                <a:solidFill>
                  <a:srgbClr val="0F1E36"/>
                </a:solidFill>
                <a:latin typeface="Calibri"/>
                <a:ea typeface="Calibri"/>
                <a:cs typeface="Calibri"/>
                <a:sym typeface="Calibri"/>
              </a:rPr>
              <a:t>variables por corte: √p, todas</a:t>
            </a:r>
            <a:endParaRPr/>
          </a:p>
          <a:p>
            <a:pPr marL="0" marR="0" lvl="0" indent="0" algn="l" rtl="0">
              <a:spcBef>
                <a:spcPts val="0"/>
              </a:spcBef>
              <a:spcAft>
                <a:spcPts val="0"/>
              </a:spcAft>
              <a:buNone/>
            </a:pPr>
            <a:r>
              <a:rPr lang="en-US" sz="1500" b="1" i="0">
                <a:solidFill>
                  <a:srgbClr val="047857"/>
                </a:solidFill>
                <a:latin typeface="Calibri"/>
                <a:ea typeface="Calibri"/>
                <a:cs typeface="Calibri"/>
                <a:sym typeface="Calibri"/>
              </a:rPr>
              <a:t>24 combinaciones</a:t>
            </a:r>
            <a:endParaRPr/>
          </a:p>
        </p:txBody>
      </p:sp>
      <p:sp>
        <p:nvSpPr>
          <p:cNvPr id="303" name="TextBox 302"/>
          <p:cNvSpPr txBox="1"/>
          <p:nvPr/>
        </p:nvSpPr>
        <p:spPr>
          <a:xfrm>
            <a:off x="731520" y="6144768"/>
            <a:ext cx="10058400" cy="365760"/>
          </a:xfrm>
          <a:prstGeom prst="rect">
            <a:avLst/>
          </a:prstGeom>
          <a:noFill/>
        </p:spPr>
        <p:txBody>
          <a:bodyPr wrap="square" lIns="0" tIns="0" rIns="0" bIns="0" anchor="t">
            <a:spAutoFit/>
          </a:bodyPr>
          <a:lstStyle/>
          <a:p>
            <a:pPr algn="l"/>
            <a:r>
              <a:rPr sz="1100" b="0" i="0">
                <a:solidFill>
                  <a:srgbClr val="55657E"/>
                </a:solidFill>
                <a:latin typeface="Calibri"/>
              </a:rPr>
              <a:t>Regresión logística y árbol de decisión [8]; Random Forest [9]</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pic>
        <p:nvPicPr>
          <p:cNvPr id="308" name="Google Shape;308;p14"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309" name="Google Shape;309;p14"/>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A3</a:t>
            </a:r>
            <a:endParaRPr/>
          </a:p>
        </p:txBody>
      </p:sp>
      <p:sp>
        <p:nvSpPr>
          <p:cNvPr id="310" name="Google Shape;310;p14"/>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C2410C"/>
                </a:solidFill>
                <a:latin typeface="Calibri"/>
                <a:ea typeface="Calibri"/>
                <a:cs typeface="Calibri"/>
                <a:sym typeface="Calibri"/>
              </a:rPr>
              <a:t>MODELADO</a:t>
            </a:r>
            <a:endParaRPr/>
          </a:p>
        </p:txBody>
      </p:sp>
      <p:sp>
        <p:nvSpPr>
          <p:cNvPr id="311" name="Google Shape;311;p14"/>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12" name="Google Shape;312;p14"/>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Cinco algoritmos</a:t>
            </a:r>
            <a:r>
              <a:rPr lang="en-US" sz="3000" b="1">
                <a:solidFill>
                  <a:srgbClr val="0F1E36"/>
                </a:solidFill>
                <a:latin typeface="Calibri"/>
                <a:ea typeface="Calibri"/>
                <a:cs typeface="Calibri"/>
                <a:sym typeface="Calibri"/>
              </a:rPr>
              <a:t>:</a:t>
            </a:r>
            <a:r>
              <a:rPr lang="en-US" sz="3000" b="1" i="0">
                <a:solidFill>
                  <a:srgbClr val="0F1E36"/>
                </a:solidFill>
                <a:latin typeface="Calibri"/>
                <a:ea typeface="Calibri"/>
                <a:cs typeface="Calibri"/>
                <a:sym typeface="Calibri"/>
              </a:rPr>
              <a:t> 2 de 2</a:t>
            </a:r>
            <a:endParaRPr/>
          </a:p>
        </p:txBody>
      </p:sp>
      <p:sp>
        <p:nvSpPr>
          <p:cNvPr id="313" name="Google Shape;313;p14"/>
          <p:cNvSpPr txBox="1"/>
          <p:nvPr/>
        </p:nvSpPr>
        <p:spPr>
          <a:xfrm>
            <a:off x="8138160" y="1005840"/>
            <a:ext cx="310896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a:solidFill>
                  <a:srgbClr val="55657E"/>
                </a:solidFill>
                <a:latin typeface="Calibri"/>
                <a:ea typeface="Calibri"/>
                <a:cs typeface="Calibri"/>
                <a:sym typeface="Calibri"/>
              </a:rPr>
              <a:t>Rejilla de hiperparámetros</a:t>
            </a:r>
            <a:endParaRPr/>
          </a:p>
        </p:txBody>
      </p:sp>
      <p:sp>
        <p:nvSpPr>
          <p:cNvPr id="314" name="Google Shape;314;p14"/>
          <p:cNvSpPr txBox="1"/>
          <p:nvPr/>
        </p:nvSpPr>
        <p:spPr>
          <a:xfrm>
            <a:off x="3657600" y="1005840"/>
            <a:ext cx="402336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a:solidFill>
                  <a:srgbClr val="55657E"/>
                </a:solidFill>
                <a:latin typeface="Calibri"/>
                <a:ea typeface="Calibri"/>
                <a:cs typeface="Calibri"/>
                <a:sym typeface="Calibri"/>
              </a:rPr>
              <a:t>Formulación</a:t>
            </a:r>
            <a:endParaRPr/>
          </a:p>
        </p:txBody>
      </p:sp>
      <p:sp>
        <p:nvSpPr>
          <p:cNvPr id="315" name="Google Shape;315;p14"/>
          <p:cNvSpPr/>
          <p:nvPr/>
        </p:nvSpPr>
        <p:spPr>
          <a:xfrm>
            <a:off x="731520" y="1490472"/>
            <a:ext cx="73152" cy="1453896"/>
          </a:xfrm>
          <a:prstGeom prst="rect">
            <a:avLst/>
          </a:prstGeom>
          <a:solidFill>
            <a:srgbClr val="6D28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16" name="Google Shape;316;p14"/>
          <p:cNvSpPr txBox="1"/>
          <p:nvPr/>
        </p:nvSpPr>
        <p:spPr>
          <a:xfrm>
            <a:off x="960120" y="1417320"/>
            <a:ext cx="2651760" cy="1600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100" b="1" i="0">
                <a:solidFill>
                  <a:srgbClr val="6D28D9"/>
                </a:solidFill>
                <a:latin typeface="Calibri"/>
                <a:ea typeface="Calibri"/>
                <a:cs typeface="Calibri"/>
                <a:sym typeface="Calibri"/>
              </a:rPr>
              <a:t>XGBoost</a:t>
            </a:r>
            <a:endParaRPr/>
          </a:p>
          <a:p>
            <a:pPr marL="0" marR="0" lvl="0" indent="0" algn="l" rtl="0">
              <a:spcBef>
                <a:spcPts val="0"/>
              </a:spcBef>
              <a:spcAft>
                <a:spcPts val="0"/>
              </a:spcAft>
              <a:buNone/>
            </a:pPr>
            <a:r>
              <a:rPr lang="en-US" sz="1500" b="0" i="0">
                <a:solidFill>
                  <a:srgbClr val="55657E"/>
                </a:solidFill>
                <a:latin typeface="Calibri"/>
                <a:ea typeface="Calibri"/>
                <a:cs typeface="Calibri"/>
                <a:sym typeface="Calibri"/>
              </a:rPr>
              <a:t>árboles en secuencia: cada uno corrige al anterior</a:t>
            </a:r>
            <a:endParaRPr/>
          </a:p>
        </p:txBody>
      </p:sp>
      <p:pic>
        <p:nvPicPr>
          <p:cNvPr id="317" name="Google Shape;317;p14" descr="xgb.png"/>
          <p:cNvPicPr preferRelativeResize="0"/>
          <p:nvPr/>
        </p:nvPicPr>
        <p:blipFill rotWithShape="1">
          <a:blip r:embed="rId4">
            <a:alphaModFix/>
          </a:blip>
          <a:srcRect/>
          <a:stretch/>
        </p:blipFill>
        <p:spPr>
          <a:xfrm>
            <a:off x="3657600" y="1700160"/>
            <a:ext cx="4142024" cy="1034518"/>
          </a:xfrm>
          <a:prstGeom prst="rect">
            <a:avLst/>
          </a:prstGeom>
          <a:noFill/>
          <a:ln>
            <a:noFill/>
          </a:ln>
        </p:spPr>
      </p:pic>
      <p:sp>
        <p:nvSpPr>
          <p:cNvPr id="318" name="Google Shape;318;p14"/>
          <p:cNvSpPr txBox="1"/>
          <p:nvPr/>
        </p:nvSpPr>
        <p:spPr>
          <a:xfrm>
            <a:off x="8138160" y="1417320"/>
            <a:ext cx="3154680" cy="1600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a:solidFill>
                  <a:srgbClr val="0F1E36"/>
                </a:solidFill>
                <a:latin typeface="Calibri"/>
                <a:ea typeface="Calibri"/>
                <a:cs typeface="Calibri"/>
                <a:sym typeface="Calibri"/>
              </a:rPr>
              <a:t>árboles: 100, 200</a:t>
            </a:r>
            <a:endParaRPr/>
          </a:p>
          <a:p>
            <a:pPr marL="0" marR="0" lvl="0" indent="0" algn="l" rtl="0">
              <a:spcBef>
                <a:spcPts val="0"/>
              </a:spcBef>
              <a:spcAft>
                <a:spcPts val="0"/>
              </a:spcAft>
              <a:buNone/>
            </a:pPr>
            <a:r>
              <a:rPr lang="en-US" sz="1500" b="0" i="0">
                <a:solidFill>
                  <a:srgbClr val="0F1E36"/>
                </a:solidFill>
                <a:latin typeface="Calibri"/>
                <a:ea typeface="Calibri"/>
                <a:cs typeface="Calibri"/>
                <a:sym typeface="Calibri"/>
              </a:rPr>
              <a:t>profundidad: 2, 3</a:t>
            </a:r>
            <a:endParaRPr/>
          </a:p>
          <a:p>
            <a:pPr marL="0" marR="0" lvl="0" indent="0" algn="l" rtl="0">
              <a:spcBef>
                <a:spcPts val="0"/>
              </a:spcBef>
              <a:spcAft>
                <a:spcPts val="0"/>
              </a:spcAft>
              <a:buNone/>
            </a:pPr>
            <a:r>
              <a:rPr lang="en-US" sz="1500" b="0" i="0">
                <a:solidFill>
                  <a:srgbClr val="0F1E36"/>
                </a:solidFill>
                <a:latin typeface="Calibri"/>
                <a:ea typeface="Calibri"/>
                <a:cs typeface="Calibri"/>
                <a:sym typeface="Calibri"/>
              </a:rPr>
              <a:t>tasa η: 0,03, 0,1</a:t>
            </a:r>
            <a:endParaRPr/>
          </a:p>
          <a:p>
            <a:pPr marL="0" marR="0" lvl="0" indent="0" algn="l" rtl="0">
              <a:spcBef>
                <a:spcPts val="0"/>
              </a:spcBef>
              <a:spcAft>
                <a:spcPts val="0"/>
              </a:spcAft>
              <a:buNone/>
            </a:pPr>
            <a:r>
              <a:rPr lang="en-US" sz="1500" b="0" i="0">
                <a:solidFill>
                  <a:srgbClr val="0F1E36"/>
                </a:solidFill>
                <a:latin typeface="Calibri"/>
                <a:ea typeface="Calibri"/>
                <a:cs typeface="Calibri"/>
                <a:sym typeface="Calibri"/>
              </a:rPr>
              <a:t>penalización λ: 0,5, 1, 2</a:t>
            </a:r>
            <a:endParaRPr/>
          </a:p>
          <a:p>
            <a:pPr marL="0" marR="0" lvl="0" indent="0" algn="l" rtl="0">
              <a:spcBef>
                <a:spcPts val="0"/>
              </a:spcBef>
              <a:spcAft>
                <a:spcPts val="0"/>
              </a:spcAft>
              <a:buNone/>
            </a:pPr>
            <a:r>
              <a:rPr lang="en-US" sz="1500" b="1" i="0">
                <a:solidFill>
                  <a:srgbClr val="6D28D9"/>
                </a:solidFill>
                <a:latin typeface="Calibri"/>
                <a:ea typeface="Calibri"/>
                <a:cs typeface="Calibri"/>
                <a:sym typeface="Calibri"/>
              </a:rPr>
              <a:t>24 combinaciones</a:t>
            </a:r>
            <a:endParaRPr/>
          </a:p>
        </p:txBody>
      </p:sp>
      <p:sp>
        <p:nvSpPr>
          <p:cNvPr id="319" name="Google Shape;319;p14"/>
          <p:cNvSpPr/>
          <p:nvPr/>
        </p:nvSpPr>
        <p:spPr>
          <a:xfrm>
            <a:off x="731520" y="3227832"/>
            <a:ext cx="73152" cy="1316736"/>
          </a:xfrm>
          <a:prstGeom prst="rect">
            <a:avLst/>
          </a:prstGeom>
          <a:solidFill>
            <a:srgbClr val="0F766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20" name="Google Shape;320;p14"/>
          <p:cNvSpPr txBox="1"/>
          <p:nvPr/>
        </p:nvSpPr>
        <p:spPr>
          <a:xfrm>
            <a:off x="960120" y="3154680"/>
            <a:ext cx="2651760" cy="146304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100" b="1" i="0">
                <a:solidFill>
                  <a:srgbClr val="0F766E"/>
                </a:solidFill>
                <a:latin typeface="Calibri"/>
                <a:ea typeface="Calibri"/>
                <a:cs typeface="Calibri"/>
                <a:sym typeface="Calibri"/>
              </a:rPr>
              <a:t>SVM (kernel RBF)</a:t>
            </a:r>
            <a:endParaRPr/>
          </a:p>
          <a:p>
            <a:pPr marL="0" marR="0" lvl="0" indent="0" algn="l" rtl="0">
              <a:spcBef>
                <a:spcPts val="0"/>
              </a:spcBef>
              <a:spcAft>
                <a:spcPts val="0"/>
              </a:spcAft>
              <a:buNone/>
            </a:pPr>
            <a:r>
              <a:rPr lang="en-US" sz="1500" b="0" i="0">
                <a:solidFill>
                  <a:srgbClr val="55657E"/>
                </a:solidFill>
                <a:latin typeface="Calibri"/>
                <a:ea typeface="Calibri"/>
                <a:cs typeface="Calibri"/>
                <a:sym typeface="Calibri"/>
              </a:rPr>
              <a:t>frontera de máxima separación, curva</a:t>
            </a:r>
            <a:endParaRPr/>
          </a:p>
        </p:txBody>
      </p:sp>
      <p:pic>
        <p:nvPicPr>
          <p:cNvPr id="321" name="Google Shape;321;p14" descr="svm.png"/>
          <p:cNvPicPr preferRelativeResize="0"/>
          <p:nvPr/>
        </p:nvPicPr>
        <p:blipFill rotWithShape="1">
          <a:blip r:embed="rId5">
            <a:alphaModFix/>
          </a:blip>
          <a:srcRect/>
          <a:stretch/>
        </p:blipFill>
        <p:spPr>
          <a:xfrm>
            <a:off x="3657600" y="3372889"/>
            <a:ext cx="3233858" cy="1026621"/>
          </a:xfrm>
          <a:prstGeom prst="rect">
            <a:avLst/>
          </a:prstGeom>
          <a:noFill/>
          <a:ln>
            <a:noFill/>
          </a:ln>
        </p:spPr>
      </p:pic>
      <p:sp>
        <p:nvSpPr>
          <p:cNvPr id="322" name="Google Shape;322;p14"/>
          <p:cNvSpPr txBox="1"/>
          <p:nvPr/>
        </p:nvSpPr>
        <p:spPr>
          <a:xfrm>
            <a:off x="8138160" y="3154680"/>
            <a:ext cx="3154680" cy="146304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a:solidFill>
                  <a:srgbClr val="0F1E36"/>
                </a:solidFill>
                <a:latin typeface="Calibri"/>
                <a:ea typeface="Calibri"/>
                <a:cs typeface="Calibri"/>
                <a:sym typeface="Calibri"/>
              </a:rPr>
              <a:t>C: 0,1 a 10 (5 valores)</a:t>
            </a:r>
            <a:endParaRPr/>
          </a:p>
          <a:p>
            <a:pPr marL="0" marR="0" lvl="0" indent="0" algn="l" rtl="0">
              <a:spcBef>
                <a:spcPts val="0"/>
              </a:spcBef>
              <a:spcAft>
                <a:spcPts val="0"/>
              </a:spcAft>
              <a:buNone/>
            </a:pPr>
            <a:r>
              <a:rPr lang="en-US" sz="1500" b="0" i="0">
                <a:solidFill>
                  <a:srgbClr val="0F1E36"/>
                </a:solidFill>
                <a:latin typeface="Calibri"/>
                <a:ea typeface="Calibri"/>
                <a:cs typeface="Calibri"/>
                <a:sym typeface="Calibri"/>
              </a:rPr>
              <a:t>γ: scale, auto, 0,01, 0,1</a:t>
            </a:r>
            <a:endParaRPr/>
          </a:p>
          <a:p>
            <a:pPr marL="0" marR="0" lvl="0" indent="0" algn="l" rtl="0">
              <a:spcBef>
                <a:spcPts val="0"/>
              </a:spcBef>
              <a:spcAft>
                <a:spcPts val="0"/>
              </a:spcAft>
              <a:buNone/>
            </a:pPr>
            <a:r>
              <a:rPr lang="en-US" sz="1500" b="1" i="0">
                <a:solidFill>
                  <a:srgbClr val="0F766E"/>
                </a:solidFill>
                <a:latin typeface="Calibri"/>
                <a:ea typeface="Calibri"/>
                <a:cs typeface="Calibri"/>
                <a:sym typeface="Calibri"/>
              </a:rPr>
              <a:t>20 combinaciones</a:t>
            </a:r>
            <a:endParaRPr/>
          </a:p>
        </p:txBody>
      </p:sp>
      <p:sp>
        <p:nvSpPr>
          <p:cNvPr id="323" name="Google Shape;323;p14"/>
          <p:cNvSpPr/>
          <p:nvPr/>
        </p:nvSpPr>
        <p:spPr>
          <a:xfrm>
            <a:off x="731520" y="4892040"/>
            <a:ext cx="10515600" cy="777240"/>
          </a:xfrm>
          <a:prstGeom prst="roundRect">
            <a:avLst>
              <a:gd name="adj" fmla="val 6000"/>
            </a:avLst>
          </a:prstGeom>
          <a:solidFill>
            <a:srgbClr val="E8F0F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24" name="Google Shape;324;p14"/>
          <p:cNvSpPr txBox="1"/>
          <p:nvPr/>
        </p:nvSpPr>
        <p:spPr>
          <a:xfrm>
            <a:off x="960120" y="5019050"/>
            <a:ext cx="10149840" cy="52322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700" b="1" i="0">
                <a:solidFill>
                  <a:srgbClr val="1F5FAE"/>
                </a:solidFill>
                <a:latin typeface="Calibri"/>
                <a:ea typeface="Calibri"/>
                <a:cs typeface="Calibri"/>
                <a:sym typeface="Calibri"/>
              </a:rPr>
              <a:t>Presupuesto equilibrado: </a:t>
            </a:r>
            <a:r>
              <a:rPr lang="en-US" sz="1700" b="0" i="0">
                <a:solidFill>
                  <a:srgbClr val="0F1E36"/>
                </a:solidFill>
                <a:latin typeface="Calibri"/>
                <a:ea typeface="Calibri"/>
                <a:cs typeface="Calibri"/>
                <a:sym typeface="Calibri"/>
              </a:rPr>
              <a:t>16-24 combinaciones por algoritmo</a:t>
            </a:r>
            <a:r>
              <a:rPr lang="en-US" sz="1700">
                <a:solidFill>
                  <a:srgbClr val="0F1E36"/>
                </a:solidFill>
                <a:latin typeface="Calibri"/>
                <a:ea typeface="Calibri"/>
                <a:cs typeface="Calibri"/>
                <a:sym typeface="Calibri"/>
              </a:rPr>
              <a:t>, </a:t>
            </a:r>
            <a:r>
              <a:rPr lang="en-US" sz="1700" b="0" i="0">
                <a:solidFill>
                  <a:srgbClr val="0F1E36"/>
                </a:solidFill>
                <a:latin typeface="Calibri"/>
                <a:ea typeface="Calibri"/>
                <a:cs typeface="Calibri"/>
                <a:sym typeface="Calibri"/>
              </a:rPr>
              <a:t>ante empate, el más simple: LR &gt; Árbol &gt; RF &gt; XGBoost </a:t>
            </a:r>
            <a:r>
              <a:rPr lang="en-US" sz="1700">
                <a:solidFill>
                  <a:srgbClr val="0F1E36"/>
                </a:solidFill>
                <a:latin typeface="Calibri"/>
                <a:ea typeface="Calibri"/>
                <a:cs typeface="Calibri"/>
                <a:sym typeface="Calibri"/>
              </a:rPr>
              <a:t>&gt; </a:t>
            </a:r>
            <a:r>
              <a:rPr lang="en-US" sz="1700" b="0" i="0">
                <a:solidFill>
                  <a:srgbClr val="0F1E36"/>
                </a:solidFill>
                <a:latin typeface="Calibri"/>
                <a:ea typeface="Calibri"/>
                <a:cs typeface="Calibri"/>
                <a:sym typeface="Calibri"/>
              </a:rPr>
              <a:t>SVM</a:t>
            </a:r>
            <a:endParaRPr/>
          </a:p>
        </p:txBody>
      </p:sp>
      <p:sp>
        <p:nvSpPr>
          <p:cNvPr id="325" name="TextBox 324"/>
          <p:cNvSpPr txBox="1"/>
          <p:nvPr/>
        </p:nvSpPr>
        <p:spPr>
          <a:xfrm>
            <a:off x="731520" y="6144768"/>
            <a:ext cx="10058400" cy="365760"/>
          </a:xfrm>
          <a:prstGeom prst="rect">
            <a:avLst/>
          </a:prstGeom>
          <a:noFill/>
        </p:spPr>
        <p:txBody>
          <a:bodyPr wrap="square" lIns="0" tIns="0" rIns="0" bIns="0" anchor="t">
            <a:spAutoFit/>
          </a:bodyPr>
          <a:lstStyle/>
          <a:p>
            <a:pPr algn="l"/>
            <a:r>
              <a:rPr sz="1100" b="0" i="0">
                <a:solidFill>
                  <a:srgbClr val="55657E"/>
                </a:solidFill>
                <a:latin typeface="Calibri"/>
              </a:rPr>
              <a:t>XGBoost [10]; SVM [11]; implementación en scikit-learn [14]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pic>
        <p:nvPicPr>
          <p:cNvPr id="342" name="Google Shape;342;p16"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343" name="Google Shape;343;p16"/>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A4</a:t>
            </a:r>
            <a:endParaRPr/>
          </a:p>
        </p:txBody>
      </p:sp>
      <p:sp>
        <p:nvSpPr>
          <p:cNvPr id="344" name="Google Shape;344;p16"/>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C2410C"/>
                </a:solidFill>
                <a:latin typeface="Calibri"/>
                <a:ea typeface="Calibri"/>
                <a:cs typeface="Calibri"/>
                <a:sym typeface="Calibri"/>
              </a:rPr>
              <a:t>MODELADO</a:t>
            </a:r>
            <a:endParaRPr/>
          </a:p>
        </p:txBody>
      </p:sp>
      <p:sp>
        <p:nvSpPr>
          <p:cNvPr id="345" name="Google Shape;345;p16"/>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46" name="Google Shape;346;p16"/>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¿Cuántas variables necesitamos?</a:t>
            </a:r>
            <a:endParaRPr/>
          </a:p>
        </p:txBody>
      </p:sp>
      <p:sp>
        <p:nvSpPr>
          <p:cNvPr id="347" name="Google Shape;347;p16"/>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Seis variables académicas rinden igual que las 19 candidatas</a:t>
            </a:r>
            <a:endParaRPr/>
          </a:p>
        </p:txBody>
      </p:sp>
      <p:pic>
        <p:nvPicPr>
          <p:cNvPr id="348" name="Google Shape;348;p16" descr="f06_ablacion.png"/>
          <p:cNvPicPr preferRelativeResize="0"/>
          <p:nvPr/>
        </p:nvPicPr>
        <p:blipFill rotWithShape="1">
          <a:blip r:embed="rId4">
            <a:alphaModFix/>
          </a:blip>
          <a:srcRect/>
          <a:stretch/>
        </p:blipFill>
        <p:spPr>
          <a:xfrm>
            <a:off x="2418080" y="1463040"/>
            <a:ext cx="7142480" cy="43434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pic>
        <p:nvPicPr>
          <p:cNvPr id="354" name="Google Shape;354;p17"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355" name="Google Shape;355;p17"/>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A5</a:t>
            </a:r>
            <a:endParaRPr/>
          </a:p>
        </p:txBody>
      </p:sp>
      <p:sp>
        <p:nvSpPr>
          <p:cNvPr id="356" name="Google Shape;356;p17"/>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C2410C"/>
                </a:solidFill>
                <a:latin typeface="Calibri"/>
                <a:ea typeface="Calibri"/>
                <a:cs typeface="Calibri"/>
                <a:sym typeface="Calibri"/>
              </a:rPr>
              <a:t>MODELADO</a:t>
            </a:r>
            <a:endParaRPr/>
          </a:p>
        </p:txBody>
      </p:sp>
      <p:sp>
        <p:nvSpPr>
          <p:cNvPr id="357" name="Google Shape;357;p17"/>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58" name="Google Shape;358;p17"/>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Hiperparámetros elegidos por Random Forest</a:t>
            </a:r>
            <a:endParaRPr/>
          </a:p>
        </p:txBody>
      </p:sp>
      <p:sp>
        <p:nvSpPr>
          <p:cNvPr id="359" name="Google Shape;359;p17"/>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Frecuencia en las 50 particiones externas: árboles poco profundos</a:t>
            </a:r>
            <a:endParaRPr/>
          </a:p>
        </p:txBody>
      </p:sp>
      <p:pic>
        <p:nvPicPr>
          <p:cNvPr id="360" name="Google Shape;360;p17" descr="f08_hiperparametros.png"/>
          <p:cNvPicPr preferRelativeResize="0"/>
          <p:nvPr/>
        </p:nvPicPr>
        <p:blipFill rotWithShape="1">
          <a:blip r:embed="rId4">
            <a:alphaModFix/>
          </a:blip>
          <a:srcRect/>
          <a:stretch/>
        </p:blipFill>
        <p:spPr>
          <a:xfrm>
            <a:off x="731520" y="1836018"/>
            <a:ext cx="10515600" cy="359744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pic>
        <p:nvPicPr>
          <p:cNvPr id="366" name="Google Shape;366;p18"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367" name="Google Shape;367;p18"/>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A6</a:t>
            </a:r>
            <a:endParaRPr/>
          </a:p>
        </p:txBody>
      </p:sp>
      <p:sp>
        <p:nvSpPr>
          <p:cNvPr id="368" name="Google Shape;368;p18"/>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C2410C"/>
                </a:solidFill>
                <a:latin typeface="Calibri"/>
                <a:ea typeface="Calibri"/>
                <a:cs typeface="Calibri"/>
                <a:sym typeface="Calibri"/>
              </a:rPr>
              <a:t>MODELADO</a:t>
            </a:r>
            <a:endParaRPr/>
          </a:p>
        </p:txBody>
      </p:sp>
      <p:sp>
        <p:nvSpPr>
          <p:cNvPr id="369" name="Google Shape;369;p18"/>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70" name="Google Shape;370;p18"/>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Importancia por permutación</a:t>
            </a:r>
            <a:endParaRPr/>
          </a:p>
        </p:txBody>
      </p:sp>
      <p:sp>
        <p:nvSpPr>
          <p:cNvPr id="371" name="Google Shape;371;p18"/>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El promedio del 1.er semestre concentra la señal</a:t>
            </a:r>
            <a:endParaRPr/>
          </a:p>
        </p:txBody>
      </p:sp>
      <p:pic>
        <p:nvPicPr>
          <p:cNvPr id="372" name="Google Shape;372;p18" descr="f07_permutacion.png"/>
          <p:cNvPicPr preferRelativeResize="0"/>
          <p:nvPr/>
        </p:nvPicPr>
        <p:blipFill rotWithShape="1">
          <a:blip r:embed="rId4">
            <a:alphaModFix/>
          </a:blip>
          <a:srcRect/>
          <a:stretch/>
        </p:blipFill>
        <p:spPr>
          <a:xfrm>
            <a:off x="3093720" y="1463040"/>
            <a:ext cx="5791200" cy="43434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pic>
        <p:nvPicPr>
          <p:cNvPr id="391" name="Google Shape;391;p20"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392" name="Google Shape;392;p20"/>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A7</a:t>
            </a:r>
            <a:endParaRPr/>
          </a:p>
        </p:txBody>
      </p:sp>
      <p:sp>
        <p:nvSpPr>
          <p:cNvPr id="393" name="Google Shape;393;p20"/>
          <p:cNvSpPr txBox="1"/>
          <p:nvPr/>
        </p:nvSpPr>
        <p:spPr>
          <a:xfrm>
            <a:off x="731520" y="118872"/>
            <a:ext cx="731520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6D28D9"/>
                </a:solidFill>
                <a:latin typeface="Calibri"/>
                <a:ea typeface="Calibri"/>
                <a:cs typeface="Calibri"/>
                <a:sym typeface="Calibri"/>
              </a:rPr>
              <a:t>FASE 5: EVALUACIÓN</a:t>
            </a:r>
            <a:endParaRPr/>
          </a:p>
        </p:txBody>
      </p:sp>
      <p:sp>
        <p:nvSpPr>
          <p:cNvPr id="394" name="Google Shape;394;p20"/>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95" name="Google Shape;395;p20"/>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Comparaciones pareadas</a:t>
            </a:r>
            <a:endParaRPr/>
          </a:p>
        </p:txBody>
      </p:sp>
      <p:sp>
        <p:nvSpPr>
          <p:cNvPr id="396" name="Google Shape;396;p20"/>
          <p:cNvSpPr txBox="1"/>
          <p:nvPr/>
        </p:nvSpPr>
        <p:spPr>
          <a:xfrm>
            <a:off x="731520" y="969264"/>
            <a:ext cx="106071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Diferencia de AUC-PR (fila − columna) </a:t>
            </a:r>
            <a:endParaRPr sz="1800">
              <a:solidFill>
                <a:srgbClr val="55657E"/>
              </a:solidFill>
              <a:latin typeface="Calibri"/>
              <a:ea typeface="Calibri"/>
              <a:cs typeface="Calibri"/>
              <a:sym typeface="Calibri"/>
            </a:endParaRPr>
          </a:p>
          <a:p>
            <a:pPr marL="0" marR="0" lvl="0" indent="0" algn="l" rtl="0">
              <a:spcBef>
                <a:spcPts val="0"/>
              </a:spcBef>
              <a:spcAft>
                <a:spcPts val="0"/>
              </a:spcAft>
              <a:buNone/>
            </a:pPr>
            <a:r>
              <a:rPr lang="en-US" sz="1800" b="0" i="0">
                <a:solidFill>
                  <a:srgbClr val="55657E"/>
                </a:solidFill>
                <a:latin typeface="Calibri"/>
                <a:ea typeface="Calibri"/>
                <a:cs typeface="Calibri"/>
                <a:sym typeface="Calibri"/>
              </a:rPr>
              <a:t>t corregida de Nadeau-Bengio</a:t>
            </a:r>
            <a:endParaRPr/>
          </a:p>
        </p:txBody>
      </p:sp>
      <p:pic>
        <p:nvPicPr>
          <p:cNvPr id="397" name="Google Shape;397;p20" descr="f10_pareadas.png"/>
          <p:cNvPicPr preferRelativeResize="0"/>
          <p:nvPr/>
        </p:nvPicPr>
        <p:blipFill rotWithShape="1">
          <a:blip r:embed="rId4">
            <a:alphaModFix/>
          </a:blip>
          <a:srcRect/>
          <a:stretch/>
        </p:blipFill>
        <p:spPr>
          <a:xfrm>
            <a:off x="952342" y="1616640"/>
            <a:ext cx="10165403" cy="4343400"/>
          </a:xfrm>
          <a:prstGeom prst="rect">
            <a:avLst/>
          </a:prstGeom>
          <a:noFill/>
          <a:ln>
            <a:noFill/>
          </a:ln>
        </p:spPr>
      </p:pic>
      <p:sp>
        <p:nvSpPr>
          <p:cNvPr id="398" name="TextBox 397"/>
          <p:cNvSpPr txBox="1"/>
          <p:nvPr/>
        </p:nvSpPr>
        <p:spPr>
          <a:xfrm>
            <a:off x="731520" y="6144768"/>
            <a:ext cx="10058400" cy="365760"/>
          </a:xfrm>
          <a:prstGeom prst="rect">
            <a:avLst/>
          </a:prstGeom>
          <a:noFill/>
        </p:spPr>
        <p:txBody>
          <a:bodyPr wrap="square" lIns="0" tIns="0" rIns="0" bIns="0" anchor="t">
            <a:spAutoFit/>
          </a:bodyPr>
          <a:lstStyle/>
          <a:p>
            <a:pPr algn="l"/>
            <a:r>
              <a:rPr sz="1100" b="0" i="0">
                <a:solidFill>
                  <a:srgbClr val="55657E"/>
                </a:solidFill>
                <a:latin typeface="Calibri"/>
              </a:rPr>
              <a:t>Prueba t corregida para validación cruzada repetida [12]</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pic>
        <p:nvPicPr>
          <p:cNvPr id="403" name="Google Shape;403;p21"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404" name="Google Shape;404;p21"/>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A8</a:t>
            </a:r>
            <a:endParaRPr/>
          </a:p>
        </p:txBody>
      </p:sp>
      <p:sp>
        <p:nvSpPr>
          <p:cNvPr id="405" name="Google Shape;405;p21"/>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6D28D9"/>
                </a:solidFill>
                <a:latin typeface="Calibri"/>
                <a:ea typeface="Calibri"/>
                <a:cs typeface="Calibri"/>
                <a:sym typeface="Calibri"/>
              </a:rPr>
              <a:t>EVALUACIÓN</a:t>
            </a:r>
            <a:endParaRPr/>
          </a:p>
        </p:txBody>
      </p:sp>
      <p:sp>
        <p:nvSpPr>
          <p:cNvPr id="406" name="Google Shape;406;p21"/>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07" name="Google Shape;407;p21"/>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Curvas de precisión-exhaustividad y ROC</a:t>
            </a:r>
            <a:endParaRPr/>
          </a:p>
        </p:txBody>
      </p:sp>
      <p:sp>
        <p:nvSpPr>
          <p:cNvPr id="408" name="Google Shape;408;p21"/>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Predicciones fuera de muestra, promediadas en las 10 repeticiones</a:t>
            </a:r>
            <a:endParaRPr/>
          </a:p>
        </p:txBody>
      </p:sp>
      <p:pic>
        <p:nvPicPr>
          <p:cNvPr id="409" name="Google Shape;409;p21" descr="f11_curvas.png"/>
          <p:cNvPicPr preferRelativeResize="0"/>
          <p:nvPr/>
        </p:nvPicPr>
        <p:blipFill rotWithShape="1">
          <a:blip r:embed="rId4">
            <a:alphaModFix/>
          </a:blip>
          <a:srcRect/>
          <a:stretch/>
        </p:blipFill>
        <p:spPr>
          <a:xfrm>
            <a:off x="936793" y="1463040"/>
            <a:ext cx="10105053" cy="43434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pic>
        <p:nvPicPr>
          <p:cNvPr id="427" name="Google Shape;427;p23"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428" name="Google Shape;428;p23"/>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A9</a:t>
            </a:r>
            <a:endParaRPr/>
          </a:p>
        </p:txBody>
      </p:sp>
      <p:sp>
        <p:nvSpPr>
          <p:cNvPr id="429" name="Google Shape;429;p23"/>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6D28D9"/>
                </a:solidFill>
                <a:latin typeface="Calibri"/>
                <a:ea typeface="Calibri"/>
                <a:cs typeface="Calibri"/>
                <a:sym typeface="Calibri"/>
              </a:rPr>
              <a:t>EVALUACIÓN</a:t>
            </a:r>
            <a:endParaRPr/>
          </a:p>
        </p:txBody>
      </p:sp>
      <p:sp>
        <p:nvSpPr>
          <p:cNvPr id="430" name="Google Shape;430;p23"/>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31" name="Google Shape;431;p23"/>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Elección del umbral</a:t>
            </a:r>
            <a:endParaRPr/>
          </a:p>
        </p:txBody>
      </p:sp>
      <p:sp>
        <p:nvSpPr>
          <p:cNvPr id="432" name="Google Shape;432;p23"/>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Cuántos estudiantes acompañar lo decide la Universidad, no el modelo</a:t>
            </a:r>
            <a:endParaRPr/>
          </a:p>
        </p:txBody>
      </p:sp>
      <p:pic>
        <p:nvPicPr>
          <p:cNvPr id="433" name="Google Shape;433;p23" descr="f13_umbral.png"/>
          <p:cNvPicPr preferRelativeResize="0"/>
          <p:nvPr/>
        </p:nvPicPr>
        <p:blipFill rotWithShape="1">
          <a:blip r:embed="rId4">
            <a:alphaModFix/>
          </a:blip>
          <a:srcRect/>
          <a:stretch/>
        </p:blipFill>
        <p:spPr>
          <a:xfrm>
            <a:off x="790987" y="1463040"/>
            <a:ext cx="10396664" cy="43434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pic>
        <p:nvPicPr>
          <p:cNvPr id="451" name="Google Shape;451;p25"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452" name="Google Shape;452;p25"/>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A10</a:t>
            </a:r>
            <a:endParaRPr/>
          </a:p>
        </p:txBody>
      </p:sp>
      <p:sp>
        <p:nvSpPr>
          <p:cNvPr id="453" name="Google Shape;453;p25"/>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6D28D9"/>
                </a:solidFill>
                <a:latin typeface="Calibri"/>
                <a:ea typeface="Calibri"/>
                <a:cs typeface="Calibri"/>
                <a:sym typeface="Calibri"/>
              </a:rPr>
              <a:t>EVALUACIÓN</a:t>
            </a:r>
            <a:endParaRPr/>
          </a:p>
        </p:txBody>
      </p:sp>
      <p:sp>
        <p:nvSpPr>
          <p:cNvPr id="454" name="Google Shape;454;p25"/>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55" name="Google Shape;455;p25"/>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Límite 1: casos simultáneos</a:t>
            </a:r>
            <a:endParaRPr sz="3000" b="1" i="0">
              <a:solidFill>
                <a:srgbClr val="0F1E36"/>
              </a:solidFill>
              <a:latin typeface="Calibri"/>
              <a:ea typeface="Calibri"/>
              <a:cs typeface="Calibri"/>
              <a:sym typeface="Calibri"/>
            </a:endParaRPr>
          </a:p>
        </p:txBody>
      </p:sp>
      <p:sp>
        <p:nvSpPr>
          <p:cNvPr id="456" name="Google Shape;456;p25"/>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42 % de los casos ocurre en el 1.er semestre: ahí el modelo confirma</a:t>
            </a:r>
            <a:endParaRPr/>
          </a:p>
        </p:txBody>
      </p:sp>
      <p:pic>
        <p:nvPicPr>
          <p:cNvPr id="457" name="Google Shape;457;p25" descr="f15_simultaneidad.png"/>
          <p:cNvPicPr preferRelativeResize="0"/>
          <p:nvPr/>
        </p:nvPicPr>
        <p:blipFill rotWithShape="1">
          <a:blip r:embed="rId4">
            <a:alphaModFix/>
          </a:blip>
          <a:srcRect/>
          <a:stretch/>
        </p:blipFill>
        <p:spPr>
          <a:xfrm>
            <a:off x="3059350" y="1463040"/>
            <a:ext cx="5859938" cy="4343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pic>
        <p:nvPicPr>
          <p:cNvPr id="463" name="Google Shape;463;p26"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464" name="Google Shape;464;p26"/>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A11</a:t>
            </a:r>
            <a:endParaRPr/>
          </a:p>
        </p:txBody>
      </p:sp>
      <p:sp>
        <p:nvSpPr>
          <p:cNvPr id="465" name="Google Shape;465;p26"/>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6D28D9"/>
                </a:solidFill>
                <a:latin typeface="Calibri"/>
                <a:ea typeface="Calibri"/>
                <a:cs typeface="Calibri"/>
                <a:sym typeface="Calibri"/>
              </a:rPr>
              <a:t>EVALUACIÓN</a:t>
            </a:r>
            <a:endParaRPr/>
          </a:p>
        </p:txBody>
      </p:sp>
      <p:sp>
        <p:nvSpPr>
          <p:cNvPr id="466" name="Google Shape;466;p26"/>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67" name="Google Shape;467;p26"/>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Límite 2: calibración</a:t>
            </a:r>
            <a:endParaRPr sz="3000" b="1" i="0">
              <a:solidFill>
                <a:srgbClr val="0F1E36"/>
              </a:solidFill>
              <a:latin typeface="Calibri"/>
              <a:ea typeface="Calibri"/>
              <a:cs typeface="Calibri"/>
              <a:sym typeface="Calibri"/>
            </a:endParaRPr>
          </a:p>
        </p:txBody>
      </p:sp>
      <p:sp>
        <p:nvSpPr>
          <p:cNvPr id="468" name="Google Shape;468;p26"/>
          <p:cNvSpPr txBox="1"/>
          <p:nvPr/>
        </p:nvSpPr>
        <p:spPr>
          <a:xfrm>
            <a:off x="731520" y="969264"/>
            <a:ext cx="106071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Calibrar no mejora (se muestran niveles, no porcentajes)</a:t>
            </a:r>
            <a:endParaRPr/>
          </a:p>
        </p:txBody>
      </p:sp>
      <p:pic>
        <p:nvPicPr>
          <p:cNvPr id="469" name="Google Shape;469;p26" descr="f16_calibracion.png"/>
          <p:cNvPicPr preferRelativeResize="0"/>
          <p:nvPr/>
        </p:nvPicPr>
        <p:blipFill rotWithShape="1">
          <a:blip r:embed="rId4">
            <a:alphaModFix/>
          </a:blip>
          <a:srcRect/>
          <a:stretch/>
        </p:blipFill>
        <p:spPr>
          <a:xfrm>
            <a:off x="3643884" y="1463040"/>
            <a:ext cx="4690872" cy="43434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pic>
        <p:nvPicPr>
          <p:cNvPr id="475" name="Google Shape;475;p27"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476" name="Google Shape;476;p27"/>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A12</a:t>
            </a:r>
            <a:endParaRPr/>
          </a:p>
        </p:txBody>
      </p:sp>
      <p:sp>
        <p:nvSpPr>
          <p:cNvPr id="477" name="Google Shape;477;p27"/>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6D28D9"/>
                </a:solidFill>
                <a:latin typeface="Calibri"/>
                <a:ea typeface="Calibri"/>
                <a:cs typeface="Calibri"/>
                <a:sym typeface="Calibri"/>
              </a:rPr>
              <a:t>EVALUACIÓN</a:t>
            </a:r>
            <a:endParaRPr/>
          </a:p>
        </p:txBody>
      </p:sp>
      <p:sp>
        <p:nvSpPr>
          <p:cNvPr id="478" name="Google Shape;478;p27"/>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79" name="Google Shape;479;p27"/>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Límite 3: predicción semestre a semestre</a:t>
            </a:r>
            <a:endParaRPr sz="3000" b="1" i="0">
              <a:solidFill>
                <a:srgbClr val="0F1E36"/>
              </a:solidFill>
              <a:latin typeface="Calibri"/>
              <a:ea typeface="Calibri"/>
              <a:cs typeface="Calibri"/>
              <a:sym typeface="Calibri"/>
            </a:endParaRPr>
          </a:p>
        </p:txBody>
      </p:sp>
      <p:sp>
        <p:nvSpPr>
          <p:cNvPr id="480" name="Google Shape;480;p27"/>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Sin señal sobre el azar: el seguimiento usa el reglamento</a:t>
            </a:r>
            <a:endParaRPr/>
          </a:p>
        </p:txBody>
      </p:sp>
      <p:pic>
        <p:nvPicPr>
          <p:cNvPr id="481" name="Google Shape;481;p27" descr="f17_semestral.png"/>
          <p:cNvPicPr preferRelativeResize="0"/>
          <p:nvPr/>
        </p:nvPicPr>
        <p:blipFill rotWithShape="1">
          <a:blip r:embed="rId4">
            <a:alphaModFix/>
          </a:blip>
          <a:srcRect/>
          <a:stretch/>
        </p:blipFill>
        <p:spPr>
          <a:xfrm>
            <a:off x="2870320" y="1463040"/>
            <a:ext cx="6237998" cy="43434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pic>
        <p:nvPicPr>
          <p:cNvPr id="487" name="Google Shape;487;p28"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488" name="Google Shape;488;p28"/>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A13</a:t>
            </a:r>
            <a:endParaRPr/>
          </a:p>
        </p:txBody>
      </p:sp>
      <p:sp>
        <p:nvSpPr>
          <p:cNvPr id="489" name="Google Shape;489;p28"/>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6D28D9"/>
                </a:solidFill>
                <a:latin typeface="Calibri"/>
                <a:ea typeface="Calibri"/>
                <a:cs typeface="Calibri"/>
                <a:sym typeface="Calibri"/>
              </a:rPr>
              <a:t>EVALUACIÓN</a:t>
            </a:r>
            <a:endParaRPr/>
          </a:p>
        </p:txBody>
      </p:sp>
      <p:sp>
        <p:nvSpPr>
          <p:cNvPr id="490" name="Google Shape;490;p28"/>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91" name="Google Shape;491;p28"/>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Robustez</a:t>
            </a:r>
            <a:r>
              <a:rPr lang="en-US" sz="3000" b="1">
                <a:solidFill>
                  <a:srgbClr val="0F1E36"/>
                </a:solidFill>
                <a:latin typeface="Calibri"/>
                <a:ea typeface="Calibri"/>
                <a:cs typeface="Calibri"/>
                <a:sym typeface="Calibri"/>
              </a:rPr>
              <a:t>:</a:t>
            </a:r>
            <a:r>
              <a:rPr lang="en-US" sz="3000" b="1" i="0">
                <a:solidFill>
                  <a:srgbClr val="0F1E36"/>
                </a:solidFill>
                <a:latin typeface="Calibri"/>
                <a:ea typeface="Calibri"/>
                <a:cs typeface="Calibri"/>
                <a:sym typeface="Calibri"/>
              </a:rPr>
              <a:t> cambio al plan 2018</a:t>
            </a:r>
            <a:endParaRPr/>
          </a:p>
        </p:txBody>
      </p:sp>
      <p:sp>
        <p:nvSpPr>
          <p:cNvPr id="492" name="Google Shape;492;p28"/>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El desempeño se mantiene; los umbrales se ajustarán con la primera cohorte</a:t>
            </a:r>
            <a:endParaRPr/>
          </a:p>
        </p:txBody>
      </p:sp>
      <p:pic>
        <p:nvPicPr>
          <p:cNvPr id="493" name="Google Shape;493;p28" descr="f18_plan.png"/>
          <p:cNvPicPr preferRelativeResize="0"/>
          <p:nvPr/>
        </p:nvPicPr>
        <p:blipFill rotWithShape="1">
          <a:blip r:embed="rId4">
            <a:alphaModFix/>
          </a:blip>
          <a:srcRect/>
          <a:stretch/>
        </p:blipFill>
        <p:spPr>
          <a:xfrm>
            <a:off x="2830483" y="1463040"/>
            <a:ext cx="6317672" cy="4343400"/>
          </a:xfrm>
          <a:prstGeom prst="rect">
            <a:avLst/>
          </a:prstGeom>
          <a:noFill/>
          <a:ln>
            <a:noFill/>
          </a:ln>
        </p:spPr>
      </p:pic>
    </p:spTree>
  </p:cSld>
  <p:clrMapOvr>
    <a:masterClrMapping/>
  </p:clrMapOvr>
</p:sld>
</file>

<file path=ppt/theme/theme1.xml><?xml version="1.0" encoding="utf-8"?>
<a:theme xmlns:a="http://schemas.openxmlformats.org/drawingml/2006/main" name="Custom Design">
  <a:themeElements>
    <a:clrScheme name="CICI 2026">
      <a:dk1>
        <a:srgbClr val="000000"/>
      </a:dk1>
      <a:lt1>
        <a:srgbClr val="FFFFFF"/>
      </a:lt1>
      <a:dk2>
        <a:srgbClr val="2F2F2F"/>
      </a:dk2>
      <a:lt2>
        <a:srgbClr val="EFF5FA"/>
      </a:lt2>
      <a:accent1>
        <a:srgbClr val="1E73BE"/>
      </a:accent1>
      <a:accent2>
        <a:srgbClr val="8DC63F"/>
      </a:accent2>
      <a:accent3>
        <a:srgbClr val="0B4C86"/>
      </a:accent3>
      <a:accent4>
        <a:srgbClr val="13B5E4"/>
      </a:accent4>
      <a:accent5>
        <a:srgbClr val="5A5A5A"/>
      </a:accent5>
      <a:accent6>
        <a:srgbClr val="2F2F2F"/>
      </a:accent6>
      <a:hlink>
        <a:srgbClr val="1E73BE"/>
      </a:hlink>
      <a:folHlink>
        <a:srgbClr val="0B4C8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498</TotalTime>
  <Words>5567</Words>
  <Application>Microsoft Office PowerPoint</Application>
  <PresentationFormat>Panorámica</PresentationFormat>
  <Paragraphs>494</Paragraphs>
  <Slides>36</Slides>
  <Notes>36</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36</vt:i4>
      </vt:variant>
    </vt:vector>
  </HeadingPairs>
  <TitlesOfParts>
    <vt:vector size="39" baseType="lpstr">
      <vt:lpstr>Arial</vt:lpstr>
      <vt:lpstr>Calibri</vt:lpstr>
      <vt:lpstr>Custom Design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Microsoft Office User</dc:creator>
  <cp:lastModifiedBy>Joan David Martínez Hernández</cp:lastModifiedBy>
  <cp:revision>14</cp:revision>
  <dcterms:created xsi:type="dcterms:W3CDTF">2018-07-12T20:50:47Z</dcterms:created>
  <dcterms:modified xsi:type="dcterms:W3CDTF">2026-10-07T03:27:24Z</dcterms:modified>
</cp:coreProperties>
</file>