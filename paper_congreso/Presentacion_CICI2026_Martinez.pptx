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2.xml" ContentType="application/vnd.openxmlformats-officedocument.presentationml.comments+xml"/>
  <Override PartName="/ppt/notesSlides/notesSlide11.xml" ContentType="application/vnd.openxmlformats-officedocument.presentationml.notesSlide+xml"/>
  <Override PartName="/ppt/comments/comment3.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4.xml" ContentType="application/vnd.openxmlformats-officedocument.presentationml.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comment5.xml" ContentType="application/vnd.openxmlformats-officedocument.presentationml.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comment6.xml" ContentType="application/vnd.openxmlformats-officedocument.presentationml.comment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nBayp3TKVypL+kv0A/Jzwv0fLE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IANA MARCELA CARDONA ROMAN" initials=""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07F2B-0D1A-44AA-933E-E49CCDE99D64}">
  <a:tblStyle styleId="{F6607F2B-0D1A-44AA-933E-E49CCDE99D6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4"/>
          </a:solidFill>
        </a:fill>
      </a:tcStyle>
    </a:wholeTbl>
    <a:band1H>
      <a:tcTxStyle/>
      <a:tcStyle>
        <a:tcBdr/>
        <a:fill>
          <a:solidFill>
            <a:srgbClr val="CBD4E8"/>
          </a:solidFill>
        </a:fill>
      </a:tcStyle>
    </a:band1H>
    <a:band2H>
      <a:tcTxStyle/>
      <a:tcStyle>
        <a:tcBdr/>
      </a:tcStyle>
    </a:band2H>
    <a:band1V>
      <a:tcTxStyle/>
      <a:tcStyle>
        <a:tcBdr/>
        <a:fill>
          <a:solidFill>
            <a:srgbClr val="CBD4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10-01T18:13:15.343" idx="4">
    <p:pos x="195" y="3829"/>
    <p:text>Adiciona la referencia bibliográfica de esta metodología</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Y"/>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6-10-01T18:12:17.622" idx="5">
    <p:pos x="331" y="3786"/>
    <p:text>Recomendable colocar referencias una del reglamento estudiantil al que haces alusión pero también a los autores que indiquen de la validación anidada y que autor hace selección de variables dinámica dependiendo de la partición. Esto le daría soporte o rigor metodológico.</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U"/>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6-10-01T18:15:15.505" idx="6">
    <p:pos x="460" y="218"/>
    <p:text>No me queda claro.
Se 'infla' el problema o se 'infla' el resultado dentro espacio de predicción?</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c"/>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0" dt="2026-10-01T18:32:59.671" idx="7">
    <p:pos x="489" y="1103"/>
    <p:text>Puedes dejarla normalizada al dividir entre la suma de la fila (%) y conservas el número para tenerlo de referencia.
por ej. el 60 de sin alerta y sin bajo rendimiento, lo dejas (60) 98.4%  y el (1) (1.6%)</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H8zSCQg"/>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0" dt="2026-10-01T18:28:21.746" idx="8">
    <p:pos x="460" y="218"/>
    <p:text>@joan.martinez@unillanos.edu.co ¿Será trayectoria académica?
Luego si pones 'trayecta.app'
_Assigned to joan.martinez@unillanos.edu.co_</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A"/>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0" dt="2026-10-01T18:05:57.155" idx="9">
    <p:pos x="379" y="947"/>
    <p:text>Completar las referencias citadas DENTRO de esta presentación</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CGnt378Q"/>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 name="Google Shape;7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[0:00 · 0:15] Portada</a:t>
            </a:r>
          </a:p>
          <a:p>
            <a:endParaRPr/>
          </a:p>
          <a:p>
            <a:r>
              <a:t>Buenos días. Mi nombre es Joan David Martínez, estudiante de Ingeniería de Sistemas de la Universidad de los Llanos. Presento el trabajo 129, desarrollado con las profesoras Diana Marcela Cardona y Sara Cristina Guerrero.</a:t>
            </a:r>
          </a:p>
        </p:txBody>
      </p:sp>
      <p:sp>
        <p:nvSpPr>
          <p:cNvPr id="77" name="Google Shape;77;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[0:15 · 0:45] El problema del abandono</a:t>
            </a:r>
          </a:p>
          <a:p>
            <a:endParaRPr/>
          </a:p>
          <a:p>
            <a:r>
              <a:t>Empecemos por el tamaño del problema. En Colombia, solo el 45 por ciento de quienes ingresan a la educación superior se gradúa después de quince semestres. En las dos cohortes de Ingeniería de Sistemas que estudiamos, las que ingresaron en 2017 y 2018, el 63 por ciento no se había graduado, y de quienes abandonaron, casi dos de cada tres lo hicieron en los dos primeros semestres. De ahí nuestra pregunta: ¿cuál algoritmo ofrece el mejor desempeño predictivo del rendimiento académico? El objetivo es comparar algoritmos de aprendizaje automático para predecir el rendimiento y la graduación en Ingeniería de Sistemas.</a:t>
            </a:r>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[1:00 · 0:25] ¿Cuándo abandonan?</a:t>
            </a:r>
          </a:p>
          <a:p>
            <a:endParaRPr/>
          </a:p>
          <a:p>
            <a:r>
              <a:t>Esta gráfica lo muestra en detalle. Cada barra cuenta a los estudiantes según cuántos semestres alcanzaron a cursar antes de abandonar. Las barras rojas, de cero a dos semestres, reúnen 38 de los 59 casos. Por eso, si queremos ayudar a tiempo, la alerta debe llegar al terminar el primer semestre.</a:t>
            </a:r>
          </a:p>
        </p:txBody>
      </p:sp>
      <p:sp>
        <p:nvSpPr>
          <p:cNvPr id="118" name="Google Shape;118;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[1:25 · 0:30] Metodología CRISP-DM</a:t>
            </a:r>
          </a:p>
          <a:p>
            <a:endParaRPr/>
          </a:p>
          <a:p>
            <a:r>
              <a:t>Seguimos CRISP-DM, la metodología más usada en minería de datos, que organiza el proyecto en seis fases. A la derecha está la versión que adaptamos al proyecto, basada en la guía de IBM. A la izquierda, las flechas rojas muestran que el camino no fue lineal: la evaluación nos obligó a volver a preparar los datos, y el modelado nos llevó a redefinir la variable objetivo.</a:t>
            </a:r>
          </a:p>
        </p:txBody>
      </p:sp>
      <p:sp>
        <p:nvSpPr>
          <p:cNvPr id="130" name="Google Shape;130;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[1:55 · 0:35] Los datos</a:t>
            </a:r>
          </a:p>
          <a:p>
            <a:endParaRPr/>
          </a:p>
          <a:p>
            <a:r>
              <a:t>Trabajamos con seis archivos de la Oficina de Sistemas: más de ocho mil quinientas notas y casi dos mil registros del estado de cada estudiante en cada semestre. La mayor parte del trabajo fue limpiarlos con reglas escritas, sin tocar los originales. El embudo muestra el resultado: de 95 admitidos, 90 tuvieron actividad académica, 80 alcanzaron a estar sujetos al reglamento y 19 perdieron la calidad de estudiante por bajo rendimiento.</a:t>
            </a:r>
          </a:p>
        </p:txBody>
      </p:sp>
      <p:sp>
        <p:nvSpPr>
          <p:cNvPr id="144" name="Google Shape;144;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[2:30 · 0:30] Resultados preliminares</a:t>
            </a:r>
          </a:p>
          <a:p>
            <a:endParaRPr/>
          </a:p>
          <a:p>
            <a:r>
              <a:t>Esta tabla resume nuestros resultados preliminares, obtenidos con validación cruzada de cinco particiones. La exhaustividad es la proporción de estudiantes en riesgo que el modelo detecta; el AUC mide qué tan bien separa los dos grupos: 1 es perfecto y 0,5 es azar. Random Forest detectó ocho de cada diez casos de bajo rendimiento, y el promedio del primer semestre concentró el 40 por ciento de la importancia.</a:t>
            </a:r>
          </a:p>
        </p:txBody>
      </p:sp>
      <p:sp>
        <p:nvSpPr>
          <p:cNvPr id="164" name="Google Shape;164;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[3:00 · 0:20] Factores sin relación</a:t>
            </a:r>
          </a:p>
          <a:p>
            <a:endParaRPr/>
          </a:p>
          <a:p>
            <a:r>
              <a:t>También hay resultados negativos que vale la pena reportar. El género, la educación de los padres y haber repetido un año escolar no mostraron relación significativa con el rendimiento. Con grupos tan pequeños esto no prueba que no influyan, pero aquí no sirven para predecir.</a:t>
            </a:r>
          </a:p>
        </p:txBody>
      </p:sp>
      <p:sp>
        <p:nvSpPr>
          <p:cNvPr id="179" name="Google Shape;179;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[3:20 · 0:35] Asignaturas críticas</a:t>
            </a:r>
          </a:p>
          <a:p>
            <a:endParaRPr/>
          </a:p>
          <a:p>
            <a:r>
              <a:t>¿Dónde se pierde el semestre? Calculamos un índice de criticidad que pondera en 70 por ciento la tasa de reprobación y en 30 por ciento las repeticiones. Los puntos rojos corresponden al plan 2011 y los azules a su equivalente en el plan 2018. Matemáticas II, Física I y Álgebra Lineal encabezan la lista, y el orden se conserva al traducir: el apoyo debe ir a los mismos cursos del primer año.</a:t>
            </a:r>
          </a:p>
        </p:txBody>
      </p:sp>
      <p:sp>
        <p:nvSpPr>
          <p:cNvPr id="193" name="Google Shape;193;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[3:55 · 0:25] Equivalencias entre planes</a:t>
            </a:r>
          </a:p>
          <a:p>
            <a:endParaRPr/>
          </a:p>
          <a:p>
            <a:r>
              <a:t>El programa cambió de plan de estudios en 2018. Una resolución oficial define 72 equivalencias entre cursos, que transcribimos y convertimos en una capa de traducción. El diagrama muestra el primer año: cada curso antiguo, a la izquierda, se traduce a su nombre vigente, a la derecha. Así el sistema funciona con cohortes antiguas, nuevas o mixtas.</a:t>
            </a:r>
          </a:p>
        </p:txBody>
      </p:sp>
      <p:sp>
        <p:nvSpPr>
          <p:cNvPr id="205" name="Google Shape;20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6" name="Google Shape;21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[4:20 · 0:40] Antes de desplegar, auditamos</a:t>
            </a:r>
          </a:p>
          <a:p>
            <a:endParaRPr/>
          </a:p>
          <a:p>
            <a:r>
              <a:t>Antes de convertir el modelo en herramienta, auditamos nuestro propio diseño y encontramos tres problemas de diseño experimental. Primero, la variable objetivo: el promedio de carrera incluye el primer semestre, que era a la vez el predictor; la reemplazamos por la definición oficial del Reglamento Estudiantil. Segundo, los hiperparámetros se ajustaban mirando también los datos de evaluación; ahora usamos validación anidada. Tercero, las variables se elegían con toda la muestra; ahora se eligen dentro de cada partición. Las dos correcciones siguen recomendaciones conocidas de la literatura, citadas al pie.</a:t>
            </a:r>
          </a:p>
        </p:txBody>
      </p:sp>
      <p:sp>
        <p:nvSpPr>
          <p:cNvPr id="217" name="Google Shape;21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[5:00 · 0:35] Cuánto sobreestimaba el resultado cada error</a:t>
            </a:r>
          </a:p>
          <a:p>
            <a:endParaRPr/>
          </a:p>
          <a:p>
            <a:r>
              <a:t>Ojo: estos errores no cambian el problema ni el modelo; cambian la medición. Hacen que el modelo parezca mejor de lo que es. Cada barra es cuánto subía el AUC-PR medido con el error frente al medido correctamente. Elegir las variables con toda la muestra lo inflaba 15 puntos; ajustar los hiperparámetros con los datos de evaluación favorecía sobre todo a XGBoost. La línea punteada es nuestro umbral de diferencia relevante.</a:t>
            </a:r>
          </a:p>
        </p:txBody>
      </p:sp>
      <p:sp>
        <p:nvSpPr>
          <p:cNvPr id="244" name="Google Shape;244;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[5:35 · 0:25] Fase 4 · Objetivo y variables</a:t>
            </a:r>
          </a:p>
          <a:p>
            <a:endParaRPr/>
          </a:p>
          <a:p>
            <a:r>
              <a:t>Entramos al modelado. La nueva variable objetivo es la definición oficial: el artículo 19 del Reglamento Estudiantil, que establece cuándo un estudiante pierde su calidad por bajo rendimiento. Usamos solo seis variables, disponibles al cierre del primer semestre: el promedio de ese semestre, un indicador de si lo cursó, y cuatro puntajes de la prueba Saber 11.</a:t>
            </a:r>
          </a:p>
        </p:txBody>
      </p:sp>
      <p:sp>
        <p:nvSpPr>
          <p:cNvPr id="256" name="Google Shape;256;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[6:00 · 0:35] Fase 4 · Algoritmos (1 de 2)</a:t>
            </a:r>
          </a:p>
          <a:p>
            <a:endParaRPr/>
          </a:p>
          <a:p>
            <a:r>
              <a:t>Cinco algoritmos, de más simple a más complejo. La regresión logística convierte una suma ponderada de las variables en una probabilidad mediante la función sigmoide; el parámetro C controla cuánto se castiga la complejidad. El árbol de decisión divide los datos con preguntas sucesivas, y en cada corte elige la que más reduce la impureza. Random Forest promedia 150 árboles, cada uno entrenado con una muestra distinta y con variables elegidas al azar en cada corte.</a:t>
            </a:r>
          </a:p>
        </p:txBody>
      </p:sp>
      <p:sp>
        <p:nvSpPr>
          <p:cNvPr id="282" name="Google Shape;282;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[6:35 · 0:30] Fase 4 · Algoritmos (2 de 2)</a:t>
            </a:r>
          </a:p>
          <a:p>
            <a:endParaRPr/>
          </a:p>
          <a:p>
            <a:r>
              <a:t>XGBoost también combina árboles, pero en secuencia: cada árbol nuevo corrige los errores del anterior, con una tasa de aprendizaje eta y una penalización lambda que evita el sobreajuste. La máquina de vectores de soporte busca la frontera de máxima separación, y el kernel radial le permite trazar fronteras curvas. Todas las rejillas tienen entre 16 y 24 combinaciones, para que ningún algoritmo tenga ventaja.</a:t>
            </a:r>
          </a:p>
        </p:txBody>
      </p:sp>
      <p:sp>
        <p:nvSpPr>
          <p:cNvPr id="306" name="Google Shape;306;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[7:05 · 0:30] </a:t>
            </a:r>
            <a:r>
              <a:rPr dirty="0" err="1"/>
              <a:t>Fase</a:t>
            </a:r>
            <a:r>
              <a:rPr dirty="0"/>
              <a:t> 4 · </a:t>
            </a:r>
            <a:r>
              <a:rPr dirty="0" err="1"/>
              <a:t>Validación</a:t>
            </a:r>
            <a:r>
              <a:rPr dirty="0"/>
              <a:t> </a:t>
            </a:r>
            <a:r>
              <a:rPr dirty="0" err="1"/>
              <a:t>cruzada</a:t>
            </a:r>
            <a:r>
              <a:rPr dirty="0"/>
              <a:t> </a:t>
            </a:r>
            <a:r>
              <a:rPr dirty="0" err="1"/>
              <a:t>anidada</a:t>
            </a:r>
            <a:endParaRPr dirty="0"/>
          </a:p>
          <a:p>
            <a:endParaRPr dirty="0"/>
          </a:p>
          <a:p>
            <a:r>
              <a:rPr dirty="0" err="1"/>
              <a:t>Así</a:t>
            </a:r>
            <a:r>
              <a:rPr dirty="0"/>
              <a:t> </a:t>
            </a:r>
            <a:r>
              <a:rPr dirty="0" err="1"/>
              <a:t>entrenamos</a:t>
            </a:r>
            <a:r>
              <a:rPr dirty="0"/>
              <a:t> y </a:t>
            </a:r>
            <a:r>
              <a:rPr dirty="0" err="1"/>
              <a:t>evaluamos</a:t>
            </a:r>
            <a:r>
              <a:rPr dirty="0"/>
              <a:t>. </a:t>
            </a:r>
            <a:r>
              <a:rPr dirty="0" err="1"/>
              <a:t>Dividimos</a:t>
            </a:r>
            <a:r>
              <a:rPr dirty="0"/>
              <a:t> a los 80 </a:t>
            </a:r>
            <a:r>
              <a:rPr dirty="0" err="1"/>
              <a:t>estudiantes</a:t>
            </a:r>
            <a:r>
              <a:rPr dirty="0"/>
              <a:t> </a:t>
            </a:r>
            <a:r>
              <a:rPr dirty="0" err="1"/>
              <a:t>en</a:t>
            </a:r>
            <a:r>
              <a:rPr dirty="0"/>
              <a:t> </a:t>
            </a:r>
            <a:r>
              <a:rPr dirty="0" err="1"/>
              <a:t>cinco</a:t>
            </a:r>
            <a:r>
              <a:rPr dirty="0"/>
              <a:t> </a:t>
            </a:r>
            <a:r>
              <a:rPr dirty="0" err="1"/>
              <a:t>partes</a:t>
            </a:r>
            <a:r>
              <a:rPr dirty="0"/>
              <a:t>: </a:t>
            </a:r>
            <a:r>
              <a:rPr dirty="0" err="1"/>
              <a:t>cuatro</a:t>
            </a:r>
            <a:r>
              <a:rPr dirty="0"/>
              <a:t> </a:t>
            </a:r>
            <a:r>
              <a:rPr dirty="0" err="1"/>
              <a:t>entrenan</a:t>
            </a:r>
            <a:r>
              <a:rPr dirty="0"/>
              <a:t> y una </a:t>
            </a:r>
            <a:r>
              <a:rPr dirty="0" err="1"/>
              <a:t>evalúa</a:t>
            </a:r>
            <a:r>
              <a:rPr dirty="0"/>
              <a:t>. Dentro de las </a:t>
            </a:r>
            <a:r>
              <a:rPr dirty="0" err="1"/>
              <a:t>cuatro</a:t>
            </a:r>
            <a:r>
              <a:rPr dirty="0"/>
              <a:t> de </a:t>
            </a:r>
            <a:r>
              <a:rPr dirty="0" err="1"/>
              <a:t>entrenamiento</a:t>
            </a:r>
            <a:r>
              <a:rPr dirty="0"/>
              <a:t>, una </a:t>
            </a:r>
            <a:r>
              <a:rPr dirty="0" err="1"/>
              <a:t>segunda</a:t>
            </a:r>
            <a:r>
              <a:rPr dirty="0"/>
              <a:t> </a:t>
            </a:r>
            <a:r>
              <a:rPr dirty="0" err="1"/>
              <a:t>validación</a:t>
            </a:r>
            <a:r>
              <a:rPr dirty="0"/>
              <a:t> </a:t>
            </a:r>
            <a:r>
              <a:rPr dirty="0" err="1"/>
              <a:t>elige</a:t>
            </a:r>
            <a:r>
              <a:rPr dirty="0"/>
              <a:t> los </a:t>
            </a:r>
            <a:r>
              <a:rPr dirty="0" err="1"/>
              <a:t>hiperparámetros</a:t>
            </a:r>
            <a:r>
              <a:rPr dirty="0"/>
              <a:t>. Los 16 </a:t>
            </a:r>
            <a:r>
              <a:rPr dirty="0" err="1"/>
              <a:t>estudiantes</a:t>
            </a:r>
            <a:r>
              <a:rPr dirty="0"/>
              <a:t> de </a:t>
            </a:r>
            <a:r>
              <a:rPr dirty="0" err="1"/>
              <a:t>evaluación</a:t>
            </a:r>
            <a:r>
              <a:rPr dirty="0"/>
              <a:t> </a:t>
            </a:r>
            <a:r>
              <a:rPr dirty="0" err="1"/>
              <a:t>nunca</a:t>
            </a:r>
            <a:r>
              <a:rPr dirty="0"/>
              <a:t> </a:t>
            </a:r>
            <a:r>
              <a:rPr dirty="0" err="1"/>
              <a:t>participan</a:t>
            </a:r>
            <a:r>
              <a:rPr dirty="0"/>
              <a:t> </a:t>
            </a:r>
            <a:r>
              <a:rPr dirty="0" err="1"/>
              <a:t>en</a:t>
            </a:r>
            <a:r>
              <a:rPr dirty="0"/>
              <a:t> </a:t>
            </a:r>
            <a:r>
              <a:rPr dirty="0" err="1"/>
              <a:t>ninguna</a:t>
            </a:r>
            <a:r>
              <a:rPr dirty="0"/>
              <a:t> </a:t>
            </a:r>
            <a:r>
              <a:rPr dirty="0" err="1"/>
              <a:t>decisión</a:t>
            </a:r>
            <a:r>
              <a:rPr dirty="0"/>
              <a:t>. </a:t>
            </a:r>
            <a:r>
              <a:rPr dirty="0" err="1"/>
              <a:t>Todo</a:t>
            </a:r>
            <a:r>
              <a:rPr dirty="0"/>
              <a:t> se </a:t>
            </a:r>
            <a:r>
              <a:rPr dirty="0" err="1"/>
              <a:t>repite</a:t>
            </a:r>
            <a:r>
              <a:rPr dirty="0"/>
              <a:t> </a:t>
            </a:r>
            <a:r>
              <a:rPr dirty="0" err="1"/>
              <a:t>diez</a:t>
            </a:r>
            <a:r>
              <a:rPr dirty="0"/>
              <a:t> </a:t>
            </a:r>
            <a:r>
              <a:rPr dirty="0" err="1"/>
              <a:t>veces</a:t>
            </a:r>
            <a:r>
              <a:rPr dirty="0"/>
              <a:t> con </a:t>
            </a:r>
            <a:r>
              <a:rPr dirty="0" err="1"/>
              <a:t>particiones</a:t>
            </a:r>
            <a:r>
              <a:rPr dirty="0"/>
              <a:t> </a:t>
            </a:r>
            <a:r>
              <a:rPr dirty="0" err="1"/>
              <a:t>distintas</a:t>
            </a:r>
            <a:r>
              <a:rPr dirty="0"/>
              <a:t>: </a:t>
            </a:r>
            <a:r>
              <a:rPr dirty="0" err="1"/>
              <a:t>obtenemos</a:t>
            </a:r>
            <a:r>
              <a:rPr dirty="0"/>
              <a:t> 50 </a:t>
            </a:r>
            <a:r>
              <a:rPr dirty="0" err="1"/>
              <a:t>mediciones</a:t>
            </a:r>
            <a:r>
              <a:rPr dirty="0"/>
              <a:t> por </a:t>
            </a:r>
            <a:r>
              <a:rPr dirty="0" err="1"/>
              <a:t>algoritmo</a:t>
            </a:r>
            <a:r>
              <a:rPr dirty="0"/>
              <a:t>, que </a:t>
            </a:r>
            <a:r>
              <a:rPr dirty="0" err="1"/>
              <a:t>comparamos</a:t>
            </a:r>
            <a:r>
              <a:rPr dirty="0"/>
              <a:t> con la </a:t>
            </a:r>
            <a:r>
              <a:rPr dirty="0" err="1"/>
              <a:t>prueba</a:t>
            </a:r>
            <a:r>
              <a:rPr dirty="0"/>
              <a:t> t </a:t>
            </a:r>
            <a:r>
              <a:rPr dirty="0" err="1"/>
              <a:t>corregida</a:t>
            </a:r>
            <a:r>
              <a:rPr dirty="0"/>
              <a:t> de Nadeau y </a:t>
            </a:r>
            <a:r>
              <a:rPr dirty="0" err="1"/>
              <a:t>Bengio</a:t>
            </a:r>
            <a:r>
              <a:rPr dirty="0"/>
              <a:t>.</a:t>
            </a:r>
          </a:p>
        </p:txBody>
      </p:sp>
      <p:sp>
        <p:nvSpPr>
          <p:cNvPr id="328" name="Google Shape;328;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[7:35 · 0:15] Fase 4 · ¿Cuántas variables?</a:t>
            </a:r>
          </a:p>
          <a:p>
            <a:endParaRPr/>
          </a:p>
          <a:p>
            <a:r>
              <a:t>¿Cuántas variables necesitamos? Cada punto es un conjunto de variables evaluado con Random Forest. Las seis variables académicas rinden igual que las diecinueve candidatas, y los datos socioeconómicos solos quedan cerca del azar, la línea roja.</a:t>
            </a:r>
          </a:p>
        </p:txBody>
      </p:sp>
      <p:sp>
        <p:nvSpPr>
          <p:cNvPr id="340" name="Google Shape;340;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[7:50 · 0:20] Fase 4 · Hiperparámetros elegidos</a:t>
            </a:r>
          </a:p>
          <a:p>
            <a:endParaRPr/>
          </a:p>
          <a:p>
            <a:r>
              <a:t>Esta gráfica muestra qué hiperparámetros eligió Random Forest en cada una de las 50 particiones. Predominan los árboles poco profundos, de profundidad tres, que usan todas las variables en cada corte: un modelo deliberadamente simple, adecuado para una muestra pequeña.</a:t>
            </a:r>
          </a:p>
        </p:txBody>
      </p:sp>
      <p:sp>
        <p:nvSpPr>
          <p:cNvPr id="352" name="Google Shape;352;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[8:10 · 0:10] Fase 4 · Importancia de las variables</a:t>
            </a:r>
          </a:p>
          <a:p>
            <a:endParaRPr/>
          </a:p>
          <a:p>
            <a:r>
              <a:t>Esta es la importancia por permutación: cuánto cae el desempeño si desordenamos una variable. El promedio del primer semestre domina; las demás aportan poco.</a:t>
            </a:r>
          </a:p>
        </p:txBody>
      </p:sp>
      <p:sp>
        <p:nvSpPr>
          <p:cNvPr id="364" name="Google Shape;364;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5" name="Google Shape;375;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[8:20 · 0:30] Fase 5 · Comparación de algoritmos</a:t>
            </a:r>
          </a:p>
          <a:p>
            <a:endParaRPr/>
          </a:p>
          <a:p>
            <a:r>
              <a:t>Pasamos a la evaluación. Usamos el AUC-PR, el área bajo la curva de precisión y exhaustividad, adecuada cuando los casos de interés son pocos. Se lee así: 1 es perfecto, y el azar equivale a la proporción de casos, 0,24, la línea roja. Cada punto es una repetición y el rombo negro, la media. Random Forest obtiene 0,745, tres veces el azar y con poca variación.</a:t>
            </a:r>
          </a:p>
        </p:txBody>
      </p:sp>
      <p:sp>
        <p:nvSpPr>
          <p:cNvPr id="376" name="Google Shape;376;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[8:50 · 0:25] Fase 5 · Comparaciones pareadas</a:t>
            </a:r>
          </a:p>
          <a:p>
            <a:endParaRPr/>
          </a:p>
          <a:p>
            <a:r>
              <a:t>Este mapa compara cada par de algoritmos: la diferencia de AUC-PR y su valor p corregido; en negrita, las diferencias significativas. Random Forest supera a XGBoost, al árbol y a la regresión logística. Frente a SVM la diferencia no es significativa, y en ese caso preferimos el modelo más sencillo.</a:t>
            </a:r>
          </a:p>
        </p:txBody>
      </p:sp>
      <p:sp>
        <p:nvSpPr>
          <p:cNvPr id="389" name="Google Shape;389;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[9:15 · 0:15] Fase 5 · Curvas PR y ROC</a:t>
            </a:r>
          </a:p>
          <a:p>
            <a:endParaRPr/>
          </a:p>
          <a:p>
            <a:r>
              <a:t>Las curvas completas confirman el patrón. A la izquierda, precisión frente a exhaustividad; a la derecha, la curva ROC. Random Forest, en azul, se mantiene arriba en casi todo el recorrido.</a:t>
            </a:r>
          </a:p>
        </p:txBody>
      </p:sp>
      <p:sp>
        <p:nvSpPr>
          <p:cNvPr id="401" name="Google Shape;401;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[9:30 · 0:50] Fase 5 · Matrices de confusión</a:t>
            </a:r>
          </a:p>
          <a:p>
            <a:endParaRPr/>
          </a:p>
          <a:p>
            <a:r>
              <a:t>El puntaje de riesgo se convierte en alerta con un umbral, y definimos dos niveles. Cada fila es la realidad y suma cien por ciento; entre paréntesis está el número de estudiantes. En el nivel confirmado, el modelo alerta a 12 de los 19 casos reales, el 63 por ciento, y entre quienes no tuvieron bajo rendimiento solo uno recibe una falsa alarma: el 98 por ciento queda sin alerta. En el nivel de seguimiento se detecta al 79 por ciento de los casos, a cambio de alertar al 39 por ciento de los demás. En un acompañamiento preventivo, una falsa alarma cuesta poco.</a:t>
            </a:r>
          </a:p>
        </p:txBody>
      </p:sp>
      <p:sp>
        <p:nvSpPr>
          <p:cNvPr id="413" name="Google Shape;413;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[10:20 · 0:15] Fase 5 · Elección del umbral</a:t>
            </a:r>
          </a:p>
          <a:p>
            <a:endParaRPr/>
          </a:p>
          <a:p>
            <a:r>
              <a:t>Esta curva muestra el compromiso completo: al subir el umbral aumenta la precisión, en naranja, y disminuyen los casos detectados, en azul. Cuántos estudiantes acompañar lo decide la universidad según su capacidad.</a:t>
            </a:r>
          </a:p>
        </p:txBody>
      </p:sp>
      <p:sp>
        <p:nvSpPr>
          <p:cNvPr id="425" name="Google Shape;425;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[10:35 · 0:20] Fase 5 · Graduación</a:t>
            </a:r>
          </a:p>
          <a:p>
            <a:endParaRPr/>
          </a:p>
          <a:p>
            <a:r>
              <a:t>Repetimos el protocolo para predecir la graduación; aquí el azar es 0,39. SVM obtiene 0,725 y Random Forest 0,705, pero la diferencia no es significativa. Por simplicidad elegimos Random Forest. Esto corrige nuestros resultados preliminares, donde XGBoost aparecía como el mejor.</a:t>
            </a:r>
          </a:p>
        </p:txBody>
      </p:sp>
      <p:sp>
        <p:nvSpPr>
          <p:cNvPr id="437" name="Google Shape;437;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[10:55 · 0:20] Límite 1 · Casos simultáneos</a:t>
            </a:r>
          </a:p>
          <a:p>
            <a:endParaRPr/>
          </a:p>
          <a:p>
            <a:r>
              <a:t>Ahora, los límites, que medimos de forma explícita. El 42 por ciento de los casos ocurre ya en el primer semestre: ahí el modelo confirma, no anticipa. Si evaluamos solo los casos futuros, el desempeño baja a 0,47, pero sigue siendo tres veces el azar.</a:t>
            </a:r>
          </a:p>
        </p:txBody>
      </p:sp>
      <p:sp>
        <p:nvSpPr>
          <p:cNvPr id="449" name="Google Shape;449;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0" name="Google Shape;460;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[11:15 · 0:10] Límite 2 · Calibración</a:t>
            </a:r>
          </a:p>
          <a:p>
            <a:endParaRPr/>
          </a:p>
          <a:p>
            <a:r>
              <a:t>Intentamos calibrar las probabilidades con dos métodos. Ninguno mejoró al modelo original, así que el sistema muestra niveles de alerta y no porcentajes.</a:t>
            </a:r>
          </a:p>
        </p:txBody>
      </p:sp>
      <p:sp>
        <p:nvSpPr>
          <p:cNvPr id="461" name="Google Shape;461;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[11:25 · 0:20] Límite 3 · Semestre a semestre</a:t>
            </a:r>
          </a:p>
          <a:p>
            <a:endParaRPr/>
          </a:p>
          <a:p>
            <a:r>
              <a:t>También intentamos predecir semestre a semestre, en tres cortes sucesivos de la carrera. Las barras quedan alrededor de uno, es decir, al nivel del azar. Por eso no desplegamos ese modelo: el seguimiento semestral se hace con las reglas del reglamento.</a:t>
            </a:r>
          </a:p>
        </p:txBody>
      </p:sp>
      <p:sp>
        <p:nvSpPr>
          <p:cNvPr id="473" name="Google Shape;473;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[11:45 · 0:15] Robustez · Plan 2018</a:t>
            </a:r>
          </a:p>
          <a:p>
            <a:endParaRPr/>
          </a:p>
          <a:p>
            <a:r>
              <a:t>Por último, simulamos que los estudiantes cursaron el plan 2018. El AUC-PR se mantiene entre 0,74 y 0,76, aunque el promedio sube algo más de una décima; los umbrales deberán ajustarse con la primera cohorte real.</a:t>
            </a:r>
          </a:p>
        </p:txBody>
      </p:sp>
      <p:sp>
        <p:nvSpPr>
          <p:cNvPr id="485" name="Google Shape;485;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6" name="Google Shape;496;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[12:00 · 0:30] Fase 6 · TRAYECTA</a:t>
            </a:r>
          </a:p>
          <a:p>
            <a:endParaRPr/>
          </a:p>
          <a:p>
            <a:r>
              <a:t>Con lo que superó la auditoría construimos TRAYECTA, un prototipo de seguimiento inspirado en SPADIES del Ministerio de Educación, llevado al nivel de un programa y con las reglas de nuestra universidad. Se carga el extracto académico sin nombres; las equivalencias unifican los planes; se aplican las reglas del reglamento y los dos modelos validados; y el resultado se presenta en pantallas para el equipo académico.</a:t>
            </a:r>
          </a:p>
        </p:txBody>
      </p:sp>
      <p:sp>
        <p:nvSpPr>
          <p:cNvPr id="497" name="Google Shape;497;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9" name="Google Shape;509;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[12:30 · 0:30] Demostración · Panorama</a:t>
            </a:r>
          </a:p>
          <a:p>
            <a:endParaRPr/>
          </a:p>
          <a:p>
            <a:r>
              <a:t>Veamos el sistema. Para proteger la privacidad, la demostración usa una cohorte simulada: ningún estudiante es real, pero los modelos sí son los entrenados con los datos reales. Cada punto de la gráfica central es un estudiante, ubicado según su riesgo. Abajo, la situación del reglamento semestre a semestre y la lista de priorización para el equipo de acompañamiento.</a:t>
            </a:r>
          </a:p>
        </p:txBody>
      </p:sp>
      <p:sp>
        <p:nvSpPr>
          <p:cNvPr id="510" name="Google Shape;510;p3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1" name="Google Shape;521;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[13:00 · 0:30] Demostración · Ficha y carga</a:t>
            </a:r>
          </a:p>
          <a:p>
            <a:endParaRPr/>
          </a:p>
          <a:p>
            <a:r>
              <a:t>Al elegir un estudiante se abre su ficha, inspirada en SPADIES: su recorrido semestre a semestre, los créditos aprobados y perdidos, las reglas que se activaron y la comparación de su ingreso con la cohorte. Y al cargar una cohorte nueva, el sistema reconoce el plan de estudios, valida cada código contra el catálogo oficial y advierte si hay planes mezclados.</a:t>
            </a:r>
          </a:p>
        </p:txBody>
      </p:sp>
      <p:sp>
        <p:nvSpPr>
          <p:cNvPr id="522" name="Google Shape;522;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5" name="Google Shape;535;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[13:30 · 0:35] Conclusiones</a:t>
            </a:r>
          </a:p>
          <a:p>
            <a:endParaRPr/>
          </a:p>
          <a:p>
            <a:r>
              <a:t>Cuatro conclusiones. Primera: Random Forest es el algoritmo más adecuado para estos datos con un AUC-PR tres veces superior al azar. Segunda: el promedio del primer semestre concentra la información útil. Tercera: con pocos datos, la forma de medir puede cambiar el resultado más que el algoritmo. Y cuarta: la calidad de los datos es determinante. Antes de pensar en el modelo, los datos deben ser confiables, consistentes y relevantes: un buen modelo comienza con buenos datos.</a:t>
            </a:r>
          </a:p>
        </p:txBody>
      </p:sp>
      <p:sp>
        <p:nvSpPr>
          <p:cNvPr id="536" name="Google Shape;536;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h26ced1568c81ade5_1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h26ced1568c81ade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[14:05 · 0:05] Referencias</a:t>
            </a:r>
          </a:p>
          <a:p>
            <a:endParaRPr/>
          </a:p>
          <a:p>
            <a:r>
              <a:t>[No se lee; pase a la siguiente lámina tras unos segundos.] Aquí están las referencias que sustentan el trabajo.</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[14:10 · 0:35] Límites y siguiente paso</a:t>
            </a:r>
          </a:p>
          <a:p>
            <a:endParaRPr/>
          </a:p>
          <a:p>
            <a:r>
              <a:t>Un límite importante: todo proviene de una muestra de 80 estudiantes, sin validación con estudiantes nuevos; es un estudio exploratorio. La curva de aprendizaje aún sube y sugiere un techo cercano a 0,84. Ya solicitamos las cohortes recientes para validar el modelo sin modificarlo, y luego extenderemos el sistema a Ingeniería Electrónica y Biología. Agradecemos al proyecto C07-02-2026-027 y a la Oficina de Sistemas. Muchas gracias; quedo atento a sus preguntas.</a:t>
            </a:r>
          </a:p>
        </p:txBody>
      </p:sp>
      <p:sp>
        <p:nvSpPr>
          <p:cNvPr id="560" name="Google Shape;560;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37"/>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7"/>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7"/>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8"/>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8"/>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8"/>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39"/>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9"/>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39"/>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9"/>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9"/>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0"/>
          <p:cNvSpPr txBox="1">
            <a:spLocks noGrp="1"/>
          </p:cNvSpPr>
          <p:nvPr>
            <p:ph type="body" idx="1"/>
          </p:nvPr>
        </p:nvSpPr>
        <p:spPr>
          <a:xfrm>
            <a:off x="8382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40"/>
          <p:cNvSpPr txBox="1">
            <a:spLocks noGrp="1"/>
          </p:cNvSpPr>
          <p:nvPr>
            <p:ph type="body" idx="2"/>
          </p:nvPr>
        </p:nvSpPr>
        <p:spPr>
          <a:xfrm>
            <a:off x="6197600" y="1825625"/>
            <a:ext cx="51562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41"/>
          <p:cNvSpPr txBox="1">
            <a:spLocks noGrp="1"/>
          </p:cNvSpPr>
          <p:nvPr>
            <p:ph type="title"/>
          </p:nvPr>
        </p:nvSpPr>
        <p:spPr>
          <a:xfrm>
            <a:off x="840317"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1"/>
          <p:cNvSpPr txBox="1">
            <a:spLocks noGrp="1"/>
          </p:cNvSpPr>
          <p:nvPr>
            <p:ph type="body" idx="1"/>
          </p:nvPr>
        </p:nvSpPr>
        <p:spPr>
          <a:xfrm>
            <a:off x="840317" y="1681163"/>
            <a:ext cx="5158316"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41"/>
          <p:cNvSpPr txBox="1">
            <a:spLocks noGrp="1"/>
          </p:cNvSpPr>
          <p:nvPr>
            <p:ph type="body" idx="2"/>
          </p:nvPr>
        </p:nvSpPr>
        <p:spPr>
          <a:xfrm>
            <a:off x="840317" y="2505075"/>
            <a:ext cx="5158316"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41"/>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41"/>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1"/>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1"/>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1"/>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42"/>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2"/>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43"/>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5183717"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43"/>
          <p:cNvSpPr txBox="1">
            <a:spLocks noGrp="1"/>
          </p:cNvSpPr>
          <p:nvPr>
            <p:ph type="body" idx="2"/>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43"/>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3"/>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44"/>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44"/>
          <p:cNvSpPr>
            <a:spLocks noGrp="1"/>
          </p:cNvSpPr>
          <p:nvPr>
            <p:ph type="pic" idx="2"/>
          </p:nvPr>
        </p:nvSpPr>
        <p:spPr>
          <a:xfrm>
            <a:off x="5183717" y="987425"/>
            <a:ext cx="6172200" cy="4873625"/>
          </a:xfrm>
          <a:prstGeom prst="rect">
            <a:avLst/>
          </a:prstGeom>
          <a:noFill/>
          <a:ln>
            <a:noFill/>
          </a:ln>
        </p:spPr>
      </p:sp>
      <p:sp>
        <p:nvSpPr>
          <p:cNvPr id="58" name="Google Shape;58;p44"/>
          <p:cNvSpPr txBox="1">
            <a:spLocks noGrp="1"/>
          </p:cNvSpPr>
          <p:nvPr>
            <p:ph type="body" idx="1"/>
          </p:nvPr>
        </p:nvSpPr>
        <p:spPr>
          <a:xfrm>
            <a:off x="840317" y="2057400"/>
            <a:ext cx="393276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44"/>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4"/>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4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1774031" y="-570706"/>
            <a:ext cx="5811838" cy="7683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5"/>
          <p:cNvSpPr txBox="1">
            <a:spLocks noGrp="1"/>
          </p:cNvSpPr>
          <p:nvPr>
            <p:ph type="dt" idx="10"/>
          </p:nvPr>
        </p:nvSpPr>
        <p:spPr>
          <a:xfrm>
            <a:off x="9524035" y="6234837"/>
            <a:ext cx="1371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5"/>
          <p:cNvSpPr txBox="1">
            <a:spLocks noGrp="1"/>
          </p:cNvSpPr>
          <p:nvPr>
            <p:ph type="ftr" idx="11"/>
          </p:nvPr>
        </p:nvSpPr>
        <p:spPr>
          <a:xfrm>
            <a:off x="9517283" y="5869711"/>
            <a:ext cx="2674716"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5"/>
          <p:cNvSpPr txBox="1">
            <a:spLocks noGrp="1"/>
          </p:cNvSpPr>
          <p:nvPr>
            <p:ph type="sldNum" idx="12"/>
          </p:nvPr>
        </p:nvSpPr>
        <p:spPr>
          <a:xfrm>
            <a:off x="10895635" y="6234838"/>
            <a:ext cx="129636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comments" Target="../comments/comment5.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comments" Target="../comments/comment6.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 descr="A blue circle with white and green text&#10;&#10;AI-generated content may be incorrect."/>
          <p:cNvPicPr preferRelativeResize="0"/>
          <p:nvPr/>
        </p:nvPicPr>
        <p:blipFill rotWithShape="1">
          <a:blip r:embed="rId3">
            <a:alphaModFix/>
          </a:blip>
          <a:srcRect/>
          <a:stretch/>
        </p:blipFill>
        <p:spPr>
          <a:xfrm>
            <a:off x="11353798" y="5858538"/>
            <a:ext cx="733647" cy="733647"/>
          </a:xfrm>
          <a:prstGeom prst="rect">
            <a:avLst/>
          </a:prstGeom>
          <a:noFill/>
          <a:ln>
            <a:noFill/>
          </a:ln>
        </p:spPr>
      </p:pic>
      <p:sp>
        <p:nvSpPr>
          <p:cNvPr id="80" name="Google Shape;80;p1"/>
          <p:cNvSpPr txBox="1"/>
          <p:nvPr/>
        </p:nvSpPr>
        <p:spPr>
          <a:xfrm>
            <a:off x="914400" y="1691640"/>
            <a:ext cx="10360200" cy="11697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800" b="1" i="0" u="none" strike="noStrike" cap="none">
                <a:solidFill>
                  <a:srgbClr val="0F1E36"/>
                </a:solidFill>
                <a:latin typeface="Calibri"/>
                <a:ea typeface="Calibri"/>
                <a:cs typeface="Calibri"/>
                <a:sym typeface="Calibri"/>
              </a:rPr>
              <a:t>Aprendizaje automático para predicción del éxito académico en Ingeniería de Sistemas</a:t>
            </a:r>
            <a:endParaRPr/>
          </a:p>
        </p:txBody>
      </p:sp>
      <p:sp>
        <p:nvSpPr>
          <p:cNvPr id="81" name="Google Shape;81;p1"/>
          <p:cNvSpPr txBox="1"/>
          <p:nvPr/>
        </p:nvSpPr>
        <p:spPr>
          <a:xfrm>
            <a:off x="914400" y="3739896"/>
            <a:ext cx="10360200" cy="261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00" b="1" i="0" u="none" strike="noStrike" cap="none" dirty="0">
                <a:solidFill>
                  <a:srgbClr val="0F1E36"/>
                </a:solidFill>
                <a:latin typeface="Calibri"/>
                <a:ea typeface="Calibri"/>
                <a:cs typeface="Calibri"/>
                <a:sym typeface="Calibri"/>
              </a:rPr>
              <a:t>Joan David Martínez Hernández</a:t>
            </a:r>
            <a:r>
              <a:rPr lang="en-US" sz="1700" b="0" i="0" u="none" strike="noStrike" cap="none" dirty="0">
                <a:solidFill>
                  <a:srgbClr val="0F1E36"/>
                </a:solidFill>
                <a:latin typeface="Calibri"/>
                <a:ea typeface="Calibri"/>
                <a:cs typeface="Calibri"/>
                <a:sym typeface="Calibri"/>
              </a:rPr>
              <a:t>*  -  Diana Marcela Cardona Román  -  Sara Cristina Guerrero</a:t>
            </a:r>
            <a:endParaRPr dirty="0"/>
          </a:p>
        </p:txBody>
      </p:sp>
      <p:sp>
        <p:nvSpPr>
          <p:cNvPr id="82" name="Google Shape;82;p1"/>
          <p:cNvSpPr txBox="1"/>
          <p:nvPr/>
        </p:nvSpPr>
        <p:spPr>
          <a:xfrm>
            <a:off x="914400" y="4754880"/>
            <a:ext cx="10360152" cy="20774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dirty="0" err="1">
                <a:solidFill>
                  <a:srgbClr val="55657E"/>
                </a:solidFill>
                <a:latin typeface="Calibri"/>
                <a:ea typeface="Calibri"/>
                <a:cs typeface="Calibri"/>
                <a:sym typeface="Calibri"/>
              </a:rPr>
              <a:t>Facultad</a:t>
            </a:r>
            <a:r>
              <a:rPr lang="en-US" sz="1350" b="0" i="0" u="none" strike="noStrike" cap="none" dirty="0">
                <a:solidFill>
                  <a:srgbClr val="55657E"/>
                </a:solidFill>
                <a:latin typeface="Calibri"/>
                <a:ea typeface="Calibri"/>
                <a:cs typeface="Calibri"/>
                <a:sym typeface="Calibri"/>
              </a:rPr>
              <a:t> de </a:t>
            </a:r>
            <a:r>
              <a:rPr lang="en-US" sz="1350" b="0" i="0" u="none" strike="noStrike" cap="none" dirty="0" err="1">
                <a:solidFill>
                  <a:srgbClr val="55657E"/>
                </a:solidFill>
                <a:latin typeface="Calibri"/>
                <a:ea typeface="Calibri"/>
                <a:cs typeface="Calibri"/>
                <a:sym typeface="Calibri"/>
              </a:rPr>
              <a:t>Ciencias</a:t>
            </a:r>
            <a:r>
              <a:rPr lang="en-US" sz="1350" b="0" i="0" u="none" strike="noStrike" cap="none" dirty="0">
                <a:solidFill>
                  <a:srgbClr val="55657E"/>
                </a:solidFill>
                <a:latin typeface="Calibri"/>
                <a:ea typeface="Calibri"/>
                <a:cs typeface="Calibri"/>
                <a:sym typeface="Calibri"/>
              </a:rPr>
              <a:t> </a:t>
            </a:r>
            <a:r>
              <a:rPr lang="en-US" sz="1350" b="0" i="0" u="none" strike="noStrike" cap="none" dirty="0" err="1">
                <a:solidFill>
                  <a:srgbClr val="55657E"/>
                </a:solidFill>
                <a:latin typeface="Calibri"/>
                <a:ea typeface="Calibri"/>
                <a:cs typeface="Calibri"/>
                <a:sym typeface="Calibri"/>
              </a:rPr>
              <a:t>Básicas</a:t>
            </a:r>
            <a:r>
              <a:rPr lang="en-US" sz="1350" b="0" i="0" u="none" strike="noStrike" cap="none" dirty="0">
                <a:solidFill>
                  <a:srgbClr val="55657E"/>
                </a:solidFill>
                <a:latin typeface="Calibri"/>
                <a:ea typeface="Calibri"/>
                <a:cs typeface="Calibri"/>
                <a:sym typeface="Calibri"/>
              </a:rPr>
              <a:t> e </a:t>
            </a:r>
            <a:r>
              <a:rPr lang="en-US" sz="1350" b="0" i="0" u="none" strike="noStrike" cap="none" dirty="0" err="1">
                <a:solidFill>
                  <a:srgbClr val="55657E"/>
                </a:solidFill>
                <a:latin typeface="Calibri"/>
                <a:ea typeface="Calibri"/>
                <a:cs typeface="Calibri"/>
                <a:sym typeface="Calibri"/>
              </a:rPr>
              <a:t>Ingeniería</a:t>
            </a:r>
            <a:r>
              <a:rPr lang="en-US" sz="1350" b="0" i="0" u="none" strike="noStrike" cap="none" dirty="0">
                <a:solidFill>
                  <a:srgbClr val="55657E"/>
                </a:solidFill>
                <a:latin typeface="Calibri"/>
                <a:ea typeface="Calibri"/>
                <a:cs typeface="Calibri"/>
                <a:sym typeface="Calibri"/>
              </a:rPr>
              <a:t> - Universidad de los Llanos - Villavicencio, Meta, Colombia</a:t>
            </a:r>
            <a:endParaRPr dirty="0"/>
          </a:p>
        </p:txBody>
      </p:sp>
      <p:sp>
        <p:nvSpPr>
          <p:cNvPr id="83" name="Google Shape;83;p1"/>
          <p:cNvSpPr txBox="1"/>
          <p:nvPr/>
        </p:nvSpPr>
        <p:spPr>
          <a:xfrm>
            <a:off x="914400" y="5120640"/>
            <a:ext cx="10360152"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dirty="0">
                <a:solidFill>
                  <a:srgbClr val="55657E"/>
                </a:solidFill>
                <a:latin typeface="Calibri"/>
                <a:ea typeface="Calibri"/>
                <a:cs typeface="Calibri"/>
                <a:sym typeface="Calibri"/>
              </a:rPr>
              <a:t>Proyecto DGI/</a:t>
            </a:r>
            <a:r>
              <a:rPr lang="en-US" sz="1200" b="0" i="0" u="none" strike="noStrike" cap="none" dirty="0" err="1">
                <a:solidFill>
                  <a:srgbClr val="55657E"/>
                </a:solidFill>
                <a:latin typeface="Calibri"/>
                <a:ea typeface="Calibri"/>
                <a:cs typeface="Calibri"/>
                <a:sym typeface="Calibri"/>
              </a:rPr>
              <a:t>Unillanos</a:t>
            </a:r>
            <a:r>
              <a:rPr lang="en-US" sz="1200" b="0" i="0" u="none" strike="noStrike" cap="none" dirty="0">
                <a:solidFill>
                  <a:srgbClr val="55657E"/>
                </a:solidFill>
                <a:latin typeface="Calibri"/>
                <a:ea typeface="Calibri"/>
                <a:cs typeface="Calibri"/>
                <a:sym typeface="Calibri"/>
              </a:rPr>
              <a:t> C07-02-2026-027</a:t>
            </a:r>
            <a:endParaRPr dirty="0"/>
          </a:p>
        </p:txBody>
      </p:sp>
      <p:pic>
        <p:nvPicPr>
          <p:cNvPr id="84" name="Google Shape;84;p1" descr="image.png"/>
          <p:cNvPicPr preferRelativeResize="0"/>
          <p:nvPr/>
        </p:nvPicPr>
        <p:blipFill rotWithShape="1">
          <a:blip r:embed="rId4">
            <a:alphaModFix/>
          </a:blip>
          <a:srcRect/>
          <a:stretch/>
        </p:blipFill>
        <p:spPr>
          <a:xfrm>
            <a:off x="104555" y="5745251"/>
            <a:ext cx="2454442" cy="960219"/>
          </a:xfrm>
          <a:prstGeom prst="rect">
            <a:avLst/>
          </a:prstGeom>
          <a:noFill/>
          <a:ln>
            <a:noFill/>
          </a:ln>
        </p:spPr>
      </p:pic>
      <p:pic>
        <p:nvPicPr>
          <p:cNvPr id="85" name="Google Shape;85;p1" descr="image.png"/>
          <p:cNvPicPr preferRelativeResize="0"/>
          <p:nvPr/>
        </p:nvPicPr>
        <p:blipFill rotWithShape="1">
          <a:blip r:embed="rId5">
            <a:alphaModFix/>
          </a:blip>
          <a:srcRect/>
          <a:stretch/>
        </p:blipFill>
        <p:spPr>
          <a:xfrm>
            <a:off x="6094476" y="5935610"/>
            <a:ext cx="576018" cy="611141"/>
          </a:xfrm>
          <a:prstGeom prst="rect">
            <a:avLst/>
          </a:prstGeom>
          <a:noFill/>
          <a:ln>
            <a:noFill/>
          </a:ln>
        </p:spPr>
      </p:pic>
      <p:pic>
        <p:nvPicPr>
          <p:cNvPr id="86" name="Google Shape;86;p1" descr="image.png"/>
          <p:cNvPicPr preferRelativeResize="0"/>
          <p:nvPr/>
        </p:nvPicPr>
        <p:blipFill rotWithShape="1">
          <a:blip r:embed="rId6">
            <a:alphaModFix/>
          </a:blip>
          <a:srcRect/>
          <a:stretch/>
        </p:blipFill>
        <p:spPr>
          <a:xfrm>
            <a:off x="6821873" y="5941412"/>
            <a:ext cx="2238375" cy="504825"/>
          </a:xfrm>
          <a:prstGeom prst="rect">
            <a:avLst/>
          </a:prstGeom>
          <a:noFill/>
          <a:ln>
            <a:noFill/>
          </a:ln>
        </p:spPr>
      </p:pic>
      <p:pic>
        <p:nvPicPr>
          <p:cNvPr id="87" name="Google Shape;87;p1" descr="image.png"/>
          <p:cNvPicPr preferRelativeResize="0"/>
          <p:nvPr/>
        </p:nvPicPr>
        <p:blipFill rotWithShape="1">
          <a:blip r:embed="rId7">
            <a:alphaModFix/>
          </a:blip>
          <a:srcRect/>
          <a:stretch/>
        </p:blipFill>
        <p:spPr>
          <a:xfrm>
            <a:off x="9195884" y="5935610"/>
            <a:ext cx="652810" cy="611141"/>
          </a:xfrm>
          <a:prstGeom prst="rect">
            <a:avLst/>
          </a:prstGeom>
          <a:noFill/>
          <a:ln>
            <a:noFill/>
          </a:ln>
        </p:spPr>
      </p:pic>
      <p:pic>
        <p:nvPicPr>
          <p:cNvPr id="88" name="Google Shape;88;p1" descr="image.png"/>
          <p:cNvPicPr preferRelativeResize="0"/>
          <p:nvPr/>
        </p:nvPicPr>
        <p:blipFill rotWithShape="1">
          <a:blip r:embed="rId8">
            <a:alphaModFix/>
          </a:blip>
          <a:srcRect/>
          <a:stretch/>
        </p:blipFill>
        <p:spPr>
          <a:xfrm>
            <a:off x="9976624" y="5888253"/>
            <a:ext cx="1249244" cy="611141"/>
          </a:xfrm>
          <a:prstGeom prst="rect">
            <a:avLst/>
          </a:prstGeom>
          <a:noFill/>
          <a:ln>
            <a:noFill/>
          </a:ln>
        </p:spPr>
      </p:pic>
      <p:sp>
        <p:nvSpPr>
          <p:cNvPr id="89" name="Google Shape;89;p1"/>
          <p:cNvSpPr txBox="1"/>
          <p:nvPr/>
        </p:nvSpPr>
        <p:spPr>
          <a:xfrm>
            <a:off x="9195875" y="0"/>
            <a:ext cx="3000000" cy="769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800" b="1">
                <a:solidFill>
                  <a:srgbClr val="1F5FAE"/>
                </a:solidFill>
                <a:latin typeface="Calibri"/>
                <a:ea typeface="Calibri"/>
                <a:cs typeface="Calibri"/>
                <a:sym typeface="Calibri"/>
              </a:rPr>
              <a:t>ID 129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8001000" y="2062353"/>
            <a:ext cx="3383280" cy="2809875"/>
          </a:xfrm>
          <a:prstGeom prst="roundRect">
            <a:avLst>
              <a:gd name="adj" fmla="val 16667"/>
            </a:avLst>
          </a:prstGeom>
          <a:solidFill>
            <a:srgbClr val="2E8BC0"/>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2"/>
          <p:cNvSpPr/>
          <p:nvPr/>
        </p:nvSpPr>
        <p:spPr>
          <a:xfrm>
            <a:off x="4343400" y="2100834"/>
            <a:ext cx="3383280" cy="2809875"/>
          </a:xfrm>
          <a:prstGeom prst="roundRect">
            <a:avLst>
              <a:gd name="adj" fmla="val 16667"/>
            </a:avLst>
          </a:prstGeom>
          <a:solidFill>
            <a:srgbClr val="1769AA"/>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a:off x="731520" y="2100834"/>
            <a:ext cx="3383280" cy="2809875"/>
          </a:xfrm>
          <a:prstGeom prst="roundRect">
            <a:avLst>
              <a:gd name="adj" fmla="val 16667"/>
            </a:avLst>
          </a:prstGeom>
          <a:solidFill>
            <a:srgbClr val="0E4C7E"/>
          </a:solidFill>
          <a:ln w="12700" cap="flat" cmpd="sng">
            <a:solidFill>
              <a:srgbClr val="1553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8" name="Google Shape;98;p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99" name="Google Shape;99;p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u="none" strike="noStrike" cap="none">
                <a:solidFill>
                  <a:srgbClr val="55657E"/>
                </a:solidFill>
                <a:latin typeface="Calibri"/>
                <a:ea typeface="Calibri"/>
                <a:cs typeface="Calibri"/>
                <a:sym typeface="Calibri"/>
              </a:rPr>
              <a:t>2</a:t>
            </a:r>
            <a:endParaRPr/>
          </a:p>
        </p:txBody>
      </p:sp>
      <p:sp>
        <p:nvSpPr>
          <p:cNvPr id="100" name="Google Shape;100;p2"/>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5FAE"/>
                </a:solidFill>
                <a:latin typeface="Calibri"/>
                <a:ea typeface="Calibri"/>
                <a:cs typeface="Calibri"/>
                <a:sym typeface="Calibri"/>
              </a:rPr>
              <a:t>COMPRENSIÓN DEL PROBLEMA</a:t>
            </a:r>
            <a:endParaRPr/>
          </a:p>
        </p:txBody>
      </p:sp>
      <p:sp>
        <p:nvSpPr>
          <p:cNvPr id="101" name="Google Shape;101;p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El problema del abandono</a:t>
            </a:r>
            <a:endParaRPr/>
          </a:p>
        </p:txBody>
      </p:sp>
      <p:sp>
        <p:nvSpPr>
          <p:cNvPr id="103" name="Google Shape;103;p2"/>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a:solidFill>
                  <a:srgbClr val="55657E"/>
                </a:solidFill>
                <a:latin typeface="Calibri"/>
              </a:rPr>
              <a:t>Más de la mitad no se gradúa y, en Ingeniería de Sistemas (Unillanos), el abandono es temprano</a:t>
            </a:r>
            <a:endParaRPr/>
          </a:p>
        </p:txBody>
      </p:sp>
      <p:sp>
        <p:nvSpPr>
          <p:cNvPr id="104" name="Google Shape;104;p2"/>
          <p:cNvSpPr txBox="1"/>
          <p:nvPr/>
        </p:nvSpPr>
        <p:spPr>
          <a:xfrm>
            <a:off x="7315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45,1 %</a:t>
            </a:r>
            <a:endParaRPr/>
          </a:p>
        </p:txBody>
      </p:sp>
      <p:sp>
        <p:nvSpPr>
          <p:cNvPr id="105" name="Google Shape;105;p2"/>
          <p:cNvSpPr txBox="1"/>
          <p:nvPr/>
        </p:nvSpPr>
        <p:spPr>
          <a:xfrm>
            <a:off x="7315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Graduación nacional</a:t>
            </a:r>
            <a:endParaRPr sz="2100" b="1" i="0">
              <a:solidFill>
                <a:schemeClr val="lt1"/>
              </a:solidFill>
              <a:latin typeface="Calibri"/>
              <a:ea typeface="Calibri"/>
              <a:cs typeface="Calibri"/>
              <a:sym typeface="Calibri"/>
            </a:endParaRPr>
          </a:p>
        </p:txBody>
      </p:sp>
      <p:sp>
        <p:nvSpPr>
          <p:cNvPr id="106" name="Google Shape;106;p2"/>
          <p:cNvSpPr txBox="1"/>
          <p:nvPr/>
        </p:nvSpPr>
        <p:spPr>
          <a:xfrm>
            <a:off x="731520" y="4019169"/>
            <a:ext cx="338328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tras 15 semestres (LEE, 2023) [1]</a:t>
            </a:r>
            <a:endParaRPr/>
          </a:p>
        </p:txBody>
      </p:sp>
      <p:sp>
        <p:nvSpPr>
          <p:cNvPr id="107" name="Google Shape;107;p2"/>
          <p:cNvSpPr txBox="1"/>
          <p:nvPr/>
        </p:nvSpPr>
        <p:spPr>
          <a:xfrm>
            <a:off x="43891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63 %</a:t>
            </a:r>
            <a:endParaRPr/>
          </a:p>
        </p:txBody>
      </p:sp>
      <p:sp>
        <p:nvSpPr>
          <p:cNvPr id="108" name="Google Shape;108;p2"/>
          <p:cNvSpPr txBox="1"/>
          <p:nvPr/>
        </p:nvSpPr>
        <p:spPr>
          <a:xfrm>
            <a:off x="43891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Sin graduación</a:t>
            </a:r>
            <a:endParaRPr sz="2100" b="1" i="0">
              <a:solidFill>
                <a:schemeClr val="lt1"/>
              </a:solidFill>
              <a:latin typeface="Calibri"/>
              <a:ea typeface="Calibri"/>
              <a:cs typeface="Calibri"/>
              <a:sym typeface="Calibri"/>
            </a:endParaRPr>
          </a:p>
        </p:txBody>
      </p:sp>
      <p:sp>
        <p:nvSpPr>
          <p:cNvPr id="109" name="Google Shape;109;p2"/>
          <p:cNvSpPr txBox="1"/>
          <p:nvPr/>
        </p:nvSpPr>
        <p:spPr>
          <a:xfrm>
            <a:off x="4389120" y="4019169"/>
            <a:ext cx="338328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cohortes 2017-2 y 2018-1</a:t>
            </a:r>
            <a:br>
              <a:rPr lang="en-US" sz="1600" i="0">
                <a:solidFill>
                  <a:schemeClr val="lt1"/>
                </a:solidFill>
                <a:latin typeface="Calibri"/>
                <a:ea typeface="Calibri"/>
                <a:cs typeface="Calibri"/>
                <a:sym typeface="Calibri"/>
              </a:rPr>
            </a:br>
            <a:r>
              <a:rPr lang="en-US" sz="1600" i="0">
                <a:solidFill>
                  <a:schemeClr val="lt1"/>
                </a:solidFill>
                <a:latin typeface="Calibri"/>
                <a:ea typeface="Calibri"/>
                <a:cs typeface="Calibri"/>
                <a:sym typeface="Calibri"/>
              </a:rPr>
              <a:t>Ingeniería de Sistemas</a:t>
            </a:r>
            <a:endParaRPr sz="1600" i="0">
              <a:solidFill>
                <a:schemeClr val="lt1"/>
              </a:solidFill>
              <a:latin typeface="Calibri"/>
              <a:ea typeface="Calibri"/>
              <a:cs typeface="Calibri"/>
              <a:sym typeface="Calibri"/>
            </a:endParaRPr>
          </a:p>
        </p:txBody>
      </p:sp>
      <p:sp>
        <p:nvSpPr>
          <p:cNvPr id="110" name="Google Shape;110;p2"/>
          <p:cNvSpPr txBox="1"/>
          <p:nvPr/>
        </p:nvSpPr>
        <p:spPr>
          <a:xfrm>
            <a:off x="8046720" y="2464689"/>
            <a:ext cx="338328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a:solidFill>
                  <a:schemeClr val="lt1"/>
                </a:solidFill>
                <a:latin typeface="Calibri"/>
                <a:ea typeface="Calibri"/>
                <a:cs typeface="Calibri"/>
                <a:sym typeface="Calibri"/>
              </a:rPr>
              <a:t>64 %</a:t>
            </a:r>
            <a:endParaRPr/>
          </a:p>
        </p:txBody>
      </p:sp>
      <p:sp>
        <p:nvSpPr>
          <p:cNvPr id="111" name="Google Shape;111;p2"/>
          <p:cNvSpPr txBox="1"/>
          <p:nvPr/>
        </p:nvSpPr>
        <p:spPr>
          <a:xfrm>
            <a:off x="8046720" y="3561969"/>
            <a:ext cx="338328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a:solidFill>
                  <a:schemeClr val="lt1"/>
                </a:solidFill>
                <a:latin typeface="Calibri"/>
                <a:ea typeface="Calibri"/>
                <a:cs typeface="Calibri"/>
                <a:sym typeface="Calibri"/>
              </a:rPr>
              <a:t>Abandono temprano</a:t>
            </a:r>
            <a:endParaRPr sz="2100" b="1" i="0">
              <a:solidFill>
                <a:schemeClr val="lt1"/>
              </a:solidFill>
              <a:latin typeface="Calibri"/>
              <a:ea typeface="Calibri"/>
              <a:cs typeface="Calibri"/>
              <a:sym typeface="Calibri"/>
            </a:endParaRPr>
          </a:p>
        </p:txBody>
      </p:sp>
      <p:sp>
        <p:nvSpPr>
          <p:cNvPr id="112" name="Google Shape;112;p2"/>
          <p:cNvSpPr txBox="1"/>
          <p:nvPr/>
        </p:nvSpPr>
        <p:spPr>
          <a:xfrm>
            <a:off x="8046720" y="4019169"/>
            <a:ext cx="338328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i="0">
                <a:solidFill>
                  <a:schemeClr val="lt1"/>
                </a:solidFill>
                <a:latin typeface="Calibri"/>
                <a:ea typeface="Calibri"/>
                <a:cs typeface="Calibri"/>
                <a:sym typeface="Calibri"/>
              </a:rPr>
              <a:t>de quienes abandonan, lo hacen</a:t>
            </a:r>
            <a:br>
              <a:rPr lang="en-US" sz="1600" i="0">
                <a:solidFill>
                  <a:schemeClr val="lt1"/>
                </a:solidFill>
                <a:latin typeface="Calibri"/>
                <a:ea typeface="Calibri"/>
                <a:cs typeface="Calibri"/>
                <a:sym typeface="Calibri"/>
              </a:rPr>
            </a:br>
            <a:r>
              <a:rPr lang="en-US" sz="1600" i="0">
                <a:solidFill>
                  <a:schemeClr val="lt1"/>
                </a:solidFill>
                <a:latin typeface="Calibri"/>
                <a:ea typeface="Calibri"/>
                <a:cs typeface="Calibri"/>
                <a:sym typeface="Calibri"/>
              </a:rPr>
              <a:t>en los dos primeros semestres</a:t>
            </a:r>
            <a:endParaRPr sz="1600" i="0">
              <a:solidFill>
                <a:schemeClr val="lt1"/>
              </a:solidFill>
              <a:latin typeface="Calibri"/>
              <a:ea typeface="Calibri"/>
              <a:cs typeface="Calibri"/>
              <a:sym typeface="Calibri"/>
            </a:endParaRPr>
          </a:p>
        </p:txBody>
      </p:sp>
      <p:sp>
        <p:nvSpPr>
          <p:cNvPr id="113" name="Rounded Rectangle 112"/>
          <p:cNvSpPr/>
          <p:nvPr/>
        </p:nvSpPr>
        <p:spPr>
          <a:xfrm>
            <a:off x="731520" y="5228844"/>
            <a:ext cx="4690872" cy="960120"/>
          </a:xfrm>
          <a:prstGeom prst="roundRect">
            <a:avLst>
              <a:gd name="adj" fmla="val 12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731520" y="5228844"/>
            <a:ext cx="73152" cy="9601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987552" y="5274564"/>
            <a:ext cx="4434840" cy="868680"/>
          </a:xfrm>
          <a:prstGeom prst="rect">
            <a:avLst/>
          </a:prstGeom>
          <a:noFill/>
        </p:spPr>
        <p:txBody>
          <a:bodyPr wrap="square" lIns="0" tIns="0" rIns="0" bIns="0" anchor="ctr">
            <a:spAutoFit/>
          </a:bodyPr>
          <a:lstStyle/>
          <a:p>
            <a:pPr algn="l"/>
            <a:r>
              <a:rPr sz="1200" b="1" i="0" dirty="0">
                <a:solidFill>
                  <a:srgbClr val="1F5FAE"/>
                </a:solidFill>
                <a:latin typeface="Calibri"/>
              </a:rPr>
              <a:t>PREGUNTA</a:t>
            </a:r>
          </a:p>
          <a:p>
            <a:pPr algn="l"/>
            <a:r>
              <a:rPr sz="1550" b="0" i="0" dirty="0">
                <a:solidFill>
                  <a:srgbClr val="0F1E36"/>
                </a:solidFill>
                <a:latin typeface="Calibri"/>
              </a:rPr>
              <a:t>¿</a:t>
            </a:r>
            <a:r>
              <a:rPr sz="1550" b="0" i="0" dirty="0" err="1">
                <a:solidFill>
                  <a:srgbClr val="0F1E36"/>
                </a:solidFill>
                <a:latin typeface="Calibri"/>
              </a:rPr>
              <a:t>Cuál</a:t>
            </a:r>
            <a:r>
              <a:rPr sz="1550" b="0" i="0" dirty="0">
                <a:solidFill>
                  <a:srgbClr val="0F1E36"/>
                </a:solidFill>
                <a:latin typeface="Calibri"/>
              </a:rPr>
              <a:t> </a:t>
            </a:r>
            <a:r>
              <a:rPr sz="1550" b="0" i="0" dirty="0" err="1">
                <a:solidFill>
                  <a:srgbClr val="0F1E36"/>
                </a:solidFill>
                <a:latin typeface="Calibri"/>
              </a:rPr>
              <a:t>algoritmo</a:t>
            </a:r>
            <a:r>
              <a:rPr sz="1550" b="0" i="0" dirty="0">
                <a:solidFill>
                  <a:srgbClr val="0F1E36"/>
                </a:solidFill>
                <a:latin typeface="Calibri"/>
              </a:rPr>
              <a:t> </a:t>
            </a:r>
            <a:r>
              <a:rPr sz="1550" b="0" i="0" dirty="0" err="1">
                <a:solidFill>
                  <a:srgbClr val="0F1E36"/>
                </a:solidFill>
                <a:latin typeface="Calibri"/>
              </a:rPr>
              <a:t>ofrece</a:t>
            </a:r>
            <a:r>
              <a:rPr sz="1550" b="0" i="0" dirty="0">
                <a:solidFill>
                  <a:srgbClr val="0F1E36"/>
                </a:solidFill>
                <a:latin typeface="Calibri"/>
              </a:rPr>
              <a:t> </a:t>
            </a:r>
            <a:r>
              <a:rPr sz="1550" b="0" i="0" dirty="0" err="1">
                <a:solidFill>
                  <a:srgbClr val="0F1E36"/>
                </a:solidFill>
                <a:latin typeface="Calibri"/>
              </a:rPr>
              <a:t>el</a:t>
            </a:r>
            <a:r>
              <a:rPr sz="1550" b="0" i="0" dirty="0">
                <a:solidFill>
                  <a:srgbClr val="0F1E36"/>
                </a:solidFill>
                <a:latin typeface="Calibri"/>
              </a:rPr>
              <a:t> </a:t>
            </a:r>
            <a:r>
              <a:rPr sz="1550" b="0" i="0" dirty="0" err="1">
                <a:solidFill>
                  <a:srgbClr val="0F1E36"/>
                </a:solidFill>
                <a:latin typeface="Calibri"/>
              </a:rPr>
              <a:t>mejor</a:t>
            </a:r>
            <a:r>
              <a:rPr sz="1550" b="0" i="0" dirty="0">
                <a:solidFill>
                  <a:srgbClr val="0F1E36"/>
                </a:solidFill>
                <a:latin typeface="Calibri"/>
              </a:rPr>
              <a:t> </a:t>
            </a:r>
            <a:r>
              <a:rPr sz="1550" b="0" i="0" dirty="0" err="1">
                <a:solidFill>
                  <a:srgbClr val="0F1E36"/>
                </a:solidFill>
                <a:latin typeface="Calibri"/>
              </a:rPr>
              <a:t>desempeño</a:t>
            </a:r>
            <a:r>
              <a:rPr sz="1550" b="0" i="0" dirty="0">
                <a:solidFill>
                  <a:srgbClr val="0F1E36"/>
                </a:solidFill>
                <a:latin typeface="Calibri"/>
              </a:rPr>
              <a:t> </a:t>
            </a:r>
            <a:r>
              <a:rPr sz="1550" b="0" i="0" dirty="0" err="1">
                <a:solidFill>
                  <a:srgbClr val="0F1E36"/>
                </a:solidFill>
                <a:latin typeface="Calibri"/>
              </a:rPr>
              <a:t>predictivo</a:t>
            </a:r>
            <a:r>
              <a:rPr sz="1550" b="0" i="0" dirty="0">
                <a:solidFill>
                  <a:srgbClr val="0F1E36"/>
                </a:solidFill>
                <a:latin typeface="Calibri"/>
              </a:rPr>
              <a:t> del </a:t>
            </a:r>
            <a:r>
              <a:rPr sz="1550" b="0" i="0" dirty="0" err="1">
                <a:solidFill>
                  <a:srgbClr val="0F1E36"/>
                </a:solidFill>
                <a:latin typeface="Calibri"/>
              </a:rPr>
              <a:t>rendimiento</a:t>
            </a:r>
            <a:r>
              <a:rPr sz="1550" b="0" i="0" dirty="0">
                <a:solidFill>
                  <a:srgbClr val="0F1E36"/>
                </a:solidFill>
                <a:latin typeface="Calibri"/>
              </a:rPr>
              <a:t> </a:t>
            </a:r>
            <a:r>
              <a:rPr sz="1550" b="0" i="0" dirty="0" err="1">
                <a:solidFill>
                  <a:srgbClr val="0F1E36"/>
                </a:solidFill>
                <a:latin typeface="Calibri"/>
              </a:rPr>
              <a:t>académico</a:t>
            </a:r>
            <a:r>
              <a:rPr sz="1550" b="0" i="0" dirty="0">
                <a:solidFill>
                  <a:srgbClr val="0F1E36"/>
                </a:solidFill>
                <a:latin typeface="Calibri"/>
              </a:rPr>
              <a:t>?</a:t>
            </a:r>
          </a:p>
        </p:txBody>
      </p:sp>
      <p:sp>
        <p:nvSpPr>
          <p:cNvPr id="116" name="Rounded Rectangle 115"/>
          <p:cNvSpPr/>
          <p:nvPr/>
        </p:nvSpPr>
        <p:spPr>
          <a:xfrm>
            <a:off x="5687568" y="5228844"/>
            <a:ext cx="5102352" cy="960119"/>
          </a:xfrm>
          <a:prstGeom prst="roundRect">
            <a:avLst>
              <a:gd name="adj" fmla="val 12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5687568" y="5228844"/>
            <a:ext cx="73152" cy="9601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943600" y="5274564"/>
            <a:ext cx="5029200" cy="868680"/>
          </a:xfrm>
          <a:prstGeom prst="rect">
            <a:avLst/>
          </a:prstGeom>
          <a:noFill/>
        </p:spPr>
        <p:txBody>
          <a:bodyPr wrap="square" lIns="0" tIns="0" rIns="0" bIns="0" anchor="ctr">
            <a:spAutoFit/>
          </a:bodyPr>
          <a:lstStyle/>
          <a:p>
            <a:pPr algn="l"/>
            <a:r>
              <a:rPr sz="1200" b="1" i="0" dirty="0">
                <a:solidFill>
                  <a:srgbClr val="047857"/>
                </a:solidFill>
                <a:latin typeface="Calibri"/>
              </a:rPr>
              <a:t>OBJETIVO</a:t>
            </a:r>
          </a:p>
          <a:p>
            <a:pPr algn="l"/>
            <a:r>
              <a:rPr sz="1550" b="0" i="0" dirty="0" err="1">
                <a:solidFill>
                  <a:srgbClr val="0F1E36"/>
                </a:solidFill>
                <a:latin typeface="Calibri"/>
              </a:rPr>
              <a:t>Comparar</a:t>
            </a:r>
            <a:r>
              <a:rPr sz="1550" b="0" i="0" dirty="0">
                <a:solidFill>
                  <a:srgbClr val="0F1E36"/>
                </a:solidFill>
                <a:latin typeface="Calibri"/>
              </a:rPr>
              <a:t> </a:t>
            </a:r>
            <a:r>
              <a:rPr sz="1550" b="0" i="0" dirty="0" err="1">
                <a:solidFill>
                  <a:srgbClr val="0F1E36"/>
                </a:solidFill>
                <a:latin typeface="Calibri"/>
              </a:rPr>
              <a:t>el</a:t>
            </a:r>
            <a:r>
              <a:rPr sz="1550" b="0" i="0" dirty="0">
                <a:solidFill>
                  <a:srgbClr val="0F1E36"/>
                </a:solidFill>
                <a:latin typeface="Calibri"/>
              </a:rPr>
              <a:t> </a:t>
            </a:r>
            <a:r>
              <a:rPr sz="1550" b="0" i="0" dirty="0" err="1">
                <a:solidFill>
                  <a:srgbClr val="0F1E36"/>
                </a:solidFill>
                <a:latin typeface="Calibri"/>
              </a:rPr>
              <a:t>desempeño</a:t>
            </a:r>
            <a:r>
              <a:rPr sz="1550" b="0" i="0" dirty="0">
                <a:solidFill>
                  <a:srgbClr val="0F1E36"/>
                </a:solidFill>
                <a:latin typeface="Calibri"/>
              </a:rPr>
              <a:t> de </a:t>
            </a:r>
            <a:r>
              <a:rPr sz="1550" b="0" i="0" dirty="0" err="1">
                <a:solidFill>
                  <a:srgbClr val="0F1E36"/>
                </a:solidFill>
                <a:latin typeface="Calibri"/>
              </a:rPr>
              <a:t>algoritmos</a:t>
            </a:r>
            <a:r>
              <a:rPr sz="1550" b="0" i="0" dirty="0">
                <a:solidFill>
                  <a:srgbClr val="0F1E36"/>
                </a:solidFill>
                <a:latin typeface="Calibri"/>
              </a:rPr>
              <a:t> de </a:t>
            </a:r>
            <a:r>
              <a:rPr sz="1550" b="0" i="0" dirty="0" err="1">
                <a:solidFill>
                  <a:srgbClr val="0F1E36"/>
                </a:solidFill>
                <a:latin typeface="Calibri"/>
              </a:rPr>
              <a:t>aprendizaje</a:t>
            </a:r>
            <a:r>
              <a:rPr sz="1550" b="0" i="0" dirty="0">
                <a:solidFill>
                  <a:srgbClr val="0F1E36"/>
                </a:solidFill>
                <a:latin typeface="Calibri"/>
              </a:rPr>
              <a:t> </a:t>
            </a:r>
            <a:r>
              <a:rPr sz="1550" b="0" i="0" dirty="0" err="1">
                <a:solidFill>
                  <a:srgbClr val="0F1E36"/>
                </a:solidFill>
                <a:latin typeface="Calibri"/>
              </a:rPr>
              <a:t>automático</a:t>
            </a:r>
            <a:r>
              <a:rPr sz="1550" b="0" i="0" dirty="0">
                <a:solidFill>
                  <a:srgbClr val="0F1E36"/>
                </a:solidFill>
                <a:latin typeface="Calibri"/>
              </a:rPr>
              <a:t> </a:t>
            </a:r>
            <a:r>
              <a:rPr sz="1550" b="0" i="0" dirty="0" err="1">
                <a:solidFill>
                  <a:srgbClr val="0F1E36"/>
                </a:solidFill>
                <a:latin typeface="Calibri"/>
              </a:rPr>
              <a:t>en</a:t>
            </a:r>
            <a:r>
              <a:rPr sz="1550" b="0" i="0" dirty="0">
                <a:solidFill>
                  <a:srgbClr val="0F1E36"/>
                </a:solidFill>
                <a:latin typeface="Calibri"/>
              </a:rPr>
              <a:t> la </a:t>
            </a:r>
            <a:r>
              <a:rPr sz="1550" b="0" i="0" dirty="0" err="1">
                <a:solidFill>
                  <a:srgbClr val="0F1E36"/>
                </a:solidFill>
                <a:latin typeface="Calibri"/>
              </a:rPr>
              <a:t>predicción</a:t>
            </a:r>
            <a:r>
              <a:rPr sz="1550" b="0" i="0" dirty="0">
                <a:solidFill>
                  <a:srgbClr val="0F1E36"/>
                </a:solidFill>
                <a:latin typeface="Calibri"/>
              </a:rPr>
              <a:t> del </a:t>
            </a:r>
            <a:r>
              <a:rPr sz="1550" b="0" i="0" dirty="0" err="1">
                <a:solidFill>
                  <a:srgbClr val="0F1E36"/>
                </a:solidFill>
                <a:latin typeface="Calibri"/>
              </a:rPr>
              <a:t>rendimiento</a:t>
            </a:r>
            <a:r>
              <a:rPr sz="1550" b="0" i="0" dirty="0">
                <a:solidFill>
                  <a:srgbClr val="0F1E36"/>
                </a:solidFill>
                <a:latin typeface="Calibri"/>
              </a:rPr>
              <a:t> </a:t>
            </a:r>
            <a:r>
              <a:rPr sz="1550" b="0" i="0" dirty="0" err="1">
                <a:solidFill>
                  <a:srgbClr val="0F1E36"/>
                </a:solidFill>
                <a:latin typeface="Calibri"/>
              </a:rPr>
              <a:t>académico</a:t>
            </a:r>
            <a:r>
              <a:rPr sz="1550" b="0" i="0" dirty="0">
                <a:solidFill>
                  <a:srgbClr val="0F1E36"/>
                </a:solidFill>
                <a:latin typeface="Calibri"/>
              </a:rPr>
              <a:t> y la </a:t>
            </a:r>
            <a:r>
              <a:rPr sz="1550" b="0" i="0" dirty="0" err="1">
                <a:solidFill>
                  <a:srgbClr val="0F1E36"/>
                </a:solidFill>
                <a:latin typeface="Calibri"/>
              </a:rPr>
              <a:t>graduación</a:t>
            </a:r>
            <a:r>
              <a:rPr sz="1550" b="0" i="0" dirty="0">
                <a:solidFill>
                  <a:srgbClr val="0F1E36"/>
                </a:solidFill>
                <a:latin typeface="Calibri"/>
              </a:rPr>
              <a:t> </a:t>
            </a:r>
            <a:r>
              <a:rPr sz="1550" b="0" i="0" dirty="0" err="1">
                <a:solidFill>
                  <a:srgbClr val="0F1E36"/>
                </a:solidFill>
                <a:latin typeface="Calibri"/>
              </a:rPr>
              <a:t>en</a:t>
            </a:r>
            <a:r>
              <a:rPr sz="1550" b="0" i="0" dirty="0">
                <a:solidFill>
                  <a:srgbClr val="0F1E36"/>
                </a:solidFill>
                <a:latin typeface="Calibri"/>
              </a:rPr>
              <a:t> </a:t>
            </a:r>
            <a:r>
              <a:rPr sz="1550" b="0" i="0" dirty="0" err="1">
                <a:solidFill>
                  <a:srgbClr val="0F1E36"/>
                </a:solidFill>
                <a:latin typeface="Calibri"/>
              </a:rPr>
              <a:t>Ingeniería</a:t>
            </a:r>
            <a:r>
              <a:rPr sz="1550" b="0" i="0" dirty="0">
                <a:solidFill>
                  <a:srgbClr val="0F1E36"/>
                </a:solidFill>
                <a:latin typeface="Calibri"/>
              </a:rPr>
              <a:t> de </a:t>
            </a:r>
            <a:r>
              <a:rPr sz="1550" b="0" i="0" dirty="0" err="1">
                <a:solidFill>
                  <a:srgbClr val="0F1E36"/>
                </a:solidFill>
                <a:latin typeface="Calibri"/>
              </a:rPr>
              <a:t>Sistemas</a:t>
            </a:r>
            <a:endParaRPr sz="1550" b="0" i="0" dirty="0">
              <a:solidFill>
                <a:srgbClr val="0F1E3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21" name="Google Shape;121;p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a:t>
            </a:r>
            <a:endParaRPr/>
          </a:p>
        </p:txBody>
      </p:sp>
      <p:sp>
        <p:nvSpPr>
          <p:cNvPr id="122" name="Google Shape;122;p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DEL PROBLEMA</a:t>
            </a:r>
            <a:endParaRPr/>
          </a:p>
        </p:txBody>
      </p:sp>
      <p:sp>
        <p:nvSpPr>
          <p:cNvPr id="123" name="Google Shape;123;p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¿Cuándo abandonan?</a:t>
            </a:r>
            <a:endParaRPr/>
          </a:p>
        </p:txBody>
      </p:sp>
      <p:sp>
        <p:nvSpPr>
          <p:cNvPr id="125" name="Google Shape;125;p3"/>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La alerta debe llegar al cierre del 1.er semestre</a:t>
            </a:r>
            <a:endParaRPr/>
          </a:p>
        </p:txBody>
      </p:sp>
      <p:pic>
        <p:nvPicPr>
          <p:cNvPr id="126" name="Google Shape;126;p3" descr="f01_duracion.png"/>
          <p:cNvPicPr preferRelativeResize="0"/>
          <p:nvPr/>
        </p:nvPicPr>
        <p:blipFill rotWithShape="1">
          <a:blip r:embed="rId4">
            <a:alphaModFix/>
          </a:blip>
          <a:srcRect/>
          <a:stretch/>
        </p:blipFill>
        <p:spPr>
          <a:xfrm>
            <a:off x="2586775" y="1463040"/>
            <a:ext cx="6805089" cy="4343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42" name="Picture 141" descr="crisp_ciclo.png"/>
          <p:cNvPicPr>
            <a:picLocks noChangeAspect="1"/>
          </p:cNvPicPr>
          <p:nvPr/>
        </p:nvPicPr>
        <p:blipFill>
          <a:blip r:embed="rId3"/>
          <a:stretch>
            <a:fillRect/>
          </a:stretch>
        </p:blipFill>
        <p:spPr>
          <a:xfrm>
            <a:off x="6576961" y="965359"/>
            <a:ext cx="5110162" cy="5110162"/>
          </a:xfrm>
          <a:prstGeom prst="rect">
            <a:avLst/>
          </a:prstGeom>
        </p:spPr>
      </p:pic>
      <p:pic>
        <p:nvPicPr>
          <p:cNvPr id="133" name="Google Shape;133;p4" descr="image.png"/>
          <p:cNvPicPr preferRelativeResize="0"/>
          <p:nvPr/>
        </p:nvPicPr>
        <p:blipFill rotWithShape="1">
          <a:blip r:embed="rId4">
            <a:alphaModFix/>
          </a:blip>
          <a:srcRect/>
          <a:stretch/>
        </p:blipFill>
        <p:spPr>
          <a:xfrm>
            <a:off x="11356848" y="5861304"/>
            <a:ext cx="731520" cy="731520"/>
          </a:xfrm>
          <a:prstGeom prst="rect">
            <a:avLst/>
          </a:prstGeom>
          <a:noFill/>
          <a:ln>
            <a:noFill/>
          </a:ln>
        </p:spPr>
      </p:pic>
      <p:sp>
        <p:nvSpPr>
          <p:cNvPr id="134" name="Google Shape;134;p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4</a:t>
            </a:r>
            <a:endParaRPr/>
          </a:p>
        </p:txBody>
      </p:sp>
      <p:sp>
        <p:nvSpPr>
          <p:cNvPr id="135" name="Google Shape;135;p4"/>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MÉTODO</a:t>
            </a:r>
            <a:endParaRPr/>
          </a:p>
        </p:txBody>
      </p:sp>
      <p:sp>
        <p:nvSpPr>
          <p:cNvPr id="136" name="Google Shape;136;p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4"/>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Metodología CRISP-DM</a:t>
            </a:r>
            <a:endParaRPr/>
          </a:p>
        </p:txBody>
      </p:sp>
      <p:sp>
        <p:nvSpPr>
          <p:cNvPr id="138" name="Google Shape;138;p4"/>
          <p:cNvSpPr txBox="1"/>
          <p:nvPr/>
        </p:nvSpPr>
        <p:spPr>
          <a:xfrm>
            <a:off x="430509" y="1907147"/>
            <a:ext cx="5802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Seis fases, con regresos (rojo) cuando la evidencia lo exigió</a:t>
            </a:r>
            <a:endParaRPr sz="1800" b="0" i="0">
              <a:solidFill>
                <a:srgbClr val="55657E"/>
              </a:solidFill>
              <a:latin typeface="Calibri"/>
              <a:ea typeface="Calibri"/>
              <a:cs typeface="Calibri"/>
              <a:sym typeface="Calibri"/>
            </a:endParaRPr>
          </a:p>
        </p:txBody>
      </p:sp>
      <p:sp>
        <p:nvSpPr>
          <p:cNvPr id="140" name="Google Shape;140;p4"/>
          <p:cNvSpPr txBox="1"/>
          <p:nvPr/>
        </p:nvSpPr>
        <p:spPr>
          <a:xfrm>
            <a:off x="731520" y="6126480"/>
            <a:ext cx="10058400"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100" b="0" i="0" dirty="0" err="1">
                <a:solidFill>
                  <a:srgbClr val="55657E"/>
                </a:solidFill>
                <a:latin typeface="Calibri"/>
              </a:rPr>
              <a:t>proceso</a:t>
            </a:r>
            <a:r>
              <a:rPr sz="1100" b="0" i="0" dirty="0">
                <a:solidFill>
                  <a:srgbClr val="55657E"/>
                </a:solidFill>
                <a:latin typeface="Calibri"/>
              </a:rPr>
              <a:t> CRISP-DM </a:t>
            </a:r>
            <a:r>
              <a:rPr sz="1100" b="0" i="0" dirty="0" err="1">
                <a:solidFill>
                  <a:srgbClr val="55657E"/>
                </a:solidFill>
                <a:latin typeface="Calibri"/>
              </a:rPr>
              <a:t>adaptado</a:t>
            </a:r>
            <a:r>
              <a:rPr sz="1100" b="0" i="0" dirty="0">
                <a:solidFill>
                  <a:srgbClr val="55657E"/>
                </a:solidFill>
                <a:latin typeface="Calibri"/>
              </a:rPr>
              <a:t> al </a:t>
            </a:r>
            <a:r>
              <a:rPr sz="1100" b="0" i="0" dirty="0" err="1">
                <a:solidFill>
                  <a:srgbClr val="55657E"/>
                </a:solidFill>
                <a:latin typeface="Calibri"/>
              </a:rPr>
              <a:t>proyecto</a:t>
            </a:r>
            <a:r>
              <a:rPr sz="1100" b="0" i="0" dirty="0">
                <a:solidFill>
                  <a:srgbClr val="55657E"/>
                </a:solidFill>
                <a:latin typeface="Calibri"/>
              </a:rPr>
              <a:t> de </a:t>
            </a:r>
            <a:r>
              <a:rPr sz="1100" b="0" i="0" dirty="0" err="1">
                <a:solidFill>
                  <a:srgbClr val="55657E"/>
                </a:solidFill>
                <a:latin typeface="Calibri"/>
              </a:rPr>
              <a:t>trayectoria</a:t>
            </a:r>
            <a:r>
              <a:rPr sz="1100" b="0" i="0" dirty="0">
                <a:solidFill>
                  <a:srgbClr val="55657E"/>
                </a:solidFill>
                <a:latin typeface="Calibri"/>
              </a:rPr>
              <a:t> </a:t>
            </a:r>
            <a:r>
              <a:rPr sz="1100" b="0" i="0" dirty="0" err="1">
                <a:solidFill>
                  <a:srgbClr val="55657E"/>
                </a:solidFill>
                <a:latin typeface="Calibri"/>
              </a:rPr>
              <a:t>académica</a:t>
            </a:r>
            <a:r>
              <a:rPr sz="1100" b="0" i="0" dirty="0">
                <a:solidFill>
                  <a:srgbClr val="55657E"/>
                </a:solidFill>
                <a:latin typeface="Calibri"/>
              </a:rPr>
              <a:t> FCBI, </a:t>
            </a:r>
            <a:r>
              <a:rPr sz="1100" b="0" i="0" dirty="0" err="1">
                <a:solidFill>
                  <a:srgbClr val="55657E"/>
                </a:solidFill>
                <a:latin typeface="Calibri"/>
              </a:rPr>
              <a:t>basado</a:t>
            </a:r>
            <a:r>
              <a:rPr sz="1100" b="0" i="0" dirty="0">
                <a:solidFill>
                  <a:srgbClr val="55657E"/>
                </a:solidFill>
                <a:latin typeface="Calibri"/>
              </a:rPr>
              <a:t> </a:t>
            </a:r>
            <a:r>
              <a:rPr sz="1100" b="0" i="0" dirty="0" err="1">
                <a:solidFill>
                  <a:srgbClr val="55657E"/>
                </a:solidFill>
                <a:latin typeface="Calibri"/>
              </a:rPr>
              <a:t>en</a:t>
            </a:r>
            <a:r>
              <a:rPr sz="1100" b="0" i="0" dirty="0">
                <a:solidFill>
                  <a:srgbClr val="55657E"/>
                </a:solidFill>
                <a:latin typeface="Calibri"/>
              </a:rPr>
              <a:t> </a:t>
            </a:r>
            <a:r>
              <a:rPr sz="1100" b="0" i="0" dirty="0" err="1">
                <a:solidFill>
                  <a:srgbClr val="55657E"/>
                </a:solidFill>
                <a:latin typeface="Calibri"/>
              </a:rPr>
              <a:t>el</a:t>
            </a:r>
            <a:r>
              <a:rPr sz="1100" b="0" i="0" dirty="0">
                <a:solidFill>
                  <a:srgbClr val="55657E"/>
                </a:solidFill>
                <a:latin typeface="Calibri"/>
              </a:rPr>
              <a:t> </a:t>
            </a:r>
            <a:r>
              <a:rPr sz="1100" b="0" i="0" dirty="0" err="1">
                <a:solidFill>
                  <a:srgbClr val="55657E"/>
                </a:solidFill>
                <a:latin typeface="Calibri"/>
              </a:rPr>
              <a:t>ciclo</a:t>
            </a:r>
            <a:r>
              <a:rPr sz="1100" b="0" i="0" dirty="0">
                <a:solidFill>
                  <a:srgbClr val="55657E"/>
                </a:solidFill>
                <a:latin typeface="Calibri"/>
              </a:rPr>
              <a:t> de </a:t>
            </a:r>
            <a:r>
              <a:rPr sz="1100" b="0" i="0" dirty="0" err="1">
                <a:solidFill>
                  <a:srgbClr val="55657E"/>
                </a:solidFill>
                <a:latin typeface="Calibri"/>
              </a:rPr>
              <a:t>vida</a:t>
            </a:r>
            <a:r>
              <a:rPr sz="1100" b="0" i="0" dirty="0">
                <a:solidFill>
                  <a:srgbClr val="55657E"/>
                </a:solidFill>
                <a:latin typeface="Calibri"/>
              </a:rPr>
              <a:t> de </a:t>
            </a:r>
            <a:r>
              <a:rPr sz="1100" b="0" i="0" dirty="0" err="1">
                <a:solidFill>
                  <a:srgbClr val="55657E"/>
                </a:solidFill>
                <a:latin typeface="Calibri"/>
              </a:rPr>
              <a:t>minería</a:t>
            </a:r>
            <a:r>
              <a:rPr sz="1100" b="0" i="0" dirty="0">
                <a:solidFill>
                  <a:srgbClr val="55657E"/>
                </a:solidFill>
                <a:latin typeface="Calibri"/>
              </a:rPr>
              <a:t> de </a:t>
            </a:r>
            <a:r>
              <a:rPr sz="1100" b="0" i="0" dirty="0" err="1">
                <a:solidFill>
                  <a:srgbClr val="55657E"/>
                </a:solidFill>
                <a:latin typeface="Calibri"/>
              </a:rPr>
              <a:t>datos</a:t>
            </a:r>
            <a:r>
              <a:rPr sz="1100" b="0" i="0" dirty="0">
                <a:solidFill>
                  <a:srgbClr val="55657E"/>
                </a:solidFill>
                <a:latin typeface="Calibri"/>
              </a:rPr>
              <a:t> de IBM [3] y </a:t>
            </a:r>
            <a:r>
              <a:rPr sz="1100" b="0" i="0" dirty="0" err="1">
                <a:solidFill>
                  <a:srgbClr val="55657E"/>
                </a:solidFill>
                <a:latin typeface="Calibri"/>
              </a:rPr>
              <a:t>en</a:t>
            </a:r>
            <a:r>
              <a:rPr sz="1100" b="0" i="0" dirty="0">
                <a:solidFill>
                  <a:srgbClr val="55657E"/>
                </a:solidFill>
                <a:latin typeface="Calibri"/>
              </a:rPr>
              <a:t> </a:t>
            </a:r>
            <a:r>
              <a:rPr sz="1100" b="0" i="0" dirty="0" err="1">
                <a:solidFill>
                  <a:srgbClr val="55657E"/>
                </a:solidFill>
                <a:latin typeface="Calibri"/>
              </a:rPr>
              <a:t>el</a:t>
            </a:r>
            <a:r>
              <a:rPr sz="1100" b="0" i="0" dirty="0">
                <a:solidFill>
                  <a:srgbClr val="55657E"/>
                </a:solidFill>
                <a:latin typeface="Calibri"/>
              </a:rPr>
              <a:t> </a:t>
            </a:r>
            <a:r>
              <a:rPr sz="1100" b="0" i="0" dirty="0" err="1">
                <a:solidFill>
                  <a:srgbClr val="55657E"/>
                </a:solidFill>
                <a:latin typeface="Calibri"/>
              </a:rPr>
              <a:t>modelo</a:t>
            </a:r>
            <a:r>
              <a:rPr sz="1100" b="0" i="0" dirty="0">
                <a:solidFill>
                  <a:srgbClr val="55657E"/>
                </a:solidFill>
                <a:latin typeface="Calibri"/>
              </a:rPr>
              <a:t> de </a:t>
            </a:r>
            <a:r>
              <a:rPr sz="1100" b="0" i="0" dirty="0" err="1">
                <a:solidFill>
                  <a:srgbClr val="55657E"/>
                </a:solidFill>
                <a:latin typeface="Calibri"/>
              </a:rPr>
              <a:t>referencia</a:t>
            </a:r>
            <a:r>
              <a:rPr sz="1100" b="0" i="0" dirty="0">
                <a:solidFill>
                  <a:srgbClr val="55657E"/>
                </a:solidFill>
                <a:latin typeface="Calibri"/>
              </a:rPr>
              <a:t> CRISP-DM [2].</a:t>
            </a:r>
            <a:endParaRPr sz="1600" dirty="0">
              <a:solidFill>
                <a:schemeClr val="dk1"/>
              </a:solidFill>
              <a:latin typeface="Calibri"/>
              <a:ea typeface="Calibri"/>
              <a:cs typeface="Calibri"/>
              <a:sym typeface="Calibri"/>
            </a:endParaRPr>
          </a:p>
        </p:txBody>
      </p:sp>
      <p:pic>
        <p:nvPicPr>
          <p:cNvPr id="141" name="Picture 140" descr="crisp_flujo.png"/>
          <p:cNvPicPr>
            <a:picLocks noChangeAspect="1"/>
          </p:cNvPicPr>
          <p:nvPr/>
        </p:nvPicPr>
        <p:blipFill>
          <a:blip r:embed="rId5"/>
          <a:stretch>
            <a:fillRect/>
          </a:stretch>
        </p:blipFill>
        <p:spPr>
          <a:xfrm>
            <a:off x="264847" y="2304950"/>
            <a:ext cx="5968292" cy="31560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47" name="Google Shape;147;p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5</a:t>
            </a:r>
            <a:endParaRPr/>
          </a:p>
        </p:txBody>
      </p:sp>
      <p:sp>
        <p:nvSpPr>
          <p:cNvPr id="148" name="Google Shape;148;p5"/>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 LOS DATOS</a:t>
            </a:r>
            <a:endParaRPr/>
          </a:p>
        </p:txBody>
      </p:sp>
      <p:sp>
        <p:nvSpPr>
          <p:cNvPr id="149" name="Google Shape;149;p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5"/>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Los datos</a:t>
            </a:r>
            <a:endParaRPr/>
          </a:p>
        </p:txBody>
      </p:sp>
      <p:sp>
        <p:nvSpPr>
          <p:cNvPr id="151" name="Google Shape;151;p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Seis fuentes administrativas del SIIF, limpiadas con reglas escritas</a:t>
            </a:r>
            <a:endParaRPr sz="1800" b="0" i="0">
              <a:solidFill>
                <a:srgbClr val="55657E"/>
              </a:solidFill>
              <a:latin typeface="Calibri"/>
              <a:ea typeface="Calibri"/>
              <a:cs typeface="Calibri"/>
              <a:sym typeface="Calibri"/>
            </a:endParaRPr>
          </a:p>
        </p:txBody>
      </p:sp>
      <p:pic>
        <p:nvPicPr>
          <p:cNvPr id="152" name="Google Shape;152;p5" descr="f02_embudo.png"/>
          <p:cNvPicPr preferRelativeResize="0"/>
          <p:nvPr/>
        </p:nvPicPr>
        <p:blipFill rotWithShape="1">
          <a:blip r:embed="rId4">
            <a:alphaModFix/>
          </a:blip>
          <a:srcRect/>
          <a:stretch/>
        </p:blipFill>
        <p:spPr>
          <a:xfrm>
            <a:off x="548640" y="1871907"/>
            <a:ext cx="6766560" cy="3479945"/>
          </a:xfrm>
          <a:prstGeom prst="rect">
            <a:avLst/>
          </a:prstGeom>
          <a:noFill/>
          <a:ln>
            <a:noFill/>
          </a:ln>
        </p:spPr>
      </p:pic>
      <p:sp>
        <p:nvSpPr>
          <p:cNvPr id="153" name="Google Shape;153;p5"/>
          <p:cNvSpPr txBox="1"/>
          <p:nvPr/>
        </p:nvSpPr>
        <p:spPr>
          <a:xfrm>
            <a:off x="7214235" y="184195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8503</a:t>
            </a:r>
            <a:endParaRPr/>
          </a:p>
        </p:txBody>
      </p:sp>
      <p:sp>
        <p:nvSpPr>
          <p:cNvPr id="154" name="Google Shape;154;p5"/>
          <p:cNvSpPr txBox="1"/>
          <p:nvPr/>
        </p:nvSpPr>
        <p:spPr>
          <a:xfrm>
            <a:off x="9088693" y="1907967"/>
            <a:ext cx="20118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a:solidFill>
                  <a:srgbClr val="0F1E36"/>
                </a:solidFill>
                <a:latin typeface="Calibri"/>
                <a:ea typeface="Calibri"/>
                <a:cs typeface="Calibri"/>
                <a:sym typeface="Calibri"/>
              </a:rPr>
              <a:t>notas /calificaciones</a:t>
            </a:r>
            <a:endParaRPr/>
          </a:p>
        </p:txBody>
      </p:sp>
      <p:sp>
        <p:nvSpPr>
          <p:cNvPr id="155" name="Google Shape;155;p5"/>
          <p:cNvSpPr txBox="1"/>
          <p:nvPr/>
        </p:nvSpPr>
        <p:spPr>
          <a:xfrm>
            <a:off x="7214235" y="284779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1968</a:t>
            </a:r>
            <a:endParaRPr/>
          </a:p>
        </p:txBody>
      </p:sp>
      <p:sp>
        <p:nvSpPr>
          <p:cNvPr id="156" name="Google Shape;156;p5"/>
          <p:cNvSpPr txBox="1"/>
          <p:nvPr/>
        </p:nvSpPr>
        <p:spPr>
          <a:xfrm>
            <a:off x="9088755" y="2924740"/>
            <a:ext cx="201168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dirty="0" err="1">
                <a:solidFill>
                  <a:srgbClr val="0F1E36"/>
                </a:solidFill>
                <a:latin typeface="Calibri"/>
                <a:ea typeface="Calibri"/>
                <a:cs typeface="Calibri"/>
                <a:sym typeface="Calibri"/>
              </a:rPr>
              <a:t>estados</a:t>
            </a:r>
            <a:endParaRPr sz="1800" b="0" i="0" dirty="0">
              <a:solidFill>
                <a:srgbClr val="0F1E36"/>
              </a:solidFill>
              <a:latin typeface="Calibri"/>
              <a:ea typeface="Calibri"/>
              <a:cs typeface="Calibri"/>
              <a:sym typeface="Calibri"/>
            </a:endParaRPr>
          </a:p>
        </p:txBody>
      </p:sp>
      <p:sp>
        <p:nvSpPr>
          <p:cNvPr id="157" name="Google Shape;157;p5"/>
          <p:cNvSpPr txBox="1"/>
          <p:nvPr/>
        </p:nvSpPr>
        <p:spPr>
          <a:xfrm>
            <a:off x="7214235" y="385363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541</a:t>
            </a:r>
            <a:endParaRPr/>
          </a:p>
        </p:txBody>
      </p:sp>
      <p:sp>
        <p:nvSpPr>
          <p:cNvPr id="158" name="Google Shape;158;p5"/>
          <p:cNvSpPr txBox="1"/>
          <p:nvPr/>
        </p:nvSpPr>
        <p:spPr>
          <a:xfrm>
            <a:off x="9088755" y="3703320"/>
            <a:ext cx="2011680" cy="7315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a:solidFill>
                  <a:srgbClr val="0F1E36"/>
                </a:solidFill>
                <a:latin typeface="Calibri"/>
                <a:ea typeface="Calibri"/>
                <a:cs typeface="Calibri"/>
                <a:sym typeface="Calibri"/>
              </a:rPr>
              <a:t>estados completados</a:t>
            </a:r>
            <a:endParaRPr/>
          </a:p>
        </p:txBody>
      </p:sp>
      <p:sp>
        <p:nvSpPr>
          <p:cNvPr id="159" name="Google Shape;159;p5"/>
          <p:cNvSpPr txBox="1"/>
          <p:nvPr/>
        </p:nvSpPr>
        <p:spPr>
          <a:xfrm>
            <a:off x="7214235" y="4859476"/>
            <a:ext cx="1737360" cy="430887"/>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2800" b="1" i="0">
                <a:solidFill>
                  <a:srgbClr val="D97706"/>
                </a:solidFill>
                <a:latin typeface="Calibri"/>
                <a:ea typeface="Calibri"/>
                <a:cs typeface="Calibri"/>
                <a:sym typeface="Calibri"/>
              </a:rPr>
              <a:t>76</a:t>
            </a:r>
            <a:endParaRPr/>
          </a:p>
        </p:txBody>
      </p:sp>
      <p:sp>
        <p:nvSpPr>
          <p:cNvPr id="160" name="Google Shape;160;p5"/>
          <p:cNvSpPr txBox="1"/>
          <p:nvPr/>
        </p:nvSpPr>
        <p:spPr>
          <a:xfrm>
            <a:off x="9088755" y="4709160"/>
            <a:ext cx="2011680" cy="7315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a:solidFill>
                  <a:srgbClr val="0F1E36"/>
                </a:solidFill>
                <a:latin typeface="Calibri"/>
                <a:ea typeface="Calibri"/>
                <a:cs typeface="Calibri"/>
                <a:sym typeface="Calibri"/>
              </a:rPr>
              <a:t>registros recuperados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6"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67" name="Google Shape;167;p6"/>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6</a:t>
            </a:r>
            <a:endParaRPr/>
          </a:p>
        </p:txBody>
      </p:sp>
      <p:sp>
        <p:nvSpPr>
          <p:cNvPr id="168" name="Google Shape;168;p6"/>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HALLAZGOS PRELIMINARES</a:t>
            </a:r>
            <a:endParaRPr/>
          </a:p>
        </p:txBody>
      </p:sp>
      <p:sp>
        <p:nvSpPr>
          <p:cNvPr id="169" name="Google Shape;169;p6"/>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6"/>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Resultados preliminares</a:t>
            </a:r>
            <a:endParaRPr/>
          </a:p>
        </p:txBody>
      </p:sp>
      <p:sp>
        <p:nvSpPr>
          <p:cNvPr id="171" name="Google Shape;171;p6"/>
          <p:cNvSpPr txBox="1"/>
          <p:nvPr/>
        </p:nvSpPr>
        <p:spPr>
          <a:xfrm>
            <a:off x="731520" y="969264"/>
            <a:ext cx="1060704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Validación cruzada de 5 particiones </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N = 90 , tres algoritmos</a:t>
            </a:r>
            <a:endParaRPr sz="1800" b="0" i="0">
              <a:solidFill>
                <a:srgbClr val="55657E"/>
              </a:solidFill>
              <a:latin typeface="Calibri"/>
              <a:ea typeface="Calibri"/>
              <a:cs typeface="Calibri"/>
              <a:sym typeface="Calibri"/>
            </a:endParaRPr>
          </a:p>
        </p:txBody>
      </p:sp>
      <p:graphicFrame>
        <p:nvGraphicFramePr>
          <p:cNvPr id="172" name="Google Shape;172;p6"/>
          <p:cNvGraphicFramePr/>
          <p:nvPr/>
        </p:nvGraphicFramePr>
        <p:xfrm>
          <a:off x="731520" y="1716393"/>
          <a:ext cx="7223775" cy="3840550"/>
        </p:xfrm>
        <a:graphic>
          <a:graphicData uri="http://schemas.openxmlformats.org/drawingml/2006/table">
            <a:tbl>
              <a:tblPr firstRow="1" bandRow="1">
                <a:noFill/>
                <a:tableStyleId>{F6607F2B-0D1A-44AA-933E-E49CCDE99D64}</a:tableStyleId>
              </a:tblPr>
              <a:tblGrid>
                <a:gridCol w="2011675">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1005850">
                  <a:extLst>
                    <a:ext uri="{9D8B030D-6E8A-4147-A177-3AD203B41FA5}">
                      <a16:colId xmlns:a16="http://schemas.microsoft.com/office/drawing/2014/main" val="20002"/>
                    </a:ext>
                  </a:extLst>
                </a:gridCol>
                <a:gridCol w="1097275">
                  <a:extLst>
                    <a:ext uri="{9D8B030D-6E8A-4147-A177-3AD203B41FA5}">
                      <a16:colId xmlns:a16="http://schemas.microsoft.com/office/drawing/2014/main" val="20003"/>
                    </a:ext>
                  </a:extLst>
                </a:gridCol>
                <a:gridCol w="1005850">
                  <a:extLst>
                    <a:ext uri="{9D8B030D-6E8A-4147-A177-3AD203B41FA5}">
                      <a16:colId xmlns:a16="http://schemas.microsoft.com/office/drawing/2014/main" val="20004"/>
                    </a:ext>
                  </a:extLst>
                </a:gridCol>
              </a:tblGrid>
              <a:tr h="548650">
                <a:tc>
                  <a:txBody>
                    <a:bodyPr/>
                    <a:lstStyle/>
                    <a:p>
                      <a:pPr marL="0" marR="0" lvl="0" indent="0" algn="l" rtl="0">
                        <a:spcBef>
                          <a:spcPts val="0"/>
                        </a:spcBef>
                        <a:spcAft>
                          <a:spcPts val="0"/>
                        </a:spcAft>
                        <a:buNone/>
                      </a:pPr>
                      <a:r>
                        <a:rPr lang="en-US" sz="1650" b="1" i="1" u="none" strike="noStrike" cap="none">
                          <a:solidFill>
                            <a:schemeClr val="dk2"/>
                          </a:solidFill>
                          <a:latin typeface="Calibri"/>
                          <a:ea typeface="Calibri"/>
                          <a:cs typeface="Calibri"/>
                          <a:sym typeface="Calibri"/>
                        </a:rPr>
                        <a:t>Objetivo</a:t>
                      </a:r>
                      <a:endParaRPr sz="1650" b="1" i="1" u="none" strike="noStrike" cap="none">
                        <a:solidFill>
                          <a:schemeClr val="dk2"/>
                        </a:solidFill>
                        <a:latin typeface="Calibri"/>
                        <a:ea typeface="Calibri"/>
                        <a:cs typeface="Calibri"/>
                        <a:sym typeface="Calibri"/>
                      </a:endParaRPr>
                    </a:p>
                  </a:txBody>
                  <a:tcPr marL="73150" marR="73150" marT="45725" marB="45725" anchor="ctr">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EAF4"/>
                    </a:solidFill>
                  </a:tcPr>
                </a:tc>
                <a:tc>
                  <a:txBody>
                    <a:bodyPr/>
                    <a:lstStyle/>
                    <a:p>
                      <a:pPr marL="0" marR="0" lvl="0" indent="0" algn="l" rtl="0">
                        <a:spcBef>
                          <a:spcPts val="0"/>
                        </a:spcBef>
                        <a:spcAft>
                          <a:spcPts val="0"/>
                        </a:spcAft>
                        <a:buNone/>
                      </a:pPr>
                      <a:r>
                        <a:rPr lang="en-US" sz="1650" b="1" i="1" u="none" strike="noStrike" cap="none">
                          <a:solidFill>
                            <a:schemeClr val="dk2"/>
                          </a:solidFill>
                          <a:latin typeface="Calibri"/>
                          <a:ea typeface="Calibri"/>
                          <a:cs typeface="Calibri"/>
                          <a:sym typeface="Calibri"/>
                        </a:rPr>
                        <a:t>Modelo</a:t>
                      </a:r>
                      <a:endParaRPr sz="1650" b="1" i="1" u="none" strike="noStrike" cap="none">
                        <a:solidFill>
                          <a:schemeClr val="dk2"/>
                        </a:solidFill>
                        <a:latin typeface="Calibri"/>
                        <a:ea typeface="Calibri"/>
                        <a:cs typeface="Calibri"/>
                        <a:sym typeface="Calibri"/>
                      </a:endParaRPr>
                    </a:p>
                  </a:txBody>
                  <a:tcPr marL="73150" marR="731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EAF4"/>
                    </a:solidFill>
                  </a:tcPr>
                </a:tc>
                <a:tc>
                  <a:txBody>
                    <a:bodyPr/>
                    <a:lstStyle/>
                    <a:p>
                      <a:pPr marL="0" marR="0" lvl="0" indent="0" algn="ctr" rtl="0">
                        <a:spcBef>
                          <a:spcPts val="0"/>
                        </a:spcBef>
                        <a:spcAft>
                          <a:spcPts val="0"/>
                        </a:spcAft>
                        <a:buNone/>
                      </a:pPr>
                      <a:r>
                        <a:rPr lang="en-US" sz="1650" b="1" i="1" u="none" strike="noStrike" cap="none">
                          <a:solidFill>
                            <a:schemeClr val="dk2"/>
                          </a:solidFill>
                          <a:latin typeface="Calibri"/>
                          <a:ea typeface="Calibri"/>
                          <a:cs typeface="Calibri"/>
                          <a:sym typeface="Calibri"/>
                        </a:rPr>
                        <a:t>Exhaust.</a:t>
                      </a:r>
                      <a:endParaRPr/>
                    </a:p>
                  </a:txBody>
                  <a:tcPr marL="73150" marR="731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EAF4"/>
                    </a:solidFill>
                  </a:tcPr>
                </a:tc>
                <a:tc>
                  <a:txBody>
                    <a:bodyPr/>
                    <a:lstStyle/>
                    <a:p>
                      <a:pPr marL="0" marR="0" lvl="0" indent="0" algn="ctr" rtl="0">
                        <a:spcBef>
                          <a:spcPts val="0"/>
                        </a:spcBef>
                        <a:spcAft>
                          <a:spcPts val="0"/>
                        </a:spcAft>
                        <a:buNone/>
                      </a:pPr>
                      <a:r>
                        <a:rPr lang="en-US" sz="1650" b="1" i="1" u="none" strike="noStrike" cap="none">
                          <a:solidFill>
                            <a:schemeClr val="dk2"/>
                          </a:solidFill>
                          <a:latin typeface="Calibri"/>
                          <a:ea typeface="Calibri"/>
                          <a:cs typeface="Calibri"/>
                          <a:sym typeface="Calibri"/>
                        </a:rPr>
                        <a:t>Precisión</a:t>
                      </a:r>
                      <a:endParaRPr sz="1650" b="1" i="1" u="none" strike="noStrike" cap="none">
                        <a:solidFill>
                          <a:schemeClr val="dk2"/>
                        </a:solidFill>
                        <a:latin typeface="Calibri"/>
                        <a:ea typeface="Calibri"/>
                        <a:cs typeface="Calibri"/>
                        <a:sym typeface="Calibri"/>
                      </a:endParaRPr>
                    </a:p>
                  </a:txBody>
                  <a:tcPr marL="73150" marR="73150" marT="45725" marB="45725" anchor="ct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EAF4"/>
                    </a:solidFill>
                  </a:tcPr>
                </a:tc>
                <a:tc>
                  <a:txBody>
                    <a:bodyPr/>
                    <a:lstStyle/>
                    <a:p>
                      <a:pPr marL="0" marR="0" lvl="0" indent="0" algn="ctr" rtl="0">
                        <a:spcBef>
                          <a:spcPts val="0"/>
                        </a:spcBef>
                        <a:spcAft>
                          <a:spcPts val="0"/>
                        </a:spcAft>
                        <a:buNone/>
                      </a:pPr>
                      <a:r>
                        <a:rPr lang="en-US" sz="1650" b="1" i="1" u="none" strike="noStrike" cap="none">
                          <a:solidFill>
                            <a:schemeClr val="dk2"/>
                          </a:solidFill>
                          <a:latin typeface="Calibri"/>
                          <a:ea typeface="Calibri"/>
                          <a:cs typeface="Calibri"/>
                          <a:sym typeface="Calibri"/>
                        </a:rPr>
                        <a:t>AUC</a:t>
                      </a:r>
                      <a:endParaRPr/>
                    </a:p>
                  </a:txBody>
                  <a:tcPr marL="73150" marR="73150" marT="45725" marB="45725" anchor="ctr">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3EAF4"/>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Bajo rendimiento</a:t>
                      </a:r>
                      <a:endParaRPr sz="1700" b="0" u="none" strike="noStrike" cap="none">
                        <a:solidFill>
                          <a:srgbClr val="0F1E36"/>
                        </a:solidFill>
                        <a:latin typeface="Calibri"/>
                        <a:ea typeface="Calibri"/>
                        <a:cs typeface="Calibri"/>
                        <a:sym typeface="Calibri"/>
                      </a:endParaRPr>
                    </a:p>
                  </a:txBody>
                  <a:tcPr marL="73150" marR="73150" marT="45725" marB="45725" anchor="ctr">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Árbol de decisión</a:t>
                      </a:r>
                      <a:endParaRPr/>
                    </a:p>
                  </a:txBody>
                  <a:tcPr marL="73150" marR="73150" marT="45725" marB="45725" anchor="ctr">
                    <a:lnT w="12700" cap="flat" cmpd="sng">
                      <a:solidFill>
                        <a:schemeClr val="dk1"/>
                      </a:solidFill>
                      <a:prstDash val="solid"/>
                      <a:round/>
                      <a:headEnd type="none" w="sm" len="sm"/>
                      <a:tailEnd type="none" w="sm" len="sm"/>
                    </a:lnT>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0,632</a:t>
                      </a:r>
                      <a:endParaRPr/>
                    </a:p>
                  </a:txBody>
                  <a:tcPr marL="73150" marR="73150" marT="45725" marB="45725" anchor="ctr">
                    <a:lnT w="12700" cap="flat" cmpd="sng">
                      <a:solidFill>
                        <a:schemeClr val="dk1"/>
                      </a:solidFill>
                      <a:prstDash val="solid"/>
                      <a:round/>
                      <a:headEnd type="none" w="sm" len="sm"/>
                      <a:tailEnd type="none" w="sm" len="sm"/>
                    </a:lnT>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0,667</a:t>
                      </a:r>
                      <a:endParaRPr/>
                    </a:p>
                  </a:txBody>
                  <a:tcPr marL="73150" marR="73150" marT="45725" marB="45725" anchor="ctr">
                    <a:lnT w="12700" cap="flat" cmpd="sng">
                      <a:solidFill>
                        <a:schemeClr val="dk1"/>
                      </a:solidFill>
                      <a:prstDash val="solid"/>
                      <a:round/>
                      <a:headEnd type="none" w="sm" len="sm"/>
                      <a:tailEnd type="none" w="sm" len="sm"/>
                    </a:lnT>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0,702</a:t>
                      </a:r>
                      <a:endParaRPr/>
                    </a:p>
                  </a:txBody>
                  <a:tcPr marL="73150" marR="73150" marT="45725" marB="45725" anchor="ctr">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None/>
                      </a:pPr>
                      <a:endParaRPr sz="1800" u="none" strike="noStrike" cap="none"/>
                    </a:p>
                  </a:txBody>
                  <a:tcPr marL="73150" marR="73150" marT="45725" marB="45725" anchor="ctr">
                    <a:lnL w="12700" cap="flat" cmpd="sng">
                      <a:solidFill>
                        <a:schemeClr val="dk1"/>
                      </a:solidFill>
                      <a:prstDash val="solid"/>
                      <a:round/>
                      <a:headEnd type="none" w="sm" len="sm"/>
                      <a:tailEnd type="none" w="sm" len="sm"/>
                    </a:lnL>
                    <a:solidFill>
                      <a:srgbClr val="F7F9FC"/>
                    </a:solidFill>
                  </a:tcPr>
                </a:tc>
                <a:tc>
                  <a:txBody>
                    <a:bodyPr/>
                    <a:lstStyle/>
                    <a:p>
                      <a:pPr marL="0" marR="0" lvl="0" indent="0" algn="l" rtl="0">
                        <a:spcBef>
                          <a:spcPts val="0"/>
                        </a:spcBef>
                        <a:spcAft>
                          <a:spcPts val="0"/>
                        </a:spcAft>
                        <a:buNone/>
                      </a:pPr>
                      <a:r>
                        <a:rPr lang="en-US" sz="1700" b="1" u="none" strike="noStrike" cap="none">
                          <a:solidFill>
                            <a:srgbClr val="047857"/>
                          </a:solidFill>
                          <a:latin typeface="Calibri"/>
                          <a:ea typeface="Calibri"/>
                          <a:cs typeface="Calibri"/>
                          <a:sym typeface="Calibri"/>
                        </a:rPr>
                        <a:t>Random Forest</a:t>
                      </a:r>
                      <a:endParaRPr/>
                    </a:p>
                  </a:txBody>
                  <a:tcPr marL="73150" marR="73150" marT="45725" marB="45725" anchor="ctr">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0,816</a:t>
                      </a:r>
                      <a:endParaRPr/>
                    </a:p>
                  </a:txBody>
                  <a:tcPr marL="73150" marR="73150" marT="45725" marB="45725" anchor="ctr">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0,484</a:t>
                      </a:r>
                      <a:endParaRPr/>
                    </a:p>
                  </a:txBody>
                  <a:tcPr marL="73150" marR="73150" marT="45725" marB="45725" anchor="ctr">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0,752</a:t>
                      </a:r>
                      <a:endParaRPr/>
                    </a:p>
                  </a:txBody>
                  <a:tcPr marL="73150" marR="73150" marT="45725" marB="45725" anchor="ctr">
                    <a:lnR w="12700" cap="flat" cmpd="sng">
                      <a:solidFill>
                        <a:schemeClr val="dk1"/>
                      </a:solidFill>
                      <a:prstDash val="solid"/>
                      <a:round/>
                      <a:headEnd type="none" w="sm" len="sm"/>
                      <a:tailEnd type="none" w="sm" len="sm"/>
                    </a:lnR>
                    <a:solidFill>
                      <a:srgbClr val="F7F9FC"/>
                    </a:solidFill>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None/>
                      </a:pPr>
                      <a:endParaRPr sz="1800" u="none" strike="noStrike" cap="none"/>
                    </a:p>
                  </a:txBody>
                  <a:tcPr marL="73150" marR="73150" marT="45725" marB="45725" anchor="ctr">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XGBoost</a:t>
                      </a:r>
                      <a:endParaRPr/>
                    </a:p>
                  </a:txBody>
                  <a:tcPr marL="73150" marR="73150" marT="45725" marB="45725" anchor="ctr">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0,737</a:t>
                      </a:r>
                      <a:endParaRPr/>
                    </a:p>
                  </a:txBody>
                  <a:tcPr marL="73150" marR="73150" marT="45725" marB="45725" anchor="ctr">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0,596</a:t>
                      </a:r>
                      <a:endParaRPr/>
                    </a:p>
                  </a:txBody>
                  <a:tcPr marL="73150" marR="73150" marT="45725" marB="45725" anchor="ctr">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0,776</a:t>
                      </a:r>
                      <a:endParaRPr/>
                    </a:p>
                  </a:txBody>
                  <a:tcPr marL="73150" marR="73150" marT="45725" marB="45725" anchor="ctr">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Graduación</a:t>
                      </a:r>
                      <a:endParaRPr sz="1700" b="0" u="none" strike="noStrike" cap="none">
                        <a:solidFill>
                          <a:srgbClr val="0F1E36"/>
                        </a:solidFill>
                        <a:latin typeface="Calibri"/>
                        <a:ea typeface="Calibri"/>
                        <a:cs typeface="Calibri"/>
                        <a:sym typeface="Calibri"/>
                      </a:endParaRPr>
                    </a:p>
                  </a:txBody>
                  <a:tcPr marL="73150" marR="73150" marT="45725" marB="45725" anchor="ctr">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solidFill>
                      <a:srgbClr val="F7F9FC"/>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Árbol de decisión</a:t>
                      </a:r>
                      <a:endParaRPr sz="1700" b="0" u="none" strike="noStrike" cap="none">
                        <a:solidFill>
                          <a:srgbClr val="0F1E36"/>
                        </a:solidFill>
                        <a:latin typeface="Calibri"/>
                        <a:ea typeface="Calibri"/>
                        <a:cs typeface="Calibri"/>
                        <a:sym typeface="Calibri"/>
                      </a:endParaRPr>
                    </a:p>
                  </a:txBody>
                  <a:tcPr marL="73150" marR="73150" marT="45725" marB="45725" anchor="ctr">
                    <a:lnT w="12700" cap="flat" cmpd="sng">
                      <a:solidFill>
                        <a:schemeClr val="dk1"/>
                      </a:solidFill>
                      <a:prstDash val="solid"/>
                      <a:round/>
                      <a:headEnd type="none" w="sm" len="sm"/>
                      <a:tailEnd type="none" w="sm" len="sm"/>
                    </a:lnT>
                    <a:solidFill>
                      <a:srgbClr val="F7F9FC"/>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0,686</a:t>
                      </a:r>
                      <a:endParaRPr/>
                    </a:p>
                  </a:txBody>
                  <a:tcPr marL="73150" marR="73150" marT="45725" marB="45725" anchor="ctr">
                    <a:lnT w="12700" cap="flat" cmpd="sng">
                      <a:solidFill>
                        <a:schemeClr val="dk1"/>
                      </a:solidFill>
                      <a:prstDash val="solid"/>
                      <a:round/>
                      <a:headEnd type="none" w="sm" len="sm"/>
                      <a:tailEnd type="none" w="sm" len="sm"/>
                    </a:lnT>
                    <a:solidFill>
                      <a:srgbClr val="F7F9FC"/>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0,686</a:t>
                      </a:r>
                      <a:endParaRPr/>
                    </a:p>
                  </a:txBody>
                  <a:tcPr marL="73150" marR="73150" marT="45725" marB="45725" anchor="ctr">
                    <a:lnT w="12700" cap="flat" cmpd="sng">
                      <a:solidFill>
                        <a:schemeClr val="dk1"/>
                      </a:solidFill>
                      <a:prstDash val="solid"/>
                      <a:round/>
                      <a:headEnd type="none" w="sm" len="sm"/>
                      <a:tailEnd type="none" w="sm" len="sm"/>
                    </a:lnT>
                    <a:solidFill>
                      <a:srgbClr val="F7F9FC"/>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0,728</a:t>
                      </a:r>
                      <a:endParaRPr/>
                    </a:p>
                  </a:txBody>
                  <a:tcPr marL="73150" marR="73150" marT="45725" marB="45725" anchor="ctr">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solidFill>
                      <a:srgbClr val="F7F9FC"/>
                    </a:solidFill>
                  </a:tcPr>
                </a:tc>
                <a:extLst>
                  <a:ext uri="{0D108BD9-81ED-4DB2-BD59-A6C34878D82A}">
                    <a16:rowId xmlns:a16="http://schemas.microsoft.com/office/drawing/2014/main" val="10004"/>
                  </a:ext>
                </a:extLst>
              </a:tr>
              <a:tr h="548650">
                <a:tc>
                  <a:txBody>
                    <a:bodyPr/>
                    <a:lstStyle/>
                    <a:p>
                      <a:pPr marL="0" marR="0" lvl="0" indent="0" algn="l" rtl="0">
                        <a:spcBef>
                          <a:spcPts val="0"/>
                        </a:spcBef>
                        <a:spcAft>
                          <a:spcPts val="0"/>
                        </a:spcAft>
                        <a:buNone/>
                      </a:pPr>
                      <a:endParaRPr sz="1800" u="none" strike="noStrike" cap="none"/>
                    </a:p>
                  </a:txBody>
                  <a:tcPr marL="73150" marR="73150" marT="45725" marB="45725" anchor="ctr">
                    <a:lnL w="12700" cap="flat" cmpd="sng">
                      <a:solidFill>
                        <a:schemeClr val="dk1"/>
                      </a:solidFill>
                      <a:prstDash val="solid"/>
                      <a:round/>
                      <a:headEnd type="none" w="sm" len="sm"/>
                      <a:tailEnd type="none" w="sm" len="sm"/>
                    </a:lnL>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Random Forest</a:t>
                      </a:r>
                      <a:endParaRPr/>
                    </a:p>
                  </a:txBody>
                  <a:tcPr marL="73150" marR="73150" marT="45725" marB="45725" anchor="ctr">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0,657</a:t>
                      </a:r>
                      <a:endParaRPr/>
                    </a:p>
                  </a:txBody>
                  <a:tcPr marL="73150" marR="73150" marT="45725" marB="45725" anchor="ctr">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0,821</a:t>
                      </a:r>
                      <a:endParaRPr/>
                    </a:p>
                  </a:txBody>
                  <a:tcPr marL="73150" marR="73150" marT="45725" marB="45725" anchor="ctr">
                    <a:solidFill>
                      <a:srgbClr val="FFFFFF"/>
                    </a:solidFill>
                  </a:tcPr>
                </a:tc>
                <a:tc>
                  <a:txBody>
                    <a:bodyPr/>
                    <a:lstStyle/>
                    <a:p>
                      <a:pPr marL="0" marR="0" lvl="0" indent="0" algn="ctr" rtl="0">
                        <a:spcBef>
                          <a:spcPts val="0"/>
                        </a:spcBef>
                        <a:spcAft>
                          <a:spcPts val="0"/>
                        </a:spcAft>
                        <a:buNone/>
                      </a:pPr>
                      <a:r>
                        <a:rPr lang="en-US" sz="1700" b="0" u="none" strike="noStrike" cap="none">
                          <a:solidFill>
                            <a:srgbClr val="0F1E36"/>
                          </a:solidFill>
                          <a:latin typeface="Calibri"/>
                          <a:ea typeface="Calibri"/>
                          <a:cs typeface="Calibri"/>
                          <a:sym typeface="Calibri"/>
                        </a:rPr>
                        <a:t>0,844</a:t>
                      </a:r>
                      <a:endParaRPr/>
                    </a:p>
                  </a:txBody>
                  <a:tcPr marL="73150" marR="73150" marT="45725" marB="45725" anchor="ctr">
                    <a:lnR w="12700" cap="flat" cmpd="sng">
                      <a:solidFill>
                        <a:schemeClr val="dk1"/>
                      </a:solidFill>
                      <a:prstDash val="solid"/>
                      <a:round/>
                      <a:headEnd type="none" w="sm" len="sm"/>
                      <a:tailEnd type="none" w="sm" len="sm"/>
                    </a:lnR>
                    <a:solidFill>
                      <a:srgbClr val="FFFFFF"/>
                    </a:solidFill>
                  </a:tcPr>
                </a:tc>
                <a:extLst>
                  <a:ext uri="{0D108BD9-81ED-4DB2-BD59-A6C34878D82A}">
                    <a16:rowId xmlns:a16="http://schemas.microsoft.com/office/drawing/2014/main" val="10005"/>
                  </a:ext>
                </a:extLst>
              </a:tr>
              <a:tr h="548650">
                <a:tc>
                  <a:txBody>
                    <a:bodyPr/>
                    <a:lstStyle/>
                    <a:p>
                      <a:pPr marL="0" marR="0" lvl="0" indent="0" algn="l" rtl="0">
                        <a:spcBef>
                          <a:spcPts val="0"/>
                        </a:spcBef>
                        <a:spcAft>
                          <a:spcPts val="0"/>
                        </a:spcAft>
                        <a:buNone/>
                      </a:pPr>
                      <a:endParaRPr sz="1800" u="none" strike="noStrike" cap="none"/>
                    </a:p>
                  </a:txBody>
                  <a:tcPr marL="73150" marR="73150" marT="45725" marB="45725" anchor="ctr">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solidFill>
                      <a:srgbClr val="F7F9FC"/>
                    </a:solidFill>
                  </a:tcPr>
                </a:tc>
                <a:tc>
                  <a:txBody>
                    <a:bodyPr/>
                    <a:lstStyle/>
                    <a:p>
                      <a:pPr marL="0" marR="0" lvl="0" indent="0" algn="l" rtl="0">
                        <a:spcBef>
                          <a:spcPts val="0"/>
                        </a:spcBef>
                        <a:spcAft>
                          <a:spcPts val="0"/>
                        </a:spcAft>
                        <a:buNone/>
                      </a:pPr>
                      <a:r>
                        <a:rPr lang="en-US" sz="1700" b="1" u="none" strike="noStrike" cap="none">
                          <a:solidFill>
                            <a:srgbClr val="047857"/>
                          </a:solidFill>
                          <a:latin typeface="Calibri"/>
                          <a:ea typeface="Calibri"/>
                          <a:cs typeface="Calibri"/>
                          <a:sym typeface="Calibri"/>
                        </a:rPr>
                        <a:t>XGBoost</a:t>
                      </a:r>
                      <a:endParaRPr/>
                    </a:p>
                  </a:txBody>
                  <a:tcPr marL="73150" marR="73150" marT="45725" marB="45725" anchor="ctr">
                    <a:lnB w="12700" cap="flat" cmpd="sng">
                      <a:solidFill>
                        <a:schemeClr val="dk1"/>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0,600</a:t>
                      </a:r>
                      <a:endParaRPr/>
                    </a:p>
                  </a:txBody>
                  <a:tcPr marL="73150" marR="73150" marT="45725" marB="45725" anchor="ctr">
                    <a:lnB w="12700" cap="flat" cmpd="sng">
                      <a:solidFill>
                        <a:schemeClr val="dk1"/>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0,808</a:t>
                      </a:r>
                      <a:endParaRPr/>
                    </a:p>
                  </a:txBody>
                  <a:tcPr marL="73150" marR="73150" marT="45725" marB="45725" anchor="ctr">
                    <a:lnB w="12700" cap="flat" cmpd="sng">
                      <a:solidFill>
                        <a:schemeClr val="dk1"/>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US" sz="1700" b="0" u="none" strike="noStrike" cap="none">
                          <a:solidFill>
                            <a:srgbClr val="047857"/>
                          </a:solidFill>
                          <a:latin typeface="Calibri"/>
                          <a:ea typeface="Calibri"/>
                          <a:cs typeface="Calibri"/>
                          <a:sym typeface="Calibri"/>
                        </a:rPr>
                        <a:t>0,853</a:t>
                      </a:r>
                      <a:endParaRPr/>
                    </a:p>
                  </a:txBody>
                  <a:tcPr marL="73150" marR="73150" marT="45725" marB="45725" anchor="ctr">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solidFill>
                      <a:srgbClr val="F7F9FC"/>
                    </a:solidFill>
                  </a:tcPr>
                </a:tc>
                <a:extLst>
                  <a:ext uri="{0D108BD9-81ED-4DB2-BD59-A6C34878D82A}">
                    <a16:rowId xmlns:a16="http://schemas.microsoft.com/office/drawing/2014/main" val="10006"/>
                  </a:ext>
                </a:extLst>
              </a:tr>
            </a:tbl>
          </a:graphicData>
        </a:graphic>
      </p:graphicFrame>
      <p:sp>
        <p:nvSpPr>
          <p:cNvPr id="173" name="Google Shape;173;p6"/>
          <p:cNvSpPr txBox="1"/>
          <p:nvPr/>
        </p:nvSpPr>
        <p:spPr>
          <a:xfrm>
            <a:off x="8321040" y="1737360"/>
            <a:ext cx="3017520" cy="10972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800" b="1" i="0">
                <a:solidFill>
                  <a:srgbClr val="0369A1"/>
                </a:solidFill>
                <a:latin typeface="Calibri"/>
                <a:ea typeface="Calibri"/>
                <a:cs typeface="Calibri"/>
                <a:sym typeface="Calibri"/>
              </a:rPr>
              <a:t>40,4 %</a:t>
            </a:r>
            <a:endParaRPr/>
          </a:p>
        </p:txBody>
      </p:sp>
      <p:sp>
        <p:nvSpPr>
          <p:cNvPr id="174" name="Google Shape;174;p6"/>
          <p:cNvSpPr txBox="1"/>
          <p:nvPr/>
        </p:nvSpPr>
        <p:spPr>
          <a:xfrm>
            <a:off x="8321040" y="2880360"/>
            <a:ext cx="3017520"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a:solidFill>
                  <a:srgbClr val="0F1E36"/>
                </a:solidFill>
                <a:latin typeface="Calibri"/>
                <a:ea typeface="Calibri"/>
                <a:cs typeface="Calibri"/>
                <a:sym typeface="Calibri"/>
              </a:rPr>
              <a:t>de la importancia del modelo corresponde al promedio del 1er semestre</a:t>
            </a:r>
            <a:endParaRPr sz="1800" b="0" i="0">
              <a:solidFill>
                <a:srgbClr val="0F1E36"/>
              </a:solidFill>
              <a:latin typeface="Calibri"/>
              <a:ea typeface="Calibri"/>
              <a:cs typeface="Calibri"/>
              <a:sym typeface="Calibri"/>
            </a:endParaRPr>
          </a:p>
        </p:txBody>
      </p:sp>
      <p:sp>
        <p:nvSpPr>
          <p:cNvPr id="175" name="Google Shape;175;p6"/>
          <p:cNvSpPr txBox="1"/>
          <p:nvPr/>
        </p:nvSpPr>
        <p:spPr>
          <a:xfrm>
            <a:off x="731520" y="5824728"/>
            <a:ext cx="868680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a:solidFill>
                  <a:srgbClr val="55657E"/>
                </a:solidFill>
                <a:latin typeface="Calibri"/>
                <a:ea typeface="Calibri"/>
                <a:cs typeface="Calibri"/>
                <a:sym typeface="Calibri"/>
              </a:rPr>
              <a:t>Exhaustividad: casos en riesgo detectados.   AUC: 1 = perfecto · 0,5 = azar.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82" name="Google Shape;182;p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7</a:t>
            </a:r>
            <a:endParaRPr/>
          </a:p>
        </p:txBody>
      </p:sp>
      <p:sp>
        <p:nvSpPr>
          <p:cNvPr id="183" name="Google Shape;183;p7"/>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HALLAZGOS PRELIMINARES</a:t>
            </a:r>
            <a:endParaRPr/>
          </a:p>
        </p:txBody>
      </p:sp>
      <p:sp>
        <p:nvSpPr>
          <p:cNvPr id="184" name="Google Shape;184;p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7"/>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Factores sin relación con el rendimiento</a:t>
            </a:r>
            <a:endParaRPr/>
          </a:p>
        </p:txBody>
      </p:sp>
      <p:sp>
        <p:nvSpPr>
          <p:cNvPr id="186" name="Google Shape;186;p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Resultados negativos: tampoco son predictores útiles en esta población</a:t>
            </a:r>
            <a:endParaRPr/>
          </a:p>
        </p:txBody>
      </p:sp>
      <p:pic>
        <p:nvPicPr>
          <p:cNvPr id="187" name="Google Shape;187;p7" descr="f04a_genero.png"/>
          <p:cNvPicPr preferRelativeResize="0"/>
          <p:nvPr/>
        </p:nvPicPr>
        <p:blipFill rotWithShape="1">
          <a:blip r:embed="rId4">
            <a:alphaModFix/>
          </a:blip>
          <a:srcRect/>
          <a:stretch/>
        </p:blipFill>
        <p:spPr>
          <a:xfrm>
            <a:off x="640079" y="1946807"/>
            <a:ext cx="3246120" cy="3421585"/>
          </a:xfrm>
          <a:prstGeom prst="rect">
            <a:avLst/>
          </a:prstGeom>
          <a:noFill/>
          <a:ln>
            <a:noFill/>
          </a:ln>
        </p:spPr>
      </p:pic>
      <p:pic>
        <p:nvPicPr>
          <p:cNvPr id="188" name="Google Shape;188;p7" descr="f04b_padres.png"/>
          <p:cNvPicPr preferRelativeResize="0"/>
          <p:nvPr/>
        </p:nvPicPr>
        <p:blipFill rotWithShape="1">
          <a:blip r:embed="rId5">
            <a:alphaModFix/>
          </a:blip>
          <a:srcRect/>
          <a:stretch/>
        </p:blipFill>
        <p:spPr>
          <a:xfrm>
            <a:off x="3977639" y="1950395"/>
            <a:ext cx="4114800" cy="3414408"/>
          </a:xfrm>
          <a:prstGeom prst="rect">
            <a:avLst/>
          </a:prstGeom>
          <a:noFill/>
          <a:ln>
            <a:noFill/>
          </a:ln>
        </p:spPr>
      </p:pic>
      <p:pic>
        <p:nvPicPr>
          <p:cNvPr id="189" name="Google Shape;189;p7" descr="f04c_repitencia.png"/>
          <p:cNvPicPr preferRelativeResize="0"/>
          <p:nvPr/>
        </p:nvPicPr>
        <p:blipFill rotWithShape="1">
          <a:blip r:embed="rId6">
            <a:alphaModFix/>
          </a:blip>
          <a:srcRect/>
          <a:stretch/>
        </p:blipFill>
        <p:spPr>
          <a:xfrm>
            <a:off x="8183879" y="1946807"/>
            <a:ext cx="3246120" cy="34215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196" name="Google Shape;196;p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8</a:t>
            </a:r>
            <a:endParaRPr/>
          </a:p>
        </p:txBody>
      </p:sp>
      <p:sp>
        <p:nvSpPr>
          <p:cNvPr id="197" name="Google Shape;197;p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COMPRENSIÓN DE LOS DATOS</a:t>
            </a:r>
            <a:endParaRPr/>
          </a:p>
        </p:txBody>
      </p:sp>
      <p:sp>
        <p:nvSpPr>
          <p:cNvPr id="198" name="Google Shape;198;p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8"/>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Asignaturas críticas</a:t>
            </a:r>
            <a:endParaRPr/>
          </a:p>
        </p:txBody>
      </p:sp>
      <p:sp>
        <p:nvSpPr>
          <p:cNvPr id="200" name="Google Shape;200;p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orden se conserva al traducir al plan 2018: el apoyo va al primer año</a:t>
            </a:r>
            <a:endParaRPr/>
          </a:p>
        </p:txBody>
      </p:sp>
      <p:pic>
        <p:nvPicPr>
          <p:cNvPr id="201" name="Google Shape;201;p8" descr="f03_criticas.png"/>
          <p:cNvPicPr preferRelativeResize="0"/>
          <p:nvPr/>
        </p:nvPicPr>
        <p:blipFill rotWithShape="1">
          <a:blip r:embed="rId4">
            <a:alphaModFix/>
          </a:blip>
          <a:srcRect/>
          <a:stretch/>
        </p:blipFill>
        <p:spPr>
          <a:xfrm>
            <a:off x="777240" y="1463040"/>
            <a:ext cx="10424159" cy="4343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08" name="Google Shape;208;p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9</a:t>
            </a:r>
            <a:endParaRPr/>
          </a:p>
        </p:txBody>
      </p:sp>
      <p:sp>
        <p:nvSpPr>
          <p:cNvPr id="209" name="Google Shape;209;p9"/>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10" name="Google Shape;210;p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11" name="Google Shape;211;p9"/>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Equivalencias entre planes de estudio</a:t>
            </a:r>
            <a:endParaRPr/>
          </a:p>
        </p:txBody>
      </p:sp>
      <p:sp>
        <p:nvSpPr>
          <p:cNvPr id="212" name="Google Shape;212;p9"/>
          <p:cNvSpPr txBox="1"/>
          <p:nvPr/>
        </p:nvSpPr>
        <p:spPr>
          <a:xfrm>
            <a:off x="731520" y="969264"/>
            <a:ext cx="1060704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72 equivalencias oficiales (Res. 036 de 2017), en rojo las críticas</a:t>
            </a:r>
            <a:endParaRPr sz="1800" b="0" i="0">
              <a:solidFill>
                <a:srgbClr val="55657E"/>
              </a:solidFill>
              <a:latin typeface="Calibri"/>
              <a:ea typeface="Calibri"/>
              <a:cs typeface="Calibri"/>
              <a:sym typeface="Calibri"/>
            </a:endParaRPr>
          </a:p>
        </p:txBody>
      </p:sp>
      <p:pic>
        <p:nvPicPr>
          <p:cNvPr id="213" name="Picture 212" descr="equivalencias_primer_anio.png"/>
          <p:cNvPicPr>
            <a:picLocks noChangeAspect="1"/>
          </p:cNvPicPr>
          <p:nvPr/>
        </p:nvPicPr>
        <p:blipFill>
          <a:blip r:embed="rId4"/>
          <a:stretch>
            <a:fillRect/>
          </a:stretch>
        </p:blipFill>
        <p:spPr>
          <a:xfrm>
            <a:off x="949139" y="1371600"/>
            <a:ext cx="10080361" cy="452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0"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20" name="Google Shape;220;p10"/>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10</a:t>
            </a:r>
            <a:endParaRPr/>
          </a:p>
        </p:txBody>
      </p:sp>
      <p:sp>
        <p:nvSpPr>
          <p:cNvPr id="221" name="Google Shape;221;p10"/>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22" name="Google Shape;222;p10"/>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10"/>
          <p:cNvSpPr txBox="1"/>
          <p:nvPr/>
        </p:nvSpPr>
        <p:spPr>
          <a:xfrm>
            <a:off x="731520" y="405788"/>
            <a:ext cx="10607100" cy="4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Antes de desplegar, se audita</a:t>
            </a:r>
            <a:endParaRPr/>
          </a:p>
        </p:txBody>
      </p:sp>
      <p:sp>
        <p:nvSpPr>
          <p:cNvPr id="224" name="Google Shape;224;p10"/>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Tres problemas de diseño experimental</a:t>
            </a:r>
            <a:endParaRPr/>
          </a:p>
        </p:txBody>
      </p:sp>
      <p:sp>
        <p:nvSpPr>
          <p:cNvPr id="225" name="Google Shape;225;p10"/>
          <p:cNvSpPr/>
          <p:nvPr/>
        </p:nvSpPr>
        <p:spPr>
          <a:xfrm>
            <a:off x="731520" y="1691640"/>
            <a:ext cx="82296" cy="3566160"/>
          </a:xfrm>
          <a:prstGeom prst="rect">
            <a:avLst/>
          </a:prstGeom>
          <a:solidFill>
            <a:srgbClr val="B91C1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0"/>
          <p:cNvSpPr txBox="1"/>
          <p:nvPr/>
        </p:nvSpPr>
        <p:spPr>
          <a:xfrm>
            <a:off x="1005840" y="1691640"/>
            <a:ext cx="30175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a:solidFill>
                  <a:srgbClr val="B91C1C"/>
                </a:solidFill>
                <a:latin typeface="Calibri"/>
                <a:ea typeface="Calibri"/>
                <a:cs typeface="Calibri"/>
                <a:sym typeface="Calibri"/>
              </a:rPr>
              <a:t>1 · Variable objetivo</a:t>
            </a:r>
            <a:endParaRPr/>
          </a:p>
        </p:txBody>
      </p:sp>
      <p:sp>
        <p:nvSpPr>
          <p:cNvPr id="227" name="Google Shape;227;p10"/>
          <p:cNvSpPr txBox="1"/>
          <p:nvPr/>
        </p:nvSpPr>
        <p:spPr>
          <a:xfrm>
            <a:off x="1005840" y="2377440"/>
            <a:ext cx="3017520" cy="12801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00" b="0" i="0">
                <a:solidFill>
                  <a:srgbClr val="0F1E36"/>
                </a:solidFill>
                <a:latin typeface="Calibri"/>
                <a:ea typeface="Calibri"/>
                <a:cs typeface="Calibri"/>
                <a:sym typeface="Calibri"/>
              </a:rPr>
              <a:t>El promedio de carrera contenía al predictor</a:t>
            </a:r>
            <a:endParaRPr/>
          </a:p>
        </p:txBody>
      </p:sp>
      <p:sp>
        <p:nvSpPr>
          <p:cNvPr id="228" name="Google Shape;228;p10"/>
          <p:cNvSpPr txBox="1"/>
          <p:nvPr/>
        </p:nvSpPr>
        <p:spPr>
          <a:xfrm>
            <a:off x="1005840" y="3931920"/>
            <a:ext cx="301752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Ahora</a:t>
            </a:r>
            <a:endParaRPr/>
          </a:p>
        </p:txBody>
      </p:sp>
      <p:sp>
        <p:nvSpPr>
          <p:cNvPr id="229" name="Google Shape;229;p10"/>
          <p:cNvSpPr txBox="1"/>
          <p:nvPr/>
        </p:nvSpPr>
        <p:spPr>
          <a:xfrm>
            <a:off x="1005840" y="4297680"/>
            <a:ext cx="3017400" cy="96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a:solidFill>
                  <a:srgbClr val="047857"/>
                </a:solidFill>
                <a:latin typeface="Calibri"/>
                <a:ea typeface="Calibri"/>
                <a:cs typeface="Calibri"/>
                <a:sym typeface="Calibri"/>
              </a:rPr>
              <a:t>Art. 19 del Reglamento:</a:t>
            </a:r>
            <a:endParaRPr sz="2100" b="1" i="0">
              <a:solidFill>
                <a:srgbClr val="047857"/>
              </a:solidFill>
              <a:latin typeface="Calibri"/>
              <a:ea typeface="Calibri"/>
              <a:cs typeface="Calibri"/>
              <a:sym typeface="Calibri"/>
            </a:endParaRPr>
          </a:p>
          <a:p>
            <a:pPr marL="0" marR="0" lvl="0" indent="0" algn="l" rtl="0">
              <a:spcBef>
                <a:spcPts val="0"/>
              </a:spcBef>
              <a:spcAft>
                <a:spcPts val="0"/>
              </a:spcAft>
              <a:buNone/>
            </a:pPr>
            <a:r>
              <a:rPr lang="en-US" sz="2100" b="1">
                <a:solidFill>
                  <a:srgbClr val="047857"/>
                </a:solidFill>
                <a:latin typeface="Calibri"/>
                <a:ea typeface="Calibri"/>
                <a:cs typeface="Calibri"/>
                <a:sym typeface="Calibri"/>
              </a:rPr>
              <a:t>Definición de Bajo rendimiento</a:t>
            </a:r>
            <a:r>
              <a:rPr sz="1400" b="0">
                <a:solidFill>
                  <a:srgbClr val="55657E"/>
                </a:solidFill>
                <a:latin typeface="Calibri"/>
              </a:rPr>
              <a:t>  [4]</a:t>
            </a:r>
            <a:endParaRPr sz="2100" b="1">
              <a:solidFill>
                <a:srgbClr val="047857"/>
              </a:solidFill>
              <a:latin typeface="Calibri"/>
              <a:ea typeface="Calibri"/>
              <a:cs typeface="Calibri"/>
              <a:sym typeface="Calibri"/>
            </a:endParaRPr>
          </a:p>
        </p:txBody>
      </p:sp>
      <p:sp>
        <p:nvSpPr>
          <p:cNvPr id="230" name="Google Shape;230;p10"/>
          <p:cNvSpPr/>
          <p:nvPr/>
        </p:nvSpPr>
        <p:spPr>
          <a:xfrm>
            <a:off x="4297680" y="1691640"/>
            <a:ext cx="82296" cy="3566160"/>
          </a:xfrm>
          <a:prstGeom prst="rect">
            <a:avLst/>
          </a:prstGeom>
          <a:solidFill>
            <a:srgbClr val="D9770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10"/>
          <p:cNvSpPr txBox="1"/>
          <p:nvPr/>
        </p:nvSpPr>
        <p:spPr>
          <a:xfrm>
            <a:off x="4572000" y="1691640"/>
            <a:ext cx="30175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a:solidFill>
                  <a:srgbClr val="D97706"/>
                </a:solidFill>
                <a:latin typeface="Calibri"/>
                <a:ea typeface="Calibri"/>
                <a:cs typeface="Calibri"/>
                <a:sym typeface="Calibri"/>
              </a:rPr>
              <a:t>2 · Hiperparámetros</a:t>
            </a:r>
            <a:endParaRPr/>
          </a:p>
        </p:txBody>
      </p:sp>
      <p:sp>
        <p:nvSpPr>
          <p:cNvPr id="232" name="Google Shape;232;p10"/>
          <p:cNvSpPr txBox="1"/>
          <p:nvPr/>
        </p:nvSpPr>
        <p:spPr>
          <a:xfrm>
            <a:off x="4572000" y="2377440"/>
            <a:ext cx="3017520" cy="12801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00" b="0" i="0">
                <a:solidFill>
                  <a:srgbClr val="0F1E36"/>
                </a:solidFill>
                <a:latin typeface="Calibri"/>
                <a:ea typeface="Calibri"/>
                <a:cs typeface="Calibri"/>
                <a:sym typeface="Calibri"/>
              </a:rPr>
              <a:t>Se ajustaban viendo los datos de evaluación</a:t>
            </a:r>
            <a:endParaRPr/>
          </a:p>
        </p:txBody>
      </p:sp>
      <p:sp>
        <p:nvSpPr>
          <p:cNvPr id="233" name="Google Shape;233;p10"/>
          <p:cNvSpPr txBox="1"/>
          <p:nvPr/>
        </p:nvSpPr>
        <p:spPr>
          <a:xfrm>
            <a:off x="4572000" y="3931920"/>
            <a:ext cx="301752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Ahora</a:t>
            </a:r>
            <a:endParaRPr/>
          </a:p>
        </p:txBody>
      </p:sp>
      <p:sp>
        <p:nvSpPr>
          <p:cNvPr id="234" name="Google Shape;234;p10"/>
          <p:cNvSpPr txBox="1"/>
          <p:nvPr/>
        </p:nvSpPr>
        <p:spPr>
          <a:xfrm>
            <a:off x="4572000" y="4297680"/>
            <a:ext cx="301752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a:solidFill>
                  <a:srgbClr val="047857"/>
                </a:solidFill>
                <a:latin typeface="Calibri"/>
                <a:ea typeface="Calibri"/>
                <a:cs typeface="Calibri"/>
                <a:sym typeface="Calibri"/>
              </a:rPr>
              <a:t>Validación anidada</a:t>
            </a:r>
            <a:r>
              <a:rPr sz="1400" b="0">
                <a:solidFill>
                  <a:srgbClr val="55657E"/>
                </a:solidFill>
                <a:latin typeface="Calibri"/>
              </a:rPr>
              <a:t>  [5], [6]</a:t>
            </a:r>
            <a:endParaRPr/>
          </a:p>
        </p:txBody>
      </p:sp>
      <p:sp>
        <p:nvSpPr>
          <p:cNvPr id="235" name="Google Shape;235;p10"/>
          <p:cNvSpPr/>
          <p:nvPr/>
        </p:nvSpPr>
        <p:spPr>
          <a:xfrm>
            <a:off x="7863840" y="1691640"/>
            <a:ext cx="82296" cy="3566160"/>
          </a:xfrm>
          <a:prstGeom prst="rect">
            <a:avLst/>
          </a:prstGeom>
          <a:solidFill>
            <a:srgbClr val="6D28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10"/>
          <p:cNvSpPr txBox="1"/>
          <p:nvPr/>
        </p:nvSpPr>
        <p:spPr>
          <a:xfrm>
            <a:off x="8138160" y="1691640"/>
            <a:ext cx="30175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a:solidFill>
                  <a:srgbClr val="6D28D9"/>
                </a:solidFill>
                <a:latin typeface="Calibri"/>
                <a:ea typeface="Calibri"/>
                <a:cs typeface="Calibri"/>
                <a:sym typeface="Calibri"/>
              </a:rPr>
              <a:t>3 · Selección de variables</a:t>
            </a:r>
            <a:endParaRPr/>
          </a:p>
        </p:txBody>
      </p:sp>
      <p:sp>
        <p:nvSpPr>
          <p:cNvPr id="237" name="Google Shape;237;p10"/>
          <p:cNvSpPr txBox="1"/>
          <p:nvPr/>
        </p:nvSpPr>
        <p:spPr>
          <a:xfrm>
            <a:off x="8138160" y="2377440"/>
            <a:ext cx="3017520" cy="12801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00" b="0" i="0">
                <a:solidFill>
                  <a:srgbClr val="0F1E36"/>
                </a:solidFill>
                <a:latin typeface="Calibri"/>
                <a:ea typeface="Calibri"/>
                <a:cs typeface="Calibri"/>
                <a:sym typeface="Calibri"/>
              </a:rPr>
              <a:t>Se elegían con toda la muestra</a:t>
            </a:r>
            <a:endParaRPr/>
          </a:p>
        </p:txBody>
      </p:sp>
      <p:sp>
        <p:nvSpPr>
          <p:cNvPr id="238" name="Google Shape;238;p10"/>
          <p:cNvSpPr txBox="1"/>
          <p:nvPr/>
        </p:nvSpPr>
        <p:spPr>
          <a:xfrm>
            <a:off x="8138160" y="3931920"/>
            <a:ext cx="301752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Ahora</a:t>
            </a:r>
            <a:endParaRPr/>
          </a:p>
        </p:txBody>
      </p:sp>
      <p:sp>
        <p:nvSpPr>
          <p:cNvPr id="239" name="Google Shape;239;p10"/>
          <p:cNvSpPr txBox="1"/>
          <p:nvPr/>
        </p:nvSpPr>
        <p:spPr>
          <a:xfrm>
            <a:off x="8138160" y="4297680"/>
            <a:ext cx="301752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a:solidFill>
                  <a:srgbClr val="047857"/>
                </a:solidFill>
                <a:latin typeface="Calibri"/>
                <a:ea typeface="Calibri"/>
                <a:cs typeface="Calibri"/>
                <a:sym typeface="Calibri"/>
              </a:rPr>
              <a:t>Dentro de cada partición</a:t>
            </a:r>
            <a:r>
              <a:rPr sz="1400" b="0">
                <a:solidFill>
                  <a:srgbClr val="55657E"/>
                </a:solidFill>
                <a:latin typeface="Calibri"/>
              </a:rPr>
              <a:t>  [7], [8]</a:t>
            </a:r>
            <a:endParaRPr/>
          </a:p>
        </p:txBody>
      </p:sp>
      <p:sp>
        <p:nvSpPr>
          <p:cNvPr id="240" name="Google Shape;240;p10"/>
          <p:cNvSpPr txBox="1"/>
          <p:nvPr/>
        </p:nvSpPr>
        <p:spPr>
          <a:xfrm>
            <a:off x="731520" y="5669280"/>
            <a:ext cx="9966960"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sz="1100" b="0" i="0" dirty="0">
                <a:solidFill>
                  <a:srgbClr val="55657E"/>
                </a:solidFill>
                <a:latin typeface="Calibri"/>
              </a:rPr>
              <a:t>[4] </a:t>
            </a:r>
            <a:r>
              <a:rPr sz="1100" b="0" i="0" dirty="0" err="1">
                <a:solidFill>
                  <a:srgbClr val="55657E"/>
                </a:solidFill>
                <a:latin typeface="Calibri"/>
              </a:rPr>
              <a:t>Reglamento</a:t>
            </a:r>
            <a:r>
              <a:rPr sz="1100" b="0" i="0" dirty="0">
                <a:solidFill>
                  <a:srgbClr val="55657E"/>
                </a:solidFill>
                <a:latin typeface="Calibri"/>
              </a:rPr>
              <a:t> </a:t>
            </a:r>
            <a:r>
              <a:rPr sz="1100" b="0" i="0" dirty="0" err="1">
                <a:solidFill>
                  <a:srgbClr val="55657E"/>
                </a:solidFill>
                <a:latin typeface="Calibri"/>
              </a:rPr>
              <a:t>Estudiantil</a:t>
            </a:r>
            <a:r>
              <a:rPr sz="1100" b="0" i="0" dirty="0">
                <a:solidFill>
                  <a:srgbClr val="55657E"/>
                </a:solidFill>
                <a:latin typeface="Calibri"/>
              </a:rPr>
              <a:t>, </a:t>
            </a:r>
            <a:r>
              <a:rPr sz="1100" b="0" i="0" dirty="0" err="1">
                <a:solidFill>
                  <a:srgbClr val="55657E"/>
                </a:solidFill>
                <a:latin typeface="Calibri"/>
              </a:rPr>
              <a:t>Acuerdo</a:t>
            </a:r>
            <a:r>
              <a:rPr sz="1100" b="0" i="0" dirty="0">
                <a:solidFill>
                  <a:srgbClr val="55657E"/>
                </a:solidFill>
                <a:latin typeface="Calibri"/>
              </a:rPr>
              <a:t> Superior 020 de 2021 · [5] Varma y Simon, 2006 · [6] Cawley y Talbot, 2010 · [7] </a:t>
            </a:r>
            <a:r>
              <a:rPr sz="1100" b="0" i="0" dirty="0" err="1">
                <a:solidFill>
                  <a:srgbClr val="55657E"/>
                </a:solidFill>
                <a:latin typeface="Calibri"/>
              </a:rPr>
              <a:t>Ambroise</a:t>
            </a:r>
            <a:r>
              <a:rPr sz="1100" b="0" i="0" dirty="0">
                <a:solidFill>
                  <a:srgbClr val="55657E"/>
                </a:solidFill>
                <a:latin typeface="Calibri"/>
              </a:rPr>
              <a:t> y McLachlan, 2002 · [8] Hastie, </a:t>
            </a:r>
            <a:r>
              <a:rPr sz="1100" b="0" i="0" dirty="0" err="1">
                <a:solidFill>
                  <a:srgbClr val="55657E"/>
                </a:solidFill>
                <a:latin typeface="Calibri"/>
              </a:rPr>
              <a:t>Tibshirani</a:t>
            </a:r>
            <a:r>
              <a:rPr sz="1100" b="0" i="0" dirty="0">
                <a:solidFill>
                  <a:srgbClr val="55657E"/>
                </a:solidFill>
                <a:latin typeface="Calibri"/>
              </a:rPr>
              <a:t> y Friedman, 2009, 7.10.2</a:t>
            </a:r>
            <a:endParaRPr sz="160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11"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47" name="Google Shape;247;p11"/>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11</a:t>
            </a:r>
            <a:endParaRPr/>
          </a:p>
        </p:txBody>
      </p:sp>
      <p:sp>
        <p:nvSpPr>
          <p:cNvPr id="248" name="Google Shape;248;p11"/>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1F5FAE"/>
                </a:solidFill>
                <a:latin typeface="Calibri"/>
                <a:ea typeface="Calibri"/>
                <a:cs typeface="Calibri"/>
                <a:sym typeface="Calibri"/>
              </a:rPr>
              <a:t>PREPARACIÓN DE LOS DATOS</a:t>
            </a:r>
            <a:endParaRPr/>
          </a:p>
        </p:txBody>
      </p:sp>
      <p:sp>
        <p:nvSpPr>
          <p:cNvPr id="249" name="Google Shape;249;p11"/>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p11"/>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sz="3000" b="1" i="0">
                <a:solidFill>
                  <a:srgbClr val="0F1E36"/>
                </a:solidFill>
                <a:latin typeface="Calibri"/>
              </a:rPr>
              <a:t>Cuánto sobreestimaba el resultado cada error</a:t>
            </a:r>
            <a:endParaRPr/>
          </a:p>
        </p:txBody>
      </p:sp>
      <p:sp>
        <p:nvSpPr>
          <p:cNvPr id="251" name="Google Shape;251;p11"/>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a:solidFill>
                  <a:srgbClr val="55657E"/>
                </a:solidFill>
                <a:latin typeface="Calibri"/>
              </a:rPr>
              <a:t>El modelo parecía mejor de lo que era: el AUC-PR medido con el error supera al medido correctamente</a:t>
            </a:r>
            <a:endParaRPr/>
          </a:p>
        </p:txBody>
      </p:sp>
      <p:pic>
        <p:nvPicPr>
          <p:cNvPr id="252" name="Picture 251" descr="f05_sesgos_v5.png"/>
          <p:cNvPicPr>
            <a:picLocks noChangeAspect="1"/>
          </p:cNvPicPr>
          <p:nvPr/>
        </p:nvPicPr>
        <p:blipFill>
          <a:blip r:embed="rId4"/>
          <a:stretch>
            <a:fillRect/>
          </a:stretch>
        </p:blipFill>
        <p:spPr>
          <a:xfrm>
            <a:off x="731520" y="1928260"/>
            <a:ext cx="10515599" cy="34129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1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59" name="Google Shape;259;p1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12</a:t>
            </a:r>
            <a:endParaRPr/>
          </a:p>
        </p:txBody>
      </p:sp>
      <p:sp>
        <p:nvSpPr>
          <p:cNvPr id="260" name="Google Shape;260;p12"/>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261" name="Google Shape;261;p1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Variable objetivo y variables</a:t>
            </a:r>
            <a:endParaRPr/>
          </a:p>
        </p:txBody>
      </p:sp>
      <p:sp>
        <p:nvSpPr>
          <p:cNvPr id="263" name="Google Shape;263;p12"/>
          <p:cNvSpPr txBox="1"/>
          <p:nvPr/>
        </p:nvSpPr>
        <p:spPr>
          <a:xfrm>
            <a:off x="731520" y="969264"/>
            <a:ext cx="1060704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Todo lo que el modelo usa existe al cierre del 1er semestre</a:t>
            </a:r>
            <a:endParaRPr sz="1800" b="0" i="0">
              <a:solidFill>
                <a:srgbClr val="55657E"/>
              </a:solidFill>
              <a:latin typeface="Calibri"/>
              <a:ea typeface="Calibri"/>
              <a:cs typeface="Calibri"/>
              <a:sym typeface="Calibri"/>
            </a:endParaRPr>
          </a:p>
        </p:txBody>
      </p:sp>
      <p:sp>
        <p:nvSpPr>
          <p:cNvPr id="264" name="Google Shape;264;p12"/>
          <p:cNvSpPr/>
          <p:nvPr/>
        </p:nvSpPr>
        <p:spPr>
          <a:xfrm>
            <a:off x="731520" y="1691640"/>
            <a:ext cx="4937760" cy="3566160"/>
          </a:xfrm>
          <a:prstGeom prst="roundRect">
            <a:avLst>
              <a:gd name="adj" fmla="val 6000"/>
            </a:avLst>
          </a:prstGeom>
          <a:solidFill>
            <a:srgbClr val="E8F0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12"/>
          <p:cNvSpPr txBox="1"/>
          <p:nvPr/>
        </p:nvSpPr>
        <p:spPr>
          <a:xfrm>
            <a:off x="1005840" y="1874519"/>
            <a:ext cx="4480500" cy="2062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1">
                <a:solidFill>
                  <a:srgbClr val="1F5FAE"/>
                </a:solidFill>
                <a:latin typeface="Calibri"/>
                <a:ea typeface="Calibri"/>
                <a:cs typeface="Calibri"/>
                <a:sym typeface="Calibri"/>
              </a:rPr>
              <a:t>Variable objetivo</a:t>
            </a:r>
            <a:endParaRPr sz="1800" b="1" i="1">
              <a:solidFill>
                <a:srgbClr val="1F5FAE"/>
              </a:solidFill>
              <a:latin typeface="Calibri"/>
              <a:ea typeface="Calibri"/>
              <a:cs typeface="Calibri"/>
              <a:sym typeface="Calibri"/>
            </a:endParaRPr>
          </a:p>
          <a:p>
            <a:pPr marL="0" marR="0" lvl="0" indent="0" algn="l" rtl="0">
              <a:spcBef>
                <a:spcPts val="0"/>
              </a:spcBef>
              <a:spcAft>
                <a:spcPts val="0"/>
              </a:spcAft>
              <a:buNone/>
            </a:pPr>
            <a:r>
              <a:rPr lang="en-US" sz="2400" b="1" i="0">
                <a:solidFill>
                  <a:srgbClr val="0F1E36"/>
                </a:solidFill>
                <a:latin typeface="Calibri"/>
                <a:ea typeface="Calibri"/>
                <a:cs typeface="Calibri"/>
                <a:sym typeface="Calibri"/>
              </a:rPr>
              <a:t>Art. 19 del Reglamento Estudiantil</a:t>
            </a:r>
            <a:endParaRPr sz="2400" b="1" i="0">
              <a:solidFill>
                <a:srgbClr val="0F1E36"/>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pérdida de la calidad de estudiante por bajo rendimiento</a:t>
            </a:r>
            <a:endParaRPr sz="1800" b="0" i="0">
              <a:solidFill>
                <a:srgbClr val="55657E"/>
              </a:solidFill>
              <a:latin typeface="Calibri"/>
              <a:ea typeface="Calibri"/>
              <a:cs typeface="Calibri"/>
              <a:sym typeface="Calibri"/>
            </a:endParaRPr>
          </a:p>
          <a:p>
            <a:pPr marL="0" marR="0" lvl="0" indent="0" algn="l" rtl="0">
              <a:spcBef>
                <a:spcPts val="0"/>
              </a:spcBef>
              <a:spcAft>
                <a:spcPts val="0"/>
              </a:spcAft>
              <a:buNone/>
            </a:pPr>
            <a:r>
              <a:rPr lang="en-US" sz="1000" b="0" i="0">
                <a:solidFill>
                  <a:srgbClr val="0F1E36"/>
                </a:solidFill>
                <a:latin typeface="Calibri"/>
                <a:ea typeface="Calibri"/>
                <a:cs typeface="Calibri"/>
                <a:sym typeface="Calibri"/>
              </a:rPr>
              <a:t> </a:t>
            </a:r>
            <a:endParaRPr/>
          </a:p>
          <a:p>
            <a:pPr marL="0" marR="0" lvl="0" indent="0" algn="l" rtl="0">
              <a:spcBef>
                <a:spcPts val="0"/>
              </a:spcBef>
              <a:spcAft>
                <a:spcPts val="0"/>
              </a:spcAft>
              <a:buNone/>
            </a:pPr>
            <a:r>
              <a:rPr lang="en-US" sz="3000" b="1" i="0">
                <a:solidFill>
                  <a:srgbClr val="D97706"/>
                </a:solidFill>
                <a:latin typeface="Calibri"/>
                <a:ea typeface="Calibri"/>
                <a:cs typeface="Calibri"/>
                <a:sym typeface="Calibri"/>
              </a:rPr>
              <a:t>19 casos de 80</a:t>
            </a:r>
            <a:endParaRPr>
              <a:solidFill>
                <a:srgbClr val="D97706"/>
              </a:solidFill>
            </a:endParaRPr>
          </a:p>
          <a:p>
            <a:pPr marL="0" marR="0" lvl="0" indent="0" algn="l" rtl="0">
              <a:spcBef>
                <a:spcPts val="0"/>
              </a:spcBef>
              <a:spcAft>
                <a:spcPts val="0"/>
              </a:spcAft>
              <a:buNone/>
            </a:pPr>
            <a:r>
              <a:rPr lang="en-US" sz="1600" b="0" i="0">
                <a:solidFill>
                  <a:srgbClr val="55657E"/>
                </a:solidFill>
                <a:latin typeface="Calibri"/>
                <a:ea typeface="Calibri"/>
                <a:cs typeface="Calibri"/>
                <a:sym typeface="Calibri"/>
              </a:rPr>
              <a:t>prevalencia 0,2375 = AUC-PR del azar</a:t>
            </a:r>
            <a:endParaRPr/>
          </a:p>
        </p:txBody>
      </p:sp>
      <p:sp>
        <p:nvSpPr>
          <p:cNvPr id="266" name="Google Shape;266;p12"/>
          <p:cNvSpPr txBox="1"/>
          <p:nvPr/>
        </p:nvSpPr>
        <p:spPr>
          <a:xfrm>
            <a:off x="8001000" y="1723644"/>
            <a:ext cx="51207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1">
                <a:solidFill>
                  <a:srgbClr val="1F5FAE"/>
                </a:solidFill>
                <a:latin typeface="Calibri"/>
                <a:ea typeface="Calibri"/>
                <a:cs typeface="Calibri"/>
                <a:sym typeface="Calibri"/>
              </a:rPr>
              <a:t>Seis variables (conjunto S3:ganador)</a:t>
            </a:r>
            <a:endParaRPr/>
          </a:p>
        </p:txBody>
      </p:sp>
      <p:sp>
        <p:nvSpPr>
          <p:cNvPr id="267" name="Google Shape;267;p12"/>
          <p:cNvSpPr txBox="1"/>
          <p:nvPr/>
        </p:nvSpPr>
        <p:spPr>
          <a:xfrm>
            <a:off x="6949440" y="2240280"/>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a:solidFill>
                  <a:srgbClr val="0F1E36"/>
                </a:solidFill>
                <a:latin typeface="Calibri"/>
                <a:ea typeface="Calibri"/>
                <a:cs typeface="Calibri"/>
                <a:sym typeface="Calibri"/>
              </a:rPr>
              <a:t>Promedio del 1.er semestre</a:t>
            </a:r>
            <a:endParaRPr/>
          </a:p>
        </p:txBody>
      </p:sp>
      <p:sp>
        <p:nvSpPr>
          <p:cNvPr id="268" name="Google Shape;268;p12"/>
          <p:cNvSpPr txBox="1"/>
          <p:nvPr/>
        </p:nvSpPr>
        <p:spPr>
          <a:xfrm>
            <a:off x="9875520" y="2240280"/>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académica</a:t>
            </a:r>
            <a:endParaRPr/>
          </a:p>
        </p:txBody>
      </p:sp>
      <p:sp>
        <p:nvSpPr>
          <p:cNvPr id="269" name="Google Shape;269;p12"/>
          <p:cNvSpPr txBox="1"/>
          <p:nvPr/>
        </p:nvSpPr>
        <p:spPr>
          <a:xfrm>
            <a:off x="6949440" y="2752344"/>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Sin primer semestre</a:t>
            </a:r>
            <a:endParaRPr/>
          </a:p>
        </p:txBody>
      </p:sp>
      <p:sp>
        <p:nvSpPr>
          <p:cNvPr id="270" name="Google Shape;270;p12"/>
          <p:cNvSpPr txBox="1"/>
          <p:nvPr/>
        </p:nvSpPr>
        <p:spPr>
          <a:xfrm>
            <a:off x="9875520" y="2752344"/>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indicador</a:t>
            </a:r>
            <a:endParaRPr/>
          </a:p>
        </p:txBody>
      </p:sp>
      <p:sp>
        <p:nvSpPr>
          <p:cNvPr id="271" name="Google Shape;271;p12"/>
          <p:cNvSpPr txBox="1"/>
          <p:nvPr/>
        </p:nvSpPr>
        <p:spPr>
          <a:xfrm>
            <a:off x="6949440" y="3264408"/>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 total</a:t>
            </a:r>
            <a:endParaRPr/>
          </a:p>
        </p:txBody>
      </p:sp>
      <p:sp>
        <p:nvSpPr>
          <p:cNvPr id="272" name="Google Shape;272;p12"/>
          <p:cNvSpPr txBox="1"/>
          <p:nvPr/>
        </p:nvSpPr>
        <p:spPr>
          <a:xfrm>
            <a:off x="9875520" y="3264408"/>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a:p>
        </p:txBody>
      </p:sp>
      <p:sp>
        <p:nvSpPr>
          <p:cNvPr id="273" name="Google Shape;273;p12"/>
          <p:cNvSpPr txBox="1"/>
          <p:nvPr/>
        </p:nvSpPr>
        <p:spPr>
          <a:xfrm>
            <a:off x="6949440" y="3776472"/>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 matemáticas</a:t>
            </a:r>
            <a:endParaRPr/>
          </a:p>
        </p:txBody>
      </p:sp>
      <p:sp>
        <p:nvSpPr>
          <p:cNvPr id="274" name="Google Shape;274;p12"/>
          <p:cNvSpPr txBox="1"/>
          <p:nvPr/>
        </p:nvSpPr>
        <p:spPr>
          <a:xfrm>
            <a:off x="9875520" y="3776472"/>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sz="1500" b="0" i="0">
              <a:solidFill>
                <a:srgbClr val="55657E"/>
              </a:solidFill>
              <a:latin typeface="Calibri"/>
              <a:ea typeface="Calibri"/>
              <a:cs typeface="Calibri"/>
              <a:sym typeface="Calibri"/>
            </a:endParaRPr>
          </a:p>
        </p:txBody>
      </p:sp>
      <p:sp>
        <p:nvSpPr>
          <p:cNvPr id="275" name="Google Shape;275;p12"/>
          <p:cNvSpPr txBox="1"/>
          <p:nvPr/>
        </p:nvSpPr>
        <p:spPr>
          <a:xfrm>
            <a:off x="6949440" y="4288536"/>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 lectura crítica</a:t>
            </a:r>
            <a:endParaRPr/>
          </a:p>
        </p:txBody>
      </p:sp>
      <p:sp>
        <p:nvSpPr>
          <p:cNvPr id="276" name="Google Shape;276;p12"/>
          <p:cNvSpPr txBox="1"/>
          <p:nvPr/>
        </p:nvSpPr>
        <p:spPr>
          <a:xfrm>
            <a:off x="9875520" y="4288536"/>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sz="1500" b="0" i="0">
              <a:solidFill>
                <a:srgbClr val="55657E"/>
              </a:solidFill>
              <a:latin typeface="Calibri"/>
              <a:ea typeface="Calibri"/>
              <a:cs typeface="Calibri"/>
              <a:sym typeface="Calibri"/>
            </a:endParaRPr>
          </a:p>
        </p:txBody>
      </p:sp>
      <p:sp>
        <p:nvSpPr>
          <p:cNvPr id="277" name="Google Shape;277;p12"/>
          <p:cNvSpPr txBox="1"/>
          <p:nvPr/>
        </p:nvSpPr>
        <p:spPr>
          <a:xfrm>
            <a:off x="6949440" y="4800600"/>
            <a:ext cx="3840480" cy="45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Saber 11 · c. naturales</a:t>
            </a:r>
            <a:endParaRPr/>
          </a:p>
        </p:txBody>
      </p:sp>
      <p:sp>
        <p:nvSpPr>
          <p:cNvPr id="278" name="Google Shape;278;p12"/>
          <p:cNvSpPr txBox="1"/>
          <p:nvPr/>
        </p:nvSpPr>
        <p:spPr>
          <a:xfrm>
            <a:off x="9875520" y="4800600"/>
            <a:ext cx="1371600" cy="457200"/>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1500" b="0" i="0">
                <a:solidFill>
                  <a:srgbClr val="55657E"/>
                </a:solidFill>
                <a:latin typeface="Calibri"/>
                <a:ea typeface="Calibri"/>
                <a:cs typeface="Calibri"/>
                <a:sym typeface="Calibri"/>
              </a:rPr>
              <a:t>ingreso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1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285" name="Google Shape;285;p1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13</a:t>
            </a:r>
            <a:endParaRPr/>
          </a:p>
        </p:txBody>
      </p:sp>
      <p:sp>
        <p:nvSpPr>
          <p:cNvPr id="286" name="Google Shape;286;p1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287" name="Google Shape;287;p1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3"/>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Cinco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1 de 2</a:t>
            </a:r>
            <a:endParaRPr/>
          </a:p>
        </p:txBody>
      </p:sp>
      <p:sp>
        <p:nvSpPr>
          <p:cNvPr id="289" name="Google Shape;289;p13"/>
          <p:cNvSpPr txBox="1"/>
          <p:nvPr/>
        </p:nvSpPr>
        <p:spPr>
          <a:xfrm>
            <a:off x="8381145" y="1005840"/>
            <a:ext cx="3108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Rejilla de hiperparámetros</a:t>
            </a:r>
            <a:endParaRPr/>
          </a:p>
        </p:txBody>
      </p:sp>
      <p:sp>
        <p:nvSpPr>
          <p:cNvPr id="290" name="Google Shape;290;p13"/>
          <p:cNvSpPr txBox="1"/>
          <p:nvPr/>
        </p:nvSpPr>
        <p:spPr>
          <a:xfrm>
            <a:off x="3657600" y="1005840"/>
            <a:ext cx="40233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Formulación</a:t>
            </a:r>
            <a:endParaRPr/>
          </a:p>
        </p:txBody>
      </p:sp>
      <p:sp>
        <p:nvSpPr>
          <p:cNvPr id="291" name="Google Shape;291;p13"/>
          <p:cNvSpPr/>
          <p:nvPr/>
        </p:nvSpPr>
        <p:spPr>
          <a:xfrm>
            <a:off x="731520" y="1444752"/>
            <a:ext cx="73152" cy="1271016"/>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2" name="Google Shape;292;p13"/>
          <p:cNvSpPr txBox="1"/>
          <p:nvPr/>
        </p:nvSpPr>
        <p:spPr>
          <a:xfrm>
            <a:off x="905283" y="1803213"/>
            <a:ext cx="2651700" cy="5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1F5FAE"/>
                </a:solidFill>
                <a:latin typeface="Calibri"/>
                <a:ea typeface="Calibri"/>
                <a:cs typeface="Calibri"/>
                <a:sym typeface="Calibri"/>
              </a:rPr>
              <a:t>Regresión logística</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suma ponderada </a:t>
            </a:r>
            <a:r>
              <a:rPr lang="en-US" sz="1500">
                <a:solidFill>
                  <a:srgbClr val="55657E"/>
                </a:solidFill>
                <a:latin typeface="Calibri"/>
                <a:ea typeface="Calibri"/>
                <a:cs typeface="Calibri"/>
                <a:sym typeface="Calibri"/>
              </a:rPr>
              <a:t>-&gt;</a:t>
            </a:r>
            <a:r>
              <a:rPr lang="en-US" sz="1500" b="0" i="0">
                <a:solidFill>
                  <a:srgbClr val="55657E"/>
                </a:solidFill>
                <a:latin typeface="Calibri"/>
                <a:ea typeface="Calibri"/>
                <a:cs typeface="Calibri"/>
                <a:sym typeface="Calibri"/>
              </a:rPr>
              <a:t> probabilidad</a:t>
            </a:r>
            <a:endParaRPr/>
          </a:p>
        </p:txBody>
      </p:sp>
      <p:pic>
        <p:nvPicPr>
          <p:cNvPr id="293" name="Google Shape;293;p13" descr="lr.png"/>
          <p:cNvPicPr preferRelativeResize="0"/>
          <p:nvPr/>
        </p:nvPicPr>
        <p:blipFill rotWithShape="1">
          <a:blip r:embed="rId4">
            <a:alphaModFix/>
          </a:blip>
          <a:srcRect/>
          <a:stretch/>
        </p:blipFill>
        <p:spPr>
          <a:xfrm>
            <a:off x="3657600" y="1476132"/>
            <a:ext cx="4027516" cy="1208254"/>
          </a:xfrm>
          <a:prstGeom prst="rect">
            <a:avLst/>
          </a:prstGeom>
          <a:noFill/>
          <a:ln>
            <a:noFill/>
          </a:ln>
        </p:spPr>
      </p:pic>
      <p:sp>
        <p:nvSpPr>
          <p:cNvPr id="294" name="Google Shape;294;p13"/>
          <p:cNvSpPr txBox="1"/>
          <p:nvPr/>
        </p:nvSpPr>
        <p:spPr>
          <a:xfrm>
            <a:off x="8381145" y="1575707"/>
            <a:ext cx="3154800" cy="692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C: 0,01 a 100 (8 valores)</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peso de clase: no / balanceado</a:t>
            </a:r>
            <a:endParaRPr/>
          </a:p>
          <a:p>
            <a:pPr marL="0" marR="0" lvl="0" indent="0" algn="l" rtl="0">
              <a:spcBef>
                <a:spcPts val="0"/>
              </a:spcBef>
              <a:spcAft>
                <a:spcPts val="0"/>
              </a:spcAft>
              <a:buNone/>
            </a:pPr>
            <a:r>
              <a:rPr lang="en-US" sz="1500" b="1" i="0">
                <a:solidFill>
                  <a:srgbClr val="1F5FAE"/>
                </a:solidFill>
                <a:latin typeface="Calibri"/>
                <a:ea typeface="Calibri"/>
                <a:cs typeface="Calibri"/>
                <a:sym typeface="Calibri"/>
              </a:rPr>
              <a:t>16 combinaciones</a:t>
            </a:r>
            <a:endParaRPr/>
          </a:p>
        </p:txBody>
      </p:sp>
      <p:sp>
        <p:nvSpPr>
          <p:cNvPr id="295" name="Google Shape;295;p13"/>
          <p:cNvSpPr/>
          <p:nvPr/>
        </p:nvSpPr>
        <p:spPr>
          <a:xfrm>
            <a:off x="731520" y="2907792"/>
            <a:ext cx="73152" cy="1179576"/>
          </a:xfrm>
          <a:prstGeom prst="rect">
            <a:avLst/>
          </a:prstGeom>
          <a:solidFill>
            <a:srgbClr val="D9770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3"/>
          <p:cNvSpPr txBox="1"/>
          <p:nvPr/>
        </p:nvSpPr>
        <p:spPr>
          <a:xfrm>
            <a:off x="960120" y="2834640"/>
            <a:ext cx="265176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D97706"/>
                </a:solidFill>
                <a:latin typeface="Calibri"/>
                <a:ea typeface="Calibri"/>
                <a:cs typeface="Calibri"/>
                <a:sym typeface="Calibri"/>
              </a:rPr>
              <a:t>Árbol de decisión</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preguntas sucesivas que reducen la impureza</a:t>
            </a:r>
            <a:endParaRPr/>
          </a:p>
        </p:txBody>
      </p:sp>
      <p:pic>
        <p:nvPicPr>
          <p:cNvPr id="297" name="Google Shape;297;p13" descr="arbol.png"/>
          <p:cNvPicPr preferRelativeResize="0"/>
          <p:nvPr/>
        </p:nvPicPr>
        <p:blipFill rotWithShape="1">
          <a:blip r:embed="rId5">
            <a:alphaModFix/>
          </a:blip>
          <a:srcRect/>
          <a:stretch/>
        </p:blipFill>
        <p:spPr>
          <a:xfrm>
            <a:off x="3657600" y="3036485"/>
            <a:ext cx="4297680" cy="922188"/>
          </a:xfrm>
          <a:prstGeom prst="rect">
            <a:avLst/>
          </a:prstGeom>
          <a:noFill/>
          <a:ln>
            <a:noFill/>
          </a:ln>
        </p:spPr>
      </p:pic>
      <p:sp>
        <p:nvSpPr>
          <p:cNvPr id="298" name="Google Shape;298;p13"/>
          <p:cNvSpPr txBox="1"/>
          <p:nvPr/>
        </p:nvSpPr>
        <p:spPr>
          <a:xfrm>
            <a:off x="8381145" y="3038747"/>
            <a:ext cx="3154800" cy="923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 4, 5</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hoja mínima: 1, 2, 4</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criterio: Gini / entropía</a:t>
            </a:r>
            <a:endParaRPr/>
          </a:p>
          <a:p>
            <a:pPr marL="0" marR="0" lvl="0" indent="0" algn="l" rtl="0">
              <a:spcBef>
                <a:spcPts val="0"/>
              </a:spcBef>
              <a:spcAft>
                <a:spcPts val="0"/>
              </a:spcAft>
              <a:buNone/>
            </a:pPr>
            <a:r>
              <a:rPr lang="en-US" sz="1500" b="1" i="0">
                <a:solidFill>
                  <a:srgbClr val="D97706"/>
                </a:solidFill>
                <a:latin typeface="Calibri"/>
                <a:ea typeface="Calibri"/>
                <a:cs typeface="Calibri"/>
                <a:sym typeface="Calibri"/>
              </a:rPr>
              <a:t>24 combinaciones</a:t>
            </a:r>
            <a:endParaRPr/>
          </a:p>
        </p:txBody>
      </p:sp>
      <p:sp>
        <p:nvSpPr>
          <p:cNvPr id="299" name="Google Shape;299;p13"/>
          <p:cNvSpPr/>
          <p:nvPr/>
        </p:nvSpPr>
        <p:spPr>
          <a:xfrm>
            <a:off x="731520" y="4279392"/>
            <a:ext cx="73152" cy="1408176"/>
          </a:xfrm>
          <a:prstGeom prst="rect">
            <a:avLst/>
          </a:prstGeom>
          <a:solidFill>
            <a:srgbClr val="04785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13"/>
          <p:cNvSpPr txBox="1"/>
          <p:nvPr/>
        </p:nvSpPr>
        <p:spPr>
          <a:xfrm>
            <a:off x="960120" y="4206240"/>
            <a:ext cx="2651760" cy="1554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047857"/>
                </a:solidFill>
                <a:latin typeface="Calibri"/>
                <a:ea typeface="Calibri"/>
                <a:cs typeface="Calibri"/>
                <a:sym typeface="Calibri"/>
              </a:rPr>
              <a:t>Random Forest</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promedio de B = 150 árboles con bootstrap y variables al azar</a:t>
            </a:r>
            <a:endParaRPr/>
          </a:p>
        </p:txBody>
      </p:sp>
      <p:pic>
        <p:nvPicPr>
          <p:cNvPr id="301" name="Google Shape;301;p13" descr="rf.png"/>
          <p:cNvPicPr preferRelativeResize="0"/>
          <p:nvPr/>
        </p:nvPicPr>
        <p:blipFill rotWithShape="1">
          <a:blip r:embed="rId6">
            <a:alphaModFix/>
          </a:blip>
          <a:srcRect/>
          <a:stretch/>
        </p:blipFill>
        <p:spPr>
          <a:xfrm>
            <a:off x="3657600" y="4590599"/>
            <a:ext cx="1903198" cy="785760"/>
          </a:xfrm>
          <a:prstGeom prst="rect">
            <a:avLst/>
          </a:prstGeom>
          <a:noFill/>
          <a:ln>
            <a:noFill/>
          </a:ln>
        </p:spPr>
      </p:pic>
      <p:sp>
        <p:nvSpPr>
          <p:cNvPr id="302" name="Google Shape;302;p13"/>
          <p:cNvSpPr txBox="1"/>
          <p:nvPr/>
        </p:nvSpPr>
        <p:spPr>
          <a:xfrm>
            <a:off x="8381145" y="4536699"/>
            <a:ext cx="3154800" cy="923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 4, sin límite</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hoja mínima: 1, 2, 4</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variables por corte: √p, todas</a:t>
            </a:r>
            <a:endParaRPr/>
          </a:p>
          <a:p>
            <a:pPr marL="0" marR="0" lvl="0" indent="0" algn="l" rtl="0">
              <a:spcBef>
                <a:spcPts val="0"/>
              </a:spcBef>
              <a:spcAft>
                <a:spcPts val="0"/>
              </a:spcAft>
              <a:buNone/>
            </a:pPr>
            <a:r>
              <a:rPr lang="en-US" sz="1500" b="1" i="0">
                <a:solidFill>
                  <a:srgbClr val="047857"/>
                </a:solidFill>
                <a:latin typeface="Calibri"/>
                <a:ea typeface="Calibri"/>
                <a:cs typeface="Calibri"/>
                <a:sym typeface="Calibri"/>
              </a:rPr>
              <a:t>24 combinaciones</a:t>
            </a:r>
            <a:endParaRPr/>
          </a:p>
        </p:txBody>
      </p:sp>
      <p:sp>
        <p:nvSpPr>
          <p:cNvPr id="303" name="TextBox 302"/>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Regresión logística y árbol de decisión [8]; Random Forest [9]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1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09" name="Google Shape;309;p1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14</a:t>
            </a:r>
            <a:endParaRPr/>
          </a:p>
        </p:txBody>
      </p:sp>
      <p:sp>
        <p:nvSpPr>
          <p:cNvPr id="310" name="Google Shape;310;p1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11" name="Google Shape;311;p1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2" name="Google Shape;312;p1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Cinco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2 de 2</a:t>
            </a:r>
            <a:endParaRPr/>
          </a:p>
        </p:txBody>
      </p:sp>
      <p:sp>
        <p:nvSpPr>
          <p:cNvPr id="313" name="Google Shape;313;p14"/>
          <p:cNvSpPr txBox="1"/>
          <p:nvPr/>
        </p:nvSpPr>
        <p:spPr>
          <a:xfrm>
            <a:off x="8138160" y="1005840"/>
            <a:ext cx="31089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Rejilla de hiperparámetros</a:t>
            </a:r>
            <a:endParaRPr/>
          </a:p>
        </p:txBody>
      </p:sp>
      <p:sp>
        <p:nvSpPr>
          <p:cNvPr id="314" name="Google Shape;314;p14"/>
          <p:cNvSpPr txBox="1"/>
          <p:nvPr/>
        </p:nvSpPr>
        <p:spPr>
          <a:xfrm>
            <a:off x="3657600" y="1005840"/>
            <a:ext cx="402336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a:solidFill>
                  <a:srgbClr val="55657E"/>
                </a:solidFill>
                <a:latin typeface="Calibri"/>
                <a:ea typeface="Calibri"/>
                <a:cs typeface="Calibri"/>
                <a:sym typeface="Calibri"/>
              </a:rPr>
              <a:t>Formulación</a:t>
            </a:r>
            <a:endParaRPr/>
          </a:p>
        </p:txBody>
      </p:sp>
      <p:sp>
        <p:nvSpPr>
          <p:cNvPr id="315" name="Google Shape;315;p14"/>
          <p:cNvSpPr/>
          <p:nvPr/>
        </p:nvSpPr>
        <p:spPr>
          <a:xfrm>
            <a:off x="731520" y="1490472"/>
            <a:ext cx="73152" cy="1453896"/>
          </a:xfrm>
          <a:prstGeom prst="rect">
            <a:avLst/>
          </a:prstGeom>
          <a:solidFill>
            <a:srgbClr val="6D28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14"/>
          <p:cNvSpPr txBox="1"/>
          <p:nvPr/>
        </p:nvSpPr>
        <p:spPr>
          <a:xfrm>
            <a:off x="960120" y="1417320"/>
            <a:ext cx="2651760" cy="1600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6D28D9"/>
                </a:solidFill>
                <a:latin typeface="Calibri"/>
                <a:ea typeface="Calibri"/>
                <a:cs typeface="Calibri"/>
                <a:sym typeface="Calibri"/>
              </a:rPr>
              <a:t>XGBoost</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árboles en secuencia: cada uno corrige al anterior</a:t>
            </a:r>
            <a:endParaRPr/>
          </a:p>
        </p:txBody>
      </p:sp>
      <p:pic>
        <p:nvPicPr>
          <p:cNvPr id="317" name="Google Shape;317;p14" descr="xgb.png"/>
          <p:cNvPicPr preferRelativeResize="0"/>
          <p:nvPr/>
        </p:nvPicPr>
        <p:blipFill rotWithShape="1">
          <a:blip r:embed="rId4">
            <a:alphaModFix/>
          </a:blip>
          <a:srcRect/>
          <a:stretch/>
        </p:blipFill>
        <p:spPr>
          <a:xfrm>
            <a:off x="3657600" y="1700160"/>
            <a:ext cx="4142024" cy="1034518"/>
          </a:xfrm>
          <a:prstGeom prst="rect">
            <a:avLst/>
          </a:prstGeom>
          <a:noFill/>
          <a:ln>
            <a:noFill/>
          </a:ln>
        </p:spPr>
      </p:pic>
      <p:sp>
        <p:nvSpPr>
          <p:cNvPr id="318" name="Google Shape;318;p14"/>
          <p:cNvSpPr txBox="1"/>
          <p:nvPr/>
        </p:nvSpPr>
        <p:spPr>
          <a:xfrm>
            <a:off x="8138160" y="1417320"/>
            <a:ext cx="3154680" cy="1600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árboles: 100, 200</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profundidad: 2, 3</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tasa η: 0,03, 0,1</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penalización λ: 0,5, 1, 2</a:t>
            </a:r>
            <a:endParaRPr/>
          </a:p>
          <a:p>
            <a:pPr marL="0" marR="0" lvl="0" indent="0" algn="l" rtl="0">
              <a:spcBef>
                <a:spcPts val="0"/>
              </a:spcBef>
              <a:spcAft>
                <a:spcPts val="0"/>
              </a:spcAft>
              <a:buNone/>
            </a:pPr>
            <a:r>
              <a:rPr lang="en-US" sz="1500" b="1" i="0">
                <a:solidFill>
                  <a:srgbClr val="6D28D9"/>
                </a:solidFill>
                <a:latin typeface="Calibri"/>
                <a:ea typeface="Calibri"/>
                <a:cs typeface="Calibri"/>
                <a:sym typeface="Calibri"/>
              </a:rPr>
              <a:t>24 combinaciones</a:t>
            </a:r>
            <a:endParaRPr/>
          </a:p>
        </p:txBody>
      </p:sp>
      <p:sp>
        <p:nvSpPr>
          <p:cNvPr id="319" name="Google Shape;319;p14"/>
          <p:cNvSpPr/>
          <p:nvPr/>
        </p:nvSpPr>
        <p:spPr>
          <a:xfrm>
            <a:off x="731520" y="3227832"/>
            <a:ext cx="73152" cy="1316736"/>
          </a:xfrm>
          <a:prstGeom prst="rect">
            <a:avLst/>
          </a:prstGeom>
          <a:solidFill>
            <a:srgbClr val="0F766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14"/>
          <p:cNvSpPr txBox="1"/>
          <p:nvPr/>
        </p:nvSpPr>
        <p:spPr>
          <a:xfrm>
            <a:off x="960120" y="3154680"/>
            <a:ext cx="2651760" cy="146304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a:solidFill>
                  <a:srgbClr val="0F766E"/>
                </a:solidFill>
                <a:latin typeface="Calibri"/>
                <a:ea typeface="Calibri"/>
                <a:cs typeface="Calibri"/>
                <a:sym typeface="Calibri"/>
              </a:rPr>
              <a:t>SVM (kernel RBF)</a:t>
            </a:r>
            <a:endParaRPr/>
          </a:p>
          <a:p>
            <a:pPr marL="0" marR="0" lvl="0" indent="0" algn="l" rtl="0">
              <a:spcBef>
                <a:spcPts val="0"/>
              </a:spcBef>
              <a:spcAft>
                <a:spcPts val="0"/>
              </a:spcAft>
              <a:buNone/>
            </a:pPr>
            <a:r>
              <a:rPr lang="en-US" sz="1500" b="0" i="0">
                <a:solidFill>
                  <a:srgbClr val="55657E"/>
                </a:solidFill>
                <a:latin typeface="Calibri"/>
                <a:ea typeface="Calibri"/>
                <a:cs typeface="Calibri"/>
                <a:sym typeface="Calibri"/>
              </a:rPr>
              <a:t>frontera de máxima separación, curva</a:t>
            </a:r>
            <a:endParaRPr/>
          </a:p>
        </p:txBody>
      </p:sp>
      <p:pic>
        <p:nvPicPr>
          <p:cNvPr id="321" name="Google Shape;321;p14" descr="svm.png"/>
          <p:cNvPicPr preferRelativeResize="0"/>
          <p:nvPr/>
        </p:nvPicPr>
        <p:blipFill rotWithShape="1">
          <a:blip r:embed="rId5">
            <a:alphaModFix/>
          </a:blip>
          <a:srcRect/>
          <a:stretch/>
        </p:blipFill>
        <p:spPr>
          <a:xfrm>
            <a:off x="3657600" y="3372889"/>
            <a:ext cx="3233858" cy="1026621"/>
          </a:xfrm>
          <a:prstGeom prst="rect">
            <a:avLst/>
          </a:prstGeom>
          <a:noFill/>
          <a:ln>
            <a:noFill/>
          </a:ln>
        </p:spPr>
      </p:pic>
      <p:sp>
        <p:nvSpPr>
          <p:cNvPr id="322" name="Google Shape;322;p14"/>
          <p:cNvSpPr txBox="1"/>
          <p:nvPr/>
        </p:nvSpPr>
        <p:spPr>
          <a:xfrm>
            <a:off x="8138160" y="3154680"/>
            <a:ext cx="3154680" cy="146304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0" i="0">
                <a:solidFill>
                  <a:srgbClr val="0F1E36"/>
                </a:solidFill>
                <a:latin typeface="Calibri"/>
                <a:ea typeface="Calibri"/>
                <a:cs typeface="Calibri"/>
                <a:sym typeface="Calibri"/>
              </a:rPr>
              <a:t>C: 0,1 a 10 (5 valores)</a:t>
            </a:r>
            <a:endParaRPr/>
          </a:p>
          <a:p>
            <a:pPr marL="0" marR="0" lvl="0" indent="0" algn="l" rtl="0">
              <a:spcBef>
                <a:spcPts val="0"/>
              </a:spcBef>
              <a:spcAft>
                <a:spcPts val="0"/>
              </a:spcAft>
              <a:buNone/>
            </a:pPr>
            <a:r>
              <a:rPr lang="en-US" sz="1500" b="0" i="0">
                <a:solidFill>
                  <a:srgbClr val="0F1E36"/>
                </a:solidFill>
                <a:latin typeface="Calibri"/>
                <a:ea typeface="Calibri"/>
                <a:cs typeface="Calibri"/>
                <a:sym typeface="Calibri"/>
              </a:rPr>
              <a:t>γ: scale, auto, 0,01, 0,1</a:t>
            </a:r>
            <a:endParaRPr/>
          </a:p>
          <a:p>
            <a:pPr marL="0" marR="0" lvl="0" indent="0" algn="l" rtl="0">
              <a:spcBef>
                <a:spcPts val="0"/>
              </a:spcBef>
              <a:spcAft>
                <a:spcPts val="0"/>
              </a:spcAft>
              <a:buNone/>
            </a:pPr>
            <a:r>
              <a:rPr lang="en-US" sz="1500" b="1" i="0">
                <a:solidFill>
                  <a:srgbClr val="0F766E"/>
                </a:solidFill>
                <a:latin typeface="Calibri"/>
                <a:ea typeface="Calibri"/>
                <a:cs typeface="Calibri"/>
                <a:sym typeface="Calibri"/>
              </a:rPr>
              <a:t>20 combinaciones</a:t>
            </a:r>
            <a:endParaRPr/>
          </a:p>
        </p:txBody>
      </p:sp>
      <p:sp>
        <p:nvSpPr>
          <p:cNvPr id="323" name="Google Shape;323;p14"/>
          <p:cNvSpPr/>
          <p:nvPr/>
        </p:nvSpPr>
        <p:spPr>
          <a:xfrm>
            <a:off x="731520" y="4892040"/>
            <a:ext cx="10515600" cy="777240"/>
          </a:xfrm>
          <a:prstGeom prst="roundRect">
            <a:avLst>
              <a:gd name="adj" fmla="val 6000"/>
            </a:avLst>
          </a:prstGeom>
          <a:solidFill>
            <a:srgbClr val="E8F0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24" name="Google Shape;324;p14"/>
          <p:cNvSpPr txBox="1"/>
          <p:nvPr/>
        </p:nvSpPr>
        <p:spPr>
          <a:xfrm>
            <a:off x="960120" y="5019050"/>
            <a:ext cx="10149840" cy="52322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1" i="0">
                <a:solidFill>
                  <a:srgbClr val="1F5FAE"/>
                </a:solidFill>
                <a:latin typeface="Calibri"/>
                <a:ea typeface="Calibri"/>
                <a:cs typeface="Calibri"/>
                <a:sym typeface="Calibri"/>
              </a:rPr>
              <a:t>Presupuesto equilibrado: </a:t>
            </a:r>
            <a:r>
              <a:rPr lang="en-US" sz="1700" b="0" i="0">
                <a:solidFill>
                  <a:srgbClr val="0F1E36"/>
                </a:solidFill>
                <a:latin typeface="Calibri"/>
                <a:ea typeface="Calibri"/>
                <a:cs typeface="Calibri"/>
                <a:sym typeface="Calibri"/>
              </a:rPr>
              <a:t>16-24 combinaciones por algoritmo</a:t>
            </a:r>
            <a:r>
              <a:rPr lang="en-US" sz="1700">
                <a:solidFill>
                  <a:srgbClr val="0F1E36"/>
                </a:solidFill>
                <a:latin typeface="Calibri"/>
                <a:ea typeface="Calibri"/>
                <a:cs typeface="Calibri"/>
                <a:sym typeface="Calibri"/>
              </a:rPr>
              <a:t>, </a:t>
            </a:r>
            <a:r>
              <a:rPr lang="en-US" sz="1700" b="0" i="0">
                <a:solidFill>
                  <a:srgbClr val="0F1E36"/>
                </a:solidFill>
                <a:latin typeface="Calibri"/>
                <a:ea typeface="Calibri"/>
                <a:cs typeface="Calibri"/>
                <a:sym typeface="Calibri"/>
              </a:rPr>
              <a:t>ante empate, el más simple: LR &gt; Árbol &gt; RF &gt; XGBoost </a:t>
            </a:r>
            <a:r>
              <a:rPr lang="en-US" sz="1700">
                <a:solidFill>
                  <a:srgbClr val="0F1E36"/>
                </a:solidFill>
                <a:latin typeface="Calibri"/>
                <a:ea typeface="Calibri"/>
                <a:cs typeface="Calibri"/>
                <a:sym typeface="Calibri"/>
              </a:rPr>
              <a:t>&gt; </a:t>
            </a:r>
            <a:r>
              <a:rPr lang="en-US" sz="1700" b="0" i="0">
                <a:solidFill>
                  <a:srgbClr val="0F1E36"/>
                </a:solidFill>
                <a:latin typeface="Calibri"/>
                <a:ea typeface="Calibri"/>
                <a:cs typeface="Calibri"/>
                <a:sym typeface="Calibri"/>
              </a:rPr>
              <a:t>SVM</a:t>
            </a:r>
            <a:endParaRPr/>
          </a:p>
        </p:txBody>
      </p:sp>
      <p:sp>
        <p:nvSpPr>
          <p:cNvPr id="325" name="TextBox 324"/>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XGBoost [10]; SVM [11]; implementación en scikit-learn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1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31" name="Google Shape;331;p1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15</a:t>
            </a:r>
            <a:endParaRPr/>
          </a:p>
        </p:txBody>
      </p:sp>
      <p:sp>
        <p:nvSpPr>
          <p:cNvPr id="332" name="Google Shape;332;p15"/>
          <p:cNvSpPr txBox="1"/>
          <p:nvPr/>
        </p:nvSpPr>
        <p:spPr>
          <a:xfrm>
            <a:off x="731520" y="118872"/>
            <a:ext cx="731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33" name="Google Shape;333;p1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15"/>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Validación cruzada anidada</a:t>
            </a:r>
            <a:endParaRPr/>
          </a:p>
        </p:txBody>
      </p:sp>
      <p:sp>
        <p:nvSpPr>
          <p:cNvPr id="335" name="Google Shape;335;p1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Los datos de evaluación nunca participan en una decisión del modelo</a:t>
            </a:r>
            <a:endParaRPr/>
          </a:p>
        </p:txBody>
      </p:sp>
      <p:sp>
        <p:nvSpPr>
          <p:cNvPr id="337" name="TextBox 336"/>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Validación cruzada anidada [5], [6]; prueba t corregida [12]</a:t>
            </a:r>
          </a:p>
        </p:txBody>
      </p:sp>
      <p:pic>
        <p:nvPicPr>
          <p:cNvPr id="338" name="Picture 337" descr="validacion_anidada.png"/>
          <p:cNvPicPr>
            <a:picLocks noChangeAspect="1"/>
          </p:cNvPicPr>
          <p:nvPr/>
        </p:nvPicPr>
        <p:blipFill>
          <a:blip r:embed="rId4"/>
          <a:stretch>
            <a:fillRect/>
          </a:stretch>
        </p:blipFill>
        <p:spPr>
          <a:xfrm>
            <a:off x="731520" y="1523346"/>
            <a:ext cx="10515600" cy="44513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16"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43" name="Google Shape;343;p16"/>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16</a:t>
            </a:r>
            <a:endParaRPr/>
          </a:p>
        </p:txBody>
      </p:sp>
      <p:sp>
        <p:nvSpPr>
          <p:cNvPr id="344" name="Google Shape;344;p16"/>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45" name="Google Shape;345;p16"/>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6" name="Google Shape;346;p16"/>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¿Cuántas variables necesitamos?</a:t>
            </a:r>
            <a:endParaRPr/>
          </a:p>
        </p:txBody>
      </p:sp>
      <p:sp>
        <p:nvSpPr>
          <p:cNvPr id="347" name="Google Shape;347;p16"/>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Seis variables académicas rinden igual que las 19 candidatas</a:t>
            </a:r>
            <a:endParaRPr/>
          </a:p>
        </p:txBody>
      </p:sp>
      <p:pic>
        <p:nvPicPr>
          <p:cNvPr id="348" name="Google Shape;348;p16" descr="f06_ablacion.png"/>
          <p:cNvPicPr preferRelativeResize="0"/>
          <p:nvPr/>
        </p:nvPicPr>
        <p:blipFill rotWithShape="1">
          <a:blip r:embed="rId4">
            <a:alphaModFix/>
          </a:blip>
          <a:srcRect/>
          <a:stretch/>
        </p:blipFill>
        <p:spPr>
          <a:xfrm>
            <a:off x="2418080" y="1463040"/>
            <a:ext cx="7142480" cy="4343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1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55" name="Google Shape;355;p1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17</a:t>
            </a:r>
            <a:endParaRPr/>
          </a:p>
        </p:txBody>
      </p:sp>
      <p:sp>
        <p:nvSpPr>
          <p:cNvPr id="356" name="Google Shape;356;p17"/>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57" name="Google Shape;357;p1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58" name="Google Shape;358;p17"/>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Hiperparámetros elegidos por Random Forest</a:t>
            </a:r>
            <a:endParaRPr/>
          </a:p>
        </p:txBody>
      </p:sp>
      <p:sp>
        <p:nvSpPr>
          <p:cNvPr id="359" name="Google Shape;359;p1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Frecuencia en las 50 particiones externas: árboles poco profundos</a:t>
            </a:r>
            <a:endParaRPr/>
          </a:p>
        </p:txBody>
      </p:sp>
      <p:pic>
        <p:nvPicPr>
          <p:cNvPr id="360" name="Google Shape;360;p17" descr="f08_hiperparametros.png"/>
          <p:cNvPicPr preferRelativeResize="0"/>
          <p:nvPr/>
        </p:nvPicPr>
        <p:blipFill rotWithShape="1">
          <a:blip r:embed="rId4">
            <a:alphaModFix/>
          </a:blip>
          <a:srcRect/>
          <a:stretch/>
        </p:blipFill>
        <p:spPr>
          <a:xfrm>
            <a:off x="731520" y="1836018"/>
            <a:ext cx="10515600" cy="35974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1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67" name="Google Shape;367;p1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18</a:t>
            </a:r>
            <a:endParaRPr/>
          </a:p>
        </p:txBody>
      </p:sp>
      <p:sp>
        <p:nvSpPr>
          <p:cNvPr id="368" name="Google Shape;368;p1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C2410C"/>
                </a:solidFill>
                <a:latin typeface="Calibri"/>
                <a:ea typeface="Calibri"/>
                <a:cs typeface="Calibri"/>
                <a:sym typeface="Calibri"/>
              </a:rPr>
              <a:t>MODELADO</a:t>
            </a:r>
            <a:endParaRPr/>
          </a:p>
        </p:txBody>
      </p:sp>
      <p:sp>
        <p:nvSpPr>
          <p:cNvPr id="369" name="Google Shape;369;p1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70" name="Google Shape;370;p18"/>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Importancia por permutación</a:t>
            </a:r>
            <a:endParaRPr/>
          </a:p>
        </p:txBody>
      </p:sp>
      <p:sp>
        <p:nvSpPr>
          <p:cNvPr id="371" name="Google Shape;371;p1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promedio del 1.er semestre concentra la señal</a:t>
            </a:r>
            <a:endParaRPr/>
          </a:p>
        </p:txBody>
      </p:sp>
      <p:pic>
        <p:nvPicPr>
          <p:cNvPr id="372" name="Google Shape;372;p18" descr="f07_permutacion.png"/>
          <p:cNvPicPr preferRelativeResize="0"/>
          <p:nvPr/>
        </p:nvPicPr>
        <p:blipFill rotWithShape="1">
          <a:blip r:embed="rId4">
            <a:alphaModFix/>
          </a:blip>
          <a:srcRect/>
          <a:stretch/>
        </p:blipFill>
        <p:spPr>
          <a:xfrm>
            <a:off x="3093720" y="1463040"/>
            <a:ext cx="5791200" cy="4343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1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79" name="Google Shape;379;p1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19</a:t>
            </a:r>
            <a:endParaRPr/>
          </a:p>
        </p:txBody>
      </p:sp>
      <p:sp>
        <p:nvSpPr>
          <p:cNvPr id="380" name="Google Shape;380;p19"/>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381" name="Google Shape;381;p1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19"/>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Comparación de algoritmos</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métrica AUC-PR</a:t>
            </a:r>
            <a:endParaRPr/>
          </a:p>
        </p:txBody>
      </p:sp>
      <p:sp>
        <p:nvSpPr>
          <p:cNvPr id="383" name="Google Shape;383;p19"/>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80 estudiantes </a:t>
            </a:r>
            <a:r>
              <a:rPr lang="en-US" sz="1800">
                <a:solidFill>
                  <a:srgbClr val="55657E"/>
                </a:solidFill>
                <a:latin typeface="Calibri"/>
                <a:ea typeface="Calibri"/>
                <a:cs typeface="Calibri"/>
                <a:sym typeface="Calibri"/>
              </a:rPr>
              <a:t>- </a:t>
            </a:r>
            <a:r>
              <a:rPr lang="en-US" sz="1800" b="0" i="0">
                <a:solidFill>
                  <a:srgbClr val="55657E"/>
                </a:solidFill>
                <a:latin typeface="Calibri"/>
                <a:ea typeface="Calibri"/>
                <a:cs typeface="Calibri"/>
                <a:sym typeface="Calibri"/>
              </a:rPr>
              <a:t>10 repeticiones × 5 particiones</a:t>
            </a:r>
            <a:endParaRPr/>
          </a:p>
        </p:txBody>
      </p:sp>
      <p:pic>
        <p:nvPicPr>
          <p:cNvPr id="384" name="Google Shape;384;p19" descr="aucpr.png"/>
          <p:cNvPicPr preferRelativeResize="0"/>
          <p:nvPr/>
        </p:nvPicPr>
        <p:blipFill rotWithShape="1">
          <a:blip r:embed="rId4">
            <a:alphaModFix/>
          </a:blip>
          <a:srcRect/>
          <a:stretch/>
        </p:blipFill>
        <p:spPr>
          <a:xfrm>
            <a:off x="8749982" y="914400"/>
            <a:ext cx="2251075" cy="457200"/>
          </a:xfrm>
          <a:prstGeom prst="rect">
            <a:avLst/>
          </a:prstGeom>
          <a:noFill/>
          <a:ln>
            <a:noFill/>
          </a:ln>
        </p:spPr>
      </p:pic>
      <p:pic>
        <p:nvPicPr>
          <p:cNvPr id="385" name="Google Shape;385;p19" descr="f09_aucpr_repeticiones.png"/>
          <p:cNvPicPr preferRelativeResize="0"/>
          <p:nvPr/>
        </p:nvPicPr>
        <p:blipFill rotWithShape="1">
          <a:blip r:embed="rId5">
            <a:alphaModFix/>
          </a:blip>
          <a:srcRect/>
          <a:stretch/>
        </p:blipFill>
        <p:spPr>
          <a:xfrm>
            <a:off x="777240" y="1508760"/>
            <a:ext cx="10424159" cy="4297680"/>
          </a:xfrm>
          <a:prstGeom prst="rect">
            <a:avLst/>
          </a:prstGeom>
          <a:noFill/>
          <a:ln>
            <a:noFill/>
          </a:ln>
        </p:spPr>
      </p:pic>
      <p:sp>
        <p:nvSpPr>
          <p:cNvPr id="386" name="TextBox 385"/>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AUC-PR como métrica para clases desbalanceadas [13]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20"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392" name="Google Shape;392;p20"/>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20</a:t>
            </a:r>
            <a:endParaRPr/>
          </a:p>
        </p:txBody>
      </p:sp>
      <p:sp>
        <p:nvSpPr>
          <p:cNvPr id="393" name="Google Shape;393;p20"/>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FASE 5 · EVALUACIÓN</a:t>
            </a:r>
            <a:endParaRPr/>
          </a:p>
        </p:txBody>
      </p:sp>
      <p:sp>
        <p:nvSpPr>
          <p:cNvPr id="394" name="Google Shape;394;p20"/>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95" name="Google Shape;395;p20"/>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Comparaciones pareadas</a:t>
            </a:r>
            <a:endParaRPr/>
          </a:p>
        </p:txBody>
      </p:sp>
      <p:sp>
        <p:nvSpPr>
          <p:cNvPr id="396" name="Google Shape;396;p20"/>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Diferencia de AUC-PR (fila − columna) </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t corregida de Nadeau-Bengio</a:t>
            </a:r>
            <a:endParaRPr/>
          </a:p>
        </p:txBody>
      </p:sp>
      <p:pic>
        <p:nvPicPr>
          <p:cNvPr id="397" name="Google Shape;397;p20" descr="f10_pareadas.png"/>
          <p:cNvPicPr preferRelativeResize="0"/>
          <p:nvPr/>
        </p:nvPicPr>
        <p:blipFill rotWithShape="1">
          <a:blip r:embed="rId4">
            <a:alphaModFix/>
          </a:blip>
          <a:srcRect/>
          <a:stretch/>
        </p:blipFill>
        <p:spPr>
          <a:xfrm>
            <a:off x="952342" y="1616640"/>
            <a:ext cx="10165403" cy="4343400"/>
          </a:xfrm>
          <a:prstGeom prst="rect">
            <a:avLst/>
          </a:prstGeom>
          <a:noFill/>
          <a:ln>
            <a:noFill/>
          </a:ln>
        </p:spPr>
      </p:pic>
      <p:sp>
        <p:nvSpPr>
          <p:cNvPr id="398" name="TextBox 397"/>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Prueba t corregida para validación cruzada repetida [12]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21"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04" name="Google Shape;404;p21"/>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21</a:t>
            </a:r>
            <a:endParaRPr/>
          </a:p>
        </p:txBody>
      </p:sp>
      <p:sp>
        <p:nvSpPr>
          <p:cNvPr id="405" name="Google Shape;405;p21"/>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06" name="Google Shape;406;p21"/>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p21"/>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dirty="0" err="1">
                <a:solidFill>
                  <a:srgbClr val="0F1E36"/>
                </a:solidFill>
                <a:latin typeface="Calibri"/>
                <a:ea typeface="Calibri"/>
                <a:cs typeface="Calibri"/>
                <a:sym typeface="Calibri"/>
              </a:rPr>
              <a:t>Curvas</a:t>
            </a:r>
            <a:r>
              <a:rPr lang="en-US" sz="3000" b="1" i="0" dirty="0">
                <a:solidFill>
                  <a:srgbClr val="0F1E36"/>
                </a:solidFill>
                <a:latin typeface="Calibri"/>
                <a:ea typeface="Calibri"/>
                <a:cs typeface="Calibri"/>
                <a:sym typeface="Calibri"/>
              </a:rPr>
              <a:t> de </a:t>
            </a:r>
            <a:r>
              <a:rPr lang="en-US" sz="3000" b="1" i="0" dirty="0" err="1">
                <a:solidFill>
                  <a:srgbClr val="0F1E36"/>
                </a:solidFill>
                <a:latin typeface="Calibri"/>
                <a:ea typeface="Calibri"/>
                <a:cs typeface="Calibri"/>
                <a:sym typeface="Calibri"/>
              </a:rPr>
              <a:t>precisión-exhaustividad</a:t>
            </a:r>
            <a:r>
              <a:rPr lang="en-US" sz="3000" b="1" i="0" dirty="0">
                <a:solidFill>
                  <a:srgbClr val="0F1E36"/>
                </a:solidFill>
                <a:latin typeface="Calibri"/>
                <a:ea typeface="Calibri"/>
                <a:cs typeface="Calibri"/>
                <a:sym typeface="Calibri"/>
              </a:rPr>
              <a:t> y ROC</a:t>
            </a:r>
            <a:endParaRPr dirty="0"/>
          </a:p>
        </p:txBody>
      </p:sp>
      <p:sp>
        <p:nvSpPr>
          <p:cNvPr id="408" name="Google Shape;408;p21"/>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dirty="0" err="1">
                <a:solidFill>
                  <a:srgbClr val="55657E"/>
                </a:solidFill>
                <a:latin typeface="Calibri"/>
                <a:ea typeface="Calibri"/>
                <a:cs typeface="Calibri"/>
                <a:sym typeface="Calibri"/>
              </a:rPr>
              <a:t>Predicciones</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fuera</a:t>
            </a:r>
            <a:r>
              <a:rPr lang="en-US" sz="1800" b="0" i="0" dirty="0">
                <a:solidFill>
                  <a:srgbClr val="55657E"/>
                </a:solidFill>
                <a:latin typeface="Calibri"/>
                <a:ea typeface="Calibri"/>
                <a:cs typeface="Calibri"/>
                <a:sym typeface="Calibri"/>
              </a:rPr>
              <a:t> de </a:t>
            </a:r>
            <a:r>
              <a:rPr lang="en-US" sz="1800" b="0" i="0" dirty="0" err="1">
                <a:solidFill>
                  <a:srgbClr val="55657E"/>
                </a:solidFill>
                <a:latin typeface="Calibri"/>
                <a:ea typeface="Calibri"/>
                <a:cs typeface="Calibri"/>
                <a:sym typeface="Calibri"/>
              </a:rPr>
              <a:t>muestra</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promediadas</a:t>
            </a:r>
            <a:r>
              <a:rPr lang="en-US" sz="1800" b="0" i="0" dirty="0">
                <a:solidFill>
                  <a:srgbClr val="55657E"/>
                </a:solidFill>
                <a:latin typeface="Calibri"/>
                <a:ea typeface="Calibri"/>
                <a:cs typeface="Calibri"/>
                <a:sym typeface="Calibri"/>
              </a:rPr>
              <a:t> </a:t>
            </a:r>
            <a:r>
              <a:rPr lang="en-US" sz="1800" b="0" i="0" dirty="0" err="1">
                <a:solidFill>
                  <a:srgbClr val="55657E"/>
                </a:solidFill>
                <a:latin typeface="Calibri"/>
                <a:ea typeface="Calibri"/>
                <a:cs typeface="Calibri"/>
                <a:sym typeface="Calibri"/>
              </a:rPr>
              <a:t>en</a:t>
            </a:r>
            <a:r>
              <a:rPr lang="en-US" sz="1800" b="0" i="0" dirty="0">
                <a:solidFill>
                  <a:srgbClr val="55657E"/>
                </a:solidFill>
                <a:latin typeface="Calibri"/>
                <a:ea typeface="Calibri"/>
                <a:cs typeface="Calibri"/>
                <a:sym typeface="Calibri"/>
              </a:rPr>
              <a:t> las 10 </a:t>
            </a:r>
            <a:r>
              <a:rPr lang="en-US" sz="1800" b="0" i="0" dirty="0" err="1">
                <a:solidFill>
                  <a:srgbClr val="55657E"/>
                </a:solidFill>
                <a:latin typeface="Calibri"/>
                <a:ea typeface="Calibri"/>
                <a:cs typeface="Calibri"/>
                <a:sym typeface="Calibri"/>
              </a:rPr>
              <a:t>repeticiones</a:t>
            </a:r>
            <a:endParaRPr dirty="0"/>
          </a:p>
        </p:txBody>
      </p:sp>
      <p:pic>
        <p:nvPicPr>
          <p:cNvPr id="409" name="Google Shape;409;p21" descr="f11_curvas.png"/>
          <p:cNvPicPr preferRelativeResize="0"/>
          <p:nvPr/>
        </p:nvPicPr>
        <p:blipFill rotWithShape="1">
          <a:blip r:embed="rId4">
            <a:alphaModFix/>
          </a:blip>
          <a:srcRect/>
          <a:stretch/>
        </p:blipFill>
        <p:spPr>
          <a:xfrm>
            <a:off x="936793" y="1463040"/>
            <a:ext cx="10105053" cy="4343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2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16" name="Google Shape;416;p2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22</a:t>
            </a:r>
            <a:endParaRPr/>
          </a:p>
        </p:txBody>
      </p:sp>
      <p:sp>
        <p:nvSpPr>
          <p:cNvPr id="417" name="Google Shape;417;p22"/>
          <p:cNvSpPr txBox="1"/>
          <p:nvPr/>
        </p:nvSpPr>
        <p:spPr>
          <a:xfrm>
            <a:off x="731520" y="118872"/>
            <a:ext cx="73152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FASE 5 · EVALUACIÓN</a:t>
            </a:r>
            <a:endParaRPr/>
          </a:p>
        </p:txBody>
      </p:sp>
      <p:sp>
        <p:nvSpPr>
          <p:cNvPr id="418" name="Google Shape;418;p2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22"/>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Matrices de confusión</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dos niveles de alerta</a:t>
            </a:r>
            <a:endParaRPr sz="3000" b="1" i="0">
              <a:solidFill>
                <a:srgbClr val="0F1E36"/>
              </a:solidFill>
              <a:latin typeface="Calibri"/>
              <a:ea typeface="Calibri"/>
              <a:cs typeface="Calibri"/>
              <a:sym typeface="Calibri"/>
            </a:endParaRPr>
          </a:p>
        </p:txBody>
      </p:sp>
      <p:sp>
        <p:nvSpPr>
          <p:cNvPr id="420" name="Google Shape;420;p22"/>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1800" b="0" i="0">
                <a:solidFill>
                  <a:srgbClr val="55657E"/>
                </a:solidFill>
                <a:latin typeface="Calibri"/>
              </a:rPr>
              <a:t>Porcentaje sobre cada fila; entre paréntesis, número de estudiantes</a:t>
            </a:r>
            <a:endParaRPr/>
          </a:p>
        </p:txBody>
      </p:sp>
      <p:pic>
        <p:nvPicPr>
          <p:cNvPr id="421" name="Picture 420" descr="f12_confusion_v5.png"/>
          <p:cNvPicPr>
            <a:picLocks noChangeAspect="1"/>
          </p:cNvPicPr>
          <p:nvPr/>
        </p:nvPicPr>
        <p:blipFill>
          <a:blip r:embed="rId4"/>
          <a:stretch>
            <a:fillRect/>
          </a:stretch>
        </p:blipFill>
        <p:spPr>
          <a:xfrm>
            <a:off x="817961" y="1751496"/>
            <a:ext cx="10434242" cy="430183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pic>
        <p:nvPicPr>
          <p:cNvPr id="427" name="Google Shape;427;p2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28" name="Google Shape;428;p2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23</a:t>
            </a:r>
            <a:endParaRPr/>
          </a:p>
        </p:txBody>
      </p:sp>
      <p:sp>
        <p:nvSpPr>
          <p:cNvPr id="429" name="Google Shape;429;p23"/>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30" name="Google Shape;430;p2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31" name="Google Shape;431;p2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Elección del umbral</a:t>
            </a:r>
            <a:endParaRPr/>
          </a:p>
        </p:txBody>
      </p:sp>
      <p:sp>
        <p:nvSpPr>
          <p:cNvPr id="432" name="Google Shape;432;p23"/>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Cuántos estudiantes acompañar lo decide la Universidad, no el modelo</a:t>
            </a:r>
            <a:endParaRPr/>
          </a:p>
        </p:txBody>
      </p:sp>
      <p:pic>
        <p:nvPicPr>
          <p:cNvPr id="433" name="Google Shape;433;p23" descr="f13_umbral.png"/>
          <p:cNvPicPr preferRelativeResize="0"/>
          <p:nvPr/>
        </p:nvPicPr>
        <p:blipFill rotWithShape="1">
          <a:blip r:embed="rId4">
            <a:alphaModFix/>
          </a:blip>
          <a:srcRect/>
          <a:stretch/>
        </p:blipFill>
        <p:spPr>
          <a:xfrm>
            <a:off x="790987" y="1463040"/>
            <a:ext cx="10396664" cy="4343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24"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40" name="Google Shape;440;p24"/>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24</a:t>
            </a:r>
            <a:endParaRPr/>
          </a:p>
        </p:txBody>
      </p:sp>
      <p:sp>
        <p:nvSpPr>
          <p:cNvPr id="441" name="Google Shape;441;p24"/>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42" name="Google Shape;442;p24"/>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24"/>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Segundo objetivo</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graduación</a:t>
            </a:r>
            <a:endParaRPr sz="3000" b="1" i="0">
              <a:solidFill>
                <a:srgbClr val="0F1E36"/>
              </a:solidFill>
              <a:latin typeface="Calibri"/>
              <a:ea typeface="Calibri"/>
              <a:cs typeface="Calibri"/>
              <a:sym typeface="Calibri"/>
            </a:endParaRPr>
          </a:p>
        </p:txBody>
      </p:sp>
      <p:sp>
        <p:nvSpPr>
          <p:cNvPr id="444" name="Google Shape;444;p24"/>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SVM y Random Forest empatan (p = 0,39)</a:t>
            </a:r>
            <a:r>
              <a:rPr lang="en-US" sz="1800">
                <a:solidFill>
                  <a:srgbClr val="55657E"/>
                </a:solidFill>
                <a:latin typeface="Calibri"/>
                <a:ea typeface="Calibri"/>
                <a:cs typeface="Calibri"/>
                <a:sym typeface="Calibri"/>
              </a:rPr>
              <a:t>, </a:t>
            </a:r>
            <a:r>
              <a:rPr lang="en-US" sz="1800" b="0" i="0">
                <a:solidFill>
                  <a:srgbClr val="55657E"/>
                </a:solidFill>
                <a:latin typeface="Calibri"/>
                <a:ea typeface="Calibri"/>
                <a:cs typeface="Calibri"/>
                <a:sym typeface="Calibri"/>
              </a:rPr>
              <a:t>se elige Random Forest</a:t>
            </a:r>
            <a:endParaRPr/>
          </a:p>
        </p:txBody>
      </p:sp>
      <p:pic>
        <p:nvPicPr>
          <p:cNvPr id="445" name="Google Shape;445;p24" descr="f14_graduacion.png"/>
          <p:cNvPicPr preferRelativeResize="0"/>
          <p:nvPr/>
        </p:nvPicPr>
        <p:blipFill rotWithShape="1">
          <a:blip r:embed="rId4">
            <a:alphaModFix/>
          </a:blip>
          <a:srcRect/>
          <a:stretch/>
        </p:blipFill>
        <p:spPr>
          <a:xfrm>
            <a:off x="731520" y="1515267"/>
            <a:ext cx="10515600" cy="423894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25"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52" name="Google Shape;452;p25"/>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25</a:t>
            </a:r>
            <a:endParaRPr/>
          </a:p>
        </p:txBody>
      </p:sp>
      <p:sp>
        <p:nvSpPr>
          <p:cNvPr id="453" name="Google Shape;453;p25"/>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54" name="Google Shape;454;p25"/>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55" name="Google Shape;455;p25"/>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1: casos simultáneos</a:t>
            </a:r>
            <a:endParaRPr sz="3000" b="1" i="0">
              <a:solidFill>
                <a:srgbClr val="0F1E36"/>
              </a:solidFill>
              <a:latin typeface="Calibri"/>
              <a:ea typeface="Calibri"/>
              <a:cs typeface="Calibri"/>
              <a:sym typeface="Calibri"/>
            </a:endParaRPr>
          </a:p>
        </p:txBody>
      </p:sp>
      <p:sp>
        <p:nvSpPr>
          <p:cNvPr id="456" name="Google Shape;456;p25"/>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42 % de los casos ocurre en el 1.er semestre: ahí el modelo confirma</a:t>
            </a:r>
            <a:endParaRPr/>
          </a:p>
        </p:txBody>
      </p:sp>
      <p:pic>
        <p:nvPicPr>
          <p:cNvPr id="457" name="Google Shape;457;p25" descr="f15_simultaneidad.png"/>
          <p:cNvPicPr preferRelativeResize="0"/>
          <p:nvPr/>
        </p:nvPicPr>
        <p:blipFill rotWithShape="1">
          <a:blip r:embed="rId4">
            <a:alphaModFix/>
          </a:blip>
          <a:srcRect/>
          <a:stretch/>
        </p:blipFill>
        <p:spPr>
          <a:xfrm>
            <a:off x="3059350" y="1463040"/>
            <a:ext cx="5859938" cy="4343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pic>
        <p:nvPicPr>
          <p:cNvPr id="463" name="Google Shape;463;p26"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64" name="Google Shape;464;p26"/>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26</a:t>
            </a:r>
            <a:endParaRPr/>
          </a:p>
        </p:txBody>
      </p:sp>
      <p:sp>
        <p:nvSpPr>
          <p:cNvPr id="465" name="Google Shape;465;p26"/>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66" name="Google Shape;466;p26"/>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67" name="Google Shape;467;p26"/>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2: calibración</a:t>
            </a:r>
            <a:endParaRPr sz="3000" b="1" i="0">
              <a:solidFill>
                <a:srgbClr val="0F1E36"/>
              </a:solidFill>
              <a:latin typeface="Calibri"/>
              <a:ea typeface="Calibri"/>
              <a:cs typeface="Calibri"/>
              <a:sym typeface="Calibri"/>
            </a:endParaRPr>
          </a:p>
        </p:txBody>
      </p:sp>
      <p:sp>
        <p:nvSpPr>
          <p:cNvPr id="468" name="Google Shape;468;p26"/>
          <p:cNvSpPr txBox="1"/>
          <p:nvPr/>
        </p:nvSpPr>
        <p:spPr>
          <a:xfrm>
            <a:off x="731520" y="969264"/>
            <a:ext cx="106071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Calibrar no mejora (se muestran niveles, no porcentajes)</a:t>
            </a:r>
            <a:endParaRPr/>
          </a:p>
        </p:txBody>
      </p:sp>
      <p:pic>
        <p:nvPicPr>
          <p:cNvPr id="469" name="Google Shape;469;p26" descr="f16_calibracion.png"/>
          <p:cNvPicPr preferRelativeResize="0"/>
          <p:nvPr/>
        </p:nvPicPr>
        <p:blipFill rotWithShape="1">
          <a:blip r:embed="rId4">
            <a:alphaModFix/>
          </a:blip>
          <a:srcRect/>
          <a:stretch/>
        </p:blipFill>
        <p:spPr>
          <a:xfrm>
            <a:off x="3643884" y="1463040"/>
            <a:ext cx="4690872" cy="4343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pic>
        <p:nvPicPr>
          <p:cNvPr id="475" name="Google Shape;475;p27"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76" name="Google Shape;476;p27"/>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27</a:t>
            </a:r>
            <a:endParaRPr/>
          </a:p>
        </p:txBody>
      </p:sp>
      <p:sp>
        <p:nvSpPr>
          <p:cNvPr id="477" name="Google Shape;477;p27"/>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78" name="Google Shape;478;p27"/>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79" name="Google Shape;479;p27"/>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 3: predicción semestre a semestre</a:t>
            </a:r>
            <a:endParaRPr sz="3000" b="1" i="0">
              <a:solidFill>
                <a:srgbClr val="0F1E36"/>
              </a:solidFill>
              <a:latin typeface="Calibri"/>
              <a:ea typeface="Calibri"/>
              <a:cs typeface="Calibri"/>
              <a:sym typeface="Calibri"/>
            </a:endParaRPr>
          </a:p>
        </p:txBody>
      </p:sp>
      <p:sp>
        <p:nvSpPr>
          <p:cNvPr id="480" name="Google Shape;480;p27"/>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Sin señal sobre el azar: el seguimiento usa el reglamento</a:t>
            </a:r>
            <a:endParaRPr/>
          </a:p>
        </p:txBody>
      </p:sp>
      <p:pic>
        <p:nvPicPr>
          <p:cNvPr id="481" name="Google Shape;481;p27" descr="f17_semestral.png"/>
          <p:cNvPicPr preferRelativeResize="0"/>
          <p:nvPr/>
        </p:nvPicPr>
        <p:blipFill rotWithShape="1">
          <a:blip r:embed="rId4">
            <a:alphaModFix/>
          </a:blip>
          <a:srcRect/>
          <a:stretch/>
        </p:blipFill>
        <p:spPr>
          <a:xfrm>
            <a:off x="2870320" y="1463040"/>
            <a:ext cx="6237998" cy="4343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28"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488" name="Google Shape;488;p28"/>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28</a:t>
            </a:r>
            <a:endParaRPr/>
          </a:p>
        </p:txBody>
      </p:sp>
      <p:sp>
        <p:nvSpPr>
          <p:cNvPr id="489" name="Google Shape;489;p28"/>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6D28D9"/>
                </a:solidFill>
                <a:latin typeface="Calibri"/>
                <a:ea typeface="Calibri"/>
                <a:cs typeface="Calibri"/>
                <a:sym typeface="Calibri"/>
              </a:rPr>
              <a:t>EVALUACIÓN</a:t>
            </a:r>
            <a:endParaRPr/>
          </a:p>
        </p:txBody>
      </p:sp>
      <p:sp>
        <p:nvSpPr>
          <p:cNvPr id="490" name="Google Shape;490;p28"/>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91" name="Google Shape;491;p28"/>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Robustez</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cambio al plan 2018</a:t>
            </a:r>
            <a:endParaRPr/>
          </a:p>
        </p:txBody>
      </p:sp>
      <p:sp>
        <p:nvSpPr>
          <p:cNvPr id="492" name="Google Shape;492;p28"/>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El desempeño se mantiene; los umbrales se ajustarán con la primera cohorte</a:t>
            </a:r>
            <a:endParaRPr/>
          </a:p>
        </p:txBody>
      </p:sp>
      <p:pic>
        <p:nvPicPr>
          <p:cNvPr id="493" name="Google Shape;493;p28" descr="f18_plan.png"/>
          <p:cNvPicPr preferRelativeResize="0"/>
          <p:nvPr/>
        </p:nvPicPr>
        <p:blipFill rotWithShape="1">
          <a:blip r:embed="rId4">
            <a:alphaModFix/>
          </a:blip>
          <a:srcRect/>
          <a:stretch/>
        </p:blipFill>
        <p:spPr>
          <a:xfrm>
            <a:off x="2830483" y="1463040"/>
            <a:ext cx="6317672" cy="4343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pic>
        <p:nvPicPr>
          <p:cNvPr id="499" name="Google Shape;499;p29"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00" name="Google Shape;500;p29"/>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29</a:t>
            </a:r>
            <a:endParaRPr/>
          </a:p>
        </p:txBody>
      </p:sp>
      <p:sp>
        <p:nvSpPr>
          <p:cNvPr id="501" name="Google Shape;501;p29"/>
          <p:cNvSpPr txBox="1"/>
          <p:nvPr/>
        </p:nvSpPr>
        <p:spPr>
          <a:xfrm>
            <a:off x="731520" y="118872"/>
            <a:ext cx="731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0F766E"/>
                </a:solidFill>
                <a:latin typeface="Calibri"/>
                <a:ea typeface="Calibri"/>
                <a:cs typeface="Calibri"/>
                <a:sym typeface="Calibri"/>
              </a:rPr>
              <a:t> DESPLIEGUE</a:t>
            </a:r>
            <a:endParaRPr/>
          </a:p>
        </p:txBody>
      </p:sp>
      <p:sp>
        <p:nvSpPr>
          <p:cNvPr id="502" name="Google Shape;502;p29"/>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03" name="Google Shape;503;p29"/>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TRAYECTA</a:t>
            </a:r>
            <a:endParaRPr/>
          </a:p>
        </p:txBody>
      </p:sp>
      <p:sp>
        <p:nvSpPr>
          <p:cNvPr id="504" name="Google Shape;504;p29"/>
          <p:cNvSpPr txBox="1"/>
          <p:nvPr/>
        </p:nvSpPr>
        <p:spPr>
          <a:xfrm>
            <a:off x="731520" y="969264"/>
            <a:ext cx="106071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Alerta y trayectoria académica</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referencia: SPADIES, a escala de programa</a:t>
            </a:r>
            <a:endParaRPr/>
          </a:p>
        </p:txBody>
      </p:sp>
      <p:graphicFrame>
        <p:nvGraphicFramePr>
          <p:cNvPr id="506" name="Google Shape;506;p29"/>
          <p:cNvGraphicFramePr/>
          <p:nvPr/>
        </p:nvGraphicFramePr>
        <p:xfrm>
          <a:off x="731520" y="3931920"/>
          <a:ext cx="10515575" cy="1828800"/>
        </p:xfrm>
        <a:graphic>
          <a:graphicData uri="http://schemas.openxmlformats.org/drawingml/2006/table">
            <a:tbl>
              <a:tblPr firstRow="1" bandRow="1">
                <a:noFill/>
                <a:tableStyleId>{F6607F2B-0D1A-44AA-933E-E49CCDE99D64}</a:tableStyleId>
              </a:tblPr>
              <a:tblGrid>
                <a:gridCol w="2468875">
                  <a:extLst>
                    <a:ext uri="{9D8B030D-6E8A-4147-A177-3AD203B41FA5}">
                      <a16:colId xmlns:a16="http://schemas.microsoft.com/office/drawing/2014/main" val="20000"/>
                    </a:ext>
                  </a:extLst>
                </a:gridCol>
                <a:gridCol w="3566150">
                  <a:extLst>
                    <a:ext uri="{9D8B030D-6E8A-4147-A177-3AD203B41FA5}">
                      <a16:colId xmlns:a16="http://schemas.microsoft.com/office/drawing/2014/main" val="20001"/>
                    </a:ext>
                  </a:extLst>
                </a:gridCol>
                <a:gridCol w="4480550">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None/>
                      </a:pPr>
                      <a:endParaRPr sz="1800" u="none" strike="noStrike" cap="none"/>
                    </a:p>
                  </a:txBody>
                  <a:tcPr marL="73150" marR="73150" marT="45725" marB="45725" anchor="ctr">
                    <a:lnR w="12700" cap="flat" cmpd="sng">
                      <a:solidFill>
                        <a:schemeClr val="lt1"/>
                      </a:solidFill>
                      <a:prstDash val="solid"/>
                      <a:round/>
                      <a:headEnd type="none" w="sm" len="sm"/>
                      <a:tailEnd type="none" w="sm" len="sm"/>
                    </a:lnR>
                    <a:solidFill>
                      <a:srgbClr val="E3EAF4"/>
                    </a:solidFill>
                  </a:tcPr>
                </a:tc>
                <a:tc>
                  <a:txBody>
                    <a:bodyPr/>
                    <a:lstStyle/>
                    <a:p>
                      <a:pPr marL="0" marR="0" lvl="0" indent="0" algn="l" rtl="0">
                        <a:spcBef>
                          <a:spcPts val="0"/>
                        </a:spcBef>
                        <a:spcAft>
                          <a:spcPts val="0"/>
                        </a:spcAft>
                        <a:buNone/>
                      </a:pPr>
                      <a:r>
                        <a:rPr lang="en-US" sz="1650" b="1" u="none" strike="noStrike" cap="none">
                          <a:solidFill>
                            <a:srgbClr val="55657E"/>
                          </a:solidFill>
                          <a:latin typeface="Calibri"/>
                          <a:ea typeface="Calibri"/>
                          <a:cs typeface="Calibri"/>
                          <a:sym typeface="Calibri"/>
                        </a:rPr>
                        <a:t>SPADIES (nacional)</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E3EAF4"/>
                    </a:solidFill>
                  </a:tcPr>
                </a:tc>
                <a:tc>
                  <a:txBody>
                    <a:bodyPr/>
                    <a:lstStyle/>
                    <a:p>
                      <a:pPr marL="0" marR="0" lvl="0" indent="0" algn="l" rtl="0">
                        <a:spcBef>
                          <a:spcPts val="0"/>
                        </a:spcBef>
                        <a:spcAft>
                          <a:spcPts val="0"/>
                        </a:spcAft>
                        <a:buNone/>
                      </a:pPr>
                      <a:r>
                        <a:rPr lang="en-US" sz="1650" b="1" u="none" strike="noStrike" cap="none">
                          <a:solidFill>
                            <a:srgbClr val="55657E"/>
                          </a:solidFill>
                          <a:latin typeface="Calibri"/>
                          <a:ea typeface="Calibri"/>
                          <a:cs typeface="Calibri"/>
                          <a:sym typeface="Calibri"/>
                        </a:rPr>
                        <a:t>TRAYECTA (este trabajo)</a:t>
                      </a:r>
                      <a:endParaRPr/>
                    </a:p>
                  </a:txBody>
                  <a:tcPr marL="73150" marR="73150" marT="45725" marB="45725" anchor="ctr">
                    <a:lnL w="12700" cap="flat" cmpd="sng">
                      <a:solidFill>
                        <a:schemeClr val="lt1"/>
                      </a:solidFill>
                      <a:prstDash val="solid"/>
                      <a:round/>
                      <a:headEnd type="none" w="sm" len="sm"/>
                      <a:tailEnd type="none" w="sm" len="sm"/>
                    </a:lnL>
                    <a:solidFill>
                      <a:srgbClr val="E3EAF4"/>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Unidad</a:t>
                      </a:r>
                      <a:endParaRPr/>
                    </a:p>
                  </a:txBody>
                  <a:tcPr marL="73150" marR="73150" marT="45725" marB="45725" anchor="ctr">
                    <a:lnR w="12700" cap="flat" cmpd="sng">
                      <a:solidFill>
                        <a:schemeClr val="lt1"/>
                      </a:solidFill>
                      <a:prstDash val="solid"/>
                      <a:round/>
                      <a:headEnd type="none" w="sm" len="sm"/>
                      <a:tailEnd type="none" w="sm" len="sm"/>
                    </a:lnR>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instituciones del país</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un programa</a:t>
                      </a:r>
                      <a:endParaRPr/>
                    </a:p>
                  </a:txBody>
                  <a:tcPr marL="73150" marR="73150" marT="45725" marB="45725" anchor="ctr">
                    <a:lnL w="12700" cap="flat" cmpd="sng">
                      <a:solidFill>
                        <a:schemeClr val="lt1"/>
                      </a:solidFill>
                      <a:prstDash val="solid"/>
                      <a:round/>
                      <a:headEnd type="none" w="sm" len="sm"/>
                      <a:tailEnd type="none" w="sm" len="sm"/>
                    </a:lnL>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Criterio de riesgo</a:t>
                      </a:r>
                      <a:endParaRPr/>
                    </a:p>
                  </a:txBody>
                  <a:tcPr marL="73150" marR="73150" marT="45725" marB="45725" anchor="ctr">
                    <a:lnR w="12700" cap="flat" cmpd="sng">
                      <a:solidFill>
                        <a:schemeClr val="lt1"/>
                      </a:solidFill>
                      <a:prstDash val="solid"/>
                      <a:round/>
                      <a:headEnd type="none" w="sm" len="sm"/>
                      <a:tailEnd type="none" w="sm" len="sm"/>
                    </a:lnR>
                    <a:solidFill>
                      <a:srgbClr val="F7F9FC"/>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deserción</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7F9FC"/>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Reglamento: arts. 19, 20 y 21</a:t>
                      </a:r>
                      <a:endParaRPr/>
                    </a:p>
                  </a:txBody>
                  <a:tcPr marL="73150" marR="73150" marT="45725" marB="45725" anchor="ctr">
                    <a:lnL w="12700" cap="flat" cmpd="sng">
                      <a:solidFill>
                        <a:schemeClr val="lt1"/>
                      </a:solidFill>
                      <a:prstDash val="solid"/>
                      <a:round/>
                      <a:headEnd type="none" w="sm" len="sm"/>
                      <a:tailEnd type="none" w="sm" len="sm"/>
                    </a:lnL>
                    <a:solidFill>
                      <a:srgbClr val="F7F9FC"/>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Planes de estudio</a:t>
                      </a:r>
                      <a:endParaRPr/>
                    </a:p>
                  </a:txBody>
                  <a:tcPr marL="73150" marR="73150" marT="45725" marB="45725" anchor="ctr">
                    <a:lnR w="12700" cap="flat" cmpd="sng">
                      <a:solidFill>
                        <a:schemeClr val="lt1"/>
                      </a:solidFill>
                      <a:prstDash val="solid"/>
                      <a:round/>
                      <a:headEnd type="none" w="sm" len="sm"/>
                      <a:tailEnd type="none" w="sm" len="sm"/>
                    </a:lnR>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fuera de su alcance</a:t>
                      </a:r>
                      <a:endParaRPr/>
                    </a:p>
                  </a:txBody>
                  <a:tcPr marL="73150" marR="731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700" b="0" u="none" strike="noStrike" cap="none">
                          <a:solidFill>
                            <a:srgbClr val="0F1E36"/>
                          </a:solidFill>
                          <a:latin typeface="Calibri"/>
                          <a:ea typeface="Calibri"/>
                          <a:cs typeface="Calibri"/>
                          <a:sym typeface="Calibri"/>
                        </a:rPr>
                        <a:t>equivalencias 2011 ↔ 2018</a:t>
                      </a:r>
                      <a:endParaRPr/>
                    </a:p>
                  </a:txBody>
                  <a:tcPr marL="73150" marR="73150" marT="45725" marB="45725" anchor="ctr">
                    <a:lnL w="12700" cap="flat" cmpd="sng">
                      <a:solidFill>
                        <a:schemeClr val="lt1"/>
                      </a:solidFill>
                      <a:prstDash val="solid"/>
                      <a:round/>
                      <a:headEnd type="none" w="sm" len="sm"/>
                      <a:tailEnd type="none" w="sm" len="sm"/>
                    </a:lnL>
                    <a:solidFill>
                      <a:srgbClr val="FFFFFF"/>
                    </a:solidFill>
                  </a:tcPr>
                </a:tc>
                <a:extLst>
                  <a:ext uri="{0D108BD9-81ED-4DB2-BD59-A6C34878D82A}">
                    <a16:rowId xmlns:a16="http://schemas.microsoft.com/office/drawing/2014/main" val="10003"/>
                  </a:ext>
                </a:extLst>
              </a:tr>
            </a:tbl>
          </a:graphicData>
        </a:graphic>
      </p:graphicFrame>
      <p:sp>
        <p:nvSpPr>
          <p:cNvPr id="507" name="TextBox 506"/>
          <p:cNvSpPr txBox="1"/>
          <p:nvPr/>
        </p:nvSpPr>
        <p:spPr>
          <a:xfrm>
            <a:off x="731520" y="6144768"/>
            <a:ext cx="10058400" cy="365760"/>
          </a:xfrm>
          <a:prstGeom prst="rect">
            <a:avLst/>
          </a:prstGeom>
          <a:noFill/>
        </p:spPr>
        <p:txBody>
          <a:bodyPr wrap="square" lIns="0" tIns="0" rIns="0" bIns="0" anchor="t">
            <a:spAutoFit/>
          </a:bodyPr>
          <a:lstStyle/>
          <a:p>
            <a:pPr algn="l"/>
            <a:r>
              <a:rPr sz="1100" b="0" i="0">
                <a:solidFill>
                  <a:srgbClr val="55657E"/>
                </a:solidFill>
                <a:latin typeface="Calibri"/>
              </a:rPr>
              <a:t>Referencia de producto: SPADIES, Ministerio de Educación Nacional [15]</a:t>
            </a:r>
          </a:p>
        </p:txBody>
      </p:sp>
      <p:pic>
        <p:nvPicPr>
          <p:cNvPr id="508" name="Picture 507" descr="arquitectura_trayecta.png"/>
          <p:cNvPicPr>
            <a:picLocks noChangeAspect="1"/>
          </p:cNvPicPr>
          <p:nvPr/>
        </p:nvPicPr>
        <p:blipFill>
          <a:blip r:embed="rId4"/>
          <a:stretch>
            <a:fillRect/>
          </a:stretch>
        </p:blipFill>
        <p:spPr>
          <a:xfrm>
            <a:off x="1085849" y="1572768"/>
            <a:ext cx="9820275" cy="235915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30"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13" name="Google Shape;513;p30"/>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30</a:t>
            </a:r>
            <a:endParaRPr/>
          </a:p>
        </p:txBody>
      </p:sp>
      <p:sp>
        <p:nvSpPr>
          <p:cNvPr id="514" name="Google Shape;514;p30"/>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0F766E"/>
                </a:solidFill>
                <a:latin typeface="Calibri"/>
                <a:ea typeface="Calibri"/>
                <a:cs typeface="Calibri"/>
                <a:sym typeface="Calibri"/>
              </a:rPr>
              <a:t>DESPLIEGUE</a:t>
            </a:r>
            <a:endParaRPr/>
          </a:p>
        </p:txBody>
      </p:sp>
      <p:sp>
        <p:nvSpPr>
          <p:cNvPr id="515" name="Google Shape;515;p30"/>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16" name="Google Shape;516;p30"/>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Demostración</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panorama de la cohorte</a:t>
            </a:r>
            <a:endParaRPr sz="3000" b="1" i="0">
              <a:solidFill>
                <a:srgbClr val="0F1E36"/>
              </a:solidFill>
              <a:latin typeface="Calibri"/>
              <a:ea typeface="Calibri"/>
              <a:cs typeface="Calibri"/>
              <a:sym typeface="Calibri"/>
            </a:endParaRPr>
          </a:p>
        </p:txBody>
      </p:sp>
      <p:sp>
        <p:nvSpPr>
          <p:cNvPr id="517" name="Google Shape;517;p30"/>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Cohorte simulada · modelos entrenados con los datos reales</a:t>
            </a:r>
            <a:endParaRPr/>
          </a:p>
        </p:txBody>
      </p:sp>
      <p:pic>
        <p:nvPicPr>
          <p:cNvPr id="518" name="Google Shape;518;p30" descr="app_panorama.png"/>
          <p:cNvPicPr preferRelativeResize="0"/>
          <p:nvPr/>
        </p:nvPicPr>
        <p:blipFill rotWithShape="1">
          <a:blip r:embed="rId4">
            <a:alphaModFix/>
          </a:blip>
          <a:srcRect/>
          <a:stretch/>
        </p:blipFill>
        <p:spPr>
          <a:xfrm>
            <a:off x="2128519" y="1463040"/>
            <a:ext cx="7721600" cy="4343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524" name="Google Shape;524;p31"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25" name="Google Shape;525;p31"/>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31</a:t>
            </a:r>
            <a:endParaRPr/>
          </a:p>
        </p:txBody>
      </p:sp>
      <p:sp>
        <p:nvSpPr>
          <p:cNvPr id="526" name="Google Shape;526;p31"/>
          <p:cNvSpPr txBox="1"/>
          <p:nvPr/>
        </p:nvSpPr>
        <p:spPr>
          <a:xfrm>
            <a:off x="731520" y="118872"/>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a:solidFill>
                  <a:srgbClr val="0F766E"/>
                </a:solidFill>
                <a:latin typeface="Calibri"/>
                <a:ea typeface="Calibri"/>
                <a:cs typeface="Calibri"/>
                <a:sym typeface="Calibri"/>
              </a:rPr>
              <a:t>DESPLIEGUE</a:t>
            </a:r>
            <a:endParaRPr/>
          </a:p>
        </p:txBody>
      </p:sp>
      <p:sp>
        <p:nvSpPr>
          <p:cNvPr id="527" name="Google Shape;527;p31"/>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31"/>
          <p:cNvSpPr txBox="1"/>
          <p:nvPr/>
        </p:nvSpPr>
        <p:spPr>
          <a:xfrm>
            <a:off x="731520" y="436679"/>
            <a:ext cx="10607040"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Demostración</a:t>
            </a:r>
            <a:r>
              <a:rPr lang="en-US" sz="3000" b="1">
                <a:solidFill>
                  <a:srgbClr val="0F1E36"/>
                </a:solidFill>
                <a:latin typeface="Calibri"/>
                <a:ea typeface="Calibri"/>
                <a:cs typeface="Calibri"/>
                <a:sym typeface="Calibri"/>
              </a:rPr>
              <a:t>:</a:t>
            </a:r>
            <a:r>
              <a:rPr lang="en-US" sz="3000" b="1" i="0">
                <a:solidFill>
                  <a:srgbClr val="0F1E36"/>
                </a:solidFill>
                <a:latin typeface="Calibri"/>
                <a:ea typeface="Calibri"/>
                <a:cs typeface="Calibri"/>
                <a:sym typeface="Calibri"/>
              </a:rPr>
              <a:t> ficha y carga de cohortes</a:t>
            </a:r>
            <a:endParaRPr sz="3000" b="1" i="0">
              <a:solidFill>
                <a:srgbClr val="0F1E36"/>
              </a:solidFill>
              <a:latin typeface="Calibri"/>
              <a:ea typeface="Calibri"/>
              <a:cs typeface="Calibri"/>
              <a:sym typeface="Calibri"/>
            </a:endParaRPr>
          </a:p>
        </p:txBody>
      </p:sp>
      <p:sp>
        <p:nvSpPr>
          <p:cNvPr id="529" name="Google Shape;529;p31"/>
          <p:cNvSpPr txBox="1"/>
          <p:nvPr/>
        </p:nvSpPr>
        <p:spPr>
          <a:xfrm>
            <a:off x="731520" y="969264"/>
            <a:ext cx="1060704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a:solidFill>
                  <a:srgbClr val="55657E"/>
                </a:solidFill>
                <a:latin typeface="Calibri"/>
                <a:ea typeface="Calibri"/>
                <a:cs typeface="Calibri"/>
                <a:sym typeface="Calibri"/>
              </a:rPr>
              <a:t>Recorrido semestre a semestre · validación del plan de estudios</a:t>
            </a:r>
            <a:endParaRPr/>
          </a:p>
        </p:txBody>
      </p:sp>
      <p:pic>
        <p:nvPicPr>
          <p:cNvPr id="530" name="Google Shape;530;p31" descr="c_ficha.png"/>
          <p:cNvPicPr preferRelativeResize="0"/>
          <p:nvPr/>
        </p:nvPicPr>
        <p:blipFill rotWithShape="1">
          <a:blip r:embed="rId4">
            <a:alphaModFix/>
          </a:blip>
          <a:srcRect/>
          <a:stretch/>
        </p:blipFill>
        <p:spPr>
          <a:xfrm>
            <a:off x="731520" y="1591553"/>
            <a:ext cx="6309360" cy="4086373"/>
          </a:xfrm>
          <a:prstGeom prst="rect">
            <a:avLst/>
          </a:prstGeom>
          <a:noFill/>
          <a:ln>
            <a:noFill/>
          </a:ln>
        </p:spPr>
      </p:pic>
      <p:pic>
        <p:nvPicPr>
          <p:cNvPr id="531" name="Google Shape;531;p31" descr="c_carga.png"/>
          <p:cNvPicPr preferRelativeResize="0"/>
          <p:nvPr/>
        </p:nvPicPr>
        <p:blipFill rotWithShape="1">
          <a:blip r:embed="rId5">
            <a:alphaModFix/>
          </a:blip>
          <a:srcRect/>
          <a:stretch/>
        </p:blipFill>
        <p:spPr>
          <a:xfrm>
            <a:off x="7223760" y="1855568"/>
            <a:ext cx="4023360" cy="1500942"/>
          </a:xfrm>
          <a:prstGeom prst="rect">
            <a:avLst/>
          </a:prstGeom>
          <a:noFill/>
          <a:ln>
            <a:noFill/>
          </a:ln>
        </p:spPr>
      </p:pic>
      <p:sp>
        <p:nvSpPr>
          <p:cNvPr id="532" name="Google Shape;532;p31"/>
          <p:cNvSpPr txBox="1"/>
          <p:nvPr/>
        </p:nvSpPr>
        <p:spPr>
          <a:xfrm>
            <a:off x="7315260" y="3933130"/>
            <a:ext cx="4023300" cy="800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a:solidFill>
                  <a:srgbClr val="0F766E"/>
                </a:solidFill>
                <a:latin typeface="Calibri"/>
                <a:ea typeface="Calibri"/>
                <a:cs typeface="Calibri"/>
                <a:sym typeface="Calibri"/>
              </a:rPr>
              <a:t>Al cargar una cohorte</a:t>
            </a:r>
            <a:endParaRPr/>
          </a:p>
          <a:p>
            <a:pPr marL="0" marR="0" lvl="0" indent="0" algn="l" rtl="0">
              <a:spcBef>
                <a:spcPts val="0"/>
              </a:spcBef>
              <a:spcAft>
                <a:spcPts val="0"/>
              </a:spcAft>
              <a:buNone/>
            </a:pPr>
            <a:r>
              <a:rPr lang="en-US" sz="1700" b="0" i="0">
                <a:solidFill>
                  <a:srgbClr val="0F1E36"/>
                </a:solidFill>
                <a:latin typeface="Calibri"/>
                <a:ea typeface="Calibri"/>
                <a:cs typeface="Calibri"/>
                <a:sym typeface="Calibri"/>
              </a:rPr>
              <a:t>reconoce el plan, valida cada código y advierte planes mezclados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32"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39" name="Google Shape;539;p32"/>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32</a:t>
            </a:r>
            <a:endParaRPr/>
          </a:p>
        </p:txBody>
      </p:sp>
      <p:sp>
        <p:nvSpPr>
          <p:cNvPr id="540" name="Google Shape;540;p32"/>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41" name="Google Shape;541;p32"/>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Conclusiones</a:t>
            </a:r>
            <a:endParaRPr/>
          </a:p>
        </p:txBody>
      </p:sp>
      <p:sp>
        <p:nvSpPr>
          <p:cNvPr id="542" name="Google Shape;542;p32"/>
          <p:cNvSpPr/>
          <p:nvPr/>
        </p:nvSpPr>
        <p:spPr>
          <a:xfrm>
            <a:off x="731520" y="1691640"/>
            <a:ext cx="777240" cy="777240"/>
          </a:xfrm>
          <a:prstGeom prst="ellipse">
            <a:avLst/>
          </a:prstGeom>
          <a:solidFill>
            <a:srgbClr val="1F5FAE"/>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1</a:t>
            </a:r>
            <a:endParaRPr/>
          </a:p>
        </p:txBody>
      </p:sp>
      <p:sp>
        <p:nvSpPr>
          <p:cNvPr id="543" name="Google Shape;543;p32"/>
          <p:cNvSpPr txBox="1"/>
          <p:nvPr/>
        </p:nvSpPr>
        <p:spPr>
          <a:xfrm>
            <a:off x="1783080" y="146304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Random Forest es el más adecuado</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AUC-PR 0,745: tres veces el azar</a:t>
            </a:r>
            <a:endParaRPr/>
          </a:p>
        </p:txBody>
      </p:sp>
      <p:sp>
        <p:nvSpPr>
          <p:cNvPr id="544" name="Google Shape;544;p32"/>
          <p:cNvSpPr/>
          <p:nvPr/>
        </p:nvSpPr>
        <p:spPr>
          <a:xfrm>
            <a:off x="6126480" y="1691640"/>
            <a:ext cx="777240" cy="777240"/>
          </a:xfrm>
          <a:prstGeom prst="ellipse">
            <a:avLst/>
          </a:prstGeom>
          <a:solidFill>
            <a:srgbClr val="D97706"/>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2</a:t>
            </a:r>
            <a:endParaRPr/>
          </a:p>
        </p:txBody>
      </p:sp>
      <p:sp>
        <p:nvSpPr>
          <p:cNvPr id="545" name="Google Shape;545;p32"/>
          <p:cNvSpPr txBox="1"/>
          <p:nvPr/>
        </p:nvSpPr>
        <p:spPr>
          <a:xfrm>
            <a:off x="7178040" y="146304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El 1.er semestre concentra la señal</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alerta a tiempo, cuando ocurre el abandono</a:t>
            </a:r>
            <a:endParaRPr/>
          </a:p>
        </p:txBody>
      </p:sp>
      <p:sp>
        <p:nvSpPr>
          <p:cNvPr id="546" name="Google Shape;546;p32"/>
          <p:cNvSpPr/>
          <p:nvPr/>
        </p:nvSpPr>
        <p:spPr>
          <a:xfrm>
            <a:off x="731520" y="3840480"/>
            <a:ext cx="777240" cy="777240"/>
          </a:xfrm>
          <a:prstGeom prst="ellipse">
            <a:avLst/>
          </a:prstGeom>
          <a:solidFill>
            <a:srgbClr val="B91C1C"/>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3</a:t>
            </a:r>
            <a:endParaRPr/>
          </a:p>
        </p:txBody>
      </p:sp>
      <p:sp>
        <p:nvSpPr>
          <p:cNvPr id="547" name="Google Shape;547;p32"/>
          <p:cNvSpPr txBox="1"/>
          <p:nvPr/>
        </p:nvSpPr>
        <p:spPr>
          <a:xfrm>
            <a:off x="1783080" y="3611880"/>
            <a:ext cx="4160520" cy="173736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i="0">
                <a:solidFill>
                  <a:srgbClr val="0F1E36"/>
                </a:solidFill>
                <a:latin typeface="Calibri"/>
                <a:ea typeface="Calibri"/>
                <a:cs typeface="Calibri"/>
                <a:sym typeface="Calibri"/>
              </a:rPr>
              <a:t>Medir bien pesa más que el algoritmo</a:t>
            </a:r>
            <a:endParaRPr/>
          </a:p>
          <a:p>
            <a:pPr marL="0" marR="0" lvl="0" indent="0" algn="l" rtl="0">
              <a:spcBef>
                <a:spcPts val="0"/>
              </a:spcBef>
              <a:spcAft>
                <a:spcPts val="0"/>
              </a:spcAft>
              <a:buNone/>
            </a:pPr>
            <a:r>
              <a:rPr lang="en-US" sz="1800" b="0" i="0">
                <a:solidFill>
                  <a:srgbClr val="55657E"/>
                </a:solidFill>
                <a:latin typeface="Calibri"/>
                <a:ea typeface="Calibri"/>
                <a:cs typeface="Calibri"/>
                <a:sym typeface="Calibri"/>
              </a:rPr>
              <a:t>los sesgos inflaban hasta 15 puntos</a:t>
            </a:r>
            <a:endParaRPr/>
          </a:p>
        </p:txBody>
      </p:sp>
      <p:sp>
        <p:nvSpPr>
          <p:cNvPr id="548" name="Google Shape;548;p32"/>
          <p:cNvSpPr/>
          <p:nvPr/>
        </p:nvSpPr>
        <p:spPr>
          <a:xfrm>
            <a:off x="6126480" y="3840480"/>
            <a:ext cx="777240" cy="777240"/>
          </a:xfrm>
          <a:prstGeom prst="ellipse">
            <a:avLst/>
          </a:prstGeom>
          <a:solidFill>
            <a:srgbClr val="047857"/>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1">
                <a:solidFill>
                  <a:srgbClr val="FFFFFF"/>
                </a:solidFill>
                <a:latin typeface="Calibri"/>
                <a:ea typeface="Calibri"/>
                <a:cs typeface="Calibri"/>
                <a:sym typeface="Calibri"/>
              </a:rPr>
              <a:t>4</a:t>
            </a:r>
            <a:endParaRPr/>
          </a:p>
        </p:txBody>
      </p:sp>
      <p:sp>
        <p:nvSpPr>
          <p:cNvPr id="549" name="Google Shape;549;p32"/>
          <p:cNvSpPr txBox="1"/>
          <p:nvPr/>
        </p:nvSpPr>
        <p:spPr>
          <a:xfrm>
            <a:off x="7178090" y="3840468"/>
            <a:ext cx="4160400" cy="2801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300" b="1">
                <a:solidFill>
                  <a:srgbClr val="0F1E36"/>
                </a:solidFill>
                <a:latin typeface="Calibri"/>
                <a:ea typeface="Calibri"/>
                <a:cs typeface="Calibri"/>
                <a:sym typeface="Calibri"/>
              </a:rPr>
              <a:t>La calidad en los datos es determinante para establecer una metodología viable</a:t>
            </a:r>
            <a:br>
              <a:rPr lang="en-US" sz="2300" b="1">
                <a:solidFill>
                  <a:srgbClr val="0F1E36"/>
                </a:solidFill>
                <a:latin typeface="Calibri"/>
                <a:ea typeface="Calibri"/>
                <a:cs typeface="Calibri"/>
                <a:sym typeface="Calibri"/>
              </a:rPr>
            </a:br>
            <a:endParaRPr sz="1800">
              <a:solidFill>
                <a:srgbClr val="55657E"/>
              </a:solidFill>
              <a:latin typeface="Calibri"/>
              <a:ea typeface="Calibri"/>
              <a:cs typeface="Calibri"/>
              <a:sym typeface="Calibri"/>
            </a:endParaRPr>
          </a:p>
          <a:p>
            <a:pPr marL="0" marR="0" lvl="0" indent="0" algn="l" rtl="0">
              <a:spcBef>
                <a:spcPts val="0"/>
              </a:spcBef>
              <a:spcAft>
                <a:spcPts val="0"/>
              </a:spcAft>
              <a:buNone/>
            </a:pPr>
            <a:r>
              <a:rPr lang="en-US" sz="1800">
                <a:solidFill>
                  <a:srgbClr val="55657E"/>
                </a:solidFill>
                <a:latin typeface="Calibri"/>
                <a:ea typeface="Calibri"/>
                <a:cs typeface="Calibri"/>
                <a:sym typeface="Calibri"/>
              </a:rPr>
              <a:t>Antes de pensar en el modelo, los datos deben ser confiables, consistentes y relevantes. </a:t>
            </a:r>
            <a:r>
              <a:rPr lang="en-US" sz="1800" b="1">
                <a:solidFill>
                  <a:srgbClr val="55657E"/>
                </a:solidFill>
                <a:latin typeface="Calibri"/>
                <a:ea typeface="Calibri"/>
                <a:cs typeface="Calibri"/>
                <a:sym typeface="Calibri"/>
              </a:rPr>
              <a:t>Un buen modelo comienza con buenos datos</a:t>
            </a:r>
            <a:r>
              <a:rPr lang="en-US" sz="1800">
                <a:solidFill>
                  <a:srgbClr val="55657E"/>
                </a:solidFill>
                <a:latin typeface="Calibri"/>
                <a:ea typeface="Calibri"/>
                <a:cs typeface="Calibri"/>
                <a:sym typeface="Calibri"/>
              </a:rPr>
              <a:t>. </a:t>
            </a:r>
            <a:endParaRPr sz="1800">
              <a:solidFill>
                <a:srgbClr val="55657E"/>
              </a:solidFill>
              <a:latin typeface="Calibri"/>
              <a:ea typeface="Calibri"/>
              <a:cs typeface="Calibri"/>
              <a:sym typeface="Calibri"/>
            </a:endParaRPr>
          </a:p>
          <a:p>
            <a:pPr marL="0" marR="0" lvl="0" indent="0" algn="l" rtl="0">
              <a:spcBef>
                <a:spcPts val="0"/>
              </a:spcBef>
              <a:spcAft>
                <a:spcPts val="0"/>
              </a:spcAft>
              <a:buNone/>
            </a:pPr>
            <a:endParaRPr sz="2300" b="1">
              <a:solidFill>
                <a:srgbClr val="0F1E36"/>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h26ced1568c81ade5_1_4"/>
          <p:cNvSpPr/>
          <p:nvPr/>
        </p:nvSpPr>
        <p:spPr>
          <a:xfrm>
            <a:off x="566928" y="457200"/>
            <a:ext cx="50400" cy="420600"/>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h26ced1568c81ade5_1_4"/>
          <p:cNvSpPr txBox="1"/>
          <p:nvPr/>
        </p:nvSpPr>
        <p:spPr>
          <a:xfrm>
            <a:off x="731520" y="347472"/>
            <a:ext cx="10607100" cy="4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a:solidFill>
                  <a:srgbClr val="0F1E36"/>
                </a:solidFill>
                <a:latin typeface="Calibri"/>
                <a:ea typeface="Calibri"/>
                <a:cs typeface="Calibri"/>
                <a:sym typeface="Calibri"/>
              </a:rPr>
              <a:t>Referencias</a:t>
            </a:r>
            <a:endParaRPr/>
          </a:p>
        </p:txBody>
      </p:sp>
      <p:sp>
        <p:nvSpPr>
          <p:cNvPr id="556" name="TextBox 555"/>
          <p:cNvSpPr txBox="1"/>
          <p:nvPr/>
        </p:nvSpPr>
        <p:spPr>
          <a:xfrm>
            <a:off x="731520" y="1188720"/>
            <a:ext cx="5212080" cy="4754880"/>
          </a:xfrm>
          <a:prstGeom prst="rect">
            <a:avLst/>
          </a:prstGeom>
          <a:noFill/>
        </p:spPr>
        <p:txBody>
          <a:bodyPr wrap="square" lIns="0" tIns="0" rIns="0" bIns="0" anchor="t">
            <a:spAutoFit/>
          </a:bodyPr>
          <a:lstStyle/>
          <a:p>
            <a:pPr algn="l">
              <a:spcAft>
                <a:spcPts val="500"/>
              </a:spcAft>
            </a:pPr>
            <a:r>
              <a:rPr sz="1150" b="1" i="0">
                <a:solidFill>
                  <a:srgbClr val="1F5FAE"/>
                </a:solidFill>
                <a:latin typeface="Calibri"/>
              </a:rPr>
              <a:t>[1]  </a:t>
            </a:r>
            <a:r>
              <a:rPr sz="1150" b="0" i="0">
                <a:solidFill>
                  <a:srgbClr val="0F1E36"/>
                </a:solidFill>
                <a:latin typeface="Calibri"/>
              </a:rPr>
              <a:t>Laboratorio de Economía de la Educación, «Deserción en la educación superior en Colombia», Informe No. 74, Pontificia Universidad Javeriana, 2023.</a:t>
            </a:r>
          </a:p>
          <a:p>
            <a:pPr algn="l">
              <a:spcAft>
                <a:spcPts val="500"/>
              </a:spcAft>
            </a:pPr>
            <a:r>
              <a:rPr sz="1150" b="1" i="0">
                <a:solidFill>
                  <a:srgbClr val="1F5FAE"/>
                </a:solidFill>
                <a:latin typeface="Calibri"/>
              </a:rPr>
              <a:t>[2]  </a:t>
            </a:r>
            <a:r>
              <a:rPr sz="1150" b="0" i="0">
                <a:solidFill>
                  <a:srgbClr val="0F1E36"/>
                </a:solidFill>
                <a:latin typeface="Calibri"/>
              </a:rPr>
              <a:t>R. Wirth y J. Hipp, «CRISP-DM: Towards a standard process model for data mining», Proc. 4th Int. Conf. Practical Applications of Knowledge Discovery and Data Mining, 2000, pp. 29-39.</a:t>
            </a:r>
          </a:p>
          <a:p>
            <a:pPr algn="l">
              <a:spcAft>
                <a:spcPts val="500"/>
              </a:spcAft>
            </a:pPr>
            <a:r>
              <a:rPr sz="1150" b="1" i="0">
                <a:solidFill>
                  <a:srgbClr val="1F5FAE"/>
                </a:solidFill>
                <a:latin typeface="Calibri"/>
              </a:rPr>
              <a:t>[3]  </a:t>
            </a:r>
            <a:r>
              <a:rPr sz="1150" b="0" i="0">
                <a:solidFill>
                  <a:srgbClr val="0F1E36"/>
                </a:solidFill>
                <a:latin typeface="Calibri"/>
              </a:rPr>
              <a:t>IBM Corp., Guía de CRISP-DM de IBM SPSS Modeler (v. 18.3). Armonk, NY: IBM, 2021.</a:t>
            </a:r>
          </a:p>
          <a:p>
            <a:pPr algn="l">
              <a:spcAft>
                <a:spcPts val="500"/>
              </a:spcAft>
            </a:pPr>
            <a:r>
              <a:rPr sz="1150" b="1" i="0">
                <a:solidFill>
                  <a:srgbClr val="1F5FAE"/>
                </a:solidFill>
                <a:latin typeface="Calibri"/>
              </a:rPr>
              <a:t>[4]  </a:t>
            </a:r>
            <a:r>
              <a:rPr sz="1150" b="0" i="0">
                <a:solidFill>
                  <a:srgbClr val="0F1E36"/>
                </a:solidFill>
                <a:latin typeface="Calibri"/>
              </a:rPr>
              <a:t>Universidad de los Llanos, Acuerdo Superior No. 020 de 2021: Reglamento Estudiantil de pregrado. Villavicencio, 2021.</a:t>
            </a:r>
          </a:p>
          <a:p>
            <a:pPr algn="l">
              <a:spcAft>
                <a:spcPts val="500"/>
              </a:spcAft>
            </a:pPr>
            <a:r>
              <a:rPr sz="1150" b="1" i="0">
                <a:solidFill>
                  <a:srgbClr val="1F5FAE"/>
                </a:solidFill>
                <a:latin typeface="Calibri"/>
              </a:rPr>
              <a:t>[5]  </a:t>
            </a:r>
            <a:r>
              <a:rPr sz="1150" b="0" i="0">
                <a:solidFill>
                  <a:srgbClr val="0F1E36"/>
                </a:solidFill>
                <a:latin typeface="Calibri"/>
              </a:rPr>
              <a:t>S. Varma y R. Simon, «Bias in error estimation when using cross-validation for model selection», BMC Bioinformatics, vol. 7, p. 91, 2006.</a:t>
            </a:r>
          </a:p>
          <a:p>
            <a:pPr algn="l">
              <a:spcAft>
                <a:spcPts val="500"/>
              </a:spcAft>
            </a:pPr>
            <a:r>
              <a:rPr sz="1150" b="1" i="0">
                <a:solidFill>
                  <a:srgbClr val="1F5FAE"/>
                </a:solidFill>
                <a:latin typeface="Calibri"/>
              </a:rPr>
              <a:t>[6]  </a:t>
            </a:r>
            <a:r>
              <a:rPr sz="1150" b="0" i="0">
                <a:solidFill>
                  <a:srgbClr val="0F1E36"/>
                </a:solidFill>
                <a:latin typeface="Calibri"/>
              </a:rPr>
              <a:t>G. C. Cawley y N. L. C. Talbot, «On over-fitting in model selection and subsequent selection bias in performance evaluation», J. Mach. Learn. Res., vol. 11, pp. 2079-2107, 2010.</a:t>
            </a:r>
          </a:p>
          <a:p>
            <a:pPr algn="l">
              <a:spcAft>
                <a:spcPts val="500"/>
              </a:spcAft>
            </a:pPr>
            <a:r>
              <a:rPr sz="1150" b="1" i="0">
                <a:solidFill>
                  <a:srgbClr val="1F5FAE"/>
                </a:solidFill>
                <a:latin typeface="Calibri"/>
              </a:rPr>
              <a:t>[7]  </a:t>
            </a:r>
            <a:r>
              <a:rPr sz="1150" b="0" i="0">
                <a:solidFill>
                  <a:srgbClr val="0F1E36"/>
                </a:solidFill>
                <a:latin typeface="Calibri"/>
              </a:rPr>
              <a:t>C. Ambroise y G. J. McLachlan, «Selection bias in gene extraction on the basis of microarray gene-expression data», PNAS, vol. 99, no. 10, pp. 6562-6566, 2002.</a:t>
            </a:r>
          </a:p>
          <a:p>
            <a:pPr algn="l">
              <a:spcAft>
                <a:spcPts val="500"/>
              </a:spcAft>
            </a:pPr>
            <a:r>
              <a:rPr sz="1150" b="1" i="0">
                <a:solidFill>
                  <a:srgbClr val="1F5FAE"/>
                </a:solidFill>
                <a:latin typeface="Calibri"/>
              </a:rPr>
              <a:t>[8]  </a:t>
            </a:r>
            <a:r>
              <a:rPr sz="1150" b="0" i="0">
                <a:solidFill>
                  <a:srgbClr val="0F1E36"/>
                </a:solidFill>
                <a:latin typeface="Calibri"/>
              </a:rPr>
              <a:t>T. Hastie, R. Tibshirani y J. Friedman, The Elements of Statistical Learning, 2.ª ed. Nueva York: Springer, 2009.</a:t>
            </a:r>
          </a:p>
        </p:txBody>
      </p:sp>
      <p:sp>
        <p:nvSpPr>
          <p:cNvPr id="557" name="TextBox 556"/>
          <p:cNvSpPr txBox="1"/>
          <p:nvPr/>
        </p:nvSpPr>
        <p:spPr>
          <a:xfrm>
            <a:off x="6172200" y="1188720"/>
            <a:ext cx="5212080" cy="4754880"/>
          </a:xfrm>
          <a:prstGeom prst="rect">
            <a:avLst/>
          </a:prstGeom>
          <a:noFill/>
        </p:spPr>
        <p:txBody>
          <a:bodyPr wrap="square" lIns="0" tIns="0" rIns="0" bIns="0" anchor="t">
            <a:spAutoFit/>
          </a:bodyPr>
          <a:lstStyle/>
          <a:p>
            <a:pPr algn="l">
              <a:spcAft>
                <a:spcPts val="500"/>
              </a:spcAft>
            </a:pPr>
            <a:r>
              <a:rPr sz="1150" b="1" i="0">
                <a:solidFill>
                  <a:srgbClr val="1F5FAE"/>
                </a:solidFill>
                <a:latin typeface="Calibri"/>
              </a:rPr>
              <a:t>[9]  </a:t>
            </a:r>
            <a:r>
              <a:rPr sz="1150" b="0" i="0">
                <a:solidFill>
                  <a:srgbClr val="0F1E36"/>
                </a:solidFill>
                <a:latin typeface="Calibri"/>
              </a:rPr>
              <a:t>L. Breiman, «Random forests», Machine Learning, vol. 45, no. 1, pp. 5-32, 2001.</a:t>
            </a:r>
          </a:p>
          <a:p>
            <a:pPr algn="l">
              <a:spcAft>
                <a:spcPts val="500"/>
              </a:spcAft>
            </a:pPr>
            <a:r>
              <a:rPr sz="1150" b="1" i="0">
                <a:solidFill>
                  <a:srgbClr val="1F5FAE"/>
                </a:solidFill>
                <a:latin typeface="Calibri"/>
              </a:rPr>
              <a:t>[10]  </a:t>
            </a:r>
            <a:r>
              <a:rPr sz="1150" b="0" i="0">
                <a:solidFill>
                  <a:srgbClr val="0F1E36"/>
                </a:solidFill>
                <a:latin typeface="Calibri"/>
              </a:rPr>
              <a:t>T. Chen y C. Guestrin, «XGBoost: A scalable tree boosting system», Proc. 22nd ACM SIGKDD, 2016, pp. 785-794.</a:t>
            </a:r>
          </a:p>
          <a:p>
            <a:pPr algn="l">
              <a:spcAft>
                <a:spcPts val="500"/>
              </a:spcAft>
            </a:pPr>
            <a:r>
              <a:rPr sz="1150" b="1" i="0">
                <a:solidFill>
                  <a:srgbClr val="1F5FAE"/>
                </a:solidFill>
                <a:latin typeface="Calibri"/>
              </a:rPr>
              <a:t>[11]  </a:t>
            </a:r>
            <a:r>
              <a:rPr sz="1150" b="0" i="0">
                <a:solidFill>
                  <a:srgbClr val="0F1E36"/>
                </a:solidFill>
                <a:latin typeface="Calibri"/>
              </a:rPr>
              <a:t>C. Cortes y V. Vapnik, «Support-vector networks», Machine Learning, vol. 20, no. 3, pp. 273-297, 1995.</a:t>
            </a:r>
          </a:p>
          <a:p>
            <a:pPr algn="l">
              <a:spcAft>
                <a:spcPts val="500"/>
              </a:spcAft>
            </a:pPr>
            <a:r>
              <a:rPr sz="1150" b="1" i="0">
                <a:solidFill>
                  <a:srgbClr val="1F5FAE"/>
                </a:solidFill>
                <a:latin typeface="Calibri"/>
              </a:rPr>
              <a:t>[12]  </a:t>
            </a:r>
            <a:r>
              <a:rPr sz="1150" b="0" i="0">
                <a:solidFill>
                  <a:srgbClr val="0F1E36"/>
                </a:solidFill>
                <a:latin typeface="Calibri"/>
              </a:rPr>
              <a:t>C. Nadeau e Y. Bengio, «Inference for the generalization error», Machine Learning, vol. 52, no. 3, pp. 239-281, 2003.</a:t>
            </a:r>
          </a:p>
          <a:p>
            <a:pPr algn="l">
              <a:spcAft>
                <a:spcPts val="500"/>
              </a:spcAft>
            </a:pPr>
            <a:r>
              <a:rPr sz="1150" b="1" i="0">
                <a:solidFill>
                  <a:srgbClr val="1F5FAE"/>
                </a:solidFill>
                <a:latin typeface="Calibri"/>
              </a:rPr>
              <a:t>[13]  </a:t>
            </a:r>
            <a:r>
              <a:rPr sz="1150" b="0" i="0">
                <a:solidFill>
                  <a:srgbClr val="0F1E36"/>
                </a:solidFill>
                <a:latin typeface="Calibri"/>
              </a:rPr>
              <a:t>T. Saito y M. Rehmsmeier, «The precision-recall plot is more informative than the ROC plot when evaluating binary classifiers on imbalanced datasets», PLoS ONE, vol. 10, no. 3, e0118432, 2015.</a:t>
            </a:r>
          </a:p>
          <a:p>
            <a:pPr algn="l">
              <a:spcAft>
                <a:spcPts val="500"/>
              </a:spcAft>
            </a:pPr>
            <a:r>
              <a:rPr sz="1150" b="1" i="0">
                <a:solidFill>
                  <a:srgbClr val="1F5FAE"/>
                </a:solidFill>
                <a:latin typeface="Calibri"/>
              </a:rPr>
              <a:t>[14]  </a:t>
            </a:r>
            <a:r>
              <a:rPr sz="1150" b="0" i="0">
                <a:solidFill>
                  <a:srgbClr val="0F1E36"/>
                </a:solidFill>
                <a:latin typeface="Calibri"/>
              </a:rPr>
              <a:t>F. Pedregosa et al., «Scikit-learn: Machine learning in Python», J. Mach. Learn. Res., vol. 12, pp. 2825-2830, 2011.</a:t>
            </a:r>
          </a:p>
          <a:p>
            <a:pPr algn="l">
              <a:spcAft>
                <a:spcPts val="500"/>
              </a:spcAft>
            </a:pPr>
            <a:r>
              <a:rPr sz="1150" b="1" i="0">
                <a:solidFill>
                  <a:srgbClr val="1F5FAE"/>
                </a:solidFill>
                <a:latin typeface="Calibri"/>
              </a:rPr>
              <a:t>[15]  </a:t>
            </a:r>
            <a:r>
              <a:rPr sz="1150" b="0" i="0">
                <a:solidFill>
                  <a:srgbClr val="0F1E36"/>
                </a:solidFill>
                <a:latin typeface="Calibri"/>
              </a:rPr>
              <a:t>Ministerio de Educación Nacional, SPADIES: Sistema para la Prevención de la Deserción de la Educación Superior. Bogotá: MEN.</a:t>
            </a:r>
          </a:p>
          <a:p>
            <a:pPr algn="l">
              <a:spcAft>
                <a:spcPts val="500"/>
              </a:spcAft>
            </a:pPr>
            <a:r>
              <a:rPr sz="1150" b="1" i="0">
                <a:solidFill>
                  <a:srgbClr val="1F5FAE"/>
                </a:solidFill>
                <a:latin typeface="Calibri"/>
              </a:rPr>
              <a:t>[16]  </a:t>
            </a:r>
            <a:r>
              <a:rPr sz="1150" b="0" i="0">
                <a:solidFill>
                  <a:srgbClr val="0F1E36"/>
                </a:solidFill>
                <a:latin typeface="Calibri"/>
              </a:rPr>
              <a:t>C. Romero y S. Ventura, «Educational data mining: A review of the state of the art», IEEE Trans. Syst., Man, Cybern. C, vol. 40, no. 6, pp. 601-618, 2010.</a:t>
            </a:r>
          </a:p>
        </p:txBody>
      </p:sp>
      <p:pic>
        <p:nvPicPr>
          <p:cNvPr id="558" name="Picture 557" descr="image.png"/>
          <p:cNvPicPr>
            <a:picLocks noChangeAspect="1"/>
          </p:cNvPicPr>
          <p:nvPr/>
        </p:nvPicPr>
        <p:blipFill>
          <a:blip r:embed="rId3"/>
          <a:stretch>
            <a:fillRect/>
          </a:stretch>
        </p:blipFill>
        <p:spPr>
          <a:xfrm>
            <a:off x="11356848" y="5861304"/>
            <a:ext cx="731520" cy="731520"/>
          </a:xfrm>
          <a:prstGeom prst="rect">
            <a:avLst/>
          </a:prstGeom>
        </p:spPr>
      </p:pic>
      <p:sp>
        <p:nvSpPr>
          <p:cNvPr id="559" name="TextBox 558"/>
          <p:cNvSpPr txBox="1"/>
          <p:nvPr/>
        </p:nvSpPr>
        <p:spPr>
          <a:xfrm>
            <a:off x="10789920" y="6053328"/>
            <a:ext cx="457200" cy="274320"/>
          </a:xfrm>
          <a:prstGeom prst="rect">
            <a:avLst/>
          </a:prstGeom>
          <a:noFill/>
        </p:spPr>
        <p:txBody>
          <a:bodyPr wrap="square" lIns="0" tIns="0" rIns="0" bIns="0" anchor="t">
            <a:spAutoFit/>
          </a:bodyPr>
          <a:lstStyle/>
          <a:p>
            <a:pPr algn="r"/>
            <a:r>
              <a:rPr sz="1000" b="0" i="0">
                <a:solidFill>
                  <a:srgbClr val="55657E"/>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pic>
        <p:nvPicPr>
          <p:cNvPr id="562" name="Google Shape;562;p33" descr="image.png"/>
          <p:cNvPicPr preferRelativeResize="0"/>
          <p:nvPr/>
        </p:nvPicPr>
        <p:blipFill rotWithShape="1">
          <a:blip r:embed="rId3">
            <a:alphaModFix/>
          </a:blip>
          <a:srcRect/>
          <a:stretch/>
        </p:blipFill>
        <p:spPr>
          <a:xfrm>
            <a:off x="11356848" y="5861304"/>
            <a:ext cx="731520" cy="731520"/>
          </a:xfrm>
          <a:prstGeom prst="rect">
            <a:avLst/>
          </a:prstGeom>
          <a:noFill/>
          <a:ln>
            <a:noFill/>
          </a:ln>
        </p:spPr>
      </p:pic>
      <p:sp>
        <p:nvSpPr>
          <p:cNvPr id="563" name="Google Shape;563;p33"/>
          <p:cNvSpPr txBox="1"/>
          <p:nvPr/>
        </p:nvSpPr>
        <p:spPr>
          <a:xfrm>
            <a:off x="10789920" y="6053328"/>
            <a:ext cx="457200" cy="27432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00" b="0" i="0">
                <a:solidFill>
                  <a:srgbClr val="55657E"/>
                </a:solidFill>
                <a:latin typeface="Calibri"/>
                <a:ea typeface="Calibri"/>
                <a:cs typeface="Calibri"/>
                <a:sym typeface="Calibri"/>
              </a:rPr>
              <a:t>34</a:t>
            </a:r>
            <a:endParaRPr/>
          </a:p>
        </p:txBody>
      </p:sp>
      <p:sp>
        <p:nvSpPr>
          <p:cNvPr id="564" name="Google Shape;564;p33"/>
          <p:cNvSpPr/>
          <p:nvPr/>
        </p:nvSpPr>
        <p:spPr>
          <a:xfrm>
            <a:off x="566928" y="457200"/>
            <a:ext cx="50292" cy="420624"/>
          </a:xfrm>
          <a:prstGeom prst="rect">
            <a:avLst/>
          </a:prstGeom>
          <a:solidFill>
            <a:srgbClr val="1F5FA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565" name="Google Shape;565;p33"/>
          <p:cNvSpPr txBox="1"/>
          <p:nvPr/>
        </p:nvSpPr>
        <p:spPr>
          <a:xfrm>
            <a:off x="731520" y="347472"/>
            <a:ext cx="10607040" cy="6400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1" i="0">
                <a:solidFill>
                  <a:srgbClr val="0F1E36"/>
                </a:solidFill>
                <a:latin typeface="Calibri"/>
                <a:ea typeface="Calibri"/>
                <a:cs typeface="Calibri"/>
                <a:sym typeface="Calibri"/>
              </a:rPr>
              <a:t>Límites y siguiente paso</a:t>
            </a:r>
            <a:endParaRPr/>
          </a:p>
        </p:txBody>
      </p:sp>
      <p:sp>
        <p:nvSpPr>
          <p:cNvPr id="566" name="Google Shape;566;p33"/>
          <p:cNvSpPr txBox="1"/>
          <p:nvPr/>
        </p:nvSpPr>
        <p:spPr>
          <a:xfrm>
            <a:off x="731520" y="1554480"/>
            <a:ext cx="5760720" cy="2560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0" i="0">
                <a:solidFill>
                  <a:srgbClr val="0F1E36"/>
                </a:solidFill>
                <a:latin typeface="Calibri"/>
                <a:ea typeface="Calibri"/>
                <a:cs typeface="Calibri"/>
                <a:sym typeface="Calibri"/>
              </a:rPr>
              <a:t>▸  Una sola muestra de 80 estudiantes: estudio exploratorio</a:t>
            </a:r>
            <a:endParaRPr/>
          </a:p>
          <a:p>
            <a:pPr marL="0" marR="0" lvl="0" indent="0" algn="l" rtl="0">
              <a:spcBef>
                <a:spcPts val="1400"/>
              </a:spcBef>
              <a:spcAft>
                <a:spcPts val="0"/>
              </a:spcAft>
              <a:buNone/>
            </a:pPr>
            <a:r>
              <a:rPr lang="en-US" sz="2000" b="0" i="0">
                <a:solidFill>
                  <a:srgbClr val="0F1E36"/>
                </a:solidFill>
                <a:latin typeface="Calibri"/>
                <a:ea typeface="Calibri"/>
                <a:cs typeface="Calibri"/>
                <a:sym typeface="Calibri"/>
              </a:rPr>
              <a:t>▸  Validación con cohortes recientes, sin modificar el modelo</a:t>
            </a:r>
            <a:endParaRPr/>
          </a:p>
          <a:p>
            <a:pPr marL="0" marR="0" lvl="0" indent="0" algn="l" rtl="0">
              <a:spcBef>
                <a:spcPts val="1400"/>
              </a:spcBef>
              <a:spcAft>
                <a:spcPts val="0"/>
              </a:spcAft>
              <a:buNone/>
            </a:pPr>
            <a:r>
              <a:rPr lang="en-US" sz="2000" b="0" i="0">
                <a:solidFill>
                  <a:srgbClr val="0F1E36"/>
                </a:solidFill>
                <a:latin typeface="Calibri"/>
                <a:ea typeface="Calibri"/>
                <a:cs typeface="Calibri"/>
                <a:sym typeface="Calibri"/>
              </a:rPr>
              <a:t>▸  Extensión a Ingeniería Electrónica y Biología</a:t>
            </a:r>
            <a:endParaRPr/>
          </a:p>
        </p:txBody>
      </p:sp>
      <p:pic>
        <p:nvPicPr>
          <p:cNvPr id="567" name="Google Shape;567;p33" descr="f19_aprendizaje.png"/>
          <p:cNvPicPr preferRelativeResize="0"/>
          <p:nvPr/>
        </p:nvPicPr>
        <p:blipFill rotWithShape="1">
          <a:blip r:embed="rId4">
            <a:alphaModFix/>
          </a:blip>
          <a:srcRect/>
          <a:stretch/>
        </p:blipFill>
        <p:spPr>
          <a:xfrm>
            <a:off x="6866312" y="1417320"/>
            <a:ext cx="4189614" cy="3291840"/>
          </a:xfrm>
          <a:prstGeom prst="rect">
            <a:avLst/>
          </a:prstGeom>
          <a:noFill/>
          <a:ln>
            <a:noFill/>
          </a:ln>
        </p:spPr>
      </p:pic>
      <p:sp>
        <p:nvSpPr>
          <p:cNvPr id="568" name="Google Shape;568;p33"/>
          <p:cNvSpPr txBox="1"/>
          <p:nvPr/>
        </p:nvSpPr>
        <p:spPr>
          <a:xfrm>
            <a:off x="6675120" y="4709160"/>
            <a:ext cx="4572000" cy="3200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0" b="0" i="0">
                <a:solidFill>
                  <a:srgbClr val="55657E"/>
                </a:solidFill>
                <a:latin typeface="Calibri"/>
                <a:ea typeface="Calibri"/>
                <a:cs typeface="Calibri"/>
                <a:sym typeface="Calibri"/>
              </a:rPr>
              <a:t>Curva de aprendizaje: aún sube (techo ≈ 0,84)</a:t>
            </a:r>
            <a:endParaRPr/>
          </a:p>
        </p:txBody>
      </p:sp>
      <p:sp>
        <p:nvSpPr>
          <p:cNvPr id="569" name="Google Shape;569;p33"/>
          <p:cNvSpPr txBox="1"/>
          <p:nvPr/>
        </p:nvSpPr>
        <p:spPr>
          <a:xfrm>
            <a:off x="731520" y="4114800"/>
            <a:ext cx="576072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b="1" i="0">
                <a:solidFill>
                  <a:srgbClr val="1F5FAE"/>
                </a:solidFill>
                <a:latin typeface="Calibri"/>
                <a:ea typeface="Calibri"/>
                <a:cs typeface="Calibri"/>
                <a:sym typeface="Calibri"/>
              </a:rPr>
              <a:t>¡Gracias!</a:t>
            </a:r>
            <a:endParaRPr/>
          </a:p>
          <a:p>
            <a:pPr marL="0" marR="0" lvl="0" indent="0" algn="l" rtl="0">
              <a:spcBef>
                <a:spcPts val="0"/>
              </a:spcBef>
              <a:spcAft>
                <a:spcPts val="0"/>
              </a:spcAft>
              <a:buNone/>
            </a:pPr>
            <a:r>
              <a:rPr lang="en-US" sz="1600" b="0" i="0">
                <a:solidFill>
                  <a:srgbClr val="55657E"/>
                </a:solidFill>
                <a:latin typeface="Calibri"/>
                <a:ea typeface="Calibri"/>
                <a:cs typeface="Calibri"/>
                <a:sym typeface="Calibri"/>
              </a:rPr>
              <a:t>joan.martinez@unillanos.edu.co</a:t>
            </a:r>
            <a:endParaRPr/>
          </a:p>
        </p:txBody>
      </p:sp>
      <p:sp>
        <p:nvSpPr>
          <p:cNvPr id="570" name="Google Shape;570;p33"/>
          <p:cNvSpPr txBox="1"/>
          <p:nvPr/>
        </p:nvSpPr>
        <p:spPr>
          <a:xfrm>
            <a:off x="731520" y="5440680"/>
            <a:ext cx="987552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0" i="0">
                <a:solidFill>
                  <a:srgbClr val="55657E"/>
                </a:solidFill>
                <a:latin typeface="Calibri"/>
                <a:ea typeface="Calibri"/>
                <a:cs typeface="Calibri"/>
                <a:sym typeface="Calibri"/>
              </a:rPr>
              <a:t>Proyecto DGI/Unillanos C07-02-2026-027 · Oficina de Sistemas, Universidad de los Llanos</a:t>
            </a:r>
            <a:endParaRPr/>
          </a:p>
        </p:txBody>
      </p:sp>
    </p:spTree>
  </p:cSld>
  <p:clrMapOvr>
    <a:masterClrMapping/>
  </p:clrMapOvr>
</p:sld>
</file>

<file path=ppt/theme/theme1.xml><?xml version="1.0" encoding="utf-8"?>
<a:theme xmlns:a="http://schemas.openxmlformats.org/drawingml/2006/main" name="Custom Design">
  <a:themeElements>
    <a:clrScheme name="CICI 2026">
      <a:dk1>
        <a:srgbClr val="000000"/>
      </a:dk1>
      <a:lt1>
        <a:srgbClr val="FFFFFF"/>
      </a:lt1>
      <a:dk2>
        <a:srgbClr val="2F2F2F"/>
      </a:dk2>
      <a:lt2>
        <a:srgbClr val="EFF5FA"/>
      </a:lt2>
      <a:accent1>
        <a:srgbClr val="1E73BE"/>
      </a:accent1>
      <a:accent2>
        <a:srgbClr val="8DC63F"/>
      </a:accent2>
      <a:accent3>
        <a:srgbClr val="0B4C86"/>
      </a:accent3>
      <a:accent4>
        <a:srgbClr val="13B5E4"/>
      </a:accent4>
      <a:accent5>
        <a:srgbClr val="5A5A5A"/>
      </a:accent5>
      <a:accent6>
        <a:srgbClr val="2F2F2F"/>
      </a:accent6>
      <a:hlink>
        <a:srgbClr val="1E73BE"/>
      </a:hlink>
      <a:folHlink>
        <a:srgbClr val="0B4C8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538</TotalTime>
  <Words>4544</Words>
  <Application>Microsoft Office PowerPoint</Application>
  <PresentationFormat>Panorámica</PresentationFormat>
  <Paragraphs>411</Paragraphs>
  <Slides>34</Slides>
  <Notes>34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34</vt:i4>
      </vt:variant>
    </vt:vector>
  </HeadingPairs>
  <TitlesOfParts>
    <vt:vector size="37" baseType="lpstr">
      <vt:lpstr>Arial</vt:lpstr>
      <vt:lpstr>Calibri</vt:lpstr>
      <vt:lpstr>Custom Design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Joan David Martínez Hernández</cp:lastModifiedBy>
  <cp:revision>11</cp:revision>
  <dcterms:created xsi:type="dcterms:W3CDTF">2018-07-12T20:50:47Z</dcterms:created>
  <dcterms:modified xsi:type="dcterms:W3CDTF">2026-10-07T02:15:57Z</dcterms:modified>
</cp:coreProperties>
</file>