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comment2.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3.xml" ContentType="application/vnd.openxmlformats-officedocument.presentationml.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4.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90" r:id="rId7"/>
    <p:sldId id="262" r:id="rId8"/>
    <p:sldId id="263" r:id="rId9"/>
    <p:sldId id="264" r:id="rId10"/>
    <p:sldId id="265" r:id="rId11"/>
    <p:sldId id="267" r:id="rId12"/>
    <p:sldId id="291" r:id="rId13"/>
    <p:sldId id="270" r:id="rId14"/>
    <p:sldId id="274" r:id="rId15"/>
    <p:sldId id="277" r:id="rId16"/>
    <p:sldId id="279" r:id="rId17"/>
    <p:sldId id="292" r:id="rId18"/>
    <p:sldId id="284" r:id="rId19"/>
    <p:sldId id="293" r:id="rId20"/>
    <p:sldId id="287" r:id="rId21"/>
    <p:sldId id="289" r:id="rId22"/>
    <p:sldId id="288"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jnBayp3TKVypL+kv0A/Jzwv0fLE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IANA MARCELA CARDONA ROMAN" initials="" lastIdx="9"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607F2B-0D1A-44AA-933E-E49CCDE99D64}">
  <a:tblStyle styleId="{F6607F2B-0D1A-44AA-933E-E49CCDE99D6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BF4"/>
          </a:solidFill>
        </a:fill>
      </a:tcStyle>
    </a:wholeTbl>
    <a:band1H>
      <a:tcTxStyle/>
      <a:tcStyle>
        <a:tcBdr/>
        <a:fill>
          <a:solidFill>
            <a:srgbClr val="CBD4E8"/>
          </a:solidFill>
        </a:fill>
      </a:tcStyle>
    </a:band1H>
    <a:band2H>
      <a:tcTxStyle/>
      <a:tcStyle>
        <a:tcBdr/>
      </a:tcStyle>
    </a:band2H>
    <a:band1V>
      <a:tcTxStyle/>
      <a:tcStyle>
        <a:tcBdr/>
        <a:fill>
          <a:solidFill>
            <a:srgbClr val="CBD4E8"/>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43"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10-01T18:13:15.343" idx="4">
    <p:pos x="195" y="3829"/>
    <p:text>Adiciona la referencia bibliográfica de esta metodología</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nt378Y"/>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6-10-01T18:12:17.622" idx="5">
    <p:pos x="331" y="3786"/>
    <p:text>Recomendable colocar referencias una del reglamento estudiantil al que haces alusión pero también a los autores que indiquen de la validación anidada y que autor hace selección de variables dinámica dependiendo de la partición. Esto le daría soporte o rigor metodológico.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nt378U"/>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6-10-01T18:32:59.671" idx="7">
    <p:pos x="489" y="1103"/>
    <p:text>Puedes dejarla normalizada al dividir entre la suma de la fila (%) y conservas el número para tenerlo de referencia.
por ej. el 60 de sin alerta y sin bajo rendimiento, lo dejas (60) 98.4%  y el (1) (1.6%)</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H8zSCQg"/>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0" dt="2026-10-01T18:28:21.746" idx="8">
    <p:pos x="460" y="218"/>
    <p:text>@joan.martinez@unillanos.edu.co ¿Será trayectoria académica?
Luego si pones 'trayecta.app'
_Assigned to joan.martinez@unillanos.edu.co_</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nt378A"/>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0" dt="2026-10-01T18:05:57.155" idx="9">
    <p:pos x="379" y="947"/>
    <p:text>Completar las referencias citadas DENTRO de esta presentación</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CGnt378Q"/>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 name="Google Shape;76;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[0:00 | 0:15] Portada</a:t>
            </a:r>
          </a:p>
          <a:p>
            <a:endParaRPr/>
          </a:p>
          <a:p>
            <a:r>
              <a:t>Buenos días. Mi nombre es Joan David Martínez, estudiante de Ingeniería de Sistemas de la Universidad de los Llanos. Presento el trabajo 129, desarrollado con las profesoras Diana Marcela Cardona y Sara Cristina Guerrero.</a:t>
            </a:r>
          </a:p>
        </p:txBody>
      </p:sp>
      <p:sp>
        <p:nvSpPr>
          <p:cNvPr id="77" name="Google Shape;77;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[0:15 | 0:45] El problema del abandono</a:t>
            </a:r>
          </a:p>
          <a:p>
            <a:endParaRPr/>
          </a:p>
          <a:p>
            <a:r>
              <a:t>Empecemos por el tamaño del problema. En Colombia, solo el 45 por ciento de quienes ingresan a la educación superior se gradúa después de quince semestres. En las dos cohortes de Ingeniería de Sistemas que estudiamos, las que ingresaron en 2017 y 2018, el 63 por ciento no se había graduado, y de quienes abandonaron, casi dos de cada tres lo hicieron en los dos primeros semestres. De ahí nuestra pregunta: ¿cuál algoritmo ofrece el mejor desempeño para predecir el rendimiento académico? Y nuestro objetivo: comparar algoritmos de aprendizaje automático para predecir el rendimiento y la graduación.</a:t>
            </a:r>
          </a:p>
        </p:txBody>
      </p:sp>
      <p:sp>
        <p:nvSpPr>
          <p:cNvPr id="93" name="Google Shape;93;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[1:00 | 0:30] ¿</a:t>
            </a:r>
            <a:r>
              <a:rPr dirty="0" err="1"/>
              <a:t>Cuándo</a:t>
            </a:r>
            <a:r>
              <a:rPr dirty="0"/>
              <a:t> </a:t>
            </a:r>
            <a:r>
              <a:rPr dirty="0" err="1"/>
              <a:t>abandonan</a:t>
            </a:r>
            <a:r>
              <a:rPr dirty="0"/>
              <a:t>?</a:t>
            </a:r>
          </a:p>
          <a:p>
            <a:endParaRPr dirty="0"/>
          </a:p>
          <a:p>
            <a:r>
              <a:rPr dirty="0" err="1"/>
              <a:t>Esta</a:t>
            </a:r>
            <a:r>
              <a:rPr dirty="0"/>
              <a:t> </a:t>
            </a:r>
            <a:r>
              <a:rPr dirty="0" err="1"/>
              <a:t>gráfica</a:t>
            </a:r>
            <a:r>
              <a:rPr dirty="0"/>
              <a:t> lo </a:t>
            </a:r>
            <a:r>
              <a:rPr dirty="0" err="1"/>
              <a:t>muestra</a:t>
            </a:r>
            <a:r>
              <a:rPr dirty="0"/>
              <a:t> </a:t>
            </a:r>
            <a:r>
              <a:rPr dirty="0" err="1"/>
              <a:t>en</a:t>
            </a:r>
            <a:r>
              <a:rPr dirty="0"/>
              <a:t> </a:t>
            </a:r>
            <a:r>
              <a:rPr dirty="0" err="1"/>
              <a:t>detalle</a:t>
            </a:r>
            <a:r>
              <a:rPr dirty="0"/>
              <a:t>. </a:t>
            </a:r>
            <a:r>
              <a:rPr dirty="0" err="1"/>
              <a:t>Cada</a:t>
            </a:r>
            <a:r>
              <a:rPr dirty="0"/>
              <a:t> </a:t>
            </a:r>
            <a:r>
              <a:rPr dirty="0" err="1"/>
              <a:t>barra</a:t>
            </a:r>
            <a:r>
              <a:rPr dirty="0"/>
              <a:t> </a:t>
            </a:r>
            <a:r>
              <a:rPr dirty="0" err="1"/>
              <a:t>cuenta</a:t>
            </a:r>
            <a:r>
              <a:rPr dirty="0"/>
              <a:t> a </a:t>
            </a:r>
            <a:r>
              <a:rPr dirty="0" err="1"/>
              <a:t>quienes</a:t>
            </a:r>
            <a:r>
              <a:rPr dirty="0"/>
              <a:t> </a:t>
            </a:r>
            <a:r>
              <a:rPr dirty="0" err="1"/>
              <a:t>abandonaron</a:t>
            </a:r>
            <a:r>
              <a:rPr dirty="0"/>
              <a:t> </a:t>
            </a:r>
            <a:r>
              <a:rPr dirty="0" err="1"/>
              <a:t>según</a:t>
            </a:r>
            <a:r>
              <a:rPr dirty="0"/>
              <a:t> los </a:t>
            </a:r>
            <a:r>
              <a:rPr dirty="0" err="1"/>
              <a:t>semestres</a:t>
            </a:r>
            <a:r>
              <a:rPr dirty="0"/>
              <a:t> que </a:t>
            </a:r>
            <a:r>
              <a:rPr dirty="0" err="1"/>
              <a:t>alcanzaron</a:t>
            </a:r>
            <a:r>
              <a:rPr dirty="0"/>
              <a:t> a </a:t>
            </a:r>
            <a:r>
              <a:rPr dirty="0" err="1"/>
              <a:t>cursar</a:t>
            </a:r>
            <a:r>
              <a:rPr dirty="0"/>
              <a:t>; los dos tonos de </a:t>
            </a:r>
            <a:r>
              <a:rPr dirty="0" err="1"/>
              <a:t>azul</a:t>
            </a:r>
            <a:r>
              <a:rPr dirty="0"/>
              <a:t> son las dos </a:t>
            </a:r>
            <a:r>
              <a:rPr dirty="0" err="1"/>
              <a:t>cohortes</a:t>
            </a:r>
            <a:r>
              <a:rPr dirty="0"/>
              <a:t>, de 47 y 48 </a:t>
            </a:r>
            <a:r>
              <a:rPr dirty="0" err="1"/>
              <a:t>admitidos</a:t>
            </a:r>
            <a:r>
              <a:rPr dirty="0"/>
              <a:t>. La </a:t>
            </a:r>
            <a:r>
              <a:rPr dirty="0" err="1"/>
              <a:t>franja</a:t>
            </a:r>
            <a:r>
              <a:rPr dirty="0"/>
              <a:t> </a:t>
            </a:r>
            <a:r>
              <a:rPr dirty="0" err="1"/>
              <a:t>roja</a:t>
            </a:r>
            <a:r>
              <a:rPr dirty="0"/>
              <a:t>, de cero a dos </a:t>
            </a:r>
            <a:r>
              <a:rPr dirty="0" err="1"/>
              <a:t>semestres</a:t>
            </a:r>
            <a:r>
              <a:rPr dirty="0"/>
              <a:t>, </a:t>
            </a:r>
            <a:r>
              <a:rPr dirty="0" err="1"/>
              <a:t>reúne</a:t>
            </a:r>
            <a:r>
              <a:rPr dirty="0"/>
              <a:t> 38 de los 59 </a:t>
            </a:r>
            <a:r>
              <a:rPr dirty="0" err="1"/>
              <a:t>casos</a:t>
            </a:r>
            <a:r>
              <a:rPr dirty="0"/>
              <a:t>. Por </a:t>
            </a:r>
            <a:r>
              <a:rPr dirty="0" err="1"/>
              <a:t>eso</a:t>
            </a:r>
            <a:r>
              <a:rPr dirty="0"/>
              <a:t>, </a:t>
            </a:r>
            <a:r>
              <a:rPr dirty="0" err="1"/>
              <a:t>si</a:t>
            </a:r>
            <a:r>
              <a:rPr dirty="0"/>
              <a:t> </a:t>
            </a:r>
            <a:r>
              <a:rPr dirty="0" err="1"/>
              <a:t>queremos</a:t>
            </a:r>
            <a:r>
              <a:rPr dirty="0"/>
              <a:t> </a:t>
            </a:r>
            <a:r>
              <a:rPr dirty="0" err="1"/>
              <a:t>ayudar</a:t>
            </a:r>
            <a:r>
              <a:rPr dirty="0"/>
              <a:t> a </a:t>
            </a:r>
            <a:r>
              <a:rPr dirty="0" err="1"/>
              <a:t>tiempo</a:t>
            </a:r>
            <a:r>
              <a:rPr dirty="0"/>
              <a:t>, la </a:t>
            </a:r>
            <a:r>
              <a:rPr dirty="0" err="1"/>
              <a:t>alerta</a:t>
            </a:r>
            <a:r>
              <a:rPr dirty="0"/>
              <a:t> debe </a:t>
            </a:r>
            <a:r>
              <a:rPr dirty="0" err="1"/>
              <a:t>llegar</a:t>
            </a:r>
            <a:r>
              <a:rPr dirty="0"/>
              <a:t> al </a:t>
            </a:r>
            <a:r>
              <a:rPr dirty="0" err="1"/>
              <a:t>terminar</a:t>
            </a:r>
            <a:r>
              <a:rPr dirty="0"/>
              <a:t> </a:t>
            </a:r>
            <a:r>
              <a:rPr dirty="0" err="1"/>
              <a:t>el</a:t>
            </a:r>
            <a:r>
              <a:rPr dirty="0"/>
              <a:t> primer </a:t>
            </a:r>
            <a:r>
              <a:rPr dirty="0" err="1"/>
              <a:t>semestre</a:t>
            </a:r>
            <a:r>
              <a:rPr dirty="0"/>
              <a:t>.</a:t>
            </a:r>
          </a:p>
        </p:txBody>
      </p:sp>
      <p:sp>
        <p:nvSpPr>
          <p:cNvPr id="118" name="Google Shape;118;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[1:30 | 0:30] Metodología CRISP-DM</a:t>
            </a:r>
          </a:p>
          <a:p>
            <a:endParaRPr/>
          </a:p>
          <a:p>
            <a:r>
              <a:t>Seguimos CRISP-DM, la metodología más usada en minería de datos, que organiza el proyecto en seis fases. A la derecha está la versión que adaptamos al proyecto, basada en la guía de IBM. A la izquierda, las flechas rojas muestran que el camino no fue lineal: la evaluación nos obligó a volver a preparar los datos, y el modelado nos llevó a redefinir la variable objetivo.</a:t>
            </a:r>
          </a:p>
        </p:txBody>
      </p:sp>
      <p:sp>
        <p:nvSpPr>
          <p:cNvPr id="130" name="Google Shape;130;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 name="Google Shape;14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[2:00 | 0:50] Los datos</a:t>
            </a:r>
          </a:p>
          <a:p>
            <a:endParaRPr/>
          </a:p>
          <a:p>
            <a:r>
              <a:t>Trabajamos con seis archivos de la Oficina de Sistemas: más de ocho mil quinientas notas y casi dos mil registros del estado de cada estudiante en cada semestre, limpiados con reglas escritas, sin tocar los originales. El embudo muestra el resultado: de 95 admitidos, 90 tuvieron actividad, 80 llegaron a estar sujetos al reglamento y 19 perdieron la calidad de estudiante por bajo rendimiento. Un detalle importante: estas cohortes vivieron dos reglamentos, el de 2003 y, desde 2022, el actual. Aplicamos el vigente a toda la trayectoria, porque es el que regirá a los estudiantes en quienes se usará el modelo, y lo declaramos como supuesto.</a:t>
            </a:r>
          </a:p>
        </p:txBody>
      </p:sp>
      <p:sp>
        <p:nvSpPr>
          <p:cNvPr id="144" name="Google Shape;144;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[2:50 | 0:45] Punto de </a:t>
            </a:r>
            <a:r>
              <a:rPr dirty="0" err="1"/>
              <a:t>partida</a:t>
            </a:r>
            <a:endParaRPr dirty="0"/>
          </a:p>
          <a:p>
            <a:endParaRPr dirty="0"/>
          </a:p>
          <a:p>
            <a:r>
              <a:rPr dirty="0"/>
              <a:t>Este </a:t>
            </a:r>
            <a:r>
              <a:rPr dirty="0" err="1"/>
              <a:t>fue</a:t>
            </a:r>
            <a:r>
              <a:rPr dirty="0"/>
              <a:t> </a:t>
            </a:r>
            <a:r>
              <a:rPr dirty="0" err="1"/>
              <a:t>nuestro</a:t>
            </a:r>
            <a:r>
              <a:rPr dirty="0"/>
              <a:t> punto de </a:t>
            </a:r>
            <a:r>
              <a:rPr dirty="0" err="1"/>
              <a:t>partida</a:t>
            </a:r>
            <a:r>
              <a:rPr dirty="0"/>
              <a:t>, los </a:t>
            </a:r>
            <a:r>
              <a:rPr dirty="0" err="1"/>
              <a:t>resultados</a:t>
            </a:r>
            <a:r>
              <a:rPr dirty="0"/>
              <a:t> </a:t>
            </a:r>
            <a:r>
              <a:rPr dirty="0" err="1"/>
              <a:t>preliminares</a:t>
            </a:r>
            <a:r>
              <a:rPr dirty="0"/>
              <a:t>: 90 </a:t>
            </a:r>
            <a:r>
              <a:rPr dirty="0" err="1"/>
              <a:t>estudiantes</a:t>
            </a:r>
            <a:r>
              <a:rPr dirty="0"/>
              <a:t>, 18 variables </a:t>
            </a:r>
            <a:r>
              <a:rPr dirty="0" err="1"/>
              <a:t>en</a:t>
            </a:r>
            <a:r>
              <a:rPr dirty="0"/>
              <a:t> </a:t>
            </a:r>
            <a:r>
              <a:rPr dirty="0" err="1"/>
              <a:t>cinco</a:t>
            </a:r>
            <a:r>
              <a:rPr dirty="0"/>
              <a:t> </a:t>
            </a:r>
            <a:r>
              <a:rPr dirty="0" err="1"/>
              <a:t>bloques</a:t>
            </a:r>
            <a:r>
              <a:rPr dirty="0"/>
              <a:t> y </a:t>
            </a:r>
            <a:r>
              <a:rPr dirty="0" err="1"/>
              <a:t>tres</a:t>
            </a:r>
            <a:r>
              <a:rPr dirty="0"/>
              <a:t> </a:t>
            </a:r>
            <a:r>
              <a:rPr dirty="0" err="1"/>
              <a:t>algoritmos</a:t>
            </a:r>
            <a:r>
              <a:rPr dirty="0"/>
              <a:t>, </a:t>
            </a:r>
            <a:r>
              <a:rPr dirty="0" err="1"/>
              <a:t>evaluados</a:t>
            </a:r>
            <a:r>
              <a:rPr dirty="0"/>
              <a:t> con </a:t>
            </a:r>
            <a:r>
              <a:rPr dirty="0" err="1"/>
              <a:t>validación</a:t>
            </a:r>
            <a:r>
              <a:rPr dirty="0"/>
              <a:t> </a:t>
            </a:r>
            <a:r>
              <a:rPr dirty="0" err="1"/>
              <a:t>cruzada</a:t>
            </a:r>
            <a:r>
              <a:rPr dirty="0"/>
              <a:t> de </a:t>
            </a:r>
            <a:r>
              <a:rPr dirty="0" err="1"/>
              <a:t>cinco</a:t>
            </a:r>
            <a:r>
              <a:rPr dirty="0"/>
              <a:t> </a:t>
            </a:r>
            <a:r>
              <a:rPr dirty="0" err="1"/>
              <a:t>particiones</a:t>
            </a:r>
            <a:r>
              <a:rPr dirty="0"/>
              <a:t>. La </a:t>
            </a:r>
            <a:r>
              <a:rPr dirty="0" err="1"/>
              <a:t>exhaustividad</a:t>
            </a:r>
            <a:r>
              <a:rPr dirty="0"/>
              <a:t> es la </a:t>
            </a:r>
            <a:r>
              <a:rPr dirty="0" err="1"/>
              <a:t>proporción</a:t>
            </a:r>
            <a:r>
              <a:rPr dirty="0"/>
              <a:t> de </a:t>
            </a:r>
            <a:r>
              <a:rPr dirty="0" err="1"/>
              <a:t>casos</a:t>
            </a:r>
            <a:r>
              <a:rPr dirty="0"/>
              <a:t> </a:t>
            </a:r>
            <a:r>
              <a:rPr dirty="0" err="1"/>
              <a:t>reales</a:t>
            </a:r>
            <a:r>
              <a:rPr dirty="0"/>
              <a:t> que </a:t>
            </a:r>
            <a:r>
              <a:rPr dirty="0" err="1"/>
              <a:t>el</a:t>
            </a:r>
            <a:r>
              <a:rPr dirty="0"/>
              <a:t> </a:t>
            </a:r>
            <a:r>
              <a:rPr dirty="0" err="1"/>
              <a:t>modelo</a:t>
            </a:r>
            <a:r>
              <a:rPr dirty="0"/>
              <a:t> </a:t>
            </a:r>
            <a:r>
              <a:rPr dirty="0" err="1"/>
              <a:t>detecta</a:t>
            </a:r>
            <a:r>
              <a:rPr dirty="0"/>
              <a:t>; la </a:t>
            </a:r>
            <a:r>
              <a:rPr dirty="0" err="1"/>
              <a:t>precisión</a:t>
            </a:r>
            <a:r>
              <a:rPr dirty="0"/>
              <a:t>, la </a:t>
            </a:r>
            <a:r>
              <a:rPr dirty="0" err="1"/>
              <a:t>proporción</a:t>
            </a:r>
            <a:r>
              <a:rPr dirty="0"/>
              <a:t> de </a:t>
            </a:r>
            <a:r>
              <a:rPr dirty="0" err="1"/>
              <a:t>alertas</a:t>
            </a:r>
            <a:r>
              <a:rPr dirty="0"/>
              <a:t> </a:t>
            </a:r>
            <a:r>
              <a:rPr dirty="0" err="1"/>
              <a:t>correctas</a:t>
            </a:r>
            <a:r>
              <a:rPr dirty="0"/>
              <a:t>; y </a:t>
            </a:r>
            <a:r>
              <a:rPr dirty="0" err="1"/>
              <a:t>el</a:t>
            </a:r>
            <a:r>
              <a:rPr dirty="0"/>
              <a:t> AUC </a:t>
            </a:r>
            <a:r>
              <a:rPr dirty="0" err="1"/>
              <a:t>mide</a:t>
            </a:r>
            <a:r>
              <a:rPr dirty="0"/>
              <a:t> </a:t>
            </a:r>
            <a:r>
              <a:rPr dirty="0" err="1"/>
              <a:t>qué</a:t>
            </a:r>
            <a:r>
              <a:rPr dirty="0"/>
              <a:t> tan bien se </a:t>
            </a:r>
            <a:r>
              <a:rPr dirty="0" err="1"/>
              <a:t>separan</a:t>
            </a:r>
            <a:r>
              <a:rPr dirty="0"/>
              <a:t> los dos </a:t>
            </a:r>
            <a:r>
              <a:rPr dirty="0" err="1"/>
              <a:t>grupos</a:t>
            </a:r>
            <a:r>
              <a:rPr dirty="0"/>
              <a:t>: 1 es perfecto y 0,5 equivale al azar. Para bajo </a:t>
            </a:r>
            <a:r>
              <a:rPr dirty="0" err="1"/>
              <a:t>rendimiento</a:t>
            </a:r>
            <a:r>
              <a:rPr dirty="0"/>
              <a:t>, Random Forest </a:t>
            </a:r>
            <a:r>
              <a:rPr dirty="0" err="1"/>
              <a:t>detectó</a:t>
            </a:r>
            <a:r>
              <a:rPr dirty="0"/>
              <a:t> </a:t>
            </a:r>
            <a:r>
              <a:rPr dirty="0" err="1"/>
              <a:t>ocho</a:t>
            </a:r>
            <a:r>
              <a:rPr dirty="0"/>
              <a:t> de </a:t>
            </a:r>
            <a:r>
              <a:rPr dirty="0" err="1"/>
              <a:t>cada</a:t>
            </a:r>
            <a:r>
              <a:rPr dirty="0"/>
              <a:t> </a:t>
            </a:r>
            <a:r>
              <a:rPr dirty="0" err="1"/>
              <a:t>diez</a:t>
            </a:r>
            <a:r>
              <a:rPr dirty="0"/>
              <a:t> </a:t>
            </a:r>
            <a:r>
              <a:rPr dirty="0" err="1"/>
              <a:t>casos</a:t>
            </a:r>
            <a:r>
              <a:rPr dirty="0"/>
              <a:t>; para </a:t>
            </a:r>
            <a:r>
              <a:rPr dirty="0" err="1"/>
              <a:t>graduación</a:t>
            </a:r>
            <a:r>
              <a:rPr dirty="0"/>
              <a:t>, </a:t>
            </a:r>
            <a:r>
              <a:rPr dirty="0" err="1"/>
              <a:t>XGBoost</a:t>
            </a:r>
            <a:r>
              <a:rPr dirty="0"/>
              <a:t> </a:t>
            </a:r>
            <a:r>
              <a:rPr dirty="0" err="1"/>
              <a:t>alcanzó</a:t>
            </a:r>
            <a:r>
              <a:rPr dirty="0"/>
              <a:t> </a:t>
            </a:r>
            <a:r>
              <a:rPr dirty="0" err="1"/>
              <a:t>el</a:t>
            </a:r>
            <a:r>
              <a:rPr dirty="0"/>
              <a:t> mayor AUC, 0,853. Y </a:t>
            </a:r>
            <a:r>
              <a:rPr dirty="0" err="1"/>
              <a:t>el</a:t>
            </a:r>
            <a:r>
              <a:rPr dirty="0"/>
              <a:t> </a:t>
            </a:r>
            <a:r>
              <a:rPr dirty="0" err="1"/>
              <a:t>promedio</a:t>
            </a:r>
            <a:r>
              <a:rPr dirty="0"/>
              <a:t> del primer </a:t>
            </a:r>
            <a:r>
              <a:rPr dirty="0" err="1"/>
              <a:t>semestre</a:t>
            </a:r>
            <a:r>
              <a:rPr dirty="0"/>
              <a:t> </a:t>
            </a:r>
            <a:r>
              <a:rPr dirty="0" err="1"/>
              <a:t>concentró</a:t>
            </a:r>
            <a:r>
              <a:rPr dirty="0"/>
              <a:t> </a:t>
            </a:r>
            <a:r>
              <a:rPr dirty="0" err="1"/>
              <a:t>el</a:t>
            </a:r>
            <a:r>
              <a:rPr dirty="0"/>
              <a:t> 40 por </a:t>
            </a:r>
            <a:r>
              <a:rPr dirty="0" err="1"/>
              <a:t>ciento</a:t>
            </a:r>
            <a:r>
              <a:rPr dirty="0"/>
              <a:t> de la </a:t>
            </a:r>
            <a:r>
              <a:rPr dirty="0" err="1"/>
              <a:t>importancia</a:t>
            </a:r>
            <a:r>
              <a:rPr dirty="0"/>
              <a:t> del </a:t>
            </a:r>
            <a:r>
              <a:rPr dirty="0" err="1"/>
              <a:t>modelo</a:t>
            </a:r>
            <a:r>
              <a:rPr dirty="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[3:35 | 0:35] Factores sin asociación</a:t>
            </a:r>
          </a:p>
          <a:p>
            <a:endParaRPr/>
          </a:p>
          <a:p>
            <a:r>
              <a:t>También reportamos lo que no encontramos. El género, la educación de los padres y haber repetido un año escolar no mostraron una asociación estadísticamente significativa con el rendimiento: todos los valores p superan 0,05. A la derecha, quienes repitieron tienen una proporción mayor con promedio inferior a 3, pero son solo 15 estudiantes y la diferencia no es significativa. Con grupos tan pequeños esto no prueba que no influyan; indica que aquí no ayudan a predecir.</a:t>
            </a:r>
          </a:p>
        </p:txBody>
      </p:sp>
      <p:sp>
        <p:nvSpPr>
          <p:cNvPr id="179" name="Google Shape;179;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[4:10 | 0:30] Asignaturas críticas</a:t>
            </a:r>
          </a:p>
          <a:p>
            <a:endParaRPr/>
          </a:p>
          <a:p>
            <a:r>
              <a:t>¿Dónde se pierde el semestre? Calculamos un índice de criticidad que combina la tasa de reprobación con las repeticiones. Matemáticas II, Física I y Álgebra Lineal encabezan la lista. En rojo está el plan 2011 y en azul su equivalente en el plan 2018: el orden se conserva, así que el apoyo debe ir a los mismos cursos del primer año.</a:t>
            </a:r>
          </a:p>
        </p:txBody>
      </p:sp>
      <p:sp>
        <p:nvSpPr>
          <p:cNvPr id="193" name="Google Shape;193;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[4:40 | 0:25] Equivalencias</a:t>
            </a:r>
          </a:p>
          <a:p>
            <a:endParaRPr/>
          </a:p>
          <a:p>
            <a:r>
              <a:t>El programa cambió de plan de estudios en 2018. Una resolución oficial define 72 equivalencias entre cursos, que transcribimos y convertimos en una capa de traducción: cada curso antiguo, a la izquierda, pasa a su nombre vigente, a la derecha. Así el sistema funciona con cohortes antiguas, nuevas o mixtas.</a:t>
            </a:r>
          </a:p>
        </p:txBody>
      </p:sp>
      <p:sp>
        <p:nvSpPr>
          <p:cNvPr id="205" name="Google Shape;20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6" name="Google Shape;21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[5:05 | 0:45] Antes de desplegar, se audita</a:t>
            </a:r>
          </a:p>
          <a:p>
            <a:endParaRPr/>
          </a:p>
          <a:p>
            <a:r>
              <a:t>Antes de convertir el modelo en herramienta, auditamos nuestro propio diseño y encontramos tres problemas. Primero, el promedio de carrera contiene al del primer semestre: el modelo se predecía a sí mismo, así que adoptamos la definición oficial del reglamento. Segundo, los hiperparámetros se elegían con los mismos datos que luego los calificaban: es como si el jurado que escoge la receta también la calificara. Tercero, las variables se elegían con toda la muestra. Ojo: estos errores no cambian el modelo, cambian la medición; hacían que pareciera mejor de lo que es, hasta en 15 puntos.</a:t>
            </a:r>
          </a:p>
        </p:txBody>
      </p:sp>
      <p:sp>
        <p:nvSpPr>
          <p:cNvPr id="217" name="Google Shape;217;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5" name="Google Shape;255;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[5:50 | 0:30] Variable objetivo y variables</a:t>
            </a:r>
          </a:p>
          <a:p>
            <a:endParaRPr/>
          </a:p>
          <a:p>
            <a:r>
              <a:t>Entramos al modelado. La variable objetivo es el artículo 19 del reglamento: pierde la calidad de estudiante quien reprueba todo un semestre con promedio inferior a 3, o un mismo curso por cuarta vez. Hay 19 casos entre 80. Usamos solo seis variables, disponibles al terminar el primer semestre: su promedio, si lo cursó y cuatro puntajes de la prueba Saber 11.</a:t>
            </a:r>
          </a:p>
        </p:txBody>
      </p:sp>
      <p:sp>
        <p:nvSpPr>
          <p:cNvPr id="256" name="Google Shape;256;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[6:20 | 0:50] Cinco algoritmos</a:t>
            </a:r>
          </a:p>
          <a:p>
            <a:endParaRPr/>
          </a:p>
          <a:p>
            <a:r>
              <a:t>Comparamos cinco algoritmos. Aquí están sus fórmulas y los ajustes que probamos, pero la idea de cada uno es sencilla. La regresión logística es una balanza: suma pesos a favor y en contra y los convierte en una probabilidad. El árbol de decisión juega a las veinte preguntas. Random Forest consulta a un comité de 150 árboles y promedia sus votos. XGBoost es como un estudiante que en cada intento repasa solo los errores del anterior. Y la máquina de vectores de soporte traza la frontera más ancha posible entre los dos grupos. Para que ninguno tuviera ventaja, todos recibieron un presupuesto similar, de 16 a 24 combinaciones.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[7:10 | 0:35] Validación cruzada anidada</a:t>
            </a:r>
          </a:p>
          <a:p>
            <a:endParaRPr/>
          </a:p>
          <a:p>
            <a:r>
              <a:t>Así medimos. Piénselo como un examen: dividimos a los 80 estudiantes en cinco grupos; cuatro estudian y uno presenta el examen. Entre los que estudian, una segunda ronda elige la mejor configuración, sin mirar nunca a quienes presentan. Rotamos hasta que cada grupo presenta una vez, juntamos las 80 predicciones y obtenemos una nota. Lo repetimos diez veces con repartos distintos, y las diez notas de cada algoritmo se comparan con la prueba de Nadeau y Bengio.</a:t>
            </a:r>
          </a:p>
        </p:txBody>
      </p:sp>
      <p:sp>
        <p:nvSpPr>
          <p:cNvPr id="328" name="Google Shape;328;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5" name="Google Shape;375;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[7:45 | 0:35] Comparación de algoritmos</a:t>
            </a:r>
          </a:p>
          <a:p>
            <a:endParaRPr/>
          </a:p>
          <a:p>
            <a:r>
              <a:t>La nota es el AUC-PR. Imagine ordenar a los estudiantes del más al menos riesgoso: el AUC-PR mide cuántos casos reales quedan en la parte alta de la lista. Si los ordenáramos al azar obtendríamos 0,24, la línea roja: ese es el mínimo que hay que superar. Cada punto es una repetición. Random Forest obtiene 0,745, tres veces el azar y el más estable. SVM queda cerca, sin diferencia significativa, y ante el empate preferimos el modelo más sencillo.</a:t>
            </a:r>
          </a:p>
        </p:txBody>
      </p:sp>
      <p:sp>
        <p:nvSpPr>
          <p:cNvPr id="376" name="Google Shape;376;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2" name="Google Shape;412;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[8:20 | 0:40] Matrices de confusión</a:t>
            </a:r>
          </a:p>
          <a:p>
            <a:endParaRPr/>
          </a:p>
          <a:p>
            <a:r>
              <a:t>En la práctica, el puntaje se convierte en dos niveles de alerta. Cada fila es la realidad y suma cien por ciento. En el nivel confirmado, 12 de cada 13 alertas son casos reales: entre quienes no tuvieron bajo rendimiento, solo uno recibe una falsa alarma. En el nivel de seguimiento se detecta el 79 por ciento de los casos, a cambio de alertar a más estudiantes. En un acompañamiento preventivo, una falsa alarma cuesta poco; un caso no detectado, mucho.</a:t>
            </a:r>
          </a:p>
        </p:txBody>
      </p:sp>
      <p:sp>
        <p:nvSpPr>
          <p:cNvPr id="413" name="Google Shape;413;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6" name="Google Shape;436;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[9:00 | 0:20] Segundo objetivo: graduación</a:t>
            </a:r>
          </a:p>
          <a:p>
            <a:endParaRPr/>
          </a:p>
          <a:p>
            <a:r>
              <a:t>Repetimos el mismo protocolo para predecir la graduación; aquí el azar es 0,39. SVM y Random Forest quedan empatados, y por simplicidad elegimos Random Forest, con 0,705. Esto corrige nuestros resultados preliminares, donde XGBoost aparecía como el mejor.</a:t>
            </a:r>
          </a:p>
        </p:txBody>
      </p:sp>
      <p:sp>
        <p:nvSpPr>
          <p:cNvPr id="437" name="Google Shape;437;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[9:20 | 0:35] Límites declarados</a:t>
            </a:r>
          </a:p>
          <a:p>
            <a:endParaRPr/>
          </a:p>
          <a:p>
            <a:r>
              <a:t>Ahora, los límites, que medimos de forma explícita. Primero, el 42 por ciento de los casos ocurre ya en el primer semestre: ahí el modelo confirma, no anticipa; evaluado solo con casos futuros, sigue siendo tres veces el azar. Segundo, calibrar las probabilidades no mejoró, así que mostramos niveles y no porcentajes. Y tercero, predecir semestre a semestre no superó al azar: ese seguimiento se hace aplicando directamente el reglamento.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6" name="Google Shape;496;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[9:55 | 0:35] TRAYECTA</a:t>
            </a:r>
          </a:p>
          <a:p>
            <a:endParaRPr/>
          </a:p>
          <a:p>
            <a:r>
              <a:t>Con lo que superó la auditoría construimos TRAYECTA, un prototipo inspirado en SPADIES, el sistema del Ministerio de Educación para el seguimiento de la deserción, pero llevado al nivel de un programa y con las reglas de nuestra universidad. Se carga el extracto académico sin nombres, se unifican los planes, se aplican el reglamento y los dos modelos validados, y el resultado llega al equipo de acompañamiento. Pueden probarla con este código.</a:t>
            </a:r>
          </a:p>
        </p:txBody>
      </p:sp>
      <p:sp>
        <p:nvSpPr>
          <p:cNvPr id="497" name="Google Shape;497;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[10:30 | 0:35] TRAYECTA </a:t>
            </a:r>
            <a:r>
              <a:rPr dirty="0" err="1"/>
              <a:t>en</a:t>
            </a:r>
            <a:r>
              <a:rPr dirty="0"/>
              <a:t> </a:t>
            </a:r>
            <a:r>
              <a:rPr dirty="0" err="1"/>
              <a:t>uso</a:t>
            </a:r>
            <a:endParaRPr dirty="0"/>
          </a:p>
          <a:p>
            <a:endParaRPr dirty="0"/>
          </a:p>
          <a:p>
            <a:r>
              <a:rPr dirty="0"/>
              <a:t>Para </a:t>
            </a:r>
            <a:r>
              <a:rPr dirty="0" err="1"/>
              <a:t>proteger</a:t>
            </a:r>
            <a:r>
              <a:rPr dirty="0"/>
              <a:t> la </a:t>
            </a:r>
            <a:r>
              <a:rPr dirty="0" err="1"/>
              <a:t>privacidad</a:t>
            </a:r>
            <a:r>
              <a:rPr dirty="0"/>
              <a:t>, </a:t>
            </a:r>
            <a:r>
              <a:rPr dirty="0" err="1"/>
              <a:t>estas</a:t>
            </a:r>
            <a:r>
              <a:rPr dirty="0"/>
              <a:t> </a:t>
            </a:r>
            <a:r>
              <a:rPr dirty="0" err="1"/>
              <a:t>pantallas</a:t>
            </a:r>
            <a:r>
              <a:rPr dirty="0"/>
              <a:t> </a:t>
            </a:r>
            <a:r>
              <a:rPr dirty="0" err="1"/>
              <a:t>usan</a:t>
            </a:r>
            <a:r>
              <a:rPr dirty="0"/>
              <a:t> una </a:t>
            </a:r>
            <a:r>
              <a:rPr dirty="0" err="1"/>
              <a:t>cohorte</a:t>
            </a:r>
            <a:r>
              <a:rPr dirty="0"/>
              <a:t> </a:t>
            </a:r>
            <a:r>
              <a:rPr dirty="0" err="1"/>
              <a:t>simulada</a:t>
            </a:r>
            <a:r>
              <a:rPr dirty="0"/>
              <a:t>: </a:t>
            </a:r>
            <a:r>
              <a:rPr dirty="0" err="1"/>
              <a:t>ningún</a:t>
            </a:r>
            <a:r>
              <a:rPr dirty="0"/>
              <a:t> </a:t>
            </a:r>
            <a:r>
              <a:rPr dirty="0" err="1"/>
              <a:t>estudiante</a:t>
            </a:r>
            <a:r>
              <a:rPr dirty="0"/>
              <a:t> es real, </a:t>
            </a:r>
            <a:r>
              <a:rPr dirty="0" err="1"/>
              <a:t>pero</a:t>
            </a:r>
            <a:r>
              <a:rPr dirty="0"/>
              <a:t> los </a:t>
            </a:r>
            <a:r>
              <a:rPr dirty="0" err="1"/>
              <a:t>modelos</a:t>
            </a:r>
            <a:r>
              <a:rPr dirty="0"/>
              <a:t> </a:t>
            </a:r>
            <a:r>
              <a:rPr dirty="0" err="1"/>
              <a:t>sí</a:t>
            </a:r>
            <a:r>
              <a:rPr dirty="0"/>
              <a:t> son los </a:t>
            </a:r>
            <a:r>
              <a:rPr dirty="0" err="1"/>
              <a:t>entrenados</a:t>
            </a:r>
            <a:r>
              <a:rPr dirty="0"/>
              <a:t> con </a:t>
            </a:r>
            <a:r>
              <a:rPr dirty="0" err="1"/>
              <a:t>datos</a:t>
            </a:r>
            <a:r>
              <a:rPr dirty="0"/>
              <a:t> </a:t>
            </a:r>
            <a:r>
              <a:rPr dirty="0" err="1"/>
              <a:t>reales</a:t>
            </a:r>
            <a:r>
              <a:rPr dirty="0"/>
              <a:t>. A la </a:t>
            </a:r>
            <a:r>
              <a:rPr dirty="0" err="1"/>
              <a:t>izquierda</a:t>
            </a:r>
            <a:r>
              <a:rPr dirty="0"/>
              <a:t>, </a:t>
            </a:r>
            <a:r>
              <a:rPr dirty="0" err="1"/>
              <a:t>el</a:t>
            </a:r>
            <a:r>
              <a:rPr dirty="0"/>
              <a:t> panorama: </a:t>
            </a:r>
            <a:r>
              <a:rPr dirty="0" err="1"/>
              <a:t>cada</a:t>
            </a:r>
            <a:r>
              <a:rPr dirty="0"/>
              <a:t> punto es un </a:t>
            </a:r>
            <a:r>
              <a:rPr dirty="0" err="1"/>
              <a:t>estudiante</a:t>
            </a:r>
            <a:r>
              <a:rPr dirty="0"/>
              <a:t> </a:t>
            </a:r>
            <a:r>
              <a:rPr dirty="0" err="1"/>
              <a:t>ubicado</a:t>
            </a:r>
            <a:r>
              <a:rPr dirty="0"/>
              <a:t> </a:t>
            </a:r>
            <a:r>
              <a:rPr dirty="0" err="1"/>
              <a:t>según</a:t>
            </a:r>
            <a:r>
              <a:rPr dirty="0"/>
              <a:t> </a:t>
            </a:r>
            <a:r>
              <a:rPr dirty="0" err="1"/>
              <a:t>su</a:t>
            </a:r>
            <a:r>
              <a:rPr dirty="0"/>
              <a:t> </a:t>
            </a:r>
            <a:r>
              <a:rPr dirty="0" err="1"/>
              <a:t>riesgo</a:t>
            </a:r>
            <a:r>
              <a:rPr dirty="0"/>
              <a:t>, y </a:t>
            </a:r>
            <a:r>
              <a:rPr dirty="0" err="1"/>
              <a:t>abajo</a:t>
            </a:r>
            <a:r>
              <a:rPr dirty="0"/>
              <a:t>, la </a:t>
            </a:r>
            <a:r>
              <a:rPr dirty="0" err="1"/>
              <a:t>situación</a:t>
            </a:r>
            <a:r>
              <a:rPr dirty="0"/>
              <a:t> de la </a:t>
            </a:r>
            <a:r>
              <a:rPr dirty="0" err="1"/>
              <a:t>cohorte</a:t>
            </a:r>
            <a:r>
              <a:rPr dirty="0"/>
              <a:t> </a:t>
            </a:r>
            <a:r>
              <a:rPr dirty="0" err="1"/>
              <a:t>frente</a:t>
            </a:r>
            <a:r>
              <a:rPr dirty="0"/>
              <a:t> al </a:t>
            </a:r>
            <a:r>
              <a:rPr dirty="0" err="1"/>
              <a:t>reglamento</a:t>
            </a:r>
            <a:r>
              <a:rPr dirty="0"/>
              <a:t>. A la </a:t>
            </a:r>
            <a:r>
              <a:rPr dirty="0" err="1"/>
              <a:t>derecha</a:t>
            </a:r>
            <a:r>
              <a:rPr dirty="0"/>
              <a:t>, la </a:t>
            </a:r>
            <a:r>
              <a:rPr dirty="0" err="1"/>
              <a:t>ficha</a:t>
            </a:r>
            <a:r>
              <a:rPr dirty="0"/>
              <a:t> de un </a:t>
            </a:r>
            <a:r>
              <a:rPr dirty="0" err="1"/>
              <a:t>estudiante</a:t>
            </a:r>
            <a:r>
              <a:rPr dirty="0"/>
              <a:t>: </a:t>
            </a:r>
            <a:r>
              <a:rPr dirty="0" err="1"/>
              <a:t>su</a:t>
            </a:r>
            <a:r>
              <a:rPr dirty="0"/>
              <a:t> </a:t>
            </a:r>
            <a:r>
              <a:rPr dirty="0" err="1"/>
              <a:t>recorrido</a:t>
            </a:r>
            <a:r>
              <a:rPr dirty="0"/>
              <a:t> </a:t>
            </a:r>
            <a:r>
              <a:rPr dirty="0" err="1"/>
              <a:t>semestre</a:t>
            </a:r>
            <a:r>
              <a:rPr dirty="0"/>
              <a:t> a </a:t>
            </a:r>
            <a:r>
              <a:rPr dirty="0" err="1"/>
              <a:t>semestre</a:t>
            </a:r>
            <a:r>
              <a:rPr dirty="0"/>
              <a:t>, las </a:t>
            </a:r>
            <a:r>
              <a:rPr dirty="0" err="1"/>
              <a:t>condiciones</a:t>
            </a:r>
            <a:r>
              <a:rPr dirty="0"/>
              <a:t> del </a:t>
            </a:r>
            <a:r>
              <a:rPr dirty="0" err="1"/>
              <a:t>reglamento</a:t>
            </a:r>
            <a:r>
              <a:rPr dirty="0"/>
              <a:t> que </a:t>
            </a:r>
            <a:r>
              <a:rPr dirty="0" err="1"/>
              <a:t>activó</a:t>
            </a:r>
            <a:r>
              <a:rPr dirty="0"/>
              <a:t> y </a:t>
            </a:r>
            <a:r>
              <a:rPr dirty="0" err="1"/>
              <a:t>su</a:t>
            </a:r>
            <a:r>
              <a:rPr dirty="0"/>
              <a:t> </a:t>
            </a:r>
            <a:r>
              <a:rPr dirty="0" err="1"/>
              <a:t>ingreso</a:t>
            </a:r>
            <a:r>
              <a:rPr dirty="0"/>
              <a:t> </a:t>
            </a:r>
            <a:r>
              <a:rPr dirty="0" err="1"/>
              <a:t>comparado</a:t>
            </a:r>
            <a:r>
              <a:rPr dirty="0"/>
              <a:t> con </a:t>
            </a:r>
            <a:r>
              <a:rPr dirty="0" err="1"/>
              <a:t>el</a:t>
            </a:r>
            <a:r>
              <a:rPr dirty="0"/>
              <a:t> de </a:t>
            </a:r>
            <a:r>
              <a:rPr dirty="0" err="1"/>
              <a:t>su</a:t>
            </a:r>
            <a:r>
              <a:rPr dirty="0"/>
              <a:t> </a:t>
            </a:r>
            <a:r>
              <a:rPr dirty="0" err="1"/>
              <a:t>cohorte</a:t>
            </a:r>
            <a:r>
              <a:rPr dirty="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5" name="Google Shape;535;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[11:05 | 0:35] Conclusiones</a:t>
            </a:r>
          </a:p>
          <a:p>
            <a:endParaRPr/>
          </a:p>
          <a:p>
            <a:r>
              <a:t>Cuatro conclusiones. Primera: Random Forest es el algoritmo más adecuado para estos datos, con un AUC-PR tres veces superior al azar. Segunda: el promedio del primer semestre concentra la información útil. Tercera: con pocos datos, la forma de medir puede cambiar el resultado más que el algoritmo. Y cuarta: la calidad de los datos es determinante; antes de pensar en el modelo, los datos deben ser confiables y consistentes: un buen modelo comienza con buenos datos.</a:t>
            </a:r>
          </a:p>
        </p:txBody>
      </p:sp>
      <p:sp>
        <p:nvSpPr>
          <p:cNvPr id="536" name="Google Shape;536;p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3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9" name="Google Shape;559;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[11:40 | 0:35] Siguiente paso</a:t>
            </a:r>
          </a:p>
          <a:p>
            <a:endParaRPr/>
          </a:p>
          <a:p>
            <a:r>
              <a:t>Un límite importante: todo proviene de 80 estudiantes y aún no se ha validado con estudiantes nuevos; es un estudio exploratorio. La curva de aprendizaje todavía sube, lo que indica que más datos mejorarán el modelo. Ya solicitamos las cohortes recientes para validarlo sin modificarlo, y luego extenderemos el sistema a Ingeniería Electrónica y Biología. Agradecemos al proyecto C07-02-2026-027 y a la Oficina de Sistemas. Muchas gracias; quedo atento a sus preguntas.</a:t>
            </a:r>
          </a:p>
        </p:txBody>
      </p:sp>
      <p:sp>
        <p:nvSpPr>
          <p:cNvPr id="560" name="Google Shape;560;p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h26ced1568c81ade5_1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h26ced1568c81ade5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Referencias</a:t>
            </a:r>
          </a:p>
          <a:p>
            <a:endParaRPr/>
          </a:p>
          <a:p>
            <a:r>
              <a:t>[No se presenta. Lámina de consulta.]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
        <p:cNvGrpSpPr/>
        <p:nvPr/>
      </p:nvGrpSpPr>
      <p:grpSpPr>
        <a:xfrm>
          <a:off x="0" y="0"/>
          <a:ext cx="0" cy="0"/>
          <a:chOff x="0" y="0"/>
          <a:chExt cx="0" cy="0"/>
        </a:xfrm>
      </p:grpSpPr>
      <p:sp>
        <p:nvSpPr>
          <p:cNvPr id="15" name="Google Shape;15;p37"/>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7"/>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7"/>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8"/>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8"/>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8"/>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39"/>
          <p:cNvSpPr txBox="1">
            <a:spLocks noGrp="1"/>
          </p:cNvSpPr>
          <p:nvPr>
            <p:ph type="title"/>
          </p:nvPr>
        </p:nvSpPr>
        <p:spPr>
          <a:xfrm>
            <a:off x="831851"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9"/>
          <p:cNvSpPr txBox="1">
            <a:spLocks noGrp="1"/>
          </p:cNvSpPr>
          <p:nvPr>
            <p:ph type="body" idx="1"/>
          </p:nvPr>
        </p:nvSpPr>
        <p:spPr>
          <a:xfrm>
            <a:off x="831851"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7" name="Google Shape;27;p39"/>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9"/>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9"/>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0"/>
          <p:cNvSpPr txBox="1">
            <a:spLocks noGrp="1"/>
          </p:cNvSpPr>
          <p:nvPr>
            <p:ph type="body" idx="1"/>
          </p:nvPr>
        </p:nvSpPr>
        <p:spPr>
          <a:xfrm>
            <a:off x="838200" y="1825625"/>
            <a:ext cx="51562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0"/>
          <p:cNvSpPr txBox="1">
            <a:spLocks noGrp="1"/>
          </p:cNvSpPr>
          <p:nvPr>
            <p:ph type="body" idx="2"/>
          </p:nvPr>
        </p:nvSpPr>
        <p:spPr>
          <a:xfrm>
            <a:off x="6197600" y="1825625"/>
            <a:ext cx="51562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41"/>
          <p:cNvSpPr txBox="1">
            <a:spLocks noGrp="1"/>
          </p:cNvSpPr>
          <p:nvPr>
            <p:ph type="title"/>
          </p:nvPr>
        </p:nvSpPr>
        <p:spPr>
          <a:xfrm>
            <a:off x="840317"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1"/>
          <p:cNvSpPr txBox="1">
            <a:spLocks noGrp="1"/>
          </p:cNvSpPr>
          <p:nvPr>
            <p:ph type="body" idx="1"/>
          </p:nvPr>
        </p:nvSpPr>
        <p:spPr>
          <a:xfrm>
            <a:off x="840317" y="1681163"/>
            <a:ext cx="5158316"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41"/>
          <p:cNvSpPr txBox="1">
            <a:spLocks noGrp="1"/>
          </p:cNvSpPr>
          <p:nvPr>
            <p:ph type="body" idx="2"/>
          </p:nvPr>
        </p:nvSpPr>
        <p:spPr>
          <a:xfrm>
            <a:off x="840317" y="2505075"/>
            <a:ext cx="5158316" cy="3684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41"/>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41"/>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1"/>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1"/>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1"/>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42"/>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2"/>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43"/>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5183717"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3200"/>
              <a:buNone/>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43"/>
          <p:cNvSpPr txBox="1">
            <a:spLocks noGrp="1"/>
          </p:cNvSpPr>
          <p:nvPr>
            <p:ph type="body" idx="2"/>
          </p:nvPr>
        </p:nvSpPr>
        <p:spPr>
          <a:xfrm>
            <a:off x="840317" y="2057400"/>
            <a:ext cx="393276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43"/>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3"/>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44"/>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44"/>
          <p:cNvSpPr>
            <a:spLocks noGrp="1"/>
          </p:cNvSpPr>
          <p:nvPr>
            <p:ph type="pic" idx="2"/>
          </p:nvPr>
        </p:nvSpPr>
        <p:spPr>
          <a:xfrm>
            <a:off x="5183717" y="987425"/>
            <a:ext cx="6172200" cy="4873625"/>
          </a:xfrm>
          <a:prstGeom prst="rect">
            <a:avLst/>
          </a:prstGeom>
          <a:noFill/>
          <a:ln>
            <a:noFill/>
          </a:ln>
        </p:spPr>
      </p:sp>
      <p:sp>
        <p:nvSpPr>
          <p:cNvPr id="58" name="Google Shape;58;p44"/>
          <p:cNvSpPr txBox="1">
            <a:spLocks noGrp="1"/>
          </p:cNvSpPr>
          <p:nvPr>
            <p:ph type="body" idx="1"/>
          </p:nvPr>
        </p:nvSpPr>
        <p:spPr>
          <a:xfrm>
            <a:off x="840317" y="2057400"/>
            <a:ext cx="393276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44"/>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4"/>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45"/>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1774031" y="-570706"/>
            <a:ext cx="5811838" cy="7683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5"/>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5"/>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5"/>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comments" Target="../comments/comment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comments" Target="../comments/comment4.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 descr="A blue circle with white and green text&#10;&#10;AI-generated content may be incorrect."/>
          <p:cNvPicPr preferRelativeResize="0"/>
          <p:nvPr/>
        </p:nvPicPr>
        <p:blipFill rotWithShape="1">
          <a:blip r:embed="rId3">
            <a:alphaModFix/>
          </a:blip>
          <a:srcRect/>
          <a:stretch/>
        </p:blipFill>
        <p:spPr>
          <a:xfrm>
            <a:off x="11353798" y="5858538"/>
            <a:ext cx="733647" cy="733647"/>
          </a:xfrm>
          <a:prstGeom prst="rect">
            <a:avLst/>
          </a:prstGeom>
          <a:noFill/>
          <a:ln>
            <a:noFill/>
          </a:ln>
        </p:spPr>
      </p:pic>
      <p:sp>
        <p:nvSpPr>
          <p:cNvPr id="80" name="Google Shape;80;p1"/>
          <p:cNvSpPr txBox="1"/>
          <p:nvPr/>
        </p:nvSpPr>
        <p:spPr>
          <a:xfrm>
            <a:off x="914400" y="1691640"/>
            <a:ext cx="10360200" cy="11697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800" b="1" i="0" u="none" strike="noStrike" cap="none" dirty="0" err="1">
                <a:solidFill>
                  <a:srgbClr val="0F1E36"/>
                </a:solidFill>
                <a:latin typeface="Calibri"/>
                <a:ea typeface="Calibri"/>
                <a:cs typeface="Calibri"/>
                <a:sym typeface="Calibri"/>
              </a:rPr>
              <a:t>Aprendizaje</a:t>
            </a:r>
            <a:r>
              <a:rPr lang="en-US" sz="3800" b="1" i="0" u="none" strike="noStrike" cap="none" dirty="0">
                <a:solidFill>
                  <a:srgbClr val="0F1E36"/>
                </a:solidFill>
                <a:latin typeface="Calibri"/>
                <a:ea typeface="Calibri"/>
                <a:cs typeface="Calibri"/>
                <a:sym typeface="Calibri"/>
              </a:rPr>
              <a:t> </a:t>
            </a:r>
            <a:r>
              <a:rPr lang="en-US" sz="3800" b="1" i="0" u="none" strike="noStrike" cap="none" dirty="0" err="1">
                <a:solidFill>
                  <a:srgbClr val="0F1E36"/>
                </a:solidFill>
                <a:latin typeface="Calibri"/>
                <a:ea typeface="Calibri"/>
                <a:cs typeface="Calibri"/>
                <a:sym typeface="Calibri"/>
              </a:rPr>
              <a:t>automático</a:t>
            </a:r>
            <a:r>
              <a:rPr lang="en-US" sz="3800" b="1" i="0" u="none" strike="noStrike" cap="none" dirty="0">
                <a:solidFill>
                  <a:srgbClr val="0F1E36"/>
                </a:solidFill>
                <a:latin typeface="Calibri"/>
                <a:ea typeface="Calibri"/>
                <a:cs typeface="Calibri"/>
                <a:sym typeface="Calibri"/>
              </a:rPr>
              <a:t> para </a:t>
            </a:r>
            <a:r>
              <a:rPr lang="en-US" sz="3800" b="1" i="0" u="none" strike="noStrike" cap="none" dirty="0" err="1">
                <a:solidFill>
                  <a:srgbClr val="0F1E36"/>
                </a:solidFill>
                <a:latin typeface="Calibri"/>
                <a:ea typeface="Calibri"/>
                <a:cs typeface="Calibri"/>
                <a:sym typeface="Calibri"/>
              </a:rPr>
              <a:t>predicción</a:t>
            </a:r>
            <a:r>
              <a:rPr lang="en-US" sz="3800" b="1" i="0" u="none" strike="noStrike" cap="none" dirty="0">
                <a:solidFill>
                  <a:srgbClr val="0F1E36"/>
                </a:solidFill>
                <a:latin typeface="Calibri"/>
                <a:ea typeface="Calibri"/>
                <a:cs typeface="Calibri"/>
                <a:sym typeface="Calibri"/>
              </a:rPr>
              <a:t> del </a:t>
            </a:r>
            <a:r>
              <a:rPr lang="en-US" sz="3800" b="1" i="0" u="none" strike="noStrike" cap="none" dirty="0" err="1">
                <a:solidFill>
                  <a:srgbClr val="0F1E36"/>
                </a:solidFill>
                <a:latin typeface="Calibri"/>
                <a:ea typeface="Calibri"/>
                <a:cs typeface="Calibri"/>
                <a:sym typeface="Calibri"/>
              </a:rPr>
              <a:t>éxito</a:t>
            </a:r>
            <a:r>
              <a:rPr lang="en-US" sz="3800" b="1" i="0" u="none" strike="noStrike" cap="none" dirty="0">
                <a:solidFill>
                  <a:srgbClr val="0F1E36"/>
                </a:solidFill>
                <a:latin typeface="Calibri"/>
                <a:ea typeface="Calibri"/>
                <a:cs typeface="Calibri"/>
                <a:sym typeface="Calibri"/>
              </a:rPr>
              <a:t> </a:t>
            </a:r>
            <a:r>
              <a:rPr lang="en-US" sz="3800" b="1" i="0" u="none" strike="noStrike" cap="none" dirty="0" err="1">
                <a:solidFill>
                  <a:srgbClr val="0F1E36"/>
                </a:solidFill>
                <a:latin typeface="Calibri"/>
                <a:ea typeface="Calibri"/>
                <a:cs typeface="Calibri"/>
                <a:sym typeface="Calibri"/>
              </a:rPr>
              <a:t>académico</a:t>
            </a:r>
            <a:r>
              <a:rPr lang="en-US" sz="3800" b="1" i="0" u="none" strike="noStrike" cap="none" dirty="0">
                <a:solidFill>
                  <a:srgbClr val="0F1E36"/>
                </a:solidFill>
                <a:latin typeface="Calibri"/>
                <a:ea typeface="Calibri"/>
                <a:cs typeface="Calibri"/>
                <a:sym typeface="Calibri"/>
              </a:rPr>
              <a:t> </a:t>
            </a:r>
            <a:r>
              <a:rPr lang="en-US" sz="3800" b="1" i="0" u="none" strike="noStrike" cap="none" dirty="0" err="1">
                <a:solidFill>
                  <a:srgbClr val="0F1E36"/>
                </a:solidFill>
                <a:latin typeface="Calibri"/>
                <a:ea typeface="Calibri"/>
                <a:cs typeface="Calibri"/>
                <a:sym typeface="Calibri"/>
              </a:rPr>
              <a:t>en</a:t>
            </a:r>
            <a:r>
              <a:rPr lang="en-US" sz="3800" b="1" i="0" u="none" strike="noStrike" cap="none" dirty="0">
                <a:solidFill>
                  <a:srgbClr val="0F1E36"/>
                </a:solidFill>
                <a:latin typeface="Calibri"/>
                <a:ea typeface="Calibri"/>
                <a:cs typeface="Calibri"/>
                <a:sym typeface="Calibri"/>
              </a:rPr>
              <a:t> </a:t>
            </a:r>
            <a:r>
              <a:rPr lang="en-US" sz="3800" b="1" i="0" u="none" strike="noStrike" cap="none" dirty="0" err="1">
                <a:solidFill>
                  <a:srgbClr val="0F1E36"/>
                </a:solidFill>
                <a:latin typeface="Calibri"/>
                <a:ea typeface="Calibri"/>
                <a:cs typeface="Calibri"/>
                <a:sym typeface="Calibri"/>
              </a:rPr>
              <a:t>Ingeniería</a:t>
            </a:r>
            <a:r>
              <a:rPr lang="en-US" sz="3800" b="1" i="0" u="none" strike="noStrike" cap="none" dirty="0">
                <a:solidFill>
                  <a:srgbClr val="0F1E36"/>
                </a:solidFill>
                <a:latin typeface="Calibri"/>
                <a:ea typeface="Calibri"/>
                <a:cs typeface="Calibri"/>
                <a:sym typeface="Calibri"/>
              </a:rPr>
              <a:t> de </a:t>
            </a:r>
            <a:r>
              <a:rPr lang="en-US" sz="3800" b="1" i="0" u="none" strike="noStrike" cap="none" dirty="0" err="1">
                <a:solidFill>
                  <a:srgbClr val="0F1E36"/>
                </a:solidFill>
                <a:latin typeface="Calibri"/>
                <a:ea typeface="Calibri"/>
                <a:cs typeface="Calibri"/>
                <a:sym typeface="Calibri"/>
              </a:rPr>
              <a:t>Sistemas</a:t>
            </a:r>
            <a:endParaRPr dirty="0"/>
          </a:p>
        </p:txBody>
      </p:sp>
      <p:sp>
        <p:nvSpPr>
          <p:cNvPr id="81" name="Google Shape;81;p1"/>
          <p:cNvSpPr txBox="1"/>
          <p:nvPr/>
        </p:nvSpPr>
        <p:spPr>
          <a:xfrm>
            <a:off x="914400" y="3491369"/>
            <a:ext cx="10360200" cy="1692771"/>
          </a:xfrm>
          <a:prstGeom prst="rect">
            <a:avLst/>
          </a:prstGeom>
          <a:noFill/>
          <a:ln>
            <a:noFill/>
          </a:ln>
        </p:spPr>
        <p:txBody>
          <a:bodyPr spcFirstLastPara="1" wrap="square" lIns="0" tIns="0" rIns="0" bIns="0" anchor="t" anchorCtr="0">
            <a:spAutoFit/>
          </a:bodyPr>
          <a:lstStyle/>
          <a:p>
            <a:pPr algn="ctr" rtl="0">
              <a:spcBef>
                <a:spcPts val="0"/>
              </a:spcBef>
              <a:spcAft>
                <a:spcPts val="0"/>
              </a:spcAft>
            </a:pPr>
            <a:endParaRPr lang="es-CO" sz="1800" b="1" i="0" u="none" strike="noStrike" dirty="0">
              <a:solidFill>
                <a:srgbClr val="0F1E36"/>
              </a:solidFill>
              <a:effectLst/>
              <a:latin typeface="Calibri" panose="020F0502020204030204" pitchFamily="34" charset="0"/>
            </a:endParaRPr>
          </a:p>
          <a:p>
            <a:pPr algn="ctr" rtl="0">
              <a:spcBef>
                <a:spcPts val="0"/>
              </a:spcBef>
              <a:spcAft>
                <a:spcPts val="0"/>
              </a:spcAft>
            </a:pPr>
            <a:r>
              <a:rPr lang="es-CO" sz="1800" b="1" i="0" u="none" strike="noStrike" dirty="0">
                <a:solidFill>
                  <a:srgbClr val="0F1E36"/>
                </a:solidFill>
                <a:effectLst/>
                <a:latin typeface="Calibri" panose="020F0502020204030204" pitchFamily="34" charset="0"/>
              </a:rPr>
              <a:t>Joan David Martínez Hernández</a:t>
            </a:r>
            <a:r>
              <a:rPr lang="es-CO" sz="1800" b="0" i="0" u="none" strike="noStrike" dirty="0">
                <a:solidFill>
                  <a:srgbClr val="0F1E36"/>
                </a:solidFill>
                <a:effectLst/>
                <a:latin typeface="Calibri" panose="020F0502020204030204" pitchFamily="34" charset="0"/>
              </a:rPr>
              <a:t> </a:t>
            </a:r>
            <a:endParaRPr lang="es-CO" sz="2400" b="0" dirty="0">
              <a:effectLst/>
            </a:endParaRPr>
          </a:p>
          <a:p>
            <a:pPr algn="ctr" rtl="0">
              <a:spcBef>
                <a:spcPts val="0"/>
              </a:spcBef>
              <a:spcAft>
                <a:spcPts val="0"/>
              </a:spcAft>
            </a:pPr>
            <a:r>
              <a:rPr lang="es-CO" sz="1800" b="1" i="0" u="none" strike="noStrike" dirty="0">
                <a:solidFill>
                  <a:srgbClr val="0F1E36"/>
                </a:solidFill>
                <a:effectLst/>
                <a:latin typeface="Calibri" panose="020F0502020204030204" pitchFamily="34" charset="0"/>
              </a:rPr>
              <a:t>   Diana Marcela Cardona Román    </a:t>
            </a:r>
            <a:endParaRPr lang="es-CO" sz="2400" b="0" dirty="0">
              <a:effectLst/>
            </a:endParaRPr>
          </a:p>
          <a:p>
            <a:pPr algn="ctr" rtl="0">
              <a:spcBef>
                <a:spcPts val="0"/>
              </a:spcBef>
              <a:spcAft>
                <a:spcPts val="0"/>
              </a:spcAft>
            </a:pPr>
            <a:r>
              <a:rPr lang="es-CO" sz="1800" b="1" i="0" u="none" strike="noStrike" dirty="0">
                <a:solidFill>
                  <a:srgbClr val="0F1E36"/>
                </a:solidFill>
                <a:effectLst/>
                <a:latin typeface="Calibri" panose="020F0502020204030204" pitchFamily="34" charset="0"/>
              </a:rPr>
              <a:t> Sara Cristina Guerrero</a:t>
            </a:r>
            <a:endParaRPr lang="es-CO" sz="2400" b="0" dirty="0">
              <a:effectLst/>
            </a:endParaRPr>
          </a:p>
          <a:p>
            <a:br>
              <a:rPr lang="es-CO" sz="2400" dirty="0"/>
            </a:br>
            <a:endParaRPr dirty="0"/>
          </a:p>
        </p:txBody>
      </p:sp>
      <p:sp>
        <p:nvSpPr>
          <p:cNvPr id="82" name="Google Shape;82;p1"/>
          <p:cNvSpPr txBox="1"/>
          <p:nvPr/>
        </p:nvSpPr>
        <p:spPr>
          <a:xfrm>
            <a:off x="914400" y="4754880"/>
            <a:ext cx="10360152"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dirty="0" err="1">
                <a:solidFill>
                  <a:srgbClr val="55657E"/>
                </a:solidFill>
                <a:latin typeface="Calibri"/>
                <a:ea typeface="Calibri"/>
                <a:cs typeface="Calibri"/>
                <a:sym typeface="Calibri"/>
              </a:rPr>
              <a:t>Facultad</a:t>
            </a:r>
            <a:r>
              <a:rPr lang="en-US" sz="1350" b="0" i="0" u="none" strike="noStrike" cap="none" dirty="0">
                <a:solidFill>
                  <a:srgbClr val="55657E"/>
                </a:solidFill>
                <a:latin typeface="Calibri"/>
                <a:ea typeface="Calibri"/>
                <a:cs typeface="Calibri"/>
                <a:sym typeface="Calibri"/>
              </a:rPr>
              <a:t> de </a:t>
            </a:r>
            <a:r>
              <a:rPr lang="en-US" sz="1350" b="0" i="0" u="none" strike="noStrike" cap="none" dirty="0" err="1">
                <a:solidFill>
                  <a:srgbClr val="55657E"/>
                </a:solidFill>
                <a:latin typeface="Calibri"/>
                <a:ea typeface="Calibri"/>
                <a:cs typeface="Calibri"/>
                <a:sym typeface="Calibri"/>
              </a:rPr>
              <a:t>Ciencias</a:t>
            </a:r>
            <a:r>
              <a:rPr lang="en-US" sz="1350" b="0" i="0" u="none" strike="noStrike" cap="none" dirty="0">
                <a:solidFill>
                  <a:srgbClr val="55657E"/>
                </a:solidFill>
                <a:latin typeface="Calibri"/>
                <a:ea typeface="Calibri"/>
                <a:cs typeface="Calibri"/>
                <a:sym typeface="Calibri"/>
              </a:rPr>
              <a:t> </a:t>
            </a:r>
            <a:r>
              <a:rPr lang="en-US" sz="1350" b="0" i="0" u="none" strike="noStrike" cap="none" dirty="0" err="1">
                <a:solidFill>
                  <a:srgbClr val="55657E"/>
                </a:solidFill>
                <a:latin typeface="Calibri"/>
                <a:ea typeface="Calibri"/>
                <a:cs typeface="Calibri"/>
                <a:sym typeface="Calibri"/>
              </a:rPr>
              <a:t>Básicas</a:t>
            </a:r>
            <a:r>
              <a:rPr lang="en-US" sz="1350" b="0" i="0" u="none" strike="noStrike" cap="none" dirty="0">
                <a:solidFill>
                  <a:srgbClr val="55657E"/>
                </a:solidFill>
                <a:latin typeface="Calibri"/>
                <a:ea typeface="Calibri"/>
                <a:cs typeface="Calibri"/>
                <a:sym typeface="Calibri"/>
              </a:rPr>
              <a:t> e </a:t>
            </a:r>
            <a:r>
              <a:rPr lang="en-US" sz="1350" b="0" i="0" u="none" strike="noStrike" cap="none" dirty="0" err="1">
                <a:solidFill>
                  <a:srgbClr val="55657E"/>
                </a:solidFill>
                <a:latin typeface="Calibri"/>
                <a:ea typeface="Calibri"/>
                <a:cs typeface="Calibri"/>
                <a:sym typeface="Calibri"/>
              </a:rPr>
              <a:t>Ingeniería</a:t>
            </a:r>
            <a:r>
              <a:rPr lang="en-US" sz="1350" b="0" i="0" u="none" strike="noStrike" cap="none" dirty="0">
                <a:solidFill>
                  <a:srgbClr val="55657E"/>
                </a:solidFill>
                <a:latin typeface="Calibri"/>
                <a:ea typeface="Calibri"/>
                <a:cs typeface="Calibri"/>
                <a:sym typeface="Calibri"/>
              </a:rPr>
              <a:t> - Universidad de los Llanos - Villavicencio, Meta, Colombia</a:t>
            </a:r>
            <a:endParaRPr dirty="0"/>
          </a:p>
        </p:txBody>
      </p:sp>
      <p:sp>
        <p:nvSpPr>
          <p:cNvPr id="83" name="Google Shape;83;p1"/>
          <p:cNvSpPr txBox="1"/>
          <p:nvPr/>
        </p:nvSpPr>
        <p:spPr>
          <a:xfrm>
            <a:off x="914400" y="5120640"/>
            <a:ext cx="10360152"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a:solidFill>
                  <a:srgbClr val="55657E"/>
                </a:solidFill>
                <a:latin typeface="Calibri"/>
                <a:ea typeface="Calibri"/>
                <a:cs typeface="Calibri"/>
                <a:sym typeface="Calibri"/>
              </a:rPr>
              <a:t>Proyecto DGI/</a:t>
            </a:r>
            <a:r>
              <a:rPr lang="en-US" sz="1200" b="0" i="0" u="none" strike="noStrike" cap="none" dirty="0" err="1">
                <a:solidFill>
                  <a:srgbClr val="55657E"/>
                </a:solidFill>
                <a:latin typeface="Calibri"/>
                <a:ea typeface="Calibri"/>
                <a:cs typeface="Calibri"/>
                <a:sym typeface="Calibri"/>
              </a:rPr>
              <a:t>Unillanos</a:t>
            </a:r>
            <a:r>
              <a:rPr lang="en-US" sz="1200" b="0" i="0" u="none" strike="noStrike" cap="none" dirty="0">
                <a:solidFill>
                  <a:srgbClr val="55657E"/>
                </a:solidFill>
                <a:latin typeface="Calibri"/>
                <a:ea typeface="Calibri"/>
                <a:cs typeface="Calibri"/>
                <a:sym typeface="Calibri"/>
              </a:rPr>
              <a:t> C07-02-2026-027</a:t>
            </a:r>
            <a:endParaRPr dirty="0"/>
          </a:p>
        </p:txBody>
      </p:sp>
      <p:pic>
        <p:nvPicPr>
          <p:cNvPr id="84" name="Google Shape;84;p1" descr="image.png"/>
          <p:cNvPicPr preferRelativeResize="0"/>
          <p:nvPr/>
        </p:nvPicPr>
        <p:blipFill rotWithShape="1">
          <a:blip r:embed="rId4">
            <a:alphaModFix/>
          </a:blip>
          <a:srcRect/>
          <a:stretch/>
        </p:blipFill>
        <p:spPr>
          <a:xfrm>
            <a:off x="104555" y="5745251"/>
            <a:ext cx="2454442" cy="960219"/>
          </a:xfrm>
          <a:prstGeom prst="rect">
            <a:avLst/>
          </a:prstGeom>
          <a:noFill/>
          <a:ln>
            <a:noFill/>
          </a:ln>
        </p:spPr>
      </p:pic>
      <p:pic>
        <p:nvPicPr>
          <p:cNvPr id="85" name="Google Shape;85;p1" descr="image.png"/>
          <p:cNvPicPr preferRelativeResize="0"/>
          <p:nvPr/>
        </p:nvPicPr>
        <p:blipFill rotWithShape="1">
          <a:blip r:embed="rId5">
            <a:alphaModFix/>
          </a:blip>
          <a:srcRect/>
          <a:stretch/>
        </p:blipFill>
        <p:spPr>
          <a:xfrm>
            <a:off x="6094476" y="5935610"/>
            <a:ext cx="576018" cy="611141"/>
          </a:xfrm>
          <a:prstGeom prst="rect">
            <a:avLst/>
          </a:prstGeom>
          <a:noFill/>
          <a:ln>
            <a:noFill/>
          </a:ln>
        </p:spPr>
      </p:pic>
      <p:pic>
        <p:nvPicPr>
          <p:cNvPr id="86" name="Google Shape;86;p1" descr="image.png"/>
          <p:cNvPicPr preferRelativeResize="0"/>
          <p:nvPr/>
        </p:nvPicPr>
        <p:blipFill rotWithShape="1">
          <a:blip r:embed="rId6">
            <a:alphaModFix/>
          </a:blip>
          <a:srcRect/>
          <a:stretch/>
        </p:blipFill>
        <p:spPr>
          <a:xfrm>
            <a:off x="6821873" y="5941412"/>
            <a:ext cx="2238375" cy="504825"/>
          </a:xfrm>
          <a:prstGeom prst="rect">
            <a:avLst/>
          </a:prstGeom>
          <a:noFill/>
          <a:ln>
            <a:noFill/>
          </a:ln>
        </p:spPr>
      </p:pic>
      <p:pic>
        <p:nvPicPr>
          <p:cNvPr id="87" name="Google Shape;87;p1" descr="image.png"/>
          <p:cNvPicPr preferRelativeResize="0"/>
          <p:nvPr/>
        </p:nvPicPr>
        <p:blipFill rotWithShape="1">
          <a:blip r:embed="rId7">
            <a:alphaModFix/>
          </a:blip>
          <a:srcRect/>
          <a:stretch/>
        </p:blipFill>
        <p:spPr>
          <a:xfrm>
            <a:off x="9195884" y="5935610"/>
            <a:ext cx="652810" cy="611141"/>
          </a:xfrm>
          <a:prstGeom prst="rect">
            <a:avLst/>
          </a:prstGeom>
          <a:noFill/>
          <a:ln>
            <a:noFill/>
          </a:ln>
        </p:spPr>
      </p:pic>
      <p:pic>
        <p:nvPicPr>
          <p:cNvPr id="88" name="Google Shape;88;p1" descr="image.png"/>
          <p:cNvPicPr preferRelativeResize="0"/>
          <p:nvPr/>
        </p:nvPicPr>
        <p:blipFill rotWithShape="1">
          <a:blip r:embed="rId8">
            <a:alphaModFix/>
          </a:blip>
          <a:srcRect/>
          <a:stretch/>
        </p:blipFill>
        <p:spPr>
          <a:xfrm>
            <a:off x="9976624" y="5888253"/>
            <a:ext cx="1249244" cy="611141"/>
          </a:xfrm>
          <a:prstGeom prst="rect">
            <a:avLst/>
          </a:prstGeom>
          <a:noFill/>
          <a:ln>
            <a:noFill/>
          </a:ln>
        </p:spPr>
      </p:pic>
      <p:sp>
        <p:nvSpPr>
          <p:cNvPr id="89" name="Google Shape;89;p1"/>
          <p:cNvSpPr txBox="1"/>
          <p:nvPr/>
        </p:nvSpPr>
        <p:spPr>
          <a:xfrm>
            <a:off x="9195875" y="0"/>
            <a:ext cx="3000000" cy="769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800" b="1">
                <a:solidFill>
                  <a:srgbClr val="1F5FAE"/>
                </a:solidFill>
                <a:latin typeface="Calibri"/>
                <a:ea typeface="Calibri"/>
                <a:cs typeface="Calibri"/>
                <a:sym typeface="Calibri"/>
              </a:rPr>
              <a:t>ID 129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a:off x="8001000" y="2062353"/>
            <a:ext cx="3383280" cy="2809875"/>
          </a:xfrm>
          <a:prstGeom prst="roundRect">
            <a:avLst>
              <a:gd name="adj" fmla="val 16667"/>
            </a:avLst>
          </a:prstGeom>
          <a:solidFill>
            <a:srgbClr val="2E8BC0"/>
          </a:solidFill>
          <a:ln w="12700" cap="flat" cmpd="sng">
            <a:solidFill>
              <a:srgbClr val="15538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2"/>
          <p:cNvSpPr/>
          <p:nvPr/>
        </p:nvSpPr>
        <p:spPr>
          <a:xfrm>
            <a:off x="4343400" y="2100834"/>
            <a:ext cx="3383280" cy="2809875"/>
          </a:xfrm>
          <a:prstGeom prst="roundRect">
            <a:avLst>
              <a:gd name="adj" fmla="val 16667"/>
            </a:avLst>
          </a:prstGeom>
          <a:solidFill>
            <a:srgbClr val="1769AA"/>
          </a:solidFill>
          <a:ln w="12700" cap="flat" cmpd="sng">
            <a:solidFill>
              <a:srgbClr val="15538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7" name="Google Shape;97;p2"/>
          <p:cNvSpPr/>
          <p:nvPr/>
        </p:nvSpPr>
        <p:spPr>
          <a:xfrm>
            <a:off x="731520" y="2100834"/>
            <a:ext cx="3383280" cy="2809875"/>
          </a:xfrm>
          <a:prstGeom prst="roundRect">
            <a:avLst>
              <a:gd name="adj" fmla="val 16667"/>
            </a:avLst>
          </a:prstGeom>
          <a:solidFill>
            <a:srgbClr val="0E4C7E"/>
          </a:solidFill>
          <a:ln w="12700" cap="flat" cmpd="sng">
            <a:solidFill>
              <a:srgbClr val="15538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8" name="Google Shape;98;p2"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99" name="Google Shape;99;p2"/>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u="none" strike="noStrike" cap="none">
                <a:solidFill>
                  <a:srgbClr val="55657E"/>
                </a:solidFill>
                <a:latin typeface="Calibri"/>
                <a:ea typeface="Calibri"/>
                <a:cs typeface="Calibri"/>
                <a:sym typeface="Calibri"/>
              </a:rPr>
              <a:t>2</a:t>
            </a:r>
            <a:endParaRPr/>
          </a:p>
        </p:txBody>
      </p:sp>
      <p:sp>
        <p:nvSpPr>
          <p:cNvPr id="100" name="Google Shape;100;p2"/>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F5FAE"/>
                </a:solidFill>
                <a:latin typeface="Calibri"/>
                <a:ea typeface="Calibri"/>
                <a:cs typeface="Calibri"/>
                <a:sym typeface="Calibri"/>
              </a:rPr>
              <a:t>COMPRENSIÓN DEL PROBLEMA</a:t>
            </a:r>
            <a:endParaRPr/>
          </a:p>
        </p:txBody>
      </p:sp>
      <p:sp>
        <p:nvSpPr>
          <p:cNvPr id="101" name="Google Shape;101;p2"/>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2"/>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El problema del abandono</a:t>
            </a:r>
            <a:endParaRPr/>
          </a:p>
        </p:txBody>
      </p:sp>
      <p:sp>
        <p:nvSpPr>
          <p:cNvPr id="103" name="Google Shape;103;p2"/>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1800" b="0" i="0" dirty="0">
                <a:solidFill>
                  <a:srgbClr val="55657E"/>
                </a:solidFill>
                <a:latin typeface="Calibri"/>
              </a:rPr>
              <a:t>Más de la </a:t>
            </a:r>
            <a:r>
              <a:rPr sz="1800" b="0" i="0" dirty="0" err="1">
                <a:solidFill>
                  <a:srgbClr val="55657E"/>
                </a:solidFill>
                <a:latin typeface="Calibri"/>
              </a:rPr>
              <a:t>mitad</a:t>
            </a:r>
            <a:r>
              <a:rPr sz="1800" b="0" i="0" dirty="0">
                <a:solidFill>
                  <a:srgbClr val="55657E"/>
                </a:solidFill>
                <a:latin typeface="Calibri"/>
              </a:rPr>
              <a:t> no se </a:t>
            </a:r>
            <a:r>
              <a:rPr sz="1800" b="0" i="0" dirty="0" err="1">
                <a:solidFill>
                  <a:srgbClr val="55657E"/>
                </a:solidFill>
                <a:latin typeface="Calibri"/>
              </a:rPr>
              <a:t>gradúa</a:t>
            </a:r>
            <a:r>
              <a:rPr sz="1800" b="0" i="0" dirty="0">
                <a:solidFill>
                  <a:srgbClr val="55657E"/>
                </a:solidFill>
                <a:latin typeface="Calibri"/>
              </a:rPr>
              <a:t> y, </a:t>
            </a:r>
            <a:r>
              <a:rPr sz="1800" b="0" i="0" dirty="0" err="1">
                <a:solidFill>
                  <a:srgbClr val="55657E"/>
                </a:solidFill>
                <a:latin typeface="Calibri"/>
              </a:rPr>
              <a:t>en</a:t>
            </a:r>
            <a:r>
              <a:rPr sz="1800" b="0" i="0" dirty="0">
                <a:solidFill>
                  <a:srgbClr val="55657E"/>
                </a:solidFill>
                <a:latin typeface="Calibri"/>
              </a:rPr>
              <a:t> </a:t>
            </a:r>
            <a:r>
              <a:rPr sz="1800" b="0" i="0" dirty="0" err="1">
                <a:solidFill>
                  <a:srgbClr val="55657E"/>
                </a:solidFill>
                <a:latin typeface="Calibri"/>
              </a:rPr>
              <a:t>Ingeniería</a:t>
            </a:r>
            <a:r>
              <a:rPr sz="1800" b="0" i="0" dirty="0">
                <a:solidFill>
                  <a:srgbClr val="55657E"/>
                </a:solidFill>
                <a:latin typeface="Calibri"/>
              </a:rPr>
              <a:t> de </a:t>
            </a:r>
            <a:r>
              <a:rPr sz="1800" b="0" i="0" dirty="0" err="1">
                <a:solidFill>
                  <a:srgbClr val="55657E"/>
                </a:solidFill>
                <a:latin typeface="Calibri"/>
              </a:rPr>
              <a:t>Sistemas</a:t>
            </a:r>
            <a:r>
              <a:rPr sz="1800" b="0" i="0" dirty="0">
                <a:solidFill>
                  <a:srgbClr val="55657E"/>
                </a:solidFill>
                <a:latin typeface="Calibri"/>
              </a:rPr>
              <a:t> (</a:t>
            </a:r>
            <a:r>
              <a:rPr sz="1800" b="0" i="0" dirty="0" err="1">
                <a:solidFill>
                  <a:srgbClr val="55657E"/>
                </a:solidFill>
                <a:latin typeface="Calibri"/>
              </a:rPr>
              <a:t>Unillanos</a:t>
            </a:r>
            <a:r>
              <a:rPr sz="1800" b="0" i="0" dirty="0">
                <a:solidFill>
                  <a:srgbClr val="55657E"/>
                </a:solidFill>
                <a:latin typeface="Calibri"/>
              </a:rPr>
              <a:t>), </a:t>
            </a:r>
            <a:r>
              <a:rPr sz="1800" b="0" i="0" dirty="0" err="1">
                <a:solidFill>
                  <a:srgbClr val="55657E"/>
                </a:solidFill>
                <a:latin typeface="Calibri"/>
              </a:rPr>
              <a:t>el</a:t>
            </a:r>
            <a:r>
              <a:rPr sz="1800" b="0" i="0" dirty="0">
                <a:solidFill>
                  <a:srgbClr val="55657E"/>
                </a:solidFill>
                <a:latin typeface="Calibri"/>
              </a:rPr>
              <a:t> </a:t>
            </a:r>
            <a:r>
              <a:rPr sz="1800" b="0" i="0" dirty="0" err="1">
                <a:solidFill>
                  <a:srgbClr val="55657E"/>
                </a:solidFill>
                <a:latin typeface="Calibri"/>
              </a:rPr>
              <a:t>abandono</a:t>
            </a:r>
            <a:r>
              <a:rPr sz="1800" b="0" i="0" dirty="0">
                <a:solidFill>
                  <a:srgbClr val="55657E"/>
                </a:solidFill>
                <a:latin typeface="Calibri"/>
              </a:rPr>
              <a:t> es </a:t>
            </a:r>
            <a:r>
              <a:rPr sz="1800" b="0" i="0" dirty="0" err="1">
                <a:solidFill>
                  <a:srgbClr val="55657E"/>
                </a:solidFill>
                <a:latin typeface="Calibri"/>
              </a:rPr>
              <a:t>temprano</a:t>
            </a:r>
            <a:endParaRPr dirty="0"/>
          </a:p>
        </p:txBody>
      </p:sp>
      <p:sp>
        <p:nvSpPr>
          <p:cNvPr id="104" name="Google Shape;104;p2"/>
          <p:cNvSpPr txBox="1"/>
          <p:nvPr/>
        </p:nvSpPr>
        <p:spPr>
          <a:xfrm>
            <a:off x="731520" y="2464689"/>
            <a:ext cx="338328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a:solidFill>
                  <a:schemeClr val="lt1"/>
                </a:solidFill>
                <a:latin typeface="Calibri"/>
                <a:ea typeface="Calibri"/>
                <a:cs typeface="Calibri"/>
                <a:sym typeface="Calibri"/>
              </a:rPr>
              <a:t>45,1 %</a:t>
            </a:r>
            <a:endParaRPr/>
          </a:p>
        </p:txBody>
      </p:sp>
      <p:sp>
        <p:nvSpPr>
          <p:cNvPr id="105" name="Google Shape;105;p2"/>
          <p:cNvSpPr txBox="1"/>
          <p:nvPr/>
        </p:nvSpPr>
        <p:spPr>
          <a:xfrm>
            <a:off x="731520" y="3561969"/>
            <a:ext cx="338328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a:solidFill>
                  <a:schemeClr val="lt1"/>
                </a:solidFill>
                <a:latin typeface="Calibri"/>
                <a:ea typeface="Calibri"/>
                <a:cs typeface="Calibri"/>
                <a:sym typeface="Calibri"/>
              </a:rPr>
              <a:t>Graduación nacional</a:t>
            </a:r>
            <a:endParaRPr sz="2100" b="1" i="0">
              <a:solidFill>
                <a:schemeClr val="lt1"/>
              </a:solidFill>
              <a:latin typeface="Calibri"/>
              <a:ea typeface="Calibri"/>
              <a:cs typeface="Calibri"/>
              <a:sym typeface="Calibri"/>
            </a:endParaRPr>
          </a:p>
        </p:txBody>
      </p:sp>
      <p:sp>
        <p:nvSpPr>
          <p:cNvPr id="106" name="Google Shape;106;p2"/>
          <p:cNvSpPr txBox="1"/>
          <p:nvPr/>
        </p:nvSpPr>
        <p:spPr>
          <a:xfrm>
            <a:off x="731520" y="4019169"/>
            <a:ext cx="338328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i="0">
                <a:solidFill>
                  <a:schemeClr val="lt1"/>
                </a:solidFill>
                <a:latin typeface="Calibri"/>
                <a:ea typeface="Calibri"/>
                <a:cs typeface="Calibri"/>
                <a:sym typeface="Calibri"/>
              </a:rPr>
              <a:t>tras 15 semestres (LEE, 2023) [1]</a:t>
            </a:r>
            <a:endParaRPr/>
          </a:p>
        </p:txBody>
      </p:sp>
      <p:sp>
        <p:nvSpPr>
          <p:cNvPr id="107" name="Google Shape;107;p2"/>
          <p:cNvSpPr txBox="1"/>
          <p:nvPr/>
        </p:nvSpPr>
        <p:spPr>
          <a:xfrm>
            <a:off x="4389120" y="2464689"/>
            <a:ext cx="338328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a:solidFill>
                  <a:schemeClr val="lt1"/>
                </a:solidFill>
                <a:latin typeface="Calibri"/>
                <a:ea typeface="Calibri"/>
                <a:cs typeface="Calibri"/>
                <a:sym typeface="Calibri"/>
              </a:rPr>
              <a:t>63 %</a:t>
            </a:r>
            <a:endParaRPr/>
          </a:p>
        </p:txBody>
      </p:sp>
      <p:sp>
        <p:nvSpPr>
          <p:cNvPr id="108" name="Google Shape;108;p2"/>
          <p:cNvSpPr txBox="1"/>
          <p:nvPr/>
        </p:nvSpPr>
        <p:spPr>
          <a:xfrm>
            <a:off x="4389120" y="3561969"/>
            <a:ext cx="338328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a:solidFill>
                  <a:schemeClr val="lt1"/>
                </a:solidFill>
                <a:latin typeface="Calibri"/>
                <a:ea typeface="Calibri"/>
                <a:cs typeface="Calibri"/>
                <a:sym typeface="Calibri"/>
              </a:rPr>
              <a:t>Sin graduación</a:t>
            </a:r>
            <a:endParaRPr sz="2100" b="1" i="0">
              <a:solidFill>
                <a:schemeClr val="lt1"/>
              </a:solidFill>
              <a:latin typeface="Calibri"/>
              <a:ea typeface="Calibri"/>
              <a:cs typeface="Calibri"/>
              <a:sym typeface="Calibri"/>
            </a:endParaRPr>
          </a:p>
        </p:txBody>
      </p:sp>
      <p:sp>
        <p:nvSpPr>
          <p:cNvPr id="109" name="Google Shape;109;p2"/>
          <p:cNvSpPr txBox="1"/>
          <p:nvPr/>
        </p:nvSpPr>
        <p:spPr>
          <a:xfrm>
            <a:off x="4389120" y="4019169"/>
            <a:ext cx="338328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i="0">
                <a:solidFill>
                  <a:schemeClr val="lt1"/>
                </a:solidFill>
                <a:latin typeface="Calibri"/>
                <a:ea typeface="Calibri"/>
                <a:cs typeface="Calibri"/>
                <a:sym typeface="Calibri"/>
              </a:rPr>
              <a:t>cohortes 2017-2 y 2018-1</a:t>
            </a:r>
            <a:br>
              <a:rPr lang="en-US" sz="1600" i="0">
                <a:solidFill>
                  <a:schemeClr val="lt1"/>
                </a:solidFill>
                <a:latin typeface="Calibri"/>
                <a:ea typeface="Calibri"/>
                <a:cs typeface="Calibri"/>
                <a:sym typeface="Calibri"/>
              </a:rPr>
            </a:br>
            <a:r>
              <a:rPr lang="en-US" sz="1600" i="0">
                <a:solidFill>
                  <a:schemeClr val="lt1"/>
                </a:solidFill>
                <a:latin typeface="Calibri"/>
                <a:ea typeface="Calibri"/>
                <a:cs typeface="Calibri"/>
                <a:sym typeface="Calibri"/>
              </a:rPr>
              <a:t>Ingeniería de Sistemas</a:t>
            </a:r>
            <a:endParaRPr sz="1600" i="0">
              <a:solidFill>
                <a:schemeClr val="lt1"/>
              </a:solidFill>
              <a:latin typeface="Calibri"/>
              <a:ea typeface="Calibri"/>
              <a:cs typeface="Calibri"/>
              <a:sym typeface="Calibri"/>
            </a:endParaRPr>
          </a:p>
        </p:txBody>
      </p:sp>
      <p:sp>
        <p:nvSpPr>
          <p:cNvPr id="110" name="Google Shape;110;p2"/>
          <p:cNvSpPr txBox="1"/>
          <p:nvPr/>
        </p:nvSpPr>
        <p:spPr>
          <a:xfrm>
            <a:off x="8046720" y="2464689"/>
            <a:ext cx="338328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a:solidFill>
                  <a:schemeClr val="lt1"/>
                </a:solidFill>
                <a:latin typeface="Calibri"/>
                <a:ea typeface="Calibri"/>
                <a:cs typeface="Calibri"/>
                <a:sym typeface="Calibri"/>
              </a:rPr>
              <a:t>64 %</a:t>
            </a:r>
            <a:endParaRPr/>
          </a:p>
        </p:txBody>
      </p:sp>
      <p:sp>
        <p:nvSpPr>
          <p:cNvPr id="111" name="Google Shape;111;p2"/>
          <p:cNvSpPr txBox="1"/>
          <p:nvPr/>
        </p:nvSpPr>
        <p:spPr>
          <a:xfrm>
            <a:off x="8046720" y="3561969"/>
            <a:ext cx="338328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a:solidFill>
                  <a:schemeClr val="lt1"/>
                </a:solidFill>
                <a:latin typeface="Calibri"/>
                <a:ea typeface="Calibri"/>
                <a:cs typeface="Calibri"/>
                <a:sym typeface="Calibri"/>
              </a:rPr>
              <a:t>Abandono temprano</a:t>
            </a:r>
            <a:endParaRPr sz="2100" b="1" i="0">
              <a:solidFill>
                <a:schemeClr val="lt1"/>
              </a:solidFill>
              <a:latin typeface="Calibri"/>
              <a:ea typeface="Calibri"/>
              <a:cs typeface="Calibri"/>
              <a:sym typeface="Calibri"/>
            </a:endParaRPr>
          </a:p>
        </p:txBody>
      </p:sp>
      <p:sp>
        <p:nvSpPr>
          <p:cNvPr id="112" name="Google Shape;112;p2"/>
          <p:cNvSpPr txBox="1"/>
          <p:nvPr/>
        </p:nvSpPr>
        <p:spPr>
          <a:xfrm>
            <a:off x="8046720" y="4019169"/>
            <a:ext cx="338328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i="0">
                <a:solidFill>
                  <a:schemeClr val="lt1"/>
                </a:solidFill>
                <a:latin typeface="Calibri"/>
                <a:ea typeface="Calibri"/>
                <a:cs typeface="Calibri"/>
                <a:sym typeface="Calibri"/>
              </a:rPr>
              <a:t>de quienes abandonan, lo hacen</a:t>
            </a:r>
            <a:br>
              <a:rPr lang="en-US" sz="1600" i="0">
                <a:solidFill>
                  <a:schemeClr val="lt1"/>
                </a:solidFill>
                <a:latin typeface="Calibri"/>
                <a:ea typeface="Calibri"/>
                <a:cs typeface="Calibri"/>
                <a:sym typeface="Calibri"/>
              </a:rPr>
            </a:br>
            <a:r>
              <a:rPr lang="en-US" sz="1600" i="0">
                <a:solidFill>
                  <a:schemeClr val="lt1"/>
                </a:solidFill>
                <a:latin typeface="Calibri"/>
                <a:ea typeface="Calibri"/>
                <a:cs typeface="Calibri"/>
                <a:sym typeface="Calibri"/>
              </a:rPr>
              <a:t>en los dos primeros semestres</a:t>
            </a:r>
            <a:endParaRPr sz="1600" i="0">
              <a:solidFill>
                <a:schemeClr val="lt1"/>
              </a:solidFill>
              <a:latin typeface="Calibri"/>
              <a:ea typeface="Calibri"/>
              <a:cs typeface="Calibri"/>
              <a:sym typeface="Calibri"/>
            </a:endParaRPr>
          </a:p>
        </p:txBody>
      </p:sp>
      <p:sp>
        <p:nvSpPr>
          <p:cNvPr id="113" name="Rounded Rectangle 112"/>
          <p:cNvSpPr/>
          <p:nvPr/>
        </p:nvSpPr>
        <p:spPr>
          <a:xfrm>
            <a:off x="731520" y="5228844"/>
            <a:ext cx="4690872" cy="960120"/>
          </a:xfrm>
          <a:prstGeom prst="roundRect">
            <a:avLst>
              <a:gd name="adj" fmla="val 12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731520" y="5228844"/>
            <a:ext cx="73152" cy="9601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987552" y="5274564"/>
            <a:ext cx="4434840" cy="868680"/>
          </a:xfrm>
          <a:prstGeom prst="rect">
            <a:avLst/>
          </a:prstGeom>
          <a:noFill/>
        </p:spPr>
        <p:txBody>
          <a:bodyPr wrap="square" lIns="0" tIns="0" rIns="0" bIns="0" anchor="ctr">
            <a:spAutoFit/>
          </a:bodyPr>
          <a:lstStyle/>
          <a:p>
            <a:pPr algn="l"/>
            <a:r>
              <a:rPr sz="1200" b="1" i="0" dirty="0">
                <a:solidFill>
                  <a:srgbClr val="1F5FAE"/>
                </a:solidFill>
                <a:latin typeface="Calibri"/>
              </a:rPr>
              <a:t>PREGUNTA</a:t>
            </a:r>
          </a:p>
          <a:p>
            <a:pPr algn="l"/>
            <a:r>
              <a:rPr sz="1550" b="0" i="0" dirty="0">
                <a:solidFill>
                  <a:srgbClr val="0F1E36"/>
                </a:solidFill>
                <a:latin typeface="Calibri"/>
              </a:rPr>
              <a:t>¿</a:t>
            </a:r>
            <a:r>
              <a:rPr sz="1550" b="0" i="0" dirty="0" err="1">
                <a:solidFill>
                  <a:srgbClr val="0F1E36"/>
                </a:solidFill>
                <a:latin typeface="Calibri"/>
              </a:rPr>
              <a:t>Cuál</a:t>
            </a:r>
            <a:r>
              <a:rPr sz="1550" b="0" i="0" dirty="0">
                <a:solidFill>
                  <a:srgbClr val="0F1E36"/>
                </a:solidFill>
                <a:latin typeface="Calibri"/>
              </a:rPr>
              <a:t> </a:t>
            </a:r>
            <a:r>
              <a:rPr sz="1550" b="0" i="0" dirty="0" err="1">
                <a:solidFill>
                  <a:srgbClr val="0F1E36"/>
                </a:solidFill>
                <a:latin typeface="Calibri"/>
              </a:rPr>
              <a:t>algoritmo</a:t>
            </a:r>
            <a:r>
              <a:rPr sz="1550" b="0" i="0" dirty="0">
                <a:solidFill>
                  <a:srgbClr val="0F1E36"/>
                </a:solidFill>
                <a:latin typeface="Calibri"/>
              </a:rPr>
              <a:t> </a:t>
            </a:r>
            <a:r>
              <a:rPr sz="1550" b="0" i="0" dirty="0" err="1">
                <a:solidFill>
                  <a:srgbClr val="0F1E36"/>
                </a:solidFill>
                <a:latin typeface="Calibri"/>
              </a:rPr>
              <a:t>ofrece</a:t>
            </a:r>
            <a:r>
              <a:rPr sz="1550" b="0" i="0" dirty="0">
                <a:solidFill>
                  <a:srgbClr val="0F1E36"/>
                </a:solidFill>
                <a:latin typeface="Calibri"/>
              </a:rPr>
              <a:t> </a:t>
            </a:r>
            <a:r>
              <a:rPr sz="1550" b="0" i="0" dirty="0" err="1">
                <a:solidFill>
                  <a:srgbClr val="0F1E36"/>
                </a:solidFill>
                <a:latin typeface="Calibri"/>
              </a:rPr>
              <a:t>el</a:t>
            </a:r>
            <a:r>
              <a:rPr sz="1550" b="0" i="0" dirty="0">
                <a:solidFill>
                  <a:srgbClr val="0F1E36"/>
                </a:solidFill>
                <a:latin typeface="Calibri"/>
              </a:rPr>
              <a:t> </a:t>
            </a:r>
            <a:r>
              <a:rPr sz="1550" b="0" i="0" dirty="0" err="1">
                <a:solidFill>
                  <a:srgbClr val="0F1E36"/>
                </a:solidFill>
                <a:latin typeface="Calibri"/>
              </a:rPr>
              <a:t>mejor</a:t>
            </a:r>
            <a:r>
              <a:rPr sz="1550" b="0" i="0" dirty="0">
                <a:solidFill>
                  <a:srgbClr val="0F1E36"/>
                </a:solidFill>
                <a:latin typeface="Calibri"/>
              </a:rPr>
              <a:t> </a:t>
            </a:r>
            <a:r>
              <a:rPr sz="1550" b="0" i="0" dirty="0" err="1">
                <a:solidFill>
                  <a:srgbClr val="0F1E36"/>
                </a:solidFill>
                <a:latin typeface="Calibri"/>
              </a:rPr>
              <a:t>desempeño</a:t>
            </a:r>
            <a:r>
              <a:rPr sz="1550" b="0" i="0" dirty="0">
                <a:solidFill>
                  <a:srgbClr val="0F1E36"/>
                </a:solidFill>
                <a:latin typeface="Calibri"/>
              </a:rPr>
              <a:t> </a:t>
            </a:r>
            <a:r>
              <a:rPr sz="1550" b="0" i="0" dirty="0" err="1">
                <a:solidFill>
                  <a:srgbClr val="0F1E36"/>
                </a:solidFill>
                <a:latin typeface="Calibri"/>
              </a:rPr>
              <a:t>predictivo</a:t>
            </a:r>
            <a:r>
              <a:rPr sz="1550" b="0" i="0" dirty="0">
                <a:solidFill>
                  <a:srgbClr val="0F1E36"/>
                </a:solidFill>
                <a:latin typeface="Calibri"/>
              </a:rPr>
              <a:t> del </a:t>
            </a:r>
            <a:r>
              <a:rPr sz="1550" b="0" i="0" dirty="0" err="1">
                <a:solidFill>
                  <a:srgbClr val="0F1E36"/>
                </a:solidFill>
                <a:latin typeface="Calibri"/>
              </a:rPr>
              <a:t>rendimiento</a:t>
            </a:r>
            <a:r>
              <a:rPr sz="1550" b="0" i="0" dirty="0">
                <a:solidFill>
                  <a:srgbClr val="0F1E36"/>
                </a:solidFill>
                <a:latin typeface="Calibri"/>
              </a:rPr>
              <a:t> </a:t>
            </a:r>
            <a:r>
              <a:rPr sz="1550" b="0" i="0" dirty="0" err="1">
                <a:solidFill>
                  <a:srgbClr val="0F1E36"/>
                </a:solidFill>
                <a:latin typeface="Calibri"/>
              </a:rPr>
              <a:t>académico</a:t>
            </a:r>
            <a:r>
              <a:rPr sz="1550" b="0" i="0" dirty="0">
                <a:solidFill>
                  <a:srgbClr val="0F1E36"/>
                </a:solidFill>
                <a:latin typeface="Calibri"/>
              </a:rPr>
              <a:t>?</a:t>
            </a:r>
          </a:p>
        </p:txBody>
      </p:sp>
      <p:sp>
        <p:nvSpPr>
          <p:cNvPr id="116" name="Rounded Rectangle 115"/>
          <p:cNvSpPr/>
          <p:nvPr/>
        </p:nvSpPr>
        <p:spPr>
          <a:xfrm>
            <a:off x="5687568" y="5228844"/>
            <a:ext cx="5102352" cy="960119"/>
          </a:xfrm>
          <a:prstGeom prst="roundRect">
            <a:avLst>
              <a:gd name="adj" fmla="val 12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5687568" y="5228844"/>
            <a:ext cx="73152" cy="9601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943600" y="5274564"/>
            <a:ext cx="5029200" cy="868680"/>
          </a:xfrm>
          <a:prstGeom prst="rect">
            <a:avLst/>
          </a:prstGeom>
          <a:noFill/>
        </p:spPr>
        <p:txBody>
          <a:bodyPr wrap="square" lIns="0" tIns="0" rIns="0" bIns="0" anchor="ctr">
            <a:spAutoFit/>
          </a:bodyPr>
          <a:lstStyle/>
          <a:p>
            <a:pPr algn="l"/>
            <a:r>
              <a:rPr sz="1200" b="1" i="0" dirty="0">
                <a:solidFill>
                  <a:srgbClr val="047857"/>
                </a:solidFill>
                <a:latin typeface="Calibri"/>
              </a:rPr>
              <a:t>OBJETIVO</a:t>
            </a:r>
          </a:p>
          <a:p>
            <a:pPr algn="l"/>
            <a:r>
              <a:rPr sz="1550" b="0" i="0" dirty="0" err="1">
                <a:solidFill>
                  <a:srgbClr val="0F1E36"/>
                </a:solidFill>
                <a:latin typeface="Calibri"/>
              </a:rPr>
              <a:t>Comparar</a:t>
            </a:r>
            <a:r>
              <a:rPr sz="1550" b="0" i="0" dirty="0">
                <a:solidFill>
                  <a:srgbClr val="0F1E36"/>
                </a:solidFill>
                <a:latin typeface="Calibri"/>
              </a:rPr>
              <a:t> </a:t>
            </a:r>
            <a:r>
              <a:rPr sz="1550" b="0" i="0" dirty="0" err="1">
                <a:solidFill>
                  <a:srgbClr val="0F1E36"/>
                </a:solidFill>
                <a:latin typeface="Calibri"/>
              </a:rPr>
              <a:t>el</a:t>
            </a:r>
            <a:r>
              <a:rPr sz="1550" b="0" i="0" dirty="0">
                <a:solidFill>
                  <a:srgbClr val="0F1E36"/>
                </a:solidFill>
                <a:latin typeface="Calibri"/>
              </a:rPr>
              <a:t> </a:t>
            </a:r>
            <a:r>
              <a:rPr sz="1550" b="0" i="0" dirty="0" err="1">
                <a:solidFill>
                  <a:srgbClr val="0F1E36"/>
                </a:solidFill>
                <a:latin typeface="Calibri"/>
              </a:rPr>
              <a:t>desempeño</a:t>
            </a:r>
            <a:r>
              <a:rPr sz="1550" b="0" i="0" dirty="0">
                <a:solidFill>
                  <a:srgbClr val="0F1E36"/>
                </a:solidFill>
                <a:latin typeface="Calibri"/>
              </a:rPr>
              <a:t> de </a:t>
            </a:r>
            <a:r>
              <a:rPr sz="1550" b="0" i="0" dirty="0" err="1">
                <a:solidFill>
                  <a:srgbClr val="0F1E36"/>
                </a:solidFill>
                <a:latin typeface="Calibri"/>
              </a:rPr>
              <a:t>algoritmos</a:t>
            </a:r>
            <a:r>
              <a:rPr sz="1550" b="0" i="0" dirty="0">
                <a:solidFill>
                  <a:srgbClr val="0F1E36"/>
                </a:solidFill>
                <a:latin typeface="Calibri"/>
              </a:rPr>
              <a:t> de </a:t>
            </a:r>
            <a:r>
              <a:rPr sz="1550" b="0" i="0" dirty="0" err="1">
                <a:solidFill>
                  <a:srgbClr val="0F1E36"/>
                </a:solidFill>
                <a:latin typeface="Calibri"/>
              </a:rPr>
              <a:t>aprendizaje</a:t>
            </a:r>
            <a:r>
              <a:rPr sz="1550" b="0" i="0" dirty="0">
                <a:solidFill>
                  <a:srgbClr val="0F1E36"/>
                </a:solidFill>
                <a:latin typeface="Calibri"/>
              </a:rPr>
              <a:t> </a:t>
            </a:r>
            <a:r>
              <a:rPr sz="1550" b="0" i="0" dirty="0" err="1">
                <a:solidFill>
                  <a:srgbClr val="0F1E36"/>
                </a:solidFill>
                <a:latin typeface="Calibri"/>
              </a:rPr>
              <a:t>automático</a:t>
            </a:r>
            <a:r>
              <a:rPr sz="1550" b="0" i="0" dirty="0">
                <a:solidFill>
                  <a:srgbClr val="0F1E36"/>
                </a:solidFill>
                <a:latin typeface="Calibri"/>
              </a:rPr>
              <a:t> </a:t>
            </a:r>
            <a:r>
              <a:rPr sz="1550" b="0" i="0" dirty="0" err="1">
                <a:solidFill>
                  <a:srgbClr val="0F1E36"/>
                </a:solidFill>
                <a:latin typeface="Calibri"/>
              </a:rPr>
              <a:t>en</a:t>
            </a:r>
            <a:r>
              <a:rPr sz="1550" b="0" i="0" dirty="0">
                <a:solidFill>
                  <a:srgbClr val="0F1E36"/>
                </a:solidFill>
                <a:latin typeface="Calibri"/>
              </a:rPr>
              <a:t> la </a:t>
            </a:r>
            <a:r>
              <a:rPr sz="1550" b="0" i="0" dirty="0" err="1">
                <a:solidFill>
                  <a:srgbClr val="0F1E36"/>
                </a:solidFill>
                <a:latin typeface="Calibri"/>
              </a:rPr>
              <a:t>predicción</a:t>
            </a:r>
            <a:r>
              <a:rPr sz="1550" b="0" i="0" dirty="0">
                <a:solidFill>
                  <a:srgbClr val="0F1E36"/>
                </a:solidFill>
                <a:latin typeface="Calibri"/>
              </a:rPr>
              <a:t> del </a:t>
            </a:r>
            <a:r>
              <a:rPr sz="1550" b="0" i="0" dirty="0" err="1">
                <a:solidFill>
                  <a:srgbClr val="0F1E36"/>
                </a:solidFill>
                <a:latin typeface="Calibri"/>
              </a:rPr>
              <a:t>rendimiento</a:t>
            </a:r>
            <a:r>
              <a:rPr sz="1550" b="0" i="0" dirty="0">
                <a:solidFill>
                  <a:srgbClr val="0F1E36"/>
                </a:solidFill>
                <a:latin typeface="Calibri"/>
              </a:rPr>
              <a:t> </a:t>
            </a:r>
            <a:r>
              <a:rPr sz="1550" b="0" i="0" dirty="0" err="1">
                <a:solidFill>
                  <a:srgbClr val="0F1E36"/>
                </a:solidFill>
                <a:latin typeface="Calibri"/>
              </a:rPr>
              <a:t>académico</a:t>
            </a:r>
            <a:r>
              <a:rPr sz="1550" b="0" i="0" dirty="0">
                <a:solidFill>
                  <a:srgbClr val="0F1E36"/>
                </a:solidFill>
                <a:latin typeface="Calibri"/>
              </a:rPr>
              <a:t> y la </a:t>
            </a:r>
            <a:r>
              <a:rPr sz="1550" b="0" i="0" dirty="0" err="1">
                <a:solidFill>
                  <a:srgbClr val="0F1E36"/>
                </a:solidFill>
                <a:latin typeface="Calibri"/>
              </a:rPr>
              <a:t>graduación</a:t>
            </a:r>
            <a:r>
              <a:rPr sz="1550" b="0" i="0" dirty="0">
                <a:solidFill>
                  <a:srgbClr val="0F1E36"/>
                </a:solidFill>
                <a:latin typeface="Calibri"/>
              </a:rPr>
              <a:t> </a:t>
            </a:r>
            <a:r>
              <a:rPr sz="1550" b="0" i="0" dirty="0" err="1">
                <a:solidFill>
                  <a:srgbClr val="0F1E36"/>
                </a:solidFill>
                <a:latin typeface="Calibri"/>
              </a:rPr>
              <a:t>en</a:t>
            </a:r>
            <a:r>
              <a:rPr sz="1550" b="0" i="0" dirty="0">
                <a:solidFill>
                  <a:srgbClr val="0F1E36"/>
                </a:solidFill>
                <a:latin typeface="Calibri"/>
              </a:rPr>
              <a:t> </a:t>
            </a:r>
            <a:r>
              <a:rPr sz="1550" b="0" i="0" dirty="0" err="1">
                <a:solidFill>
                  <a:srgbClr val="0F1E36"/>
                </a:solidFill>
                <a:latin typeface="Calibri"/>
              </a:rPr>
              <a:t>Ingeniería</a:t>
            </a:r>
            <a:r>
              <a:rPr sz="1550" b="0" i="0" dirty="0">
                <a:solidFill>
                  <a:srgbClr val="0F1E36"/>
                </a:solidFill>
                <a:latin typeface="Calibri"/>
              </a:rPr>
              <a:t> de </a:t>
            </a:r>
            <a:r>
              <a:rPr sz="1550" b="0" i="0" dirty="0" err="1">
                <a:solidFill>
                  <a:srgbClr val="0F1E36"/>
                </a:solidFill>
                <a:latin typeface="Calibri"/>
              </a:rPr>
              <a:t>Sistemas</a:t>
            </a:r>
            <a:endParaRPr sz="1550" b="0" i="0" dirty="0">
              <a:solidFill>
                <a:srgbClr val="0F1E3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3"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21" name="Google Shape;121;p3"/>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3</a:t>
            </a:r>
            <a:endParaRPr/>
          </a:p>
        </p:txBody>
      </p:sp>
      <p:sp>
        <p:nvSpPr>
          <p:cNvPr id="122" name="Google Shape;122;p3"/>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COMPRENSIÓN DEL PROBLEMA</a:t>
            </a:r>
            <a:endParaRPr/>
          </a:p>
        </p:txBody>
      </p:sp>
      <p:sp>
        <p:nvSpPr>
          <p:cNvPr id="123" name="Google Shape;123;p3"/>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24" name="Google Shape;124;p3"/>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¿Cuándo abandonan?</a:t>
            </a:r>
            <a:endParaRPr/>
          </a:p>
        </p:txBody>
      </p:sp>
      <p:sp>
        <p:nvSpPr>
          <p:cNvPr id="125" name="Google Shape;125;p3"/>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La alerta debe llegar al cierre del 1.er semestre</a:t>
            </a:r>
            <a:endParaRPr/>
          </a:p>
        </p:txBody>
      </p:sp>
      <p:pic>
        <p:nvPicPr>
          <p:cNvPr id="126" name="Picture 125" descr="f01_duracion_cohortes.png"/>
          <p:cNvPicPr>
            <a:picLocks noChangeAspect="1"/>
          </p:cNvPicPr>
          <p:nvPr/>
        </p:nvPicPr>
        <p:blipFill>
          <a:blip r:embed="rId4"/>
          <a:stretch>
            <a:fillRect/>
          </a:stretch>
        </p:blipFill>
        <p:spPr>
          <a:xfrm>
            <a:off x="2011680" y="1463040"/>
            <a:ext cx="8138160" cy="4430776"/>
          </a:xfrm>
          <a:prstGeom prst="rect">
            <a:avLst/>
          </a:prstGeom>
        </p:spPr>
      </p:pic>
      <p:sp>
        <p:nvSpPr>
          <p:cNvPr id="2" name="Rectángulo 1">
            <a:extLst>
              <a:ext uri="{FF2B5EF4-FFF2-40B4-BE49-F238E27FC236}">
                <a16:creationId xmlns:a16="http://schemas.microsoft.com/office/drawing/2014/main" id="{BD6F94E1-373F-4101-AFF2-7E564304CA69}"/>
              </a:ext>
            </a:extLst>
          </p:cNvPr>
          <p:cNvSpPr/>
          <p:nvPr/>
        </p:nvSpPr>
        <p:spPr>
          <a:xfrm>
            <a:off x="4991100" y="1695450"/>
            <a:ext cx="971550" cy="30708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cxnSp>
        <p:nvCxnSpPr>
          <p:cNvPr id="4" name="Conector recto de flecha 3">
            <a:extLst>
              <a:ext uri="{FF2B5EF4-FFF2-40B4-BE49-F238E27FC236}">
                <a16:creationId xmlns:a16="http://schemas.microsoft.com/office/drawing/2014/main" id="{C2281FDD-64A2-4E04-B537-D53791ADC0EA}"/>
              </a:ext>
            </a:extLst>
          </p:cNvPr>
          <p:cNvCxnSpPr/>
          <p:nvPr/>
        </p:nvCxnSpPr>
        <p:spPr>
          <a:xfrm flipH="1">
            <a:off x="5429250" y="1844421"/>
            <a:ext cx="433578"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42" name="Picture 141" descr="crisp_ciclo.png"/>
          <p:cNvPicPr>
            <a:picLocks noChangeAspect="1"/>
          </p:cNvPicPr>
          <p:nvPr/>
        </p:nvPicPr>
        <p:blipFill>
          <a:blip r:embed="rId3"/>
          <a:stretch>
            <a:fillRect/>
          </a:stretch>
        </p:blipFill>
        <p:spPr>
          <a:xfrm>
            <a:off x="6576961" y="965359"/>
            <a:ext cx="5110162" cy="5110162"/>
          </a:xfrm>
          <a:prstGeom prst="rect">
            <a:avLst/>
          </a:prstGeom>
        </p:spPr>
      </p:pic>
      <p:pic>
        <p:nvPicPr>
          <p:cNvPr id="133" name="Google Shape;133;p4" descr="image.png"/>
          <p:cNvPicPr preferRelativeResize="0"/>
          <p:nvPr/>
        </p:nvPicPr>
        <p:blipFill rotWithShape="1">
          <a:blip r:embed="rId4">
            <a:alphaModFix/>
          </a:blip>
          <a:srcRect/>
          <a:stretch/>
        </p:blipFill>
        <p:spPr>
          <a:xfrm>
            <a:off x="11356848" y="5861304"/>
            <a:ext cx="731520" cy="731520"/>
          </a:xfrm>
          <a:prstGeom prst="rect">
            <a:avLst/>
          </a:prstGeom>
          <a:noFill/>
          <a:ln>
            <a:noFill/>
          </a:ln>
        </p:spPr>
      </p:pic>
      <p:sp>
        <p:nvSpPr>
          <p:cNvPr id="134" name="Google Shape;134;p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4</a:t>
            </a:r>
            <a:endParaRPr/>
          </a:p>
        </p:txBody>
      </p:sp>
      <p:sp>
        <p:nvSpPr>
          <p:cNvPr id="135" name="Google Shape;135;p4"/>
          <p:cNvSpPr txBox="1"/>
          <p:nvPr/>
        </p:nvSpPr>
        <p:spPr>
          <a:xfrm>
            <a:off x="731520" y="118872"/>
            <a:ext cx="73152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MÉTODO</a:t>
            </a:r>
            <a:endParaRPr/>
          </a:p>
        </p:txBody>
      </p:sp>
      <p:sp>
        <p:nvSpPr>
          <p:cNvPr id="136" name="Google Shape;136;p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4"/>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Metodología CRISP-DM</a:t>
            </a:r>
            <a:endParaRPr/>
          </a:p>
        </p:txBody>
      </p:sp>
      <p:sp>
        <p:nvSpPr>
          <p:cNvPr id="138" name="Google Shape;138;p4"/>
          <p:cNvSpPr txBox="1"/>
          <p:nvPr/>
        </p:nvSpPr>
        <p:spPr>
          <a:xfrm>
            <a:off x="430509" y="1907147"/>
            <a:ext cx="5802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dirty="0">
                <a:solidFill>
                  <a:srgbClr val="55657E"/>
                </a:solidFill>
                <a:latin typeface="Calibri"/>
                <a:ea typeface="Calibri"/>
                <a:cs typeface="Calibri"/>
                <a:sym typeface="Calibri"/>
              </a:rPr>
              <a:t>Seis </a:t>
            </a:r>
            <a:r>
              <a:rPr lang="en-US" sz="1800" b="0" i="0" dirty="0" err="1">
                <a:solidFill>
                  <a:srgbClr val="55657E"/>
                </a:solidFill>
                <a:latin typeface="Calibri"/>
                <a:ea typeface="Calibri"/>
                <a:cs typeface="Calibri"/>
                <a:sym typeface="Calibri"/>
              </a:rPr>
              <a:t>fases</a:t>
            </a:r>
            <a:r>
              <a:rPr lang="en-US" sz="1800" dirty="0">
                <a:solidFill>
                  <a:srgbClr val="55657E"/>
                </a:solidFill>
                <a:latin typeface="Calibri"/>
                <a:ea typeface="Calibri"/>
                <a:cs typeface="Calibri"/>
                <a:sym typeface="Calibri"/>
              </a:rPr>
              <a:t>:</a:t>
            </a:r>
            <a:endParaRPr sz="1800" b="0" i="0" dirty="0">
              <a:solidFill>
                <a:srgbClr val="55657E"/>
              </a:solidFill>
              <a:latin typeface="Calibri"/>
              <a:ea typeface="Calibri"/>
              <a:cs typeface="Calibri"/>
              <a:sym typeface="Calibri"/>
            </a:endParaRPr>
          </a:p>
        </p:txBody>
      </p:sp>
      <p:sp>
        <p:nvSpPr>
          <p:cNvPr id="140" name="Google Shape;140;p4"/>
          <p:cNvSpPr txBox="1"/>
          <p:nvPr/>
        </p:nvSpPr>
        <p:spPr>
          <a:xfrm>
            <a:off x="731520" y="6126480"/>
            <a:ext cx="10058400" cy="3539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sz="1100" b="0" i="0" dirty="0" err="1">
                <a:solidFill>
                  <a:srgbClr val="55657E"/>
                </a:solidFill>
                <a:latin typeface="Calibri"/>
              </a:rPr>
              <a:t>proceso</a:t>
            </a:r>
            <a:r>
              <a:rPr sz="1100" b="0" i="0" dirty="0">
                <a:solidFill>
                  <a:srgbClr val="55657E"/>
                </a:solidFill>
                <a:latin typeface="Calibri"/>
              </a:rPr>
              <a:t> CRISP-DM </a:t>
            </a:r>
            <a:r>
              <a:rPr sz="1100" b="0" i="0" dirty="0" err="1">
                <a:solidFill>
                  <a:srgbClr val="55657E"/>
                </a:solidFill>
                <a:latin typeface="Calibri"/>
              </a:rPr>
              <a:t>adaptado</a:t>
            </a:r>
            <a:r>
              <a:rPr sz="1100" b="0" i="0" dirty="0">
                <a:solidFill>
                  <a:srgbClr val="55657E"/>
                </a:solidFill>
                <a:latin typeface="Calibri"/>
              </a:rPr>
              <a:t> al </a:t>
            </a:r>
            <a:r>
              <a:rPr sz="1100" b="0" i="0" dirty="0" err="1">
                <a:solidFill>
                  <a:srgbClr val="55657E"/>
                </a:solidFill>
                <a:latin typeface="Calibri"/>
              </a:rPr>
              <a:t>proyecto</a:t>
            </a:r>
            <a:r>
              <a:rPr sz="1100" b="0" i="0" dirty="0">
                <a:solidFill>
                  <a:srgbClr val="55657E"/>
                </a:solidFill>
                <a:latin typeface="Calibri"/>
              </a:rPr>
              <a:t> de </a:t>
            </a:r>
            <a:r>
              <a:rPr sz="1100" b="0" i="0" dirty="0" err="1">
                <a:solidFill>
                  <a:srgbClr val="55657E"/>
                </a:solidFill>
                <a:latin typeface="Calibri"/>
              </a:rPr>
              <a:t>trayectoria</a:t>
            </a:r>
            <a:r>
              <a:rPr sz="1100" b="0" i="0" dirty="0">
                <a:solidFill>
                  <a:srgbClr val="55657E"/>
                </a:solidFill>
                <a:latin typeface="Calibri"/>
              </a:rPr>
              <a:t> </a:t>
            </a:r>
            <a:r>
              <a:rPr sz="1100" b="0" i="0" dirty="0" err="1">
                <a:solidFill>
                  <a:srgbClr val="55657E"/>
                </a:solidFill>
                <a:latin typeface="Calibri"/>
              </a:rPr>
              <a:t>académica</a:t>
            </a:r>
            <a:r>
              <a:rPr sz="1100" b="0" i="0" dirty="0">
                <a:solidFill>
                  <a:srgbClr val="55657E"/>
                </a:solidFill>
                <a:latin typeface="Calibri"/>
              </a:rPr>
              <a:t> FCBI, </a:t>
            </a:r>
            <a:r>
              <a:rPr sz="1100" b="0" i="0" dirty="0" err="1">
                <a:solidFill>
                  <a:srgbClr val="55657E"/>
                </a:solidFill>
                <a:latin typeface="Calibri"/>
              </a:rPr>
              <a:t>basado</a:t>
            </a:r>
            <a:r>
              <a:rPr sz="1100" b="0" i="0" dirty="0">
                <a:solidFill>
                  <a:srgbClr val="55657E"/>
                </a:solidFill>
                <a:latin typeface="Calibri"/>
              </a:rPr>
              <a:t> </a:t>
            </a:r>
            <a:r>
              <a:rPr sz="1100" b="0" i="0" dirty="0" err="1">
                <a:solidFill>
                  <a:srgbClr val="55657E"/>
                </a:solidFill>
                <a:latin typeface="Calibri"/>
              </a:rPr>
              <a:t>en</a:t>
            </a:r>
            <a:r>
              <a:rPr sz="1100" b="0" i="0" dirty="0">
                <a:solidFill>
                  <a:srgbClr val="55657E"/>
                </a:solidFill>
                <a:latin typeface="Calibri"/>
              </a:rPr>
              <a:t> </a:t>
            </a:r>
            <a:r>
              <a:rPr sz="1100" b="0" i="0" dirty="0" err="1">
                <a:solidFill>
                  <a:srgbClr val="55657E"/>
                </a:solidFill>
                <a:latin typeface="Calibri"/>
              </a:rPr>
              <a:t>el</a:t>
            </a:r>
            <a:r>
              <a:rPr sz="1100" b="0" i="0" dirty="0">
                <a:solidFill>
                  <a:srgbClr val="55657E"/>
                </a:solidFill>
                <a:latin typeface="Calibri"/>
              </a:rPr>
              <a:t> </a:t>
            </a:r>
            <a:r>
              <a:rPr sz="1100" b="0" i="0" dirty="0" err="1">
                <a:solidFill>
                  <a:srgbClr val="55657E"/>
                </a:solidFill>
                <a:latin typeface="Calibri"/>
              </a:rPr>
              <a:t>ciclo</a:t>
            </a:r>
            <a:r>
              <a:rPr sz="1100" b="0" i="0" dirty="0">
                <a:solidFill>
                  <a:srgbClr val="55657E"/>
                </a:solidFill>
                <a:latin typeface="Calibri"/>
              </a:rPr>
              <a:t> de </a:t>
            </a:r>
            <a:r>
              <a:rPr sz="1100" b="0" i="0" dirty="0" err="1">
                <a:solidFill>
                  <a:srgbClr val="55657E"/>
                </a:solidFill>
                <a:latin typeface="Calibri"/>
              </a:rPr>
              <a:t>vida</a:t>
            </a:r>
            <a:r>
              <a:rPr sz="1100" b="0" i="0" dirty="0">
                <a:solidFill>
                  <a:srgbClr val="55657E"/>
                </a:solidFill>
                <a:latin typeface="Calibri"/>
              </a:rPr>
              <a:t> de </a:t>
            </a:r>
            <a:r>
              <a:rPr sz="1100" b="0" i="0" dirty="0" err="1">
                <a:solidFill>
                  <a:srgbClr val="55657E"/>
                </a:solidFill>
                <a:latin typeface="Calibri"/>
              </a:rPr>
              <a:t>minería</a:t>
            </a:r>
            <a:r>
              <a:rPr sz="1100" b="0" i="0" dirty="0">
                <a:solidFill>
                  <a:srgbClr val="55657E"/>
                </a:solidFill>
                <a:latin typeface="Calibri"/>
              </a:rPr>
              <a:t> de </a:t>
            </a:r>
            <a:r>
              <a:rPr sz="1100" b="0" i="0" dirty="0" err="1">
                <a:solidFill>
                  <a:srgbClr val="55657E"/>
                </a:solidFill>
                <a:latin typeface="Calibri"/>
              </a:rPr>
              <a:t>datos</a:t>
            </a:r>
            <a:r>
              <a:rPr sz="1100" b="0" i="0" dirty="0">
                <a:solidFill>
                  <a:srgbClr val="55657E"/>
                </a:solidFill>
                <a:latin typeface="Calibri"/>
              </a:rPr>
              <a:t> de IBM [3] y </a:t>
            </a:r>
            <a:r>
              <a:rPr sz="1100" b="0" i="0" dirty="0" err="1">
                <a:solidFill>
                  <a:srgbClr val="55657E"/>
                </a:solidFill>
                <a:latin typeface="Calibri"/>
              </a:rPr>
              <a:t>en</a:t>
            </a:r>
            <a:r>
              <a:rPr sz="1100" b="0" i="0" dirty="0">
                <a:solidFill>
                  <a:srgbClr val="55657E"/>
                </a:solidFill>
                <a:latin typeface="Calibri"/>
              </a:rPr>
              <a:t> </a:t>
            </a:r>
            <a:r>
              <a:rPr sz="1100" b="0" i="0" dirty="0" err="1">
                <a:solidFill>
                  <a:srgbClr val="55657E"/>
                </a:solidFill>
                <a:latin typeface="Calibri"/>
              </a:rPr>
              <a:t>el</a:t>
            </a:r>
            <a:r>
              <a:rPr sz="1100" b="0" i="0" dirty="0">
                <a:solidFill>
                  <a:srgbClr val="55657E"/>
                </a:solidFill>
                <a:latin typeface="Calibri"/>
              </a:rPr>
              <a:t> </a:t>
            </a:r>
            <a:r>
              <a:rPr sz="1100" b="0" i="0" dirty="0" err="1">
                <a:solidFill>
                  <a:srgbClr val="55657E"/>
                </a:solidFill>
                <a:latin typeface="Calibri"/>
              </a:rPr>
              <a:t>modelo</a:t>
            </a:r>
            <a:r>
              <a:rPr sz="1100" b="0" i="0" dirty="0">
                <a:solidFill>
                  <a:srgbClr val="55657E"/>
                </a:solidFill>
                <a:latin typeface="Calibri"/>
              </a:rPr>
              <a:t> de </a:t>
            </a:r>
            <a:r>
              <a:rPr sz="1100" b="0" i="0" dirty="0" err="1">
                <a:solidFill>
                  <a:srgbClr val="55657E"/>
                </a:solidFill>
                <a:latin typeface="Calibri"/>
              </a:rPr>
              <a:t>referencia</a:t>
            </a:r>
            <a:r>
              <a:rPr sz="1100" b="0" i="0" dirty="0">
                <a:solidFill>
                  <a:srgbClr val="55657E"/>
                </a:solidFill>
                <a:latin typeface="Calibri"/>
              </a:rPr>
              <a:t> CRISP-DM [2].</a:t>
            </a:r>
            <a:endParaRPr sz="1600" dirty="0">
              <a:solidFill>
                <a:schemeClr val="dk1"/>
              </a:solidFill>
              <a:latin typeface="Calibri"/>
              <a:ea typeface="Calibri"/>
              <a:cs typeface="Calibri"/>
              <a:sym typeface="Calibri"/>
            </a:endParaRPr>
          </a:p>
        </p:txBody>
      </p:sp>
      <p:pic>
        <p:nvPicPr>
          <p:cNvPr id="141" name="Picture 140" descr="crisp_flujo.png"/>
          <p:cNvPicPr>
            <a:picLocks noChangeAspect="1"/>
          </p:cNvPicPr>
          <p:nvPr/>
        </p:nvPicPr>
        <p:blipFill>
          <a:blip r:embed="rId5"/>
          <a:stretch>
            <a:fillRect/>
          </a:stretch>
        </p:blipFill>
        <p:spPr>
          <a:xfrm>
            <a:off x="264847" y="2304950"/>
            <a:ext cx="5968292" cy="3156098"/>
          </a:xfrm>
          <a:prstGeom prst="rect">
            <a:avLst/>
          </a:prstGeom>
        </p:spPr>
      </p:pic>
      <p:pic>
        <p:nvPicPr>
          <p:cNvPr id="3" name="Imagen 2">
            <a:extLst>
              <a:ext uri="{FF2B5EF4-FFF2-40B4-BE49-F238E27FC236}">
                <a16:creationId xmlns:a16="http://schemas.microsoft.com/office/drawing/2014/main" id="{A43EF45B-FB10-44E2-A850-6B97F044C624}"/>
              </a:ext>
            </a:extLst>
          </p:cNvPr>
          <p:cNvPicPr>
            <a:picLocks noChangeAspect="1"/>
          </p:cNvPicPr>
          <p:nvPr/>
        </p:nvPicPr>
        <p:blipFill>
          <a:blip r:embed="rId6"/>
          <a:stretch>
            <a:fillRect/>
          </a:stretch>
        </p:blipFill>
        <p:spPr>
          <a:xfrm>
            <a:off x="8449209" y="2831782"/>
            <a:ext cx="1349817" cy="1457325"/>
          </a:xfrm>
          <a:prstGeom prst="rect">
            <a:avLst/>
          </a:prstGeom>
        </p:spPr>
      </p:pic>
      <p:sp>
        <p:nvSpPr>
          <p:cNvPr id="14" name="CuadroTexto 13">
            <a:extLst>
              <a:ext uri="{FF2B5EF4-FFF2-40B4-BE49-F238E27FC236}">
                <a16:creationId xmlns:a16="http://schemas.microsoft.com/office/drawing/2014/main" id="{FC3970EF-DFFB-4E7F-95A6-A39B764F03DF}"/>
              </a:ext>
            </a:extLst>
          </p:cNvPr>
          <p:cNvSpPr txBox="1"/>
          <p:nvPr/>
        </p:nvSpPr>
        <p:spPr>
          <a:xfrm>
            <a:off x="592074" y="985684"/>
            <a:ext cx="6096000" cy="307777"/>
          </a:xfrm>
          <a:prstGeom prst="rect">
            <a:avLst/>
          </a:prstGeom>
          <a:noFill/>
        </p:spPr>
        <p:txBody>
          <a:bodyPr wrap="square">
            <a:spAutoFit/>
          </a:bodyPr>
          <a:lstStyle/>
          <a:p>
            <a:r>
              <a:rPr lang="es-CO" dirty="0"/>
              <a:t>Cross-</a:t>
            </a:r>
            <a:r>
              <a:rPr lang="es-CO" dirty="0" err="1"/>
              <a:t>Industry</a:t>
            </a:r>
            <a:r>
              <a:rPr lang="es-CO" dirty="0"/>
              <a:t> Standard </a:t>
            </a:r>
            <a:r>
              <a:rPr lang="es-CO" dirty="0" err="1"/>
              <a:t>Process</a:t>
            </a:r>
            <a:r>
              <a:rPr lang="es-CO" dirty="0"/>
              <a:t> </a:t>
            </a:r>
            <a:r>
              <a:rPr lang="es-CO" dirty="0" err="1"/>
              <a:t>for</a:t>
            </a:r>
            <a:r>
              <a:rPr lang="es-CO" dirty="0"/>
              <a:t> Data </a:t>
            </a:r>
            <a:r>
              <a:rPr lang="es-CO" dirty="0" err="1"/>
              <a:t>Mining</a:t>
            </a:r>
            <a:endParaRPr lang="es-CO"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5"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47" name="Google Shape;147;p5"/>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5</a:t>
            </a:r>
            <a:endParaRPr/>
          </a:p>
        </p:txBody>
      </p:sp>
      <p:sp>
        <p:nvSpPr>
          <p:cNvPr id="148" name="Google Shape;148;p5"/>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COMPRENSIÓN DE LOS DATOS</a:t>
            </a:r>
            <a:endParaRPr/>
          </a:p>
        </p:txBody>
      </p:sp>
      <p:sp>
        <p:nvSpPr>
          <p:cNvPr id="149" name="Google Shape;149;p5"/>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5"/>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Los datos</a:t>
            </a:r>
            <a:endParaRPr/>
          </a:p>
        </p:txBody>
      </p:sp>
      <p:sp>
        <p:nvSpPr>
          <p:cNvPr id="151" name="Google Shape;151;p5"/>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Seis fuentes administrativas del SIIF, limpiadas con reglas escritas</a:t>
            </a:r>
            <a:endParaRPr sz="1800" b="0" i="0">
              <a:solidFill>
                <a:srgbClr val="55657E"/>
              </a:solidFill>
              <a:latin typeface="Calibri"/>
              <a:ea typeface="Calibri"/>
              <a:cs typeface="Calibri"/>
              <a:sym typeface="Calibri"/>
            </a:endParaRPr>
          </a:p>
        </p:txBody>
      </p:sp>
      <p:pic>
        <p:nvPicPr>
          <p:cNvPr id="152" name="Google Shape;152;p5" descr="f02_embudo.png"/>
          <p:cNvPicPr preferRelativeResize="0"/>
          <p:nvPr/>
        </p:nvPicPr>
        <p:blipFill rotWithShape="1">
          <a:blip r:embed="rId4">
            <a:alphaModFix/>
          </a:blip>
          <a:srcRect/>
          <a:stretch/>
        </p:blipFill>
        <p:spPr>
          <a:xfrm>
            <a:off x="548640" y="1871907"/>
            <a:ext cx="6766560" cy="3479945"/>
          </a:xfrm>
          <a:prstGeom prst="rect">
            <a:avLst/>
          </a:prstGeom>
          <a:noFill/>
          <a:ln>
            <a:noFill/>
          </a:ln>
        </p:spPr>
      </p:pic>
      <p:sp>
        <p:nvSpPr>
          <p:cNvPr id="153" name="Google Shape;153;p5"/>
          <p:cNvSpPr txBox="1"/>
          <p:nvPr/>
        </p:nvSpPr>
        <p:spPr>
          <a:xfrm>
            <a:off x="7214235" y="1841956"/>
            <a:ext cx="1737360" cy="430887"/>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2800" b="1" i="0">
                <a:solidFill>
                  <a:srgbClr val="D97706"/>
                </a:solidFill>
                <a:latin typeface="Calibri"/>
                <a:ea typeface="Calibri"/>
                <a:cs typeface="Calibri"/>
                <a:sym typeface="Calibri"/>
              </a:rPr>
              <a:t>8503</a:t>
            </a:r>
            <a:endParaRPr/>
          </a:p>
        </p:txBody>
      </p:sp>
      <p:sp>
        <p:nvSpPr>
          <p:cNvPr id="154" name="Google Shape;154;p5"/>
          <p:cNvSpPr txBox="1"/>
          <p:nvPr/>
        </p:nvSpPr>
        <p:spPr>
          <a:xfrm>
            <a:off x="9088693" y="1923456"/>
            <a:ext cx="2011800" cy="246221"/>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0" i="0" dirty="0" err="1">
                <a:solidFill>
                  <a:srgbClr val="0F1E36"/>
                </a:solidFill>
                <a:latin typeface="Calibri"/>
                <a:ea typeface="Calibri"/>
                <a:cs typeface="Calibri"/>
                <a:sym typeface="Calibri"/>
              </a:rPr>
              <a:t>notas</a:t>
            </a:r>
            <a:r>
              <a:rPr lang="en-US" sz="1600" b="0" i="0" dirty="0">
                <a:solidFill>
                  <a:srgbClr val="0F1E36"/>
                </a:solidFill>
                <a:latin typeface="Calibri"/>
                <a:ea typeface="Calibri"/>
                <a:cs typeface="Calibri"/>
                <a:sym typeface="Calibri"/>
              </a:rPr>
              <a:t> /</a:t>
            </a:r>
            <a:r>
              <a:rPr lang="en-US" sz="1600" b="0" i="0" dirty="0" err="1">
                <a:solidFill>
                  <a:srgbClr val="0F1E36"/>
                </a:solidFill>
                <a:latin typeface="Calibri"/>
                <a:ea typeface="Calibri"/>
                <a:cs typeface="Calibri"/>
                <a:sym typeface="Calibri"/>
              </a:rPr>
              <a:t>calificaciones</a:t>
            </a:r>
            <a:endParaRPr sz="1600" dirty="0"/>
          </a:p>
        </p:txBody>
      </p:sp>
      <p:sp>
        <p:nvSpPr>
          <p:cNvPr id="155" name="Google Shape;155;p5"/>
          <p:cNvSpPr txBox="1"/>
          <p:nvPr/>
        </p:nvSpPr>
        <p:spPr>
          <a:xfrm>
            <a:off x="7214235" y="2847796"/>
            <a:ext cx="1737360" cy="430887"/>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2800" b="1" i="0">
                <a:solidFill>
                  <a:srgbClr val="D97706"/>
                </a:solidFill>
                <a:latin typeface="Calibri"/>
                <a:ea typeface="Calibri"/>
                <a:cs typeface="Calibri"/>
                <a:sym typeface="Calibri"/>
              </a:rPr>
              <a:t>1968</a:t>
            </a:r>
            <a:endParaRPr/>
          </a:p>
        </p:txBody>
      </p:sp>
      <p:sp>
        <p:nvSpPr>
          <p:cNvPr id="156" name="Google Shape;156;p5"/>
          <p:cNvSpPr txBox="1"/>
          <p:nvPr/>
        </p:nvSpPr>
        <p:spPr>
          <a:xfrm>
            <a:off x="9088755" y="2940129"/>
            <a:ext cx="2011680" cy="246221"/>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0" i="0" dirty="0" err="1">
                <a:solidFill>
                  <a:srgbClr val="0F1E36"/>
                </a:solidFill>
                <a:latin typeface="Calibri"/>
                <a:ea typeface="Calibri"/>
                <a:cs typeface="Calibri"/>
                <a:sym typeface="Calibri"/>
              </a:rPr>
              <a:t>estados</a:t>
            </a:r>
            <a:endParaRPr sz="1600" b="0" i="0" dirty="0">
              <a:solidFill>
                <a:srgbClr val="0F1E36"/>
              </a:solidFill>
              <a:latin typeface="Calibri"/>
              <a:ea typeface="Calibri"/>
              <a:cs typeface="Calibri"/>
              <a:sym typeface="Calibri"/>
            </a:endParaRPr>
          </a:p>
        </p:txBody>
      </p:sp>
      <p:sp>
        <p:nvSpPr>
          <p:cNvPr id="157" name="Google Shape;157;p5"/>
          <p:cNvSpPr txBox="1"/>
          <p:nvPr/>
        </p:nvSpPr>
        <p:spPr>
          <a:xfrm>
            <a:off x="7214235" y="3853636"/>
            <a:ext cx="1737360" cy="430887"/>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2800" b="1" i="0">
                <a:solidFill>
                  <a:srgbClr val="D97706"/>
                </a:solidFill>
                <a:latin typeface="Calibri"/>
                <a:ea typeface="Calibri"/>
                <a:cs typeface="Calibri"/>
                <a:sym typeface="Calibri"/>
              </a:rPr>
              <a:t>541</a:t>
            </a:r>
            <a:endParaRPr/>
          </a:p>
        </p:txBody>
      </p:sp>
      <p:sp>
        <p:nvSpPr>
          <p:cNvPr id="158" name="Google Shape;158;p5"/>
          <p:cNvSpPr txBox="1"/>
          <p:nvPr/>
        </p:nvSpPr>
        <p:spPr>
          <a:xfrm>
            <a:off x="9088755" y="3945969"/>
            <a:ext cx="2011680" cy="246221"/>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0" i="0" dirty="0" err="1">
                <a:solidFill>
                  <a:srgbClr val="0F1E36"/>
                </a:solidFill>
                <a:latin typeface="Calibri"/>
                <a:ea typeface="Calibri"/>
                <a:cs typeface="Calibri"/>
                <a:sym typeface="Calibri"/>
              </a:rPr>
              <a:t>estados</a:t>
            </a:r>
            <a:r>
              <a:rPr lang="en-US" sz="1600" b="0" i="0" dirty="0">
                <a:solidFill>
                  <a:srgbClr val="0F1E36"/>
                </a:solidFill>
                <a:latin typeface="Calibri"/>
                <a:ea typeface="Calibri"/>
                <a:cs typeface="Calibri"/>
                <a:sym typeface="Calibri"/>
              </a:rPr>
              <a:t> </a:t>
            </a:r>
            <a:r>
              <a:rPr lang="en-US" sz="1600" b="0" i="0" dirty="0" err="1">
                <a:solidFill>
                  <a:srgbClr val="0F1E36"/>
                </a:solidFill>
                <a:latin typeface="Calibri"/>
                <a:ea typeface="Calibri"/>
                <a:cs typeface="Calibri"/>
                <a:sym typeface="Calibri"/>
              </a:rPr>
              <a:t>completados</a:t>
            </a:r>
            <a:endParaRPr sz="1600" dirty="0"/>
          </a:p>
        </p:txBody>
      </p:sp>
      <p:sp>
        <p:nvSpPr>
          <p:cNvPr id="159" name="Google Shape;159;p5"/>
          <p:cNvSpPr txBox="1"/>
          <p:nvPr/>
        </p:nvSpPr>
        <p:spPr>
          <a:xfrm>
            <a:off x="7214235" y="4859476"/>
            <a:ext cx="1737360" cy="430887"/>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2800" b="1" i="0">
                <a:solidFill>
                  <a:srgbClr val="D97706"/>
                </a:solidFill>
                <a:latin typeface="Calibri"/>
                <a:ea typeface="Calibri"/>
                <a:cs typeface="Calibri"/>
                <a:sym typeface="Calibri"/>
              </a:rPr>
              <a:t>76</a:t>
            </a:r>
            <a:endParaRPr/>
          </a:p>
        </p:txBody>
      </p:sp>
      <p:sp>
        <p:nvSpPr>
          <p:cNvPr id="160" name="Google Shape;160;p5"/>
          <p:cNvSpPr txBox="1"/>
          <p:nvPr/>
        </p:nvSpPr>
        <p:spPr>
          <a:xfrm>
            <a:off x="9088755" y="4951809"/>
            <a:ext cx="2011680" cy="246221"/>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0" i="0" dirty="0" err="1">
                <a:solidFill>
                  <a:srgbClr val="0F1E36"/>
                </a:solidFill>
                <a:latin typeface="Calibri"/>
                <a:ea typeface="Calibri"/>
                <a:cs typeface="Calibri"/>
                <a:sym typeface="Calibri"/>
              </a:rPr>
              <a:t>registros</a:t>
            </a:r>
            <a:r>
              <a:rPr lang="en-US" sz="1600" b="0" i="0" dirty="0">
                <a:solidFill>
                  <a:srgbClr val="0F1E36"/>
                </a:solidFill>
                <a:latin typeface="Calibri"/>
                <a:ea typeface="Calibri"/>
                <a:cs typeface="Calibri"/>
                <a:sym typeface="Calibri"/>
              </a:rPr>
              <a:t> </a:t>
            </a:r>
            <a:r>
              <a:rPr lang="en-US" sz="1600" b="0" i="0" dirty="0" err="1">
                <a:solidFill>
                  <a:srgbClr val="0F1E36"/>
                </a:solidFill>
                <a:latin typeface="Calibri"/>
                <a:ea typeface="Calibri"/>
                <a:cs typeface="Calibri"/>
                <a:sym typeface="Calibri"/>
              </a:rPr>
              <a:t>recuperados</a:t>
            </a:r>
            <a:endParaRPr sz="1600" dirty="0"/>
          </a:p>
        </p:txBody>
      </p:sp>
      <p:sp>
        <p:nvSpPr>
          <p:cNvPr id="161" name="TextBox 160"/>
          <p:cNvSpPr txBox="1"/>
          <p:nvPr/>
        </p:nvSpPr>
        <p:spPr>
          <a:xfrm>
            <a:off x="731520" y="5468112"/>
            <a:ext cx="10058400" cy="646331"/>
          </a:xfrm>
          <a:prstGeom prst="rect">
            <a:avLst/>
          </a:prstGeom>
          <a:noFill/>
        </p:spPr>
        <p:txBody>
          <a:bodyPr wrap="square" lIns="0" tIns="0" rIns="0" bIns="0" anchor="t">
            <a:spAutoFit/>
          </a:bodyPr>
          <a:lstStyle/>
          <a:p>
            <a:pPr algn="l"/>
            <a:endParaRPr lang="es-CO" dirty="0">
              <a:solidFill>
                <a:srgbClr val="0F1E36"/>
              </a:solidFill>
              <a:latin typeface="Calibri"/>
            </a:endParaRPr>
          </a:p>
          <a:p>
            <a:pPr algn="l"/>
            <a:r>
              <a:rPr lang="es-CO" dirty="0">
                <a:solidFill>
                  <a:srgbClr val="0F1E36"/>
                </a:solidFill>
                <a:latin typeface="Calibri"/>
              </a:rPr>
              <a:t>Las c</a:t>
            </a:r>
            <a:r>
              <a:rPr sz="1400" b="0" dirty="0" err="1">
                <a:solidFill>
                  <a:srgbClr val="0F1E36"/>
                </a:solidFill>
                <a:latin typeface="Calibri"/>
              </a:rPr>
              <a:t>ohortes</a:t>
            </a:r>
            <a:r>
              <a:rPr sz="1400" b="0" dirty="0">
                <a:solidFill>
                  <a:srgbClr val="0F1E36"/>
                </a:solidFill>
                <a:latin typeface="Calibri"/>
              </a:rPr>
              <a:t> </a:t>
            </a:r>
            <a:r>
              <a:rPr lang="es-CO" sz="1400" b="0" dirty="0">
                <a:solidFill>
                  <a:srgbClr val="0F1E36"/>
                </a:solidFill>
                <a:latin typeface="Calibri"/>
              </a:rPr>
              <a:t>se </a:t>
            </a:r>
            <a:r>
              <a:rPr sz="1400" b="0" dirty="0" err="1">
                <a:solidFill>
                  <a:srgbClr val="0F1E36"/>
                </a:solidFill>
                <a:latin typeface="Calibri"/>
              </a:rPr>
              <a:t>estudiaron</a:t>
            </a:r>
            <a:r>
              <a:rPr sz="1400" b="0" dirty="0">
                <a:solidFill>
                  <a:srgbClr val="0F1E36"/>
                </a:solidFill>
                <a:latin typeface="Calibri"/>
              </a:rPr>
              <a:t> con </a:t>
            </a:r>
            <a:r>
              <a:rPr sz="1400" b="0" dirty="0" err="1">
                <a:solidFill>
                  <a:srgbClr val="0F1E36"/>
                </a:solidFill>
                <a:latin typeface="Calibri"/>
              </a:rPr>
              <a:t>el</a:t>
            </a:r>
            <a:r>
              <a:rPr sz="1400" b="0" dirty="0">
                <a:solidFill>
                  <a:srgbClr val="0F1E36"/>
                </a:solidFill>
                <a:latin typeface="Calibri"/>
              </a:rPr>
              <a:t> </a:t>
            </a:r>
            <a:r>
              <a:rPr sz="1400" b="0" dirty="0" err="1">
                <a:solidFill>
                  <a:srgbClr val="0F1E36"/>
                </a:solidFill>
                <a:latin typeface="Calibri"/>
              </a:rPr>
              <a:t>Acuerdo</a:t>
            </a:r>
            <a:r>
              <a:rPr sz="1400" b="0" dirty="0">
                <a:solidFill>
                  <a:srgbClr val="0F1E36"/>
                </a:solidFill>
                <a:latin typeface="Calibri"/>
              </a:rPr>
              <a:t> 015 de 2003 y, </a:t>
            </a:r>
            <a:r>
              <a:rPr sz="1400" b="0" dirty="0" err="1">
                <a:solidFill>
                  <a:srgbClr val="0F1E36"/>
                </a:solidFill>
                <a:latin typeface="Calibri"/>
              </a:rPr>
              <a:t>desde</a:t>
            </a:r>
            <a:r>
              <a:rPr sz="1400" b="0" dirty="0">
                <a:solidFill>
                  <a:srgbClr val="0F1E36"/>
                </a:solidFill>
                <a:latin typeface="Calibri"/>
              </a:rPr>
              <a:t> 2022-1, con </a:t>
            </a:r>
            <a:r>
              <a:rPr sz="1400" b="0" dirty="0" err="1">
                <a:solidFill>
                  <a:srgbClr val="0F1E36"/>
                </a:solidFill>
                <a:latin typeface="Calibri"/>
              </a:rPr>
              <a:t>el</a:t>
            </a:r>
            <a:r>
              <a:rPr sz="1400" b="0" dirty="0">
                <a:solidFill>
                  <a:srgbClr val="0F1E36"/>
                </a:solidFill>
                <a:latin typeface="Calibri"/>
              </a:rPr>
              <a:t> </a:t>
            </a:r>
            <a:r>
              <a:rPr sz="1400" b="0" dirty="0" err="1">
                <a:solidFill>
                  <a:srgbClr val="0F1E36"/>
                </a:solidFill>
                <a:latin typeface="Calibri"/>
              </a:rPr>
              <a:t>Acuerdo</a:t>
            </a:r>
            <a:r>
              <a:rPr sz="1400" b="0" dirty="0">
                <a:solidFill>
                  <a:srgbClr val="0F1E36"/>
                </a:solidFill>
                <a:latin typeface="Calibri"/>
              </a:rPr>
              <a:t> 020 de 2021. Se </a:t>
            </a:r>
            <a:r>
              <a:rPr sz="1400" b="0" dirty="0" err="1">
                <a:solidFill>
                  <a:srgbClr val="0F1E36"/>
                </a:solidFill>
                <a:latin typeface="Calibri"/>
              </a:rPr>
              <a:t>aplica</a:t>
            </a:r>
            <a:r>
              <a:rPr sz="1400" b="0" dirty="0">
                <a:solidFill>
                  <a:srgbClr val="0F1E36"/>
                </a:solidFill>
                <a:latin typeface="Calibri"/>
              </a:rPr>
              <a:t> </a:t>
            </a:r>
            <a:r>
              <a:rPr sz="1400" b="0" dirty="0" err="1">
                <a:solidFill>
                  <a:srgbClr val="0F1E36"/>
                </a:solidFill>
                <a:latin typeface="Calibri"/>
              </a:rPr>
              <a:t>el</a:t>
            </a:r>
            <a:r>
              <a:rPr sz="1400" b="0" dirty="0">
                <a:solidFill>
                  <a:srgbClr val="0F1E36"/>
                </a:solidFill>
                <a:latin typeface="Calibri"/>
              </a:rPr>
              <a:t> </a:t>
            </a:r>
            <a:r>
              <a:rPr sz="1400" b="0" dirty="0" err="1">
                <a:solidFill>
                  <a:srgbClr val="0F1E36"/>
                </a:solidFill>
                <a:latin typeface="Calibri"/>
              </a:rPr>
              <a:t>vigente</a:t>
            </a:r>
            <a:r>
              <a:rPr sz="1400" b="0" dirty="0">
                <a:solidFill>
                  <a:srgbClr val="0F1E36"/>
                </a:solidFill>
                <a:latin typeface="Calibri"/>
              </a:rPr>
              <a:t> a </a:t>
            </a:r>
            <a:r>
              <a:rPr sz="1400" b="0" dirty="0" err="1">
                <a:solidFill>
                  <a:srgbClr val="0F1E36"/>
                </a:solidFill>
                <a:latin typeface="Calibri"/>
              </a:rPr>
              <a:t>toda</a:t>
            </a:r>
            <a:r>
              <a:rPr sz="1400" b="0" dirty="0">
                <a:solidFill>
                  <a:srgbClr val="0F1E36"/>
                </a:solidFill>
                <a:latin typeface="Calibri"/>
              </a:rPr>
              <a:t> la </a:t>
            </a:r>
            <a:r>
              <a:rPr sz="1400" b="0" dirty="0" err="1">
                <a:solidFill>
                  <a:srgbClr val="0F1E36"/>
                </a:solidFill>
                <a:latin typeface="Calibri"/>
              </a:rPr>
              <a:t>trayectoria</a:t>
            </a:r>
            <a:r>
              <a:rPr sz="1400" b="0" dirty="0">
                <a:solidFill>
                  <a:srgbClr val="0F1E36"/>
                </a:solidFill>
                <a:latin typeface="Calibri"/>
              </a:rPr>
              <a:t> (</a:t>
            </a:r>
            <a:r>
              <a:rPr sz="1400" b="0" dirty="0" err="1">
                <a:solidFill>
                  <a:srgbClr val="0F1E36"/>
                </a:solidFill>
                <a:latin typeface="Calibri"/>
              </a:rPr>
              <a:t>supuesto</a:t>
            </a:r>
            <a:r>
              <a:rPr sz="1400" b="0" dirty="0">
                <a:solidFill>
                  <a:srgbClr val="0F1E36"/>
                </a:solidFill>
                <a:latin typeface="Calibri"/>
              </a:rPr>
              <a:t> </a:t>
            </a:r>
            <a:r>
              <a:rPr sz="1400" b="0" dirty="0" err="1">
                <a:solidFill>
                  <a:srgbClr val="0F1E36"/>
                </a:solidFill>
                <a:latin typeface="Calibri"/>
              </a:rPr>
              <a:t>declarado</a:t>
            </a:r>
            <a:r>
              <a:rPr sz="1400" b="0" dirty="0">
                <a:solidFill>
                  <a:srgbClr val="0F1E36"/>
                </a:solidFill>
                <a:latin typeface="Calibri"/>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9" name="Google Shape;439;p2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40" name="Google Shape;440;p2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6</a:t>
            </a:r>
            <a:endParaRPr/>
          </a:p>
        </p:txBody>
      </p:sp>
      <p:sp>
        <p:nvSpPr>
          <p:cNvPr id="441" name="Google Shape;441;p2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HALLAZGOS PRELIMINARES</a:t>
            </a:r>
            <a:endParaRPr/>
          </a:p>
        </p:txBody>
      </p:sp>
      <p:sp>
        <p:nvSpPr>
          <p:cNvPr id="442" name="Google Shape;442;p2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Punto de partida: resultados preliminares</a:t>
            </a:r>
            <a:endParaRPr sz="3000" b="1" i="0">
              <a:solidFill>
                <a:srgbClr val="0F1E36"/>
              </a:solidFill>
              <a:latin typeface="Calibri"/>
              <a:ea typeface="Calibri"/>
              <a:cs typeface="Calibri"/>
              <a:sym typeface="Calibri"/>
            </a:endParaRPr>
          </a:p>
        </p:txBody>
      </p:sp>
      <p:sp>
        <p:nvSpPr>
          <p:cNvPr id="444" name="Google Shape;444;p24"/>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N = 90 estudiantes, 18 variables, tres algoritmos, validación cruzada de 5 particiones</a:t>
            </a:r>
            <a:endParaRPr/>
          </a:p>
        </p:txBody>
      </p:sp>
      <p:graphicFrame>
        <p:nvGraphicFramePr>
          <p:cNvPr id="445" name="Table 444"/>
          <p:cNvGraphicFramePr>
            <a:graphicFrameLocks noGrp="1"/>
          </p:cNvGraphicFramePr>
          <p:nvPr>
            <p:extLst>
              <p:ext uri="{D42A27DB-BD31-4B8C-83A1-F6EECF244321}">
                <p14:modId xmlns:p14="http://schemas.microsoft.com/office/powerpoint/2010/main" val="2061589555"/>
              </p:ext>
            </p:extLst>
          </p:nvPr>
        </p:nvGraphicFramePr>
        <p:xfrm>
          <a:off x="731520" y="1600200"/>
          <a:ext cx="7040880" cy="3328416"/>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75488">
                <a:tc>
                  <a:txBody>
                    <a:bodyPr/>
                    <a:lstStyle/>
                    <a:p>
                      <a:pPr algn="l"/>
                      <a:r>
                        <a:rPr sz="1400" b="1" i="1" dirty="0" err="1">
                          <a:solidFill>
                            <a:srgbClr val="55657E"/>
                          </a:solidFill>
                          <a:latin typeface="Calibri"/>
                        </a:rPr>
                        <a:t>Objetivo</a:t>
                      </a:r>
                      <a:endParaRPr sz="1400" b="1" i="1" dirty="0">
                        <a:solidFill>
                          <a:srgbClr val="55657E"/>
                        </a:solidFill>
                        <a:latin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AF4"/>
                    </a:solidFill>
                  </a:tcPr>
                </a:tc>
                <a:tc>
                  <a:txBody>
                    <a:bodyPr/>
                    <a:lstStyle/>
                    <a:p>
                      <a:pPr algn="l"/>
                      <a:r>
                        <a:rPr sz="1400" b="1" i="1" dirty="0" err="1">
                          <a:solidFill>
                            <a:srgbClr val="55657E"/>
                          </a:solidFill>
                          <a:latin typeface="Calibri"/>
                        </a:rPr>
                        <a:t>Modelo</a:t>
                      </a:r>
                      <a:endParaRPr sz="1400" b="1" i="1" dirty="0">
                        <a:solidFill>
                          <a:srgbClr val="55657E"/>
                        </a:solidFill>
                        <a:latin typeface="Calibri"/>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AF4"/>
                    </a:solidFill>
                  </a:tcPr>
                </a:tc>
                <a:tc>
                  <a:txBody>
                    <a:bodyPr/>
                    <a:lstStyle/>
                    <a:p>
                      <a:pPr algn="ctr"/>
                      <a:r>
                        <a:rPr sz="1400" b="1" i="1" dirty="0" err="1">
                          <a:solidFill>
                            <a:srgbClr val="55657E"/>
                          </a:solidFill>
                          <a:latin typeface="Calibri"/>
                        </a:rPr>
                        <a:t>Exhaustividad</a:t>
                      </a:r>
                      <a:endParaRPr sz="1400" b="1" i="1" dirty="0">
                        <a:solidFill>
                          <a:srgbClr val="55657E"/>
                        </a:solidFill>
                        <a:latin typeface="Calibri"/>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AF4"/>
                    </a:solidFill>
                  </a:tcPr>
                </a:tc>
                <a:tc>
                  <a:txBody>
                    <a:bodyPr/>
                    <a:lstStyle/>
                    <a:p>
                      <a:pPr algn="ctr"/>
                      <a:r>
                        <a:rPr sz="1400" b="1" i="1" dirty="0" err="1">
                          <a:solidFill>
                            <a:srgbClr val="55657E"/>
                          </a:solidFill>
                          <a:latin typeface="Calibri"/>
                        </a:rPr>
                        <a:t>Precisión</a:t>
                      </a:r>
                      <a:endParaRPr sz="1400" b="1" i="1" dirty="0">
                        <a:solidFill>
                          <a:srgbClr val="55657E"/>
                        </a:solidFill>
                        <a:latin typeface="Calibri"/>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AF4"/>
                    </a:solidFill>
                  </a:tcPr>
                </a:tc>
                <a:tc>
                  <a:txBody>
                    <a:bodyPr/>
                    <a:lstStyle/>
                    <a:p>
                      <a:pPr algn="ctr"/>
                      <a:r>
                        <a:rPr sz="1400" b="1" i="1" dirty="0">
                          <a:solidFill>
                            <a:srgbClr val="55657E"/>
                          </a:solidFill>
                          <a:latin typeface="Calibri"/>
                        </a:rPr>
                        <a:t>AUC</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AF4"/>
                    </a:solidFill>
                  </a:tcPr>
                </a:tc>
                <a:extLst>
                  <a:ext uri="{0D108BD9-81ED-4DB2-BD59-A6C34878D82A}">
                    <a16:rowId xmlns:a16="http://schemas.microsoft.com/office/drawing/2014/main" val="10000"/>
                  </a:ext>
                </a:extLst>
              </a:tr>
              <a:tr h="475488">
                <a:tc rowSpan="3">
                  <a:txBody>
                    <a:bodyPr/>
                    <a:lstStyle/>
                    <a:p>
                      <a:pPr algn="l"/>
                      <a:r>
                        <a:rPr sz="1600" b="1" dirty="0">
                          <a:solidFill>
                            <a:srgbClr val="0F1E36"/>
                          </a:solidFill>
                          <a:latin typeface="Calibri"/>
                        </a:rPr>
                        <a:t>Bajo </a:t>
                      </a:r>
                      <a:r>
                        <a:rPr sz="1600" b="1" dirty="0" err="1">
                          <a:solidFill>
                            <a:srgbClr val="0F1E36"/>
                          </a:solidFill>
                          <a:latin typeface="Calibri"/>
                        </a:rPr>
                        <a:t>rendimiento</a:t>
                      </a:r>
                      <a:endParaRPr sz="1600" b="1" dirty="0">
                        <a:solidFill>
                          <a:srgbClr val="0F1E36"/>
                        </a:solidFill>
                        <a:latin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6FB"/>
                    </a:solidFill>
                  </a:tcPr>
                </a:tc>
                <a:tc>
                  <a:txBody>
                    <a:bodyPr/>
                    <a:lstStyle/>
                    <a:p>
                      <a:pPr algn="l"/>
                      <a:r>
                        <a:rPr sz="1600" b="0">
                          <a:solidFill>
                            <a:srgbClr val="0F1E36"/>
                          </a:solidFill>
                          <a:latin typeface="Calibri"/>
                        </a:rPr>
                        <a:t>Árbol de decisión</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FFFF"/>
                    </a:solidFill>
                  </a:tcPr>
                </a:tc>
                <a:tc>
                  <a:txBody>
                    <a:bodyPr/>
                    <a:lstStyle/>
                    <a:p>
                      <a:pPr algn="ctr"/>
                      <a:r>
                        <a:rPr sz="1600" b="0">
                          <a:solidFill>
                            <a:srgbClr val="0F1E36"/>
                          </a:solidFill>
                          <a:latin typeface="Calibri"/>
                        </a:rPr>
                        <a:t>0,632</a:t>
                      </a:r>
                    </a:p>
                  </a:txBody>
                  <a:tcPr anchor="ctr">
                    <a:lnT w="12700" cap="flat" cmpd="sng" algn="ctr">
                      <a:solidFill>
                        <a:schemeClr val="tx1"/>
                      </a:solidFill>
                      <a:prstDash val="solid"/>
                      <a:round/>
                      <a:headEnd type="none" w="med" len="med"/>
                      <a:tailEnd type="none" w="med" len="med"/>
                    </a:lnT>
                    <a:solidFill>
                      <a:srgbClr val="FFFFFF"/>
                    </a:solidFill>
                  </a:tcPr>
                </a:tc>
                <a:tc>
                  <a:txBody>
                    <a:bodyPr/>
                    <a:lstStyle/>
                    <a:p>
                      <a:pPr algn="ctr"/>
                      <a:r>
                        <a:rPr sz="1600" b="1" dirty="0">
                          <a:solidFill>
                            <a:srgbClr val="0F1E36"/>
                          </a:solidFill>
                          <a:latin typeface="Calibri"/>
                        </a:rPr>
                        <a:t>0,667</a:t>
                      </a:r>
                    </a:p>
                  </a:txBody>
                  <a:tcPr anchor="ctr">
                    <a:lnT w="12700" cap="flat" cmpd="sng" algn="ctr">
                      <a:solidFill>
                        <a:schemeClr val="tx1"/>
                      </a:solidFill>
                      <a:prstDash val="solid"/>
                      <a:round/>
                      <a:headEnd type="none" w="med" len="med"/>
                      <a:tailEnd type="none" w="med" len="med"/>
                    </a:lnT>
                    <a:solidFill>
                      <a:srgbClr val="FFFFFF"/>
                    </a:solidFill>
                  </a:tcPr>
                </a:tc>
                <a:tc>
                  <a:txBody>
                    <a:bodyPr/>
                    <a:lstStyle/>
                    <a:p>
                      <a:pPr algn="ctr"/>
                      <a:r>
                        <a:rPr sz="1600" b="0" dirty="0">
                          <a:solidFill>
                            <a:srgbClr val="0F1E36"/>
                          </a:solidFill>
                          <a:latin typeface="Calibri"/>
                        </a:rPr>
                        <a:t>0,702</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475488">
                <a:tc vMerge="1">
                  <a:txBody>
                    <a:bodyPr/>
                    <a:lstStyle/>
                    <a:p>
                      <a:pPr algn="l"/>
                      <a:endParaRPr/>
                    </a:p>
                  </a:txBody>
                  <a:tcPr anchor="ctr">
                    <a:solidFill>
                      <a:srgbClr val="FFFFFF"/>
                    </a:solidFill>
                  </a:tcPr>
                </a:tc>
                <a:tc>
                  <a:txBody>
                    <a:bodyPr/>
                    <a:lstStyle/>
                    <a:p>
                      <a:pPr algn="l"/>
                      <a:r>
                        <a:rPr sz="1600" b="1" dirty="0">
                          <a:solidFill>
                            <a:srgbClr val="047857"/>
                          </a:solidFill>
                          <a:latin typeface="Calibri"/>
                        </a:rPr>
                        <a:t>Random Forest</a:t>
                      </a:r>
                    </a:p>
                  </a:txBody>
                  <a:tcPr anchor="ctr">
                    <a:lnL w="12700" cap="flat" cmpd="sng" algn="ctr">
                      <a:solidFill>
                        <a:schemeClr val="tx1"/>
                      </a:solidFill>
                      <a:prstDash val="solid"/>
                      <a:round/>
                      <a:headEnd type="none" w="med" len="med"/>
                      <a:tailEnd type="none" w="med" len="med"/>
                    </a:lnL>
                    <a:solidFill>
                      <a:srgbClr val="EAF6F0"/>
                    </a:solidFill>
                  </a:tcPr>
                </a:tc>
                <a:tc>
                  <a:txBody>
                    <a:bodyPr/>
                    <a:lstStyle/>
                    <a:p>
                      <a:pPr algn="ctr"/>
                      <a:r>
                        <a:rPr sz="1600" b="1" dirty="0">
                          <a:solidFill>
                            <a:srgbClr val="0F1E36"/>
                          </a:solidFill>
                          <a:latin typeface="Calibri"/>
                        </a:rPr>
                        <a:t>0,816</a:t>
                      </a:r>
                    </a:p>
                  </a:txBody>
                  <a:tcPr anchor="ctr">
                    <a:solidFill>
                      <a:srgbClr val="EAF6F0"/>
                    </a:solidFill>
                  </a:tcPr>
                </a:tc>
                <a:tc>
                  <a:txBody>
                    <a:bodyPr/>
                    <a:lstStyle/>
                    <a:p>
                      <a:pPr algn="ctr"/>
                      <a:r>
                        <a:rPr sz="1600" b="0" dirty="0">
                          <a:solidFill>
                            <a:srgbClr val="0F1E36"/>
                          </a:solidFill>
                          <a:latin typeface="Calibri"/>
                        </a:rPr>
                        <a:t>0,484</a:t>
                      </a:r>
                    </a:p>
                  </a:txBody>
                  <a:tcPr anchor="ctr">
                    <a:solidFill>
                      <a:srgbClr val="EAF6F0"/>
                    </a:solidFill>
                  </a:tcPr>
                </a:tc>
                <a:tc>
                  <a:txBody>
                    <a:bodyPr/>
                    <a:lstStyle/>
                    <a:p>
                      <a:pPr algn="ctr"/>
                      <a:r>
                        <a:rPr sz="1600" b="0">
                          <a:solidFill>
                            <a:srgbClr val="0F1E36"/>
                          </a:solidFill>
                          <a:latin typeface="Calibri"/>
                        </a:rPr>
                        <a:t>0,752</a:t>
                      </a:r>
                    </a:p>
                  </a:txBody>
                  <a:tcPr anchor="ctr">
                    <a:lnR w="12700" cap="flat" cmpd="sng" algn="ctr">
                      <a:solidFill>
                        <a:schemeClr val="tx1"/>
                      </a:solidFill>
                      <a:prstDash val="solid"/>
                      <a:round/>
                      <a:headEnd type="none" w="med" len="med"/>
                      <a:tailEnd type="none" w="med" len="med"/>
                    </a:lnR>
                    <a:solidFill>
                      <a:srgbClr val="EAF6F0"/>
                    </a:solidFill>
                  </a:tcPr>
                </a:tc>
                <a:extLst>
                  <a:ext uri="{0D108BD9-81ED-4DB2-BD59-A6C34878D82A}">
                    <a16:rowId xmlns:a16="http://schemas.microsoft.com/office/drawing/2014/main" val="10002"/>
                  </a:ext>
                </a:extLst>
              </a:tr>
              <a:tr h="475488">
                <a:tc vMerge="1">
                  <a:txBody>
                    <a:bodyPr/>
                    <a:lstStyle/>
                    <a:p>
                      <a:pPr algn="l"/>
                      <a:endParaRPr/>
                    </a:p>
                  </a:txBody>
                  <a:tcPr anchor="ctr">
                    <a:solidFill>
                      <a:srgbClr val="FFFFFF"/>
                    </a:solidFill>
                  </a:tcPr>
                </a:tc>
                <a:tc>
                  <a:txBody>
                    <a:bodyPr/>
                    <a:lstStyle/>
                    <a:p>
                      <a:pPr algn="l"/>
                      <a:r>
                        <a:rPr sz="1600" b="0" dirty="0" err="1">
                          <a:solidFill>
                            <a:srgbClr val="0F1E36"/>
                          </a:solidFill>
                          <a:latin typeface="Calibri"/>
                        </a:rPr>
                        <a:t>XGBoost</a:t>
                      </a:r>
                      <a:endParaRPr sz="1600" b="0" dirty="0">
                        <a:solidFill>
                          <a:srgbClr val="0F1E36"/>
                        </a:solidFill>
                        <a:latin typeface="Calibri"/>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0" dirty="0">
                          <a:solidFill>
                            <a:srgbClr val="0F1E36"/>
                          </a:solidFill>
                          <a:latin typeface="Calibri"/>
                        </a:rPr>
                        <a:t>0,737</a:t>
                      </a:r>
                    </a:p>
                  </a:txBody>
                  <a:tcPr anchor="ctr">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0" dirty="0">
                          <a:solidFill>
                            <a:srgbClr val="0F1E36"/>
                          </a:solidFill>
                          <a:latin typeface="Calibri"/>
                        </a:rPr>
                        <a:t>0,596</a:t>
                      </a:r>
                    </a:p>
                  </a:txBody>
                  <a:tcPr anchor="ctr">
                    <a:lnB w="12700" cap="flat" cmpd="sng" algn="ctr">
                      <a:solidFill>
                        <a:schemeClr val="tx1"/>
                      </a:solidFill>
                      <a:prstDash val="solid"/>
                      <a:round/>
                      <a:headEnd type="none" w="med" len="med"/>
                      <a:tailEnd type="none" w="med" len="med"/>
                    </a:lnB>
                    <a:solidFill>
                      <a:srgbClr val="FFFFFF"/>
                    </a:solidFill>
                  </a:tcPr>
                </a:tc>
                <a:tc>
                  <a:txBody>
                    <a:bodyPr/>
                    <a:lstStyle/>
                    <a:p>
                      <a:pPr algn="ctr"/>
                      <a:r>
                        <a:rPr sz="1600" b="1" dirty="0">
                          <a:solidFill>
                            <a:srgbClr val="0F1E36"/>
                          </a:solidFill>
                          <a:latin typeface="Calibri"/>
                        </a:rPr>
                        <a:t>0,776</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rowSpan="3">
                  <a:txBody>
                    <a:bodyPr/>
                    <a:lstStyle/>
                    <a:p>
                      <a:pPr algn="l"/>
                      <a:r>
                        <a:rPr sz="1600" b="1" dirty="0" err="1">
                          <a:solidFill>
                            <a:srgbClr val="0F1E36"/>
                          </a:solidFill>
                          <a:latin typeface="Calibri"/>
                        </a:rPr>
                        <a:t>Graduación</a:t>
                      </a:r>
                      <a:endParaRPr sz="1600" b="1" dirty="0">
                        <a:solidFill>
                          <a:srgbClr val="0F1E36"/>
                        </a:solidFill>
                        <a:latin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6FB"/>
                    </a:solidFill>
                  </a:tcPr>
                </a:tc>
                <a:tc>
                  <a:txBody>
                    <a:bodyPr/>
                    <a:lstStyle/>
                    <a:p>
                      <a:pPr algn="l"/>
                      <a:r>
                        <a:rPr sz="1600" b="0" dirty="0">
                          <a:solidFill>
                            <a:srgbClr val="0F1E36"/>
                          </a:solidFill>
                          <a:latin typeface="Calibri"/>
                        </a:rPr>
                        <a:t>Árbol de </a:t>
                      </a:r>
                      <a:r>
                        <a:rPr sz="1600" b="0" dirty="0" err="1">
                          <a:solidFill>
                            <a:srgbClr val="0F1E36"/>
                          </a:solidFill>
                          <a:latin typeface="Calibri"/>
                        </a:rPr>
                        <a:t>decisión</a:t>
                      </a:r>
                      <a:endParaRPr sz="1600" b="0" dirty="0">
                        <a:solidFill>
                          <a:srgbClr val="0F1E36"/>
                        </a:solidFill>
                        <a:latin typeface="Calibri"/>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FFFF"/>
                    </a:solidFill>
                  </a:tcPr>
                </a:tc>
                <a:tc>
                  <a:txBody>
                    <a:bodyPr/>
                    <a:lstStyle/>
                    <a:p>
                      <a:pPr algn="ctr"/>
                      <a:r>
                        <a:rPr sz="1600" b="1">
                          <a:solidFill>
                            <a:srgbClr val="0F1E36"/>
                          </a:solidFill>
                          <a:latin typeface="Calibri"/>
                        </a:rPr>
                        <a:t>0,686</a:t>
                      </a:r>
                    </a:p>
                  </a:txBody>
                  <a:tcPr anchor="ctr">
                    <a:lnT w="12700" cap="flat" cmpd="sng" algn="ctr">
                      <a:solidFill>
                        <a:schemeClr val="tx1"/>
                      </a:solidFill>
                      <a:prstDash val="solid"/>
                      <a:round/>
                      <a:headEnd type="none" w="med" len="med"/>
                      <a:tailEnd type="none" w="med" len="med"/>
                    </a:lnT>
                    <a:solidFill>
                      <a:srgbClr val="FFFFFF"/>
                    </a:solidFill>
                  </a:tcPr>
                </a:tc>
                <a:tc>
                  <a:txBody>
                    <a:bodyPr/>
                    <a:lstStyle/>
                    <a:p>
                      <a:pPr algn="ctr"/>
                      <a:r>
                        <a:rPr sz="1600" b="0">
                          <a:solidFill>
                            <a:srgbClr val="0F1E36"/>
                          </a:solidFill>
                          <a:latin typeface="Calibri"/>
                        </a:rPr>
                        <a:t>0,686</a:t>
                      </a:r>
                    </a:p>
                  </a:txBody>
                  <a:tcPr anchor="ctr">
                    <a:lnT w="12700" cap="flat" cmpd="sng" algn="ctr">
                      <a:solidFill>
                        <a:schemeClr val="tx1"/>
                      </a:solidFill>
                      <a:prstDash val="solid"/>
                      <a:round/>
                      <a:headEnd type="none" w="med" len="med"/>
                      <a:tailEnd type="none" w="med" len="med"/>
                    </a:lnT>
                    <a:solidFill>
                      <a:srgbClr val="FFFFFF"/>
                    </a:solidFill>
                  </a:tcPr>
                </a:tc>
                <a:tc>
                  <a:txBody>
                    <a:bodyPr/>
                    <a:lstStyle/>
                    <a:p>
                      <a:pPr algn="ctr"/>
                      <a:r>
                        <a:rPr sz="1600" b="0">
                          <a:solidFill>
                            <a:srgbClr val="0F1E36"/>
                          </a:solidFill>
                          <a:latin typeface="Calibri"/>
                        </a:rPr>
                        <a:t>0,728</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FF"/>
                    </a:solidFill>
                  </a:tcPr>
                </a:tc>
                <a:extLst>
                  <a:ext uri="{0D108BD9-81ED-4DB2-BD59-A6C34878D82A}">
                    <a16:rowId xmlns:a16="http://schemas.microsoft.com/office/drawing/2014/main" val="10004"/>
                  </a:ext>
                </a:extLst>
              </a:tr>
              <a:tr h="475488">
                <a:tc vMerge="1">
                  <a:txBody>
                    <a:bodyPr/>
                    <a:lstStyle/>
                    <a:p>
                      <a:pPr algn="l"/>
                      <a:endParaRPr/>
                    </a:p>
                  </a:txBody>
                  <a:tcPr anchor="ctr">
                    <a:solidFill>
                      <a:srgbClr val="FFFFFF"/>
                    </a:solidFill>
                  </a:tcPr>
                </a:tc>
                <a:tc>
                  <a:txBody>
                    <a:bodyPr/>
                    <a:lstStyle/>
                    <a:p>
                      <a:pPr algn="l"/>
                      <a:r>
                        <a:rPr sz="1600" b="0" dirty="0">
                          <a:solidFill>
                            <a:srgbClr val="0F1E36"/>
                          </a:solidFill>
                          <a:latin typeface="Calibri"/>
                        </a:rPr>
                        <a:t>Random Forest</a:t>
                      </a:r>
                    </a:p>
                  </a:txBody>
                  <a:tcPr anchor="ctr">
                    <a:lnL w="12700" cap="flat" cmpd="sng" algn="ctr">
                      <a:solidFill>
                        <a:schemeClr val="tx1"/>
                      </a:solidFill>
                      <a:prstDash val="solid"/>
                      <a:round/>
                      <a:headEnd type="none" w="med" len="med"/>
                      <a:tailEnd type="none" w="med" len="med"/>
                    </a:lnL>
                    <a:solidFill>
                      <a:srgbClr val="F7F9FC"/>
                    </a:solidFill>
                  </a:tcPr>
                </a:tc>
                <a:tc>
                  <a:txBody>
                    <a:bodyPr/>
                    <a:lstStyle/>
                    <a:p>
                      <a:pPr algn="ctr"/>
                      <a:r>
                        <a:rPr sz="1600" b="0" dirty="0">
                          <a:solidFill>
                            <a:srgbClr val="0F1E36"/>
                          </a:solidFill>
                          <a:latin typeface="Calibri"/>
                        </a:rPr>
                        <a:t>0,657</a:t>
                      </a:r>
                    </a:p>
                  </a:txBody>
                  <a:tcPr anchor="ctr">
                    <a:solidFill>
                      <a:srgbClr val="F7F9FC"/>
                    </a:solidFill>
                  </a:tcPr>
                </a:tc>
                <a:tc>
                  <a:txBody>
                    <a:bodyPr/>
                    <a:lstStyle/>
                    <a:p>
                      <a:pPr algn="ctr"/>
                      <a:r>
                        <a:rPr sz="1600" b="1" dirty="0">
                          <a:solidFill>
                            <a:srgbClr val="0F1E36"/>
                          </a:solidFill>
                          <a:latin typeface="Calibri"/>
                        </a:rPr>
                        <a:t>0,821</a:t>
                      </a:r>
                    </a:p>
                  </a:txBody>
                  <a:tcPr anchor="ctr">
                    <a:solidFill>
                      <a:srgbClr val="F7F9FC"/>
                    </a:solidFill>
                  </a:tcPr>
                </a:tc>
                <a:tc>
                  <a:txBody>
                    <a:bodyPr/>
                    <a:lstStyle/>
                    <a:p>
                      <a:pPr algn="ctr"/>
                      <a:r>
                        <a:rPr sz="1600" b="0" dirty="0">
                          <a:solidFill>
                            <a:srgbClr val="0F1E36"/>
                          </a:solidFill>
                          <a:latin typeface="Calibri"/>
                        </a:rPr>
                        <a:t>0,844</a:t>
                      </a:r>
                    </a:p>
                  </a:txBody>
                  <a:tcPr anchor="ctr">
                    <a:lnR w="12700" cap="flat" cmpd="sng" algn="ctr">
                      <a:solidFill>
                        <a:schemeClr val="tx1"/>
                      </a:solidFill>
                      <a:prstDash val="solid"/>
                      <a:round/>
                      <a:headEnd type="none" w="med" len="med"/>
                      <a:tailEnd type="none" w="med" len="med"/>
                    </a:lnR>
                    <a:solidFill>
                      <a:srgbClr val="F7F9FC"/>
                    </a:solidFill>
                  </a:tcPr>
                </a:tc>
                <a:extLst>
                  <a:ext uri="{0D108BD9-81ED-4DB2-BD59-A6C34878D82A}">
                    <a16:rowId xmlns:a16="http://schemas.microsoft.com/office/drawing/2014/main" val="10005"/>
                  </a:ext>
                </a:extLst>
              </a:tr>
              <a:tr h="475488">
                <a:tc vMerge="1">
                  <a:txBody>
                    <a:bodyPr/>
                    <a:lstStyle/>
                    <a:p>
                      <a:pPr algn="l"/>
                      <a:endParaRPr/>
                    </a:p>
                  </a:txBody>
                  <a:tcPr anchor="ctr">
                    <a:solidFill>
                      <a:srgbClr val="FFFFFF"/>
                    </a:solidFill>
                  </a:tcPr>
                </a:tc>
                <a:tc>
                  <a:txBody>
                    <a:bodyPr/>
                    <a:lstStyle/>
                    <a:p>
                      <a:pPr algn="l"/>
                      <a:r>
                        <a:rPr sz="1600" b="1">
                          <a:solidFill>
                            <a:srgbClr val="047857"/>
                          </a:solidFill>
                          <a:latin typeface="Calibri"/>
                        </a:rPr>
                        <a:t>XGBoost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EAF6F0"/>
                    </a:solidFill>
                  </a:tcPr>
                </a:tc>
                <a:tc>
                  <a:txBody>
                    <a:bodyPr/>
                    <a:lstStyle/>
                    <a:p>
                      <a:pPr algn="ctr"/>
                      <a:r>
                        <a:rPr sz="1600" b="0">
                          <a:solidFill>
                            <a:srgbClr val="0F1E36"/>
                          </a:solidFill>
                          <a:latin typeface="Calibri"/>
                        </a:rPr>
                        <a:t>0,600</a:t>
                      </a:r>
                    </a:p>
                  </a:txBody>
                  <a:tcPr anchor="ctr">
                    <a:lnB w="12700" cap="flat" cmpd="sng" algn="ctr">
                      <a:solidFill>
                        <a:schemeClr val="tx1"/>
                      </a:solidFill>
                      <a:prstDash val="solid"/>
                      <a:round/>
                      <a:headEnd type="none" w="med" len="med"/>
                      <a:tailEnd type="none" w="med" len="med"/>
                    </a:lnB>
                    <a:solidFill>
                      <a:srgbClr val="EAF6F0"/>
                    </a:solidFill>
                  </a:tcPr>
                </a:tc>
                <a:tc>
                  <a:txBody>
                    <a:bodyPr/>
                    <a:lstStyle/>
                    <a:p>
                      <a:pPr algn="ctr"/>
                      <a:r>
                        <a:rPr sz="1600" b="0">
                          <a:solidFill>
                            <a:srgbClr val="0F1E36"/>
                          </a:solidFill>
                          <a:latin typeface="Calibri"/>
                        </a:rPr>
                        <a:t>0,808</a:t>
                      </a:r>
                    </a:p>
                  </a:txBody>
                  <a:tcPr anchor="ctr">
                    <a:lnB w="12700" cap="flat" cmpd="sng" algn="ctr">
                      <a:solidFill>
                        <a:schemeClr val="tx1"/>
                      </a:solidFill>
                      <a:prstDash val="solid"/>
                      <a:round/>
                      <a:headEnd type="none" w="med" len="med"/>
                      <a:tailEnd type="none" w="med" len="med"/>
                    </a:lnB>
                    <a:solidFill>
                      <a:srgbClr val="EAF6F0"/>
                    </a:solidFill>
                  </a:tcPr>
                </a:tc>
                <a:tc>
                  <a:txBody>
                    <a:bodyPr/>
                    <a:lstStyle/>
                    <a:p>
                      <a:pPr algn="ctr"/>
                      <a:r>
                        <a:rPr sz="1600" b="1" dirty="0">
                          <a:solidFill>
                            <a:srgbClr val="0F1E36"/>
                          </a:solidFill>
                          <a:latin typeface="Calibri"/>
                        </a:rPr>
                        <a:t>0,853</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EAF6F0"/>
                    </a:solidFill>
                  </a:tcPr>
                </a:tc>
                <a:extLst>
                  <a:ext uri="{0D108BD9-81ED-4DB2-BD59-A6C34878D82A}">
                    <a16:rowId xmlns:a16="http://schemas.microsoft.com/office/drawing/2014/main" val="10006"/>
                  </a:ext>
                </a:extLst>
              </a:tr>
            </a:tbl>
          </a:graphicData>
        </a:graphic>
      </p:graphicFrame>
      <p:sp>
        <p:nvSpPr>
          <p:cNvPr id="446" name="TextBox 445"/>
          <p:cNvSpPr txBox="1"/>
          <p:nvPr/>
        </p:nvSpPr>
        <p:spPr>
          <a:xfrm>
            <a:off x="731520" y="5029200"/>
            <a:ext cx="7040880" cy="822960"/>
          </a:xfrm>
          <a:prstGeom prst="rect">
            <a:avLst/>
          </a:prstGeom>
          <a:noFill/>
        </p:spPr>
        <p:txBody>
          <a:bodyPr wrap="square" lIns="0" tIns="0" rIns="0" bIns="0" anchor="t">
            <a:spAutoFit/>
          </a:bodyPr>
          <a:lstStyle/>
          <a:p>
            <a:pPr algn="l"/>
            <a:r>
              <a:rPr sz="1250" b="1">
                <a:solidFill>
                  <a:srgbClr val="047857"/>
                </a:solidFill>
                <a:latin typeface="Calibri"/>
              </a:rPr>
              <a:t>Verde: </a:t>
            </a:r>
            <a:r>
              <a:rPr sz="1250" b="0">
                <a:solidFill>
                  <a:srgbClr val="55657E"/>
                </a:solidFill>
                <a:latin typeface="Calibri"/>
              </a:rPr>
              <a:t>modelo destacado en el informe preliminar (bajo rendimiento por exhaustividad; graduación por AUC). </a:t>
            </a:r>
            <a:r>
              <a:rPr sz="1250" b="1">
                <a:solidFill>
                  <a:srgbClr val="55657E"/>
                </a:solidFill>
                <a:latin typeface="Calibri"/>
              </a:rPr>
              <a:t>Negrita: </a:t>
            </a:r>
            <a:r>
              <a:rPr sz="1250" b="0">
                <a:solidFill>
                  <a:srgbClr val="55657E"/>
                </a:solidFill>
                <a:latin typeface="Calibri"/>
              </a:rPr>
              <a:t>mejor valor de cada métrica por objetivo.</a:t>
            </a:r>
          </a:p>
        </p:txBody>
      </p:sp>
      <p:sp>
        <p:nvSpPr>
          <p:cNvPr id="447" name="TextBox 446"/>
          <p:cNvSpPr txBox="1"/>
          <p:nvPr/>
        </p:nvSpPr>
        <p:spPr>
          <a:xfrm>
            <a:off x="731520" y="5733288"/>
            <a:ext cx="7040880" cy="192360"/>
          </a:xfrm>
          <a:prstGeom prst="rect">
            <a:avLst/>
          </a:prstGeom>
          <a:noFill/>
        </p:spPr>
        <p:txBody>
          <a:bodyPr wrap="square" lIns="0" tIns="0" rIns="0" bIns="0" anchor="t">
            <a:spAutoFit/>
          </a:bodyPr>
          <a:lstStyle/>
          <a:p>
            <a:pPr algn="l"/>
            <a:r>
              <a:rPr sz="1250" b="0" dirty="0" err="1">
                <a:solidFill>
                  <a:schemeClr val="tx1"/>
                </a:solidFill>
                <a:latin typeface="Calibri"/>
              </a:rPr>
              <a:t>Exhaustividad</a:t>
            </a:r>
            <a:r>
              <a:rPr sz="1250" b="0" dirty="0">
                <a:solidFill>
                  <a:schemeClr val="tx1"/>
                </a:solidFill>
                <a:latin typeface="Calibri"/>
              </a:rPr>
              <a:t>: </a:t>
            </a:r>
            <a:r>
              <a:rPr sz="1250" b="0" dirty="0" err="1">
                <a:solidFill>
                  <a:schemeClr val="tx1"/>
                </a:solidFill>
                <a:latin typeface="Calibri"/>
              </a:rPr>
              <a:t>casos</a:t>
            </a:r>
            <a:r>
              <a:rPr sz="1250" b="0" dirty="0">
                <a:solidFill>
                  <a:schemeClr val="tx1"/>
                </a:solidFill>
                <a:latin typeface="Calibri"/>
              </a:rPr>
              <a:t> </a:t>
            </a:r>
            <a:r>
              <a:rPr sz="1250" b="0" dirty="0" err="1">
                <a:solidFill>
                  <a:schemeClr val="tx1"/>
                </a:solidFill>
                <a:latin typeface="Calibri"/>
              </a:rPr>
              <a:t>reales</a:t>
            </a:r>
            <a:r>
              <a:rPr sz="1250" b="0" dirty="0">
                <a:solidFill>
                  <a:schemeClr val="tx1"/>
                </a:solidFill>
                <a:latin typeface="Calibri"/>
              </a:rPr>
              <a:t> </a:t>
            </a:r>
            <a:r>
              <a:rPr sz="1250" b="0" dirty="0" err="1">
                <a:solidFill>
                  <a:schemeClr val="tx1"/>
                </a:solidFill>
                <a:latin typeface="Calibri"/>
              </a:rPr>
              <a:t>detectados</a:t>
            </a:r>
            <a:r>
              <a:rPr sz="1250" b="0" dirty="0">
                <a:solidFill>
                  <a:schemeClr val="tx1"/>
                </a:solidFill>
                <a:latin typeface="Calibri"/>
              </a:rPr>
              <a:t>. </a:t>
            </a:r>
            <a:r>
              <a:rPr sz="1250" b="0" dirty="0" err="1">
                <a:solidFill>
                  <a:schemeClr val="tx1"/>
                </a:solidFill>
                <a:latin typeface="Calibri"/>
              </a:rPr>
              <a:t>Precisión</a:t>
            </a:r>
            <a:r>
              <a:rPr sz="1250" b="0" dirty="0">
                <a:solidFill>
                  <a:schemeClr val="tx1"/>
                </a:solidFill>
                <a:latin typeface="Calibri"/>
              </a:rPr>
              <a:t>: </a:t>
            </a:r>
            <a:r>
              <a:rPr sz="1250" b="0" dirty="0" err="1">
                <a:solidFill>
                  <a:schemeClr val="tx1"/>
                </a:solidFill>
                <a:latin typeface="Calibri"/>
              </a:rPr>
              <a:t>alertas</a:t>
            </a:r>
            <a:r>
              <a:rPr sz="1250" b="0" dirty="0">
                <a:solidFill>
                  <a:schemeClr val="tx1"/>
                </a:solidFill>
                <a:latin typeface="Calibri"/>
              </a:rPr>
              <a:t> </a:t>
            </a:r>
            <a:r>
              <a:rPr sz="1250" b="0" dirty="0" err="1">
                <a:solidFill>
                  <a:schemeClr val="tx1"/>
                </a:solidFill>
                <a:latin typeface="Calibri"/>
              </a:rPr>
              <a:t>correctas</a:t>
            </a:r>
            <a:r>
              <a:rPr sz="1250" b="0" dirty="0">
                <a:solidFill>
                  <a:schemeClr val="tx1"/>
                </a:solidFill>
                <a:latin typeface="Calibri"/>
              </a:rPr>
              <a:t>. AUC: 1 = </a:t>
            </a:r>
            <a:r>
              <a:rPr sz="1250" b="0" dirty="0" err="1">
                <a:solidFill>
                  <a:schemeClr val="tx1"/>
                </a:solidFill>
                <a:latin typeface="Calibri"/>
              </a:rPr>
              <a:t>separación</a:t>
            </a:r>
            <a:r>
              <a:rPr sz="1250" b="0" dirty="0">
                <a:solidFill>
                  <a:schemeClr val="tx1"/>
                </a:solidFill>
                <a:latin typeface="Calibri"/>
              </a:rPr>
              <a:t> perfecta; 0,5 = azar.</a:t>
            </a:r>
          </a:p>
        </p:txBody>
      </p:sp>
      <p:sp>
        <p:nvSpPr>
          <p:cNvPr id="448" name="Rounded Rectangle 447"/>
          <p:cNvSpPr/>
          <p:nvPr/>
        </p:nvSpPr>
        <p:spPr>
          <a:xfrm>
            <a:off x="8183879" y="1600200"/>
            <a:ext cx="3063240" cy="2697480"/>
          </a:xfrm>
          <a:prstGeom prst="roundRect">
            <a:avLst>
              <a:gd name="adj" fmla="val 6000"/>
            </a:avLst>
          </a:prstGeom>
          <a:solidFill>
            <a:srgbClr val="F3F6FB"/>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TextBox 448"/>
          <p:cNvSpPr txBox="1"/>
          <p:nvPr/>
        </p:nvSpPr>
        <p:spPr>
          <a:xfrm>
            <a:off x="8385048" y="1709928"/>
            <a:ext cx="2697480" cy="365760"/>
          </a:xfrm>
          <a:prstGeom prst="rect">
            <a:avLst/>
          </a:prstGeom>
          <a:noFill/>
        </p:spPr>
        <p:txBody>
          <a:bodyPr wrap="square" lIns="0" tIns="0" rIns="0" bIns="0" anchor="t">
            <a:spAutoFit/>
          </a:bodyPr>
          <a:lstStyle/>
          <a:p>
            <a:pPr algn="l"/>
            <a:r>
              <a:rPr sz="1600" b="1">
                <a:solidFill>
                  <a:srgbClr val="0F1E36"/>
                </a:solidFill>
                <a:latin typeface="Calibri"/>
              </a:rPr>
              <a:t>18 variables, cinco bloques</a:t>
            </a:r>
          </a:p>
        </p:txBody>
      </p:sp>
      <p:sp>
        <p:nvSpPr>
          <p:cNvPr id="450" name="TextBox 449"/>
          <p:cNvSpPr txBox="1"/>
          <p:nvPr/>
        </p:nvSpPr>
        <p:spPr>
          <a:xfrm>
            <a:off x="8385048" y="2148840"/>
            <a:ext cx="2331720" cy="365760"/>
          </a:xfrm>
          <a:prstGeom prst="rect">
            <a:avLst/>
          </a:prstGeom>
          <a:noFill/>
        </p:spPr>
        <p:txBody>
          <a:bodyPr wrap="square" lIns="0" tIns="0" rIns="0" bIns="0" anchor="ctr">
            <a:spAutoFit/>
          </a:bodyPr>
          <a:lstStyle/>
          <a:p>
            <a:pPr algn="l"/>
            <a:r>
              <a:rPr sz="1450" b="0">
                <a:solidFill>
                  <a:srgbClr val="0F1E36"/>
                </a:solidFill>
                <a:latin typeface="Calibri"/>
              </a:rPr>
              <a:t>Sociodemográficas y escolares</a:t>
            </a:r>
          </a:p>
        </p:txBody>
      </p:sp>
      <p:sp>
        <p:nvSpPr>
          <p:cNvPr id="451" name="TextBox 450"/>
          <p:cNvSpPr txBox="1"/>
          <p:nvPr/>
        </p:nvSpPr>
        <p:spPr>
          <a:xfrm>
            <a:off x="10652759" y="2148840"/>
            <a:ext cx="411480" cy="365760"/>
          </a:xfrm>
          <a:prstGeom prst="rect">
            <a:avLst/>
          </a:prstGeom>
          <a:noFill/>
        </p:spPr>
        <p:txBody>
          <a:bodyPr wrap="square" lIns="0" tIns="0" rIns="0" bIns="0" anchor="ctr">
            <a:spAutoFit/>
          </a:bodyPr>
          <a:lstStyle/>
          <a:p>
            <a:pPr algn="r"/>
            <a:r>
              <a:rPr sz="1700" b="1">
                <a:solidFill>
                  <a:srgbClr val="1F5FAE"/>
                </a:solidFill>
                <a:latin typeface="Calibri"/>
              </a:rPr>
              <a:t>7</a:t>
            </a:r>
          </a:p>
        </p:txBody>
      </p:sp>
      <p:sp>
        <p:nvSpPr>
          <p:cNvPr id="452" name="TextBox 451"/>
          <p:cNvSpPr txBox="1"/>
          <p:nvPr/>
        </p:nvSpPr>
        <p:spPr>
          <a:xfrm>
            <a:off x="8385048" y="2560320"/>
            <a:ext cx="2331720" cy="365760"/>
          </a:xfrm>
          <a:prstGeom prst="rect">
            <a:avLst/>
          </a:prstGeom>
          <a:noFill/>
        </p:spPr>
        <p:txBody>
          <a:bodyPr wrap="square" lIns="0" tIns="0" rIns="0" bIns="0" anchor="ctr">
            <a:spAutoFit/>
          </a:bodyPr>
          <a:lstStyle/>
          <a:p>
            <a:pPr algn="l"/>
            <a:r>
              <a:rPr sz="1450" b="0">
                <a:solidFill>
                  <a:srgbClr val="0F1E36"/>
                </a:solidFill>
                <a:latin typeface="Calibri"/>
              </a:rPr>
              <a:t>Familiares</a:t>
            </a:r>
          </a:p>
        </p:txBody>
      </p:sp>
      <p:sp>
        <p:nvSpPr>
          <p:cNvPr id="453" name="TextBox 452"/>
          <p:cNvSpPr txBox="1"/>
          <p:nvPr/>
        </p:nvSpPr>
        <p:spPr>
          <a:xfrm>
            <a:off x="10652759" y="2560320"/>
            <a:ext cx="411480" cy="365760"/>
          </a:xfrm>
          <a:prstGeom prst="rect">
            <a:avLst/>
          </a:prstGeom>
          <a:noFill/>
        </p:spPr>
        <p:txBody>
          <a:bodyPr wrap="square" lIns="0" tIns="0" rIns="0" bIns="0" anchor="ctr">
            <a:spAutoFit/>
          </a:bodyPr>
          <a:lstStyle/>
          <a:p>
            <a:pPr algn="r"/>
            <a:r>
              <a:rPr sz="1700" b="1">
                <a:solidFill>
                  <a:srgbClr val="1F5FAE"/>
                </a:solidFill>
                <a:latin typeface="Calibri"/>
              </a:rPr>
              <a:t>5</a:t>
            </a:r>
          </a:p>
        </p:txBody>
      </p:sp>
      <p:sp>
        <p:nvSpPr>
          <p:cNvPr id="454" name="TextBox 453"/>
          <p:cNvSpPr txBox="1"/>
          <p:nvPr/>
        </p:nvSpPr>
        <p:spPr>
          <a:xfrm>
            <a:off x="8385048" y="2971800"/>
            <a:ext cx="2331720" cy="365760"/>
          </a:xfrm>
          <a:prstGeom prst="rect">
            <a:avLst/>
          </a:prstGeom>
          <a:noFill/>
        </p:spPr>
        <p:txBody>
          <a:bodyPr wrap="square" lIns="0" tIns="0" rIns="0" bIns="0" anchor="ctr">
            <a:spAutoFit/>
          </a:bodyPr>
          <a:lstStyle/>
          <a:p>
            <a:pPr algn="l"/>
            <a:r>
              <a:rPr sz="1450" b="0">
                <a:solidFill>
                  <a:srgbClr val="0F1E36"/>
                </a:solidFill>
                <a:latin typeface="Calibri"/>
              </a:rPr>
              <a:t>Saber 11</a:t>
            </a:r>
          </a:p>
        </p:txBody>
      </p:sp>
      <p:sp>
        <p:nvSpPr>
          <p:cNvPr id="455" name="TextBox 454"/>
          <p:cNvSpPr txBox="1"/>
          <p:nvPr/>
        </p:nvSpPr>
        <p:spPr>
          <a:xfrm>
            <a:off x="10652759" y="2971800"/>
            <a:ext cx="411480" cy="365760"/>
          </a:xfrm>
          <a:prstGeom prst="rect">
            <a:avLst/>
          </a:prstGeom>
          <a:noFill/>
        </p:spPr>
        <p:txBody>
          <a:bodyPr wrap="square" lIns="0" tIns="0" rIns="0" bIns="0" anchor="ctr">
            <a:spAutoFit/>
          </a:bodyPr>
          <a:lstStyle/>
          <a:p>
            <a:pPr algn="r"/>
            <a:r>
              <a:rPr sz="1700" b="1">
                <a:solidFill>
                  <a:srgbClr val="1F5FAE"/>
                </a:solidFill>
                <a:latin typeface="Calibri"/>
              </a:rPr>
              <a:t>4</a:t>
            </a:r>
          </a:p>
        </p:txBody>
      </p:sp>
      <p:sp>
        <p:nvSpPr>
          <p:cNvPr id="456" name="TextBox 455"/>
          <p:cNvSpPr txBox="1"/>
          <p:nvPr/>
        </p:nvSpPr>
        <p:spPr>
          <a:xfrm>
            <a:off x="8385048" y="3383280"/>
            <a:ext cx="2331720" cy="365760"/>
          </a:xfrm>
          <a:prstGeom prst="rect">
            <a:avLst/>
          </a:prstGeom>
          <a:noFill/>
        </p:spPr>
        <p:txBody>
          <a:bodyPr wrap="square" lIns="0" tIns="0" rIns="0" bIns="0" anchor="ctr">
            <a:spAutoFit/>
          </a:bodyPr>
          <a:lstStyle/>
          <a:p>
            <a:pPr algn="l"/>
            <a:r>
              <a:rPr sz="1450" b="0">
                <a:solidFill>
                  <a:srgbClr val="0F1E36"/>
                </a:solidFill>
                <a:latin typeface="Calibri"/>
              </a:rPr>
              <a:t>Primer semestre</a:t>
            </a:r>
          </a:p>
        </p:txBody>
      </p:sp>
      <p:sp>
        <p:nvSpPr>
          <p:cNvPr id="457" name="TextBox 456"/>
          <p:cNvSpPr txBox="1"/>
          <p:nvPr/>
        </p:nvSpPr>
        <p:spPr>
          <a:xfrm>
            <a:off x="10652759" y="3383280"/>
            <a:ext cx="411480" cy="365760"/>
          </a:xfrm>
          <a:prstGeom prst="rect">
            <a:avLst/>
          </a:prstGeom>
          <a:noFill/>
        </p:spPr>
        <p:txBody>
          <a:bodyPr wrap="square" lIns="0" tIns="0" rIns="0" bIns="0" anchor="ctr">
            <a:spAutoFit/>
          </a:bodyPr>
          <a:lstStyle/>
          <a:p>
            <a:pPr algn="r"/>
            <a:r>
              <a:rPr sz="1700" b="1">
                <a:solidFill>
                  <a:srgbClr val="1F5FAE"/>
                </a:solidFill>
                <a:latin typeface="Calibri"/>
              </a:rPr>
              <a:t>1</a:t>
            </a:r>
          </a:p>
        </p:txBody>
      </p:sp>
      <p:sp>
        <p:nvSpPr>
          <p:cNvPr id="458" name="TextBox 457"/>
          <p:cNvSpPr txBox="1"/>
          <p:nvPr/>
        </p:nvSpPr>
        <p:spPr>
          <a:xfrm>
            <a:off x="8385048" y="3794760"/>
            <a:ext cx="2331720" cy="365760"/>
          </a:xfrm>
          <a:prstGeom prst="rect">
            <a:avLst/>
          </a:prstGeom>
          <a:noFill/>
        </p:spPr>
        <p:txBody>
          <a:bodyPr wrap="square" lIns="0" tIns="0" rIns="0" bIns="0" anchor="ctr">
            <a:spAutoFit/>
          </a:bodyPr>
          <a:lstStyle/>
          <a:p>
            <a:pPr algn="l"/>
            <a:r>
              <a:rPr sz="1450" b="0">
                <a:solidFill>
                  <a:srgbClr val="0F1E36"/>
                </a:solidFill>
                <a:latin typeface="Calibri"/>
              </a:rPr>
              <a:t>Cohorte</a:t>
            </a:r>
          </a:p>
        </p:txBody>
      </p:sp>
      <p:sp>
        <p:nvSpPr>
          <p:cNvPr id="459" name="TextBox 458"/>
          <p:cNvSpPr txBox="1"/>
          <p:nvPr/>
        </p:nvSpPr>
        <p:spPr>
          <a:xfrm>
            <a:off x="10652759" y="3794760"/>
            <a:ext cx="411480" cy="365760"/>
          </a:xfrm>
          <a:prstGeom prst="rect">
            <a:avLst/>
          </a:prstGeom>
          <a:noFill/>
        </p:spPr>
        <p:txBody>
          <a:bodyPr wrap="square" lIns="0" tIns="0" rIns="0" bIns="0" anchor="ctr">
            <a:spAutoFit/>
          </a:bodyPr>
          <a:lstStyle/>
          <a:p>
            <a:pPr algn="r"/>
            <a:r>
              <a:rPr sz="1700" b="1">
                <a:solidFill>
                  <a:srgbClr val="1F5FAE"/>
                </a:solidFill>
                <a:latin typeface="Calibri"/>
              </a:rPr>
              <a:t>1</a:t>
            </a:r>
          </a:p>
        </p:txBody>
      </p:sp>
      <p:sp>
        <p:nvSpPr>
          <p:cNvPr id="461" name="TextBox 460"/>
          <p:cNvSpPr txBox="1"/>
          <p:nvPr/>
        </p:nvSpPr>
        <p:spPr>
          <a:xfrm>
            <a:off x="8275319" y="4507992"/>
            <a:ext cx="2880360" cy="594360"/>
          </a:xfrm>
          <a:prstGeom prst="rect">
            <a:avLst/>
          </a:prstGeom>
          <a:noFill/>
        </p:spPr>
        <p:txBody>
          <a:bodyPr wrap="square" lIns="0" tIns="0" rIns="0" bIns="0" anchor="t">
            <a:spAutoFit/>
          </a:bodyPr>
          <a:lstStyle/>
          <a:p>
            <a:pPr algn="ctr"/>
            <a:r>
              <a:rPr sz="3400" b="1">
                <a:solidFill>
                  <a:srgbClr val="047857"/>
                </a:solidFill>
                <a:latin typeface="Calibri"/>
              </a:rPr>
              <a:t>40,4 %</a:t>
            </a:r>
          </a:p>
        </p:txBody>
      </p:sp>
      <p:sp>
        <p:nvSpPr>
          <p:cNvPr id="462" name="TextBox 461"/>
          <p:cNvSpPr txBox="1"/>
          <p:nvPr/>
        </p:nvSpPr>
        <p:spPr>
          <a:xfrm>
            <a:off x="8366759" y="5120640"/>
            <a:ext cx="2697480" cy="685800"/>
          </a:xfrm>
          <a:prstGeom prst="rect">
            <a:avLst/>
          </a:prstGeom>
          <a:noFill/>
        </p:spPr>
        <p:txBody>
          <a:bodyPr wrap="square" lIns="0" tIns="0" rIns="0" bIns="0" anchor="t">
            <a:spAutoFit/>
          </a:bodyPr>
          <a:lstStyle/>
          <a:p>
            <a:pPr algn="ctr"/>
            <a:r>
              <a:rPr sz="1350" b="0">
                <a:solidFill>
                  <a:srgbClr val="0F1E36"/>
                </a:solidFill>
                <a:latin typeface="Calibri"/>
              </a:rPr>
              <a:t>de la importancia del modelo corresponde al promedio del 1.er semestre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7"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82" name="Google Shape;182;p7"/>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7</a:t>
            </a:r>
            <a:endParaRPr/>
          </a:p>
        </p:txBody>
      </p:sp>
      <p:sp>
        <p:nvSpPr>
          <p:cNvPr id="183" name="Google Shape;183;p7"/>
          <p:cNvSpPr txBox="1"/>
          <p:nvPr/>
        </p:nvSpPr>
        <p:spPr>
          <a:xfrm>
            <a:off x="731520" y="118872"/>
            <a:ext cx="73152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HALLAZGOS PRELIMINARES</a:t>
            </a:r>
            <a:endParaRPr/>
          </a:p>
        </p:txBody>
      </p:sp>
      <p:sp>
        <p:nvSpPr>
          <p:cNvPr id="184" name="Google Shape;184;p7"/>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7"/>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Factores sin asociación significativa</a:t>
            </a:r>
            <a:endParaRPr/>
          </a:p>
        </p:txBody>
      </p:sp>
      <p:sp>
        <p:nvSpPr>
          <p:cNvPr id="186" name="Google Shape;186;p7"/>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Mann-Whitney, Spearman y χ² (N = 90): con grupos pequeños, no detectar asociación no prueba que no exista</a:t>
            </a:r>
            <a:endParaRPr/>
          </a:p>
        </p:txBody>
      </p:sp>
      <p:pic>
        <p:nvPicPr>
          <p:cNvPr id="187" name="Google Shape;187;p7" descr="f04a_genero.png"/>
          <p:cNvPicPr preferRelativeResize="0"/>
          <p:nvPr/>
        </p:nvPicPr>
        <p:blipFill rotWithShape="1">
          <a:blip r:embed="rId4">
            <a:alphaModFix/>
          </a:blip>
          <a:srcRect/>
          <a:stretch/>
        </p:blipFill>
        <p:spPr>
          <a:xfrm>
            <a:off x="640079" y="1946807"/>
            <a:ext cx="3246120" cy="3421585"/>
          </a:xfrm>
          <a:prstGeom prst="rect">
            <a:avLst/>
          </a:prstGeom>
          <a:noFill/>
          <a:ln>
            <a:noFill/>
          </a:ln>
        </p:spPr>
      </p:pic>
      <p:pic>
        <p:nvPicPr>
          <p:cNvPr id="188" name="Google Shape;188;p7" descr="f04b_padres.png"/>
          <p:cNvPicPr preferRelativeResize="0"/>
          <p:nvPr/>
        </p:nvPicPr>
        <p:blipFill rotWithShape="1">
          <a:blip r:embed="rId5">
            <a:alphaModFix/>
          </a:blip>
          <a:srcRect/>
          <a:stretch/>
        </p:blipFill>
        <p:spPr>
          <a:xfrm>
            <a:off x="3977639" y="1950395"/>
            <a:ext cx="4114800" cy="3414408"/>
          </a:xfrm>
          <a:prstGeom prst="rect">
            <a:avLst/>
          </a:prstGeom>
          <a:noFill/>
          <a:ln>
            <a:noFill/>
          </a:ln>
        </p:spPr>
      </p:pic>
      <p:pic>
        <p:nvPicPr>
          <p:cNvPr id="189" name="Google Shape;189;p7" descr="f04c_repitencia.png"/>
          <p:cNvPicPr preferRelativeResize="0"/>
          <p:nvPr/>
        </p:nvPicPr>
        <p:blipFill rotWithShape="1">
          <a:blip r:embed="rId6">
            <a:alphaModFix/>
          </a:blip>
          <a:srcRect/>
          <a:stretch/>
        </p:blipFill>
        <p:spPr>
          <a:xfrm>
            <a:off x="8183879" y="1946807"/>
            <a:ext cx="3246120" cy="34215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8"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96" name="Google Shape;196;p8"/>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8</a:t>
            </a:r>
            <a:endParaRPr/>
          </a:p>
        </p:txBody>
      </p:sp>
      <p:sp>
        <p:nvSpPr>
          <p:cNvPr id="197" name="Google Shape;197;p8"/>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COMPRENSIÓN DE LOS DATOS</a:t>
            </a:r>
            <a:endParaRPr/>
          </a:p>
        </p:txBody>
      </p:sp>
      <p:sp>
        <p:nvSpPr>
          <p:cNvPr id="198" name="Google Shape;198;p8"/>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8"/>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Asignaturas críticas</a:t>
            </a:r>
            <a:endParaRPr/>
          </a:p>
        </p:txBody>
      </p:sp>
      <p:sp>
        <p:nvSpPr>
          <p:cNvPr id="200" name="Google Shape;200;p8"/>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El orden se conserva al traducir al plan 2018: el apoyo va al primer año</a:t>
            </a:r>
            <a:endParaRPr/>
          </a:p>
        </p:txBody>
      </p:sp>
      <p:pic>
        <p:nvPicPr>
          <p:cNvPr id="201" name="Google Shape;201;p8" descr="f03_criticas.png"/>
          <p:cNvPicPr preferRelativeResize="0"/>
          <p:nvPr/>
        </p:nvPicPr>
        <p:blipFill rotWithShape="1">
          <a:blip r:embed="rId4">
            <a:alphaModFix/>
          </a:blip>
          <a:srcRect/>
          <a:stretch/>
        </p:blipFill>
        <p:spPr>
          <a:xfrm>
            <a:off x="777240" y="1463040"/>
            <a:ext cx="10424159" cy="4343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9"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08" name="Google Shape;208;p9"/>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9</a:t>
            </a:r>
            <a:endParaRPr/>
          </a:p>
        </p:txBody>
      </p:sp>
      <p:sp>
        <p:nvSpPr>
          <p:cNvPr id="209" name="Google Shape;209;p9"/>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PREPARACIÓN DE LOS DATOS</a:t>
            </a:r>
            <a:endParaRPr/>
          </a:p>
        </p:txBody>
      </p:sp>
      <p:sp>
        <p:nvSpPr>
          <p:cNvPr id="210" name="Google Shape;210;p9"/>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9"/>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Equivalencias entre planes de estudio</a:t>
            </a:r>
            <a:endParaRPr/>
          </a:p>
        </p:txBody>
      </p:sp>
      <p:sp>
        <p:nvSpPr>
          <p:cNvPr id="212" name="Google Shape;212;p9"/>
          <p:cNvSpPr txBox="1"/>
          <p:nvPr/>
        </p:nvSpPr>
        <p:spPr>
          <a:xfrm>
            <a:off x="731520" y="969264"/>
            <a:ext cx="1060704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72 equivalencias oficiales (Res. 036 de 2017), en rojo las críticas</a:t>
            </a:r>
            <a:endParaRPr sz="1800" b="0" i="0">
              <a:solidFill>
                <a:srgbClr val="55657E"/>
              </a:solidFill>
              <a:latin typeface="Calibri"/>
              <a:ea typeface="Calibri"/>
              <a:cs typeface="Calibri"/>
              <a:sym typeface="Calibri"/>
            </a:endParaRPr>
          </a:p>
        </p:txBody>
      </p:sp>
      <p:pic>
        <p:nvPicPr>
          <p:cNvPr id="213" name="Picture 212" descr="equivalencias_primer_anio.png"/>
          <p:cNvPicPr>
            <a:picLocks noChangeAspect="1"/>
          </p:cNvPicPr>
          <p:nvPr/>
        </p:nvPicPr>
        <p:blipFill>
          <a:blip r:embed="rId4"/>
          <a:stretch>
            <a:fillRect/>
          </a:stretch>
        </p:blipFill>
        <p:spPr>
          <a:xfrm>
            <a:off x="949139" y="1371600"/>
            <a:ext cx="10080361" cy="4526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0"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20" name="Google Shape;220;p10"/>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10</a:t>
            </a:r>
            <a:endParaRPr/>
          </a:p>
        </p:txBody>
      </p:sp>
      <p:sp>
        <p:nvSpPr>
          <p:cNvPr id="221" name="Google Shape;221;p10"/>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PREPARACIÓN DE LOS DATOS</a:t>
            </a:r>
            <a:endParaRPr/>
          </a:p>
        </p:txBody>
      </p:sp>
      <p:sp>
        <p:nvSpPr>
          <p:cNvPr id="222" name="Google Shape;222;p10"/>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10"/>
          <p:cNvSpPr txBox="1"/>
          <p:nvPr/>
        </p:nvSpPr>
        <p:spPr>
          <a:xfrm>
            <a:off x="731520" y="405788"/>
            <a:ext cx="10607100" cy="4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Antes de desplegar, se audita</a:t>
            </a:r>
            <a:endParaRPr/>
          </a:p>
        </p:txBody>
      </p:sp>
      <p:sp>
        <p:nvSpPr>
          <p:cNvPr id="224" name="Google Shape;224;p10"/>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dirty="0">
                <a:solidFill>
                  <a:srgbClr val="55657E"/>
                </a:solidFill>
                <a:latin typeface="Calibri"/>
                <a:ea typeface="Calibri"/>
                <a:cs typeface="Calibri"/>
                <a:sym typeface="Calibri"/>
              </a:rPr>
              <a:t>Tres </a:t>
            </a:r>
            <a:r>
              <a:rPr lang="en-US" sz="1800" b="0" i="0" dirty="0" err="1">
                <a:solidFill>
                  <a:srgbClr val="55657E"/>
                </a:solidFill>
                <a:latin typeface="Calibri"/>
                <a:ea typeface="Calibri"/>
                <a:cs typeface="Calibri"/>
                <a:sym typeface="Calibri"/>
              </a:rPr>
              <a:t>problemas</a:t>
            </a:r>
            <a:r>
              <a:rPr lang="en-US" sz="1800" b="0" i="0" dirty="0">
                <a:solidFill>
                  <a:srgbClr val="55657E"/>
                </a:solidFill>
                <a:latin typeface="Calibri"/>
                <a:ea typeface="Calibri"/>
                <a:cs typeface="Calibri"/>
                <a:sym typeface="Calibri"/>
              </a:rPr>
              <a:t> de </a:t>
            </a:r>
            <a:r>
              <a:rPr lang="en-US" sz="1800" b="0" i="0" dirty="0" err="1">
                <a:solidFill>
                  <a:srgbClr val="55657E"/>
                </a:solidFill>
                <a:latin typeface="Calibri"/>
                <a:ea typeface="Calibri"/>
                <a:cs typeface="Calibri"/>
                <a:sym typeface="Calibri"/>
              </a:rPr>
              <a:t>diseño</a:t>
            </a:r>
            <a:r>
              <a:rPr lang="en-US" sz="1800" b="0" i="0" dirty="0">
                <a:solidFill>
                  <a:srgbClr val="55657E"/>
                </a:solidFill>
                <a:latin typeface="Calibri"/>
                <a:ea typeface="Calibri"/>
                <a:cs typeface="Calibri"/>
                <a:sym typeface="Calibri"/>
              </a:rPr>
              <a:t> que </a:t>
            </a:r>
            <a:r>
              <a:rPr lang="en-US" sz="1800" b="0" i="0" dirty="0" err="1">
                <a:solidFill>
                  <a:srgbClr val="55657E"/>
                </a:solidFill>
                <a:latin typeface="Calibri"/>
                <a:ea typeface="Calibri"/>
                <a:cs typeface="Calibri"/>
                <a:sym typeface="Calibri"/>
              </a:rPr>
              <a:t>inflaban</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el</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resultado</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medido</a:t>
            </a:r>
            <a:endParaRPr dirty="0"/>
          </a:p>
        </p:txBody>
      </p:sp>
      <p:sp>
        <p:nvSpPr>
          <p:cNvPr id="240" name="Google Shape;240;p10"/>
          <p:cNvSpPr txBox="1"/>
          <p:nvPr/>
        </p:nvSpPr>
        <p:spPr>
          <a:xfrm>
            <a:off x="731520" y="5687568"/>
            <a:ext cx="9966960"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sz="1100" b="0" i="0" dirty="0">
                <a:solidFill>
                  <a:srgbClr val="55657E"/>
                </a:solidFill>
                <a:latin typeface="Calibri"/>
              </a:rPr>
              <a:t>[4] </a:t>
            </a:r>
            <a:r>
              <a:rPr sz="1100" b="0" i="0" dirty="0" err="1">
                <a:solidFill>
                  <a:srgbClr val="55657E"/>
                </a:solidFill>
                <a:latin typeface="Calibri"/>
              </a:rPr>
              <a:t>Reglamento</a:t>
            </a:r>
            <a:r>
              <a:rPr sz="1100" b="0" i="0" dirty="0">
                <a:solidFill>
                  <a:srgbClr val="55657E"/>
                </a:solidFill>
                <a:latin typeface="Calibri"/>
              </a:rPr>
              <a:t> </a:t>
            </a:r>
            <a:r>
              <a:rPr sz="1100" b="0" i="0" dirty="0" err="1">
                <a:solidFill>
                  <a:srgbClr val="55657E"/>
                </a:solidFill>
                <a:latin typeface="Calibri"/>
              </a:rPr>
              <a:t>Estudiantil</a:t>
            </a:r>
            <a:r>
              <a:rPr sz="1100" b="0" i="0" dirty="0">
                <a:solidFill>
                  <a:srgbClr val="55657E"/>
                </a:solidFill>
                <a:latin typeface="Calibri"/>
              </a:rPr>
              <a:t>, </a:t>
            </a:r>
            <a:r>
              <a:rPr sz="1100" b="0" i="0" dirty="0" err="1">
                <a:solidFill>
                  <a:srgbClr val="55657E"/>
                </a:solidFill>
                <a:latin typeface="Calibri"/>
              </a:rPr>
              <a:t>Acuerdo</a:t>
            </a:r>
            <a:r>
              <a:rPr sz="1100" b="0" i="0" dirty="0">
                <a:solidFill>
                  <a:srgbClr val="55657E"/>
                </a:solidFill>
                <a:latin typeface="Calibri"/>
              </a:rPr>
              <a:t> Superior 020 de 2021; [5] Varma y Simon, 2006; [6] Cawley y Talbot, 2010; [7] </a:t>
            </a:r>
            <a:r>
              <a:rPr sz="1100" b="0" i="0" dirty="0" err="1">
                <a:solidFill>
                  <a:srgbClr val="55657E"/>
                </a:solidFill>
                <a:latin typeface="Calibri"/>
              </a:rPr>
              <a:t>Ambroise</a:t>
            </a:r>
            <a:r>
              <a:rPr sz="1100" b="0" i="0" dirty="0">
                <a:solidFill>
                  <a:srgbClr val="55657E"/>
                </a:solidFill>
                <a:latin typeface="Calibri"/>
              </a:rPr>
              <a:t> y McLachlan, 2002; [8] Hastie, </a:t>
            </a:r>
            <a:r>
              <a:rPr sz="1100" b="0" i="0" dirty="0" err="1">
                <a:solidFill>
                  <a:srgbClr val="55657E"/>
                </a:solidFill>
                <a:latin typeface="Calibri"/>
              </a:rPr>
              <a:t>Tibshirani</a:t>
            </a:r>
            <a:r>
              <a:rPr sz="1100" b="0" i="0" dirty="0">
                <a:solidFill>
                  <a:srgbClr val="55657E"/>
                </a:solidFill>
                <a:latin typeface="Calibri"/>
              </a:rPr>
              <a:t> y Friedman, 2009, 7.10.2</a:t>
            </a:r>
            <a:endParaRPr sz="1600" dirty="0">
              <a:solidFill>
                <a:schemeClr val="dk1"/>
              </a:solidFill>
              <a:latin typeface="Calibri"/>
              <a:ea typeface="Calibri"/>
              <a:cs typeface="Calibri"/>
              <a:sym typeface="Calibri"/>
            </a:endParaRPr>
          </a:p>
        </p:txBody>
      </p:sp>
      <p:sp>
        <p:nvSpPr>
          <p:cNvPr id="241" name="Rectangle 240"/>
          <p:cNvSpPr/>
          <p:nvPr/>
        </p:nvSpPr>
        <p:spPr>
          <a:xfrm>
            <a:off x="731520" y="1463040"/>
            <a:ext cx="3429000" cy="4114800"/>
          </a:xfrm>
          <a:prstGeom prst="rect">
            <a:avLst/>
          </a:prstGeom>
          <a:solidFill>
            <a:srgbClr val="FFFFFF"/>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Rectangle 241"/>
          <p:cNvSpPr/>
          <p:nvPr/>
        </p:nvSpPr>
        <p:spPr>
          <a:xfrm>
            <a:off x="731520" y="1463040"/>
            <a:ext cx="342900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val 242"/>
          <p:cNvSpPr/>
          <p:nvPr/>
        </p:nvSpPr>
        <p:spPr>
          <a:xfrm>
            <a:off x="896112" y="1572768"/>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E3A5F"/>
                </a:solidFill>
                <a:latin typeface="Calibri"/>
              </a:rPr>
              <a:t>1</a:t>
            </a:r>
          </a:p>
        </p:txBody>
      </p:sp>
      <p:sp>
        <p:nvSpPr>
          <p:cNvPr id="244" name="TextBox 243"/>
          <p:cNvSpPr txBox="1"/>
          <p:nvPr/>
        </p:nvSpPr>
        <p:spPr>
          <a:xfrm>
            <a:off x="1371600" y="1608004"/>
            <a:ext cx="2697480" cy="276999"/>
          </a:xfrm>
          <a:prstGeom prst="rect">
            <a:avLst/>
          </a:prstGeom>
          <a:noFill/>
        </p:spPr>
        <p:txBody>
          <a:bodyPr wrap="square" lIns="0" tIns="0" rIns="0" bIns="0" anchor="ctr">
            <a:spAutoFit/>
          </a:bodyPr>
          <a:lstStyle/>
          <a:p>
            <a:pPr algn="l"/>
            <a:r>
              <a:rPr sz="1800" b="1" i="1" dirty="0">
                <a:solidFill>
                  <a:srgbClr val="FFFFFF"/>
                </a:solidFill>
                <a:latin typeface="Calibri"/>
              </a:rPr>
              <a:t>Variable </a:t>
            </a:r>
            <a:r>
              <a:rPr sz="1800" b="1" i="1" dirty="0" err="1">
                <a:solidFill>
                  <a:srgbClr val="FFFFFF"/>
                </a:solidFill>
                <a:latin typeface="Calibri"/>
              </a:rPr>
              <a:t>objetivo</a:t>
            </a:r>
            <a:endParaRPr sz="1800" b="1" i="1" dirty="0">
              <a:solidFill>
                <a:srgbClr val="FFFFFF"/>
              </a:solidFill>
              <a:latin typeface="Calibri"/>
            </a:endParaRPr>
          </a:p>
        </p:txBody>
      </p:sp>
      <p:sp>
        <p:nvSpPr>
          <p:cNvPr id="245" name="TextBox 244"/>
          <p:cNvSpPr txBox="1"/>
          <p:nvPr/>
        </p:nvSpPr>
        <p:spPr>
          <a:xfrm>
            <a:off x="960120" y="2212848"/>
            <a:ext cx="2971800" cy="228600"/>
          </a:xfrm>
          <a:prstGeom prst="rect">
            <a:avLst/>
          </a:prstGeom>
          <a:noFill/>
        </p:spPr>
        <p:txBody>
          <a:bodyPr wrap="square" lIns="0" tIns="0" rIns="0" bIns="0" anchor="t">
            <a:spAutoFit/>
          </a:bodyPr>
          <a:lstStyle/>
          <a:p>
            <a:pPr algn="l"/>
            <a:r>
              <a:rPr sz="1100" b="1" spc="100">
                <a:solidFill>
                  <a:srgbClr val="55657E"/>
                </a:solidFill>
                <a:latin typeface="Calibri"/>
              </a:rPr>
              <a:t>PROBLEMA</a:t>
            </a:r>
          </a:p>
        </p:txBody>
      </p:sp>
      <p:sp>
        <p:nvSpPr>
          <p:cNvPr id="246" name="TextBox 245"/>
          <p:cNvSpPr txBox="1"/>
          <p:nvPr/>
        </p:nvSpPr>
        <p:spPr>
          <a:xfrm>
            <a:off x="960120" y="2450592"/>
            <a:ext cx="2971800" cy="685800"/>
          </a:xfrm>
          <a:prstGeom prst="rect">
            <a:avLst/>
          </a:prstGeom>
          <a:noFill/>
        </p:spPr>
        <p:txBody>
          <a:bodyPr wrap="square" lIns="0" tIns="0" rIns="0" bIns="0" anchor="t">
            <a:spAutoFit/>
          </a:bodyPr>
          <a:lstStyle/>
          <a:p>
            <a:pPr algn="l"/>
            <a:r>
              <a:rPr sz="1650" b="0">
                <a:solidFill>
                  <a:srgbClr val="0F1E36"/>
                </a:solidFill>
                <a:latin typeface="Calibri"/>
              </a:rPr>
              <a:t>El promedio de carrera contenía al predictor</a:t>
            </a:r>
          </a:p>
        </p:txBody>
      </p:sp>
      <p:sp>
        <p:nvSpPr>
          <p:cNvPr id="247" name="Rectangle 246"/>
          <p:cNvSpPr/>
          <p:nvPr/>
        </p:nvSpPr>
        <p:spPr>
          <a:xfrm>
            <a:off x="960120" y="3200400"/>
            <a:ext cx="2971800" cy="384048"/>
          </a:xfrm>
          <a:prstGeom prst="rect">
            <a:avLst/>
          </a:prstGeom>
          <a:solidFill>
            <a:srgbClr val="F7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TextBox 247"/>
          <p:cNvSpPr txBox="1"/>
          <p:nvPr/>
        </p:nvSpPr>
        <p:spPr>
          <a:xfrm>
            <a:off x="1051560" y="3200400"/>
            <a:ext cx="2788920" cy="384048"/>
          </a:xfrm>
          <a:prstGeom prst="rect">
            <a:avLst/>
          </a:prstGeom>
          <a:noFill/>
        </p:spPr>
        <p:txBody>
          <a:bodyPr wrap="square" lIns="0" tIns="0" rIns="0" bIns="0" anchor="ctr">
            <a:spAutoFit/>
          </a:bodyPr>
          <a:lstStyle/>
          <a:p>
            <a:pPr algn="l"/>
            <a:r>
              <a:rPr sz="1350" b="1">
                <a:solidFill>
                  <a:srgbClr val="9B2C2C"/>
                </a:solidFill>
                <a:latin typeface="Calibri"/>
              </a:rPr>
              <a:t>Efecto: resultado circular</a:t>
            </a:r>
          </a:p>
        </p:txBody>
      </p:sp>
      <p:sp>
        <p:nvSpPr>
          <p:cNvPr id="249" name="Down Arrow 248"/>
          <p:cNvSpPr/>
          <p:nvPr/>
        </p:nvSpPr>
        <p:spPr>
          <a:xfrm>
            <a:off x="2299715" y="3675887"/>
            <a:ext cx="292608" cy="274320"/>
          </a:xfrm>
          <a:prstGeom prst="downArrow">
            <a:avLst/>
          </a:prstGeom>
          <a:solidFill>
            <a:srgbClr val="556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Rectangle 249"/>
          <p:cNvSpPr/>
          <p:nvPr/>
        </p:nvSpPr>
        <p:spPr>
          <a:xfrm>
            <a:off x="960120" y="4041648"/>
            <a:ext cx="2971800" cy="13258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Rectangle 250"/>
          <p:cNvSpPr/>
          <p:nvPr/>
        </p:nvSpPr>
        <p:spPr>
          <a:xfrm>
            <a:off x="960120" y="4041648"/>
            <a:ext cx="64008"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251"/>
          <p:cNvSpPr txBox="1"/>
          <p:nvPr/>
        </p:nvSpPr>
        <p:spPr>
          <a:xfrm>
            <a:off x="1188720" y="4169663"/>
            <a:ext cx="2606040" cy="228600"/>
          </a:xfrm>
          <a:prstGeom prst="rect">
            <a:avLst/>
          </a:prstGeom>
          <a:noFill/>
        </p:spPr>
        <p:txBody>
          <a:bodyPr wrap="square" lIns="0" tIns="0" rIns="0" bIns="0" anchor="t">
            <a:spAutoFit/>
          </a:bodyPr>
          <a:lstStyle/>
          <a:p>
            <a:pPr algn="l"/>
            <a:r>
              <a:rPr sz="1100" b="1" spc="100">
                <a:solidFill>
                  <a:srgbClr val="1F5FAE"/>
                </a:solidFill>
                <a:latin typeface="Calibri"/>
              </a:rPr>
              <a:t>CORRECCIÓN</a:t>
            </a:r>
          </a:p>
        </p:txBody>
      </p:sp>
      <p:sp>
        <p:nvSpPr>
          <p:cNvPr id="253" name="TextBox 252"/>
          <p:cNvSpPr txBox="1"/>
          <p:nvPr/>
        </p:nvSpPr>
        <p:spPr>
          <a:xfrm>
            <a:off x="1188720" y="4425696"/>
            <a:ext cx="2606040" cy="868680"/>
          </a:xfrm>
          <a:prstGeom prst="rect">
            <a:avLst/>
          </a:prstGeom>
          <a:noFill/>
        </p:spPr>
        <p:txBody>
          <a:bodyPr wrap="square" lIns="0" tIns="0" rIns="0" bIns="0" anchor="t">
            <a:spAutoFit/>
          </a:bodyPr>
          <a:lstStyle/>
          <a:p>
            <a:pPr algn="l"/>
            <a:r>
              <a:rPr sz="1650" b="1">
                <a:solidFill>
                  <a:srgbClr val="0F1E36"/>
                </a:solidFill>
                <a:latin typeface="Calibri"/>
              </a:rPr>
              <a:t>Art. 19 del Reglamento: definición oficial de bajo rendimiento</a:t>
            </a:r>
            <a:r>
              <a:rPr sz="1200" b="0">
                <a:solidFill>
                  <a:srgbClr val="55657E"/>
                </a:solidFill>
                <a:latin typeface="Calibri"/>
              </a:rPr>
              <a:t>  [4]</a:t>
            </a:r>
          </a:p>
        </p:txBody>
      </p:sp>
      <p:sp>
        <p:nvSpPr>
          <p:cNvPr id="254" name="Rectangle 253"/>
          <p:cNvSpPr/>
          <p:nvPr/>
        </p:nvSpPr>
        <p:spPr>
          <a:xfrm>
            <a:off x="4297680" y="1463040"/>
            <a:ext cx="3429000" cy="4114800"/>
          </a:xfrm>
          <a:prstGeom prst="rect">
            <a:avLst/>
          </a:prstGeom>
          <a:solidFill>
            <a:srgbClr val="FFFFFF"/>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Rectangle 254"/>
          <p:cNvSpPr/>
          <p:nvPr/>
        </p:nvSpPr>
        <p:spPr>
          <a:xfrm>
            <a:off x="4297680" y="1463040"/>
            <a:ext cx="342900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val 255"/>
          <p:cNvSpPr/>
          <p:nvPr/>
        </p:nvSpPr>
        <p:spPr>
          <a:xfrm>
            <a:off x="4462272" y="1572768"/>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E3A5F"/>
                </a:solidFill>
                <a:latin typeface="Calibri"/>
              </a:rPr>
              <a:t>2</a:t>
            </a:r>
          </a:p>
        </p:txBody>
      </p:sp>
      <p:sp>
        <p:nvSpPr>
          <p:cNvPr id="257" name="TextBox 256"/>
          <p:cNvSpPr txBox="1"/>
          <p:nvPr/>
        </p:nvSpPr>
        <p:spPr>
          <a:xfrm>
            <a:off x="4937760" y="1608004"/>
            <a:ext cx="2697480" cy="276999"/>
          </a:xfrm>
          <a:prstGeom prst="rect">
            <a:avLst/>
          </a:prstGeom>
          <a:noFill/>
        </p:spPr>
        <p:txBody>
          <a:bodyPr wrap="square" lIns="0" tIns="0" rIns="0" bIns="0" anchor="ctr">
            <a:spAutoFit/>
          </a:bodyPr>
          <a:lstStyle/>
          <a:p>
            <a:pPr algn="l"/>
            <a:r>
              <a:rPr sz="1800" b="1" i="1" dirty="0" err="1">
                <a:solidFill>
                  <a:srgbClr val="FFFFFF"/>
                </a:solidFill>
                <a:latin typeface="Calibri"/>
              </a:rPr>
              <a:t>Hiperparámetros</a:t>
            </a:r>
            <a:endParaRPr sz="1800" b="1" i="1" dirty="0">
              <a:solidFill>
                <a:srgbClr val="FFFFFF"/>
              </a:solidFill>
              <a:latin typeface="Calibri"/>
            </a:endParaRPr>
          </a:p>
        </p:txBody>
      </p:sp>
      <p:sp>
        <p:nvSpPr>
          <p:cNvPr id="258" name="TextBox 257"/>
          <p:cNvSpPr txBox="1"/>
          <p:nvPr/>
        </p:nvSpPr>
        <p:spPr>
          <a:xfrm>
            <a:off x="4526280" y="2212848"/>
            <a:ext cx="2971800" cy="228600"/>
          </a:xfrm>
          <a:prstGeom prst="rect">
            <a:avLst/>
          </a:prstGeom>
          <a:noFill/>
        </p:spPr>
        <p:txBody>
          <a:bodyPr wrap="square" lIns="0" tIns="0" rIns="0" bIns="0" anchor="t">
            <a:spAutoFit/>
          </a:bodyPr>
          <a:lstStyle/>
          <a:p>
            <a:pPr algn="l"/>
            <a:r>
              <a:rPr sz="1100" b="1" spc="100">
                <a:solidFill>
                  <a:srgbClr val="55657E"/>
                </a:solidFill>
                <a:latin typeface="Calibri"/>
              </a:rPr>
              <a:t>PROBLEMA</a:t>
            </a:r>
          </a:p>
        </p:txBody>
      </p:sp>
      <p:sp>
        <p:nvSpPr>
          <p:cNvPr id="259" name="TextBox 258"/>
          <p:cNvSpPr txBox="1"/>
          <p:nvPr/>
        </p:nvSpPr>
        <p:spPr>
          <a:xfrm>
            <a:off x="4526280" y="2450592"/>
            <a:ext cx="2971800" cy="685800"/>
          </a:xfrm>
          <a:prstGeom prst="rect">
            <a:avLst/>
          </a:prstGeom>
          <a:noFill/>
        </p:spPr>
        <p:txBody>
          <a:bodyPr wrap="square" lIns="0" tIns="0" rIns="0" bIns="0" anchor="t">
            <a:spAutoFit/>
          </a:bodyPr>
          <a:lstStyle/>
          <a:p>
            <a:pPr algn="l"/>
            <a:r>
              <a:rPr sz="1650" b="0">
                <a:solidFill>
                  <a:srgbClr val="0F1E36"/>
                </a:solidFill>
                <a:latin typeface="Calibri"/>
              </a:rPr>
              <a:t>Se ajustaban viendo los datos de evaluación</a:t>
            </a:r>
          </a:p>
        </p:txBody>
      </p:sp>
      <p:sp>
        <p:nvSpPr>
          <p:cNvPr id="260" name="Rectangle 259"/>
          <p:cNvSpPr/>
          <p:nvPr/>
        </p:nvSpPr>
        <p:spPr>
          <a:xfrm>
            <a:off x="4526280" y="3200400"/>
            <a:ext cx="2971800" cy="384048"/>
          </a:xfrm>
          <a:prstGeom prst="rect">
            <a:avLst/>
          </a:prstGeom>
          <a:solidFill>
            <a:srgbClr val="F7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TextBox 260"/>
          <p:cNvSpPr txBox="1"/>
          <p:nvPr/>
        </p:nvSpPr>
        <p:spPr>
          <a:xfrm>
            <a:off x="4617720" y="3200400"/>
            <a:ext cx="2788920" cy="384048"/>
          </a:xfrm>
          <a:prstGeom prst="rect">
            <a:avLst/>
          </a:prstGeom>
          <a:noFill/>
        </p:spPr>
        <p:txBody>
          <a:bodyPr wrap="square" lIns="0" tIns="0" rIns="0" bIns="0" anchor="ctr">
            <a:spAutoFit/>
          </a:bodyPr>
          <a:lstStyle/>
          <a:p>
            <a:pPr algn="l"/>
            <a:r>
              <a:rPr sz="1350" b="1">
                <a:solidFill>
                  <a:srgbClr val="9B2C2C"/>
                </a:solidFill>
                <a:latin typeface="Calibri"/>
              </a:rPr>
              <a:t>AUC-PR inflado: +0,046 (XGBoost)</a:t>
            </a:r>
          </a:p>
        </p:txBody>
      </p:sp>
      <p:sp>
        <p:nvSpPr>
          <p:cNvPr id="262" name="Down Arrow 261"/>
          <p:cNvSpPr/>
          <p:nvPr/>
        </p:nvSpPr>
        <p:spPr>
          <a:xfrm>
            <a:off x="5865876" y="3675887"/>
            <a:ext cx="292608" cy="274320"/>
          </a:xfrm>
          <a:prstGeom prst="downArrow">
            <a:avLst/>
          </a:prstGeom>
          <a:solidFill>
            <a:srgbClr val="556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262"/>
          <p:cNvSpPr/>
          <p:nvPr/>
        </p:nvSpPr>
        <p:spPr>
          <a:xfrm>
            <a:off x="4526280" y="4041648"/>
            <a:ext cx="2971800" cy="13258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263"/>
          <p:cNvSpPr/>
          <p:nvPr/>
        </p:nvSpPr>
        <p:spPr>
          <a:xfrm>
            <a:off x="4526280" y="4041648"/>
            <a:ext cx="64008"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264"/>
          <p:cNvSpPr txBox="1"/>
          <p:nvPr/>
        </p:nvSpPr>
        <p:spPr>
          <a:xfrm>
            <a:off x="4754880" y="4169663"/>
            <a:ext cx="2606040" cy="228600"/>
          </a:xfrm>
          <a:prstGeom prst="rect">
            <a:avLst/>
          </a:prstGeom>
          <a:noFill/>
        </p:spPr>
        <p:txBody>
          <a:bodyPr wrap="square" lIns="0" tIns="0" rIns="0" bIns="0" anchor="t">
            <a:spAutoFit/>
          </a:bodyPr>
          <a:lstStyle/>
          <a:p>
            <a:pPr algn="l"/>
            <a:r>
              <a:rPr sz="1100" b="1" spc="100">
                <a:solidFill>
                  <a:srgbClr val="1F5FAE"/>
                </a:solidFill>
                <a:latin typeface="Calibri"/>
              </a:rPr>
              <a:t>CORRECCIÓN</a:t>
            </a:r>
          </a:p>
        </p:txBody>
      </p:sp>
      <p:sp>
        <p:nvSpPr>
          <p:cNvPr id="266" name="TextBox 265"/>
          <p:cNvSpPr txBox="1"/>
          <p:nvPr/>
        </p:nvSpPr>
        <p:spPr>
          <a:xfrm>
            <a:off x="4754880" y="4425696"/>
            <a:ext cx="2606040" cy="868680"/>
          </a:xfrm>
          <a:prstGeom prst="rect">
            <a:avLst/>
          </a:prstGeom>
          <a:noFill/>
        </p:spPr>
        <p:txBody>
          <a:bodyPr wrap="square" lIns="0" tIns="0" rIns="0" bIns="0" anchor="t">
            <a:spAutoFit/>
          </a:bodyPr>
          <a:lstStyle/>
          <a:p>
            <a:pPr algn="l"/>
            <a:r>
              <a:rPr sz="1650" b="1">
                <a:solidFill>
                  <a:srgbClr val="0F1E36"/>
                </a:solidFill>
                <a:latin typeface="Calibri"/>
              </a:rPr>
              <a:t>Validación cruzada anidada</a:t>
            </a:r>
            <a:r>
              <a:rPr sz="1200" b="0">
                <a:solidFill>
                  <a:srgbClr val="55657E"/>
                </a:solidFill>
                <a:latin typeface="Calibri"/>
              </a:rPr>
              <a:t>  [5], [6]</a:t>
            </a:r>
          </a:p>
        </p:txBody>
      </p:sp>
      <p:sp>
        <p:nvSpPr>
          <p:cNvPr id="267" name="Rectangle 266"/>
          <p:cNvSpPr/>
          <p:nvPr/>
        </p:nvSpPr>
        <p:spPr>
          <a:xfrm>
            <a:off x="7863840" y="1463040"/>
            <a:ext cx="3429000" cy="4114800"/>
          </a:xfrm>
          <a:prstGeom prst="rect">
            <a:avLst/>
          </a:prstGeom>
          <a:solidFill>
            <a:srgbClr val="FFFFFF"/>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267"/>
          <p:cNvSpPr/>
          <p:nvPr/>
        </p:nvSpPr>
        <p:spPr>
          <a:xfrm>
            <a:off x="7863840" y="1463040"/>
            <a:ext cx="342900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val 268"/>
          <p:cNvSpPr/>
          <p:nvPr/>
        </p:nvSpPr>
        <p:spPr>
          <a:xfrm>
            <a:off x="8028431" y="1572768"/>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E3A5F"/>
                </a:solidFill>
                <a:latin typeface="Calibri"/>
              </a:rPr>
              <a:t>3</a:t>
            </a:r>
          </a:p>
        </p:txBody>
      </p:sp>
      <p:sp>
        <p:nvSpPr>
          <p:cNvPr id="270" name="TextBox 269"/>
          <p:cNvSpPr txBox="1"/>
          <p:nvPr/>
        </p:nvSpPr>
        <p:spPr>
          <a:xfrm>
            <a:off x="8503919" y="1608004"/>
            <a:ext cx="2697480" cy="276999"/>
          </a:xfrm>
          <a:prstGeom prst="rect">
            <a:avLst/>
          </a:prstGeom>
          <a:noFill/>
        </p:spPr>
        <p:txBody>
          <a:bodyPr wrap="square" lIns="0" tIns="0" rIns="0" bIns="0" anchor="ctr">
            <a:spAutoFit/>
          </a:bodyPr>
          <a:lstStyle/>
          <a:p>
            <a:pPr algn="l"/>
            <a:r>
              <a:rPr sz="1800" b="1" i="1" dirty="0" err="1">
                <a:solidFill>
                  <a:srgbClr val="FFFFFF"/>
                </a:solidFill>
                <a:latin typeface="Calibri"/>
              </a:rPr>
              <a:t>Selección</a:t>
            </a:r>
            <a:r>
              <a:rPr sz="1800" b="1" i="1" dirty="0">
                <a:solidFill>
                  <a:srgbClr val="FFFFFF"/>
                </a:solidFill>
                <a:latin typeface="Calibri"/>
              </a:rPr>
              <a:t> de variables</a:t>
            </a:r>
          </a:p>
        </p:txBody>
      </p:sp>
      <p:sp>
        <p:nvSpPr>
          <p:cNvPr id="271" name="TextBox 270"/>
          <p:cNvSpPr txBox="1"/>
          <p:nvPr/>
        </p:nvSpPr>
        <p:spPr>
          <a:xfrm>
            <a:off x="8092440" y="2212848"/>
            <a:ext cx="2971800" cy="228600"/>
          </a:xfrm>
          <a:prstGeom prst="rect">
            <a:avLst/>
          </a:prstGeom>
          <a:noFill/>
        </p:spPr>
        <p:txBody>
          <a:bodyPr wrap="square" lIns="0" tIns="0" rIns="0" bIns="0" anchor="t">
            <a:spAutoFit/>
          </a:bodyPr>
          <a:lstStyle/>
          <a:p>
            <a:pPr algn="l"/>
            <a:r>
              <a:rPr sz="1100" b="1" spc="100">
                <a:solidFill>
                  <a:srgbClr val="55657E"/>
                </a:solidFill>
                <a:latin typeface="Calibri"/>
              </a:rPr>
              <a:t>PROBLEMA</a:t>
            </a:r>
          </a:p>
        </p:txBody>
      </p:sp>
      <p:sp>
        <p:nvSpPr>
          <p:cNvPr id="272" name="TextBox 271"/>
          <p:cNvSpPr txBox="1"/>
          <p:nvPr/>
        </p:nvSpPr>
        <p:spPr>
          <a:xfrm>
            <a:off x="8092440" y="2450592"/>
            <a:ext cx="2971800" cy="685800"/>
          </a:xfrm>
          <a:prstGeom prst="rect">
            <a:avLst/>
          </a:prstGeom>
          <a:noFill/>
        </p:spPr>
        <p:txBody>
          <a:bodyPr wrap="square" lIns="0" tIns="0" rIns="0" bIns="0" anchor="t">
            <a:spAutoFit/>
          </a:bodyPr>
          <a:lstStyle/>
          <a:p>
            <a:pPr algn="l"/>
            <a:r>
              <a:rPr sz="1650" b="0">
                <a:solidFill>
                  <a:srgbClr val="0F1E36"/>
                </a:solidFill>
                <a:latin typeface="Calibri"/>
              </a:rPr>
              <a:t>Se elegían con toda la muestra</a:t>
            </a:r>
          </a:p>
        </p:txBody>
      </p:sp>
      <p:sp>
        <p:nvSpPr>
          <p:cNvPr id="273" name="Rectangle 272"/>
          <p:cNvSpPr/>
          <p:nvPr/>
        </p:nvSpPr>
        <p:spPr>
          <a:xfrm>
            <a:off x="8092440" y="3200400"/>
            <a:ext cx="2971800" cy="384048"/>
          </a:xfrm>
          <a:prstGeom prst="rect">
            <a:avLst/>
          </a:prstGeom>
          <a:solidFill>
            <a:srgbClr val="F7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273"/>
          <p:cNvSpPr txBox="1"/>
          <p:nvPr/>
        </p:nvSpPr>
        <p:spPr>
          <a:xfrm>
            <a:off x="8183879" y="3200400"/>
            <a:ext cx="2788920" cy="384048"/>
          </a:xfrm>
          <a:prstGeom prst="rect">
            <a:avLst/>
          </a:prstGeom>
          <a:noFill/>
        </p:spPr>
        <p:txBody>
          <a:bodyPr wrap="square" lIns="0" tIns="0" rIns="0" bIns="0" anchor="ctr">
            <a:spAutoFit/>
          </a:bodyPr>
          <a:lstStyle/>
          <a:p>
            <a:pPr algn="l"/>
            <a:r>
              <a:rPr sz="1350" b="1">
                <a:solidFill>
                  <a:srgbClr val="9B2C2C"/>
                </a:solidFill>
                <a:latin typeface="Calibri"/>
              </a:rPr>
              <a:t>AUC-PR inflado: +0,150</a:t>
            </a:r>
          </a:p>
        </p:txBody>
      </p:sp>
      <p:sp>
        <p:nvSpPr>
          <p:cNvPr id="275" name="Down Arrow 274"/>
          <p:cNvSpPr/>
          <p:nvPr/>
        </p:nvSpPr>
        <p:spPr>
          <a:xfrm>
            <a:off x="9432036" y="3675887"/>
            <a:ext cx="292608" cy="274320"/>
          </a:xfrm>
          <a:prstGeom prst="downArrow">
            <a:avLst/>
          </a:prstGeom>
          <a:solidFill>
            <a:srgbClr val="5565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275"/>
          <p:cNvSpPr/>
          <p:nvPr/>
        </p:nvSpPr>
        <p:spPr>
          <a:xfrm>
            <a:off x="8092440" y="4041648"/>
            <a:ext cx="2971800" cy="13258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276"/>
          <p:cNvSpPr/>
          <p:nvPr/>
        </p:nvSpPr>
        <p:spPr>
          <a:xfrm>
            <a:off x="8092440" y="4041648"/>
            <a:ext cx="64008"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77"/>
          <p:cNvSpPr txBox="1"/>
          <p:nvPr/>
        </p:nvSpPr>
        <p:spPr>
          <a:xfrm>
            <a:off x="8321040" y="4169663"/>
            <a:ext cx="2606040" cy="228600"/>
          </a:xfrm>
          <a:prstGeom prst="rect">
            <a:avLst/>
          </a:prstGeom>
          <a:noFill/>
        </p:spPr>
        <p:txBody>
          <a:bodyPr wrap="square" lIns="0" tIns="0" rIns="0" bIns="0" anchor="t">
            <a:spAutoFit/>
          </a:bodyPr>
          <a:lstStyle/>
          <a:p>
            <a:pPr algn="l"/>
            <a:r>
              <a:rPr sz="1100" b="1" spc="100">
                <a:solidFill>
                  <a:srgbClr val="1F5FAE"/>
                </a:solidFill>
                <a:latin typeface="Calibri"/>
              </a:rPr>
              <a:t>CORRECCIÓN</a:t>
            </a:r>
          </a:p>
        </p:txBody>
      </p:sp>
      <p:sp>
        <p:nvSpPr>
          <p:cNvPr id="279" name="TextBox 278"/>
          <p:cNvSpPr txBox="1"/>
          <p:nvPr/>
        </p:nvSpPr>
        <p:spPr>
          <a:xfrm>
            <a:off x="8321040" y="4425696"/>
            <a:ext cx="2606040" cy="868680"/>
          </a:xfrm>
          <a:prstGeom prst="rect">
            <a:avLst/>
          </a:prstGeom>
          <a:noFill/>
        </p:spPr>
        <p:txBody>
          <a:bodyPr wrap="square" lIns="0" tIns="0" rIns="0" bIns="0" anchor="t">
            <a:spAutoFit/>
          </a:bodyPr>
          <a:lstStyle/>
          <a:p>
            <a:pPr algn="l"/>
            <a:r>
              <a:rPr sz="1650" b="1">
                <a:solidFill>
                  <a:srgbClr val="0F1E36"/>
                </a:solidFill>
                <a:latin typeface="Calibri"/>
              </a:rPr>
              <a:t>Selección dentro de cada partición</a:t>
            </a:r>
            <a:r>
              <a:rPr sz="1200" b="0">
                <a:solidFill>
                  <a:srgbClr val="55657E"/>
                </a:solidFill>
                <a:latin typeface="Calibri"/>
              </a:rPr>
              <a:t>  [7], [8]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12"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59" name="Google Shape;259;p12"/>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11</a:t>
            </a:r>
            <a:endParaRPr/>
          </a:p>
        </p:txBody>
      </p:sp>
      <p:sp>
        <p:nvSpPr>
          <p:cNvPr id="260" name="Google Shape;260;p12"/>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261" name="Google Shape;261;p12"/>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12"/>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Variable objetivo y variables</a:t>
            </a:r>
            <a:endParaRPr/>
          </a:p>
        </p:txBody>
      </p:sp>
      <p:sp>
        <p:nvSpPr>
          <p:cNvPr id="263" name="Google Shape;263;p12"/>
          <p:cNvSpPr txBox="1"/>
          <p:nvPr/>
        </p:nvSpPr>
        <p:spPr>
          <a:xfrm>
            <a:off x="731520" y="969264"/>
            <a:ext cx="1060704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Todo lo que el modelo usa existe al cierre del 1er semestre</a:t>
            </a:r>
            <a:endParaRPr sz="1800" b="0" i="0">
              <a:solidFill>
                <a:srgbClr val="55657E"/>
              </a:solidFill>
              <a:latin typeface="Calibri"/>
              <a:ea typeface="Calibri"/>
              <a:cs typeface="Calibri"/>
              <a:sym typeface="Calibri"/>
            </a:endParaRPr>
          </a:p>
        </p:txBody>
      </p:sp>
      <p:sp>
        <p:nvSpPr>
          <p:cNvPr id="264" name="Google Shape;264;p12"/>
          <p:cNvSpPr/>
          <p:nvPr/>
        </p:nvSpPr>
        <p:spPr>
          <a:xfrm>
            <a:off x="731520" y="1691640"/>
            <a:ext cx="4937760" cy="3566160"/>
          </a:xfrm>
          <a:prstGeom prst="roundRect">
            <a:avLst>
              <a:gd name="adj" fmla="val 6000"/>
            </a:avLst>
          </a:prstGeom>
          <a:solidFill>
            <a:srgbClr val="E8F0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12"/>
          <p:cNvSpPr txBox="1"/>
          <p:nvPr/>
        </p:nvSpPr>
        <p:spPr>
          <a:xfrm>
            <a:off x="1005840" y="1874519"/>
            <a:ext cx="4480500" cy="2062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1">
                <a:solidFill>
                  <a:srgbClr val="1F5FAE"/>
                </a:solidFill>
                <a:latin typeface="Calibri"/>
                <a:ea typeface="Calibri"/>
                <a:cs typeface="Calibri"/>
                <a:sym typeface="Calibri"/>
              </a:rPr>
              <a:t>Variable objetivo</a:t>
            </a:r>
            <a:endParaRPr sz="1800" b="1" i="1">
              <a:solidFill>
                <a:srgbClr val="1F5FAE"/>
              </a:solidFill>
              <a:latin typeface="Calibri"/>
              <a:ea typeface="Calibri"/>
              <a:cs typeface="Calibri"/>
              <a:sym typeface="Calibri"/>
            </a:endParaRPr>
          </a:p>
          <a:p>
            <a:pPr marL="0" marR="0" lvl="0" indent="0" algn="l" rtl="0">
              <a:spcBef>
                <a:spcPts val="0"/>
              </a:spcBef>
              <a:spcAft>
                <a:spcPts val="0"/>
              </a:spcAft>
              <a:buNone/>
            </a:pPr>
            <a:r>
              <a:rPr lang="en-US" sz="2400" b="1" i="0">
                <a:solidFill>
                  <a:srgbClr val="0F1E36"/>
                </a:solidFill>
                <a:latin typeface="Calibri"/>
                <a:ea typeface="Calibri"/>
                <a:cs typeface="Calibri"/>
                <a:sym typeface="Calibri"/>
              </a:rPr>
              <a:t>Art. 19 del Reglamento Estudiantil</a:t>
            </a:r>
            <a:endParaRPr sz="2400" b="1" i="0">
              <a:solidFill>
                <a:srgbClr val="0F1E36"/>
              </a:solidFill>
              <a:latin typeface="Calibri"/>
              <a:ea typeface="Calibri"/>
              <a:cs typeface="Calibri"/>
              <a:sym typeface="Calibri"/>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pérdida de la calidad de estudiante por bajo rendimiento</a:t>
            </a:r>
            <a:endParaRPr sz="1800" b="0" i="0">
              <a:solidFill>
                <a:srgbClr val="55657E"/>
              </a:solidFill>
              <a:latin typeface="Calibri"/>
              <a:ea typeface="Calibri"/>
              <a:cs typeface="Calibri"/>
              <a:sym typeface="Calibri"/>
            </a:endParaRPr>
          </a:p>
          <a:p>
            <a:pPr marL="0" marR="0" lvl="0" indent="0" algn="l" rtl="0">
              <a:spcBef>
                <a:spcPts val="0"/>
              </a:spcBef>
              <a:spcAft>
                <a:spcPts val="0"/>
              </a:spcAft>
              <a:buNone/>
            </a:pPr>
            <a:r>
              <a:rPr lang="en-US" sz="1000" b="0" i="0">
                <a:solidFill>
                  <a:srgbClr val="0F1E36"/>
                </a:solidFill>
                <a:latin typeface="Calibri"/>
                <a:ea typeface="Calibri"/>
                <a:cs typeface="Calibri"/>
                <a:sym typeface="Calibri"/>
              </a:rPr>
              <a:t> </a:t>
            </a:r>
            <a:endParaRPr/>
          </a:p>
          <a:p>
            <a:pPr marL="0" marR="0" lvl="0" indent="0" algn="l" rtl="0">
              <a:spcBef>
                <a:spcPts val="0"/>
              </a:spcBef>
              <a:spcAft>
                <a:spcPts val="0"/>
              </a:spcAft>
              <a:buNone/>
            </a:pPr>
            <a:r>
              <a:rPr lang="en-US" sz="3000" b="1" i="0">
                <a:solidFill>
                  <a:srgbClr val="D97706"/>
                </a:solidFill>
                <a:latin typeface="Calibri"/>
                <a:ea typeface="Calibri"/>
                <a:cs typeface="Calibri"/>
                <a:sym typeface="Calibri"/>
              </a:rPr>
              <a:t>19 casos de 80</a:t>
            </a:r>
            <a:endParaRPr>
              <a:solidFill>
                <a:srgbClr val="D97706"/>
              </a:solidFill>
            </a:endParaRPr>
          </a:p>
          <a:p>
            <a:pPr marL="0" marR="0" lvl="0" indent="0" algn="l" rtl="0">
              <a:spcBef>
                <a:spcPts val="0"/>
              </a:spcBef>
              <a:spcAft>
                <a:spcPts val="0"/>
              </a:spcAft>
              <a:buNone/>
            </a:pPr>
            <a:r>
              <a:rPr lang="en-US" sz="1600" b="0" i="0">
                <a:solidFill>
                  <a:srgbClr val="55657E"/>
                </a:solidFill>
                <a:latin typeface="Calibri"/>
                <a:ea typeface="Calibri"/>
                <a:cs typeface="Calibri"/>
                <a:sym typeface="Calibri"/>
              </a:rPr>
              <a:t>línea base 0,24: lo que obtendría un modelo que asigna el riesgo al azar; el modelo debe superarla</a:t>
            </a:r>
            <a:endParaRPr/>
          </a:p>
        </p:txBody>
      </p:sp>
      <p:sp>
        <p:nvSpPr>
          <p:cNvPr id="266" name="Google Shape;266;p12"/>
          <p:cNvSpPr txBox="1"/>
          <p:nvPr/>
        </p:nvSpPr>
        <p:spPr>
          <a:xfrm>
            <a:off x="8001000" y="1723644"/>
            <a:ext cx="51207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1" dirty="0">
                <a:solidFill>
                  <a:srgbClr val="1F5FAE"/>
                </a:solidFill>
                <a:latin typeface="Calibri"/>
                <a:ea typeface="Calibri"/>
                <a:cs typeface="Calibri"/>
                <a:sym typeface="Calibri"/>
              </a:rPr>
              <a:t>Seis variables (conjunto </a:t>
            </a:r>
            <a:r>
              <a:rPr lang="en-US" sz="1800" b="1" i="1" dirty="0" err="1">
                <a:solidFill>
                  <a:srgbClr val="1F5FAE"/>
                </a:solidFill>
                <a:latin typeface="Calibri"/>
                <a:ea typeface="Calibri"/>
                <a:cs typeface="Calibri"/>
                <a:sym typeface="Calibri"/>
              </a:rPr>
              <a:t>ganador</a:t>
            </a:r>
            <a:r>
              <a:rPr lang="en-US" sz="1800" b="1" i="1" dirty="0">
                <a:solidFill>
                  <a:srgbClr val="1F5FAE"/>
                </a:solidFill>
                <a:latin typeface="Calibri"/>
                <a:ea typeface="Calibri"/>
                <a:cs typeface="Calibri"/>
                <a:sym typeface="Calibri"/>
              </a:rPr>
              <a:t>)</a:t>
            </a:r>
            <a:endParaRPr dirty="0"/>
          </a:p>
        </p:txBody>
      </p:sp>
      <p:sp>
        <p:nvSpPr>
          <p:cNvPr id="267" name="Google Shape;267;p12"/>
          <p:cNvSpPr txBox="1"/>
          <p:nvPr/>
        </p:nvSpPr>
        <p:spPr>
          <a:xfrm>
            <a:off x="6949440" y="2240280"/>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a:solidFill>
                  <a:srgbClr val="0F1E36"/>
                </a:solidFill>
                <a:latin typeface="Calibri"/>
                <a:ea typeface="Calibri"/>
                <a:cs typeface="Calibri"/>
                <a:sym typeface="Calibri"/>
              </a:rPr>
              <a:t>Promedio del 1.er semestre</a:t>
            </a:r>
            <a:endParaRPr/>
          </a:p>
        </p:txBody>
      </p:sp>
      <p:sp>
        <p:nvSpPr>
          <p:cNvPr id="268" name="Google Shape;268;p12"/>
          <p:cNvSpPr txBox="1"/>
          <p:nvPr/>
        </p:nvSpPr>
        <p:spPr>
          <a:xfrm>
            <a:off x="9875520" y="2240280"/>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académica</a:t>
            </a:r>
            <a:endParaRPr/>
          </a:p>
        </p:txBody>
      </p:sp>
      <p:sp>
        <p:nvSpPr>
          <p:cNvPr id="269" name="Google Shape;269;p12"/>
          <p:cNvSpPr txBox="1"/>
          <p:nvPr/>
        </p:nvSpPr>
        <p:spPr>
          <a:xfrm>
            <a:off x="6949440" y="2752344"/>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Sin primer semestre</a:t>
            </a:r>
            <a:endParaRPr/>
          </a:p>
        </p:txBody>
      </p:sp>
      <p:sp>
        <p:nvSpPr>
          <p:cNvPr id="270" name="Google Shape;270;p12"/>
          <p:cNvSpPr txBox="1"/>
          <p:nvPr/>
        </p:nvSpPr>
        <p:spPr>
          <a:xfrm>
            <a:off x="9875520" y="2752344"/>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indicador</a:t>
            </a:r>
            <a:endParaRPr/>
          </a:p>
        </p:txBody>
      </p:sp>
      <p:sp>
        <p:nvSpPr>
          <p:cNvPr id="271" name="Google Shape;271;p12"/>
          <p:cNvSpPr txBox="1"/>
          <p:nvPr/>
        </p:nvSpPr>
        <p:spPr>
          <a:xfrm>
            <a:off x="6949440" y="3264408"/>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Saber 11: total</a:t>
            </a:r>
            <a:endParaRPr/>
          </a:p>
        </p:txBody>
      </p:sp>
      <p:sp>
        <p:nvSpPr>
          <p:cNvPr id="272" name="Google Shape;272;p12"/>
          <p:cNvSpPr txBox="1"/>
          <p:nvPr/>
        </p:nvSpPr>
        <p:spPr>
          <a:xfrm>
            <a:off x="9875520" y="3264408"/>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ingreso</a:t>
            </a:r>
            <a:endParaRPr/>
          </a:p>
        </p:txBody>
      </p:sp>
      <p:sp>
        <p:nvSpPr>
          <p:cNvPr id="273" name="Google Shape;273;p12"/>
          <p:cNvSpPr txBox="1"/>
          <p:nvPr/>
        </p:nvSpPr>
        <p:spPr>
          <a:xfrm>
            <a:off x="6949440" y="3776472"/>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Saber 11: matemáticas</a:t>
            </a:r>
            <a:endParaRPr/>
          </a:p>
        </p:txBody>
      </p:sp>
      <p:sp>
        <p:nvSpPr>
          <p:cNvPr id="274" name="Google Shape;274;p12"/>
          <p:cNvSpPr txBox="1"/>
          <p:nvPr/>
        </p:nvSpPr>
        <p:spPr>
          <a:xfrm>
            <a:off x="9875520" y="3776472"/>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ingreso</a:t>
            </a:r>
            <a:endParaRPr sz="1500" b="0" i="0">
              <a:solidFill>
                <a:srgbClr val="55657E"/>
              </a:solidFill>
              <a:latin typeface="Calibri"/>
              <a:ea typeface="Calibri"/>
              <a:cs typeface="Calibri"/>
              <a:sym typeface="Calibri"/>
            </a:endParaRPr>
          </a:p>
        </p:txBody>
      </p:sp>
      <p:sp>
        <p:nvSpPr>
          <p:cNvPr id="275" name="Google Shape;275;p12"/>
          <p:cNvSpPr txBox="1"/>
          <p:nvPr/>
        </p:nvSpPr>
        <p:spPr>
          <a:xfrm>
            <a:off x="6949440" y="4288536"/>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Saber 11: lectura crítica</a:t>
            </a:r>
            <a:endParaRPr/>
          </a:p>
        </p:txBody>
      </p:sp>
      <p:sp>
        <p:nvSpPr>
          <p:cNvPr id="276" name="Google Shape;276;p12"/>
          <p:cNvSpPr txBox="1"/>
          <p:nvPr/>
        </p:nvSpPr>
        <p:spPr>
          <a:xfrm>
            <a:off x="9875520" y="4288536"/>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ingreso</a:t>
            </a:r>
            <a:endParaRPr sz="1500" b="0" i="0">
              <a:solidFill>
                <a:srgbClr val="55657E"/>
              </a:solidFill>
              <a:latin typeface="Calibri"/>
              <a:ea typeface="Calibri"/>
              <a:cs typeface="Calibri"/>
              <a:sym typeface="Calibri"/>
            </a:endParaRPr>
          </a:p>
        </p:txBody>
      </p:sp>
      <p:sp>
        <p:nvSpPr>
          <p:cNvPr id="277" name="Google Shape;277;p12"/>
          <p:cNvSpPr txBox="1"/>
          <p:nvPr/>
        </p:nvSpPr>
        <p:spPr>
          <a:xfrm>
            <a:off x="6949440" y="4800600"/>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Saber 11: c. naturales</a:t>
            </a:r>
            <a:endParaRPr/>
          </a:p>
        </p:txBody>
      </p:sp>
      <p:sp>
        <p:nvSpPr>
          <p:cNvPr id="278" name="Google Shape;278;p12"/>
          <p:cNvSpPr txBox="1"/>
          <p:nvPr/>
        </p:nvSpPr>
        <p:spPr>
          <a:xfrm>
            <a:off x="9875520" y="4800600"/>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ingreso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9" name="Google Shape;439;p2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40" name="Google Shape;440;p2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12</a:t>
            </a:r>
            <a:endParaRPr/>
          </a:p>
        </p:txBody>
      </p:sp>
      <p:sp>
        <p:nvSpPr>
          <p:cNvPr id="441" name="Google Shape;441;p2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MODELADO</a:t>
            </a:r>
            <a:endParaRPr/>
          </a:p>
        </p:txBody>
      </p:sp>
      <p:sp>
        <p:nvSpPr>
          <p:cNvPr id="442" name="Google Shape;442;p2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Cinco algoritmos</a:t>
            </a:r>
            <a:endParaRPr sz="3000" b="1" i="0">
              <a:solidFill>
                <a:srgbClr val="0F1E36"/>
              </a:solidFill>
              <a:latin typeface="Calibri"/>
              <a:ea typeface="Calibri"/>
              <a:cs typeface="Calibri"/>
              <a:sym typeface="Calibri"/>
            </a:endParaRPr>
          </a:p>
        </p:txBody>
      </p:sp>
      <p:sp>
        <p:nvSpPr>
          <p:cNvPr id="444" name="Google Shape;444;p24"/>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Presupuesto equilibrado: 16 a 24 combinaciones de hiperparámetros por algoritmo</a:t>
            </a:r>
            <a:endParaRPr/>
          </a:p>
        </p:txBody>
      </p:sp>
      <p:sp>
        <p:nvSpPr>
          <p:cNvPr id="445" name="TextBox 444"/>
          <p:cNvSpPr txBox="1"/>
          <p:nvPr/>
        </p:nvSpPr>
        <p:spPr>
          <a:xfrm>
            <a:off x="731520" y="1417320"/>
            <a:ext cx="2743200" cy="274320"/>
          </a:xfrm>
          <a:prstGeom prst="rect">
            <a:avLst/>
          </a:prstGeom>
          <a:noFill/>
        </p:spPr>
        <p:txBody>
          <a:bodyPr wrap="square" lIns="0" tIns="0" rIns="0" bIns="0" anchor="t">
            <a:spAutoFit/>
          </a:bodyPr>
          <a:lstStyle/>
          <a:p>
            <a:pPr algn="l"/>
            <a:r>
              <a:rPr sz="1300" b="1">
                <a:solidFill>
                  <a:srgbClr val="55657E"/>
                </a:solidFill>
                <a:latin typeface="Calibri"/>
              </a:rPr>
              <a:t>Algoritmo</a:t>
            </a:r>
          </a:p>
        </p:txBody>
      </p:sp>
      <p:sp>
        <p:nvSpPr>
          <p:cNvPr id="446" name="TextBox 445"/>
          <p:cNvSpPr txBox="1"/>
          <p:nvPr/>
        </p:nvSpPr>
        <p:spPr>
          <a:xfrm>
            <a:off x="3566160" y="1417320"/>
            <a:ext cx="3657600" cy="274320"/>
          </a:xfrm>
          <a:prstGeom prst="rect">
            <a:avLst/>
          </a:prstGeom>
          <a:noFill/>
        </p:spPr>
        <p:txBody>
          <a:bodyPr wrap="square" lIns="0" tIns="0" rIns="0" bIns="0" anchor="t">
            <a:spAutoFit/>
          </a:bodyPr>
          <a:lstStyle/>
          <a:p>
            <a:pPr algn="l"/>
            <a:r>
              <a:rPr sz="1300" b="1">
                <a:solidFill>
                  <a:srgbClr val="55657E"/>
                </a:solidFill>
                <a:latin typeface="Calibri"/>
              </a:rPr>
              <a:t>Formulación</a:t>
            </a:r>
          </a:p>
        </p:txBody>
      </p:sp>
      <p:sp>
        <p:nvSpPr>
          <p:cNvPr id="447" name="TextBox 446"/>
          <p:cNvSpPr txBox="1"/>
          <p:nvPr/>
        </p:nvSpPr>
        <p:spPr>
          <a:xfrm>
            <a:off x="7360920" y="1417320"/>
            <a:ext cx="2926080" cy="274320"/>
          </a:xfrm>
          <a:prstGeom prst="rect">
            <a:avLst/>
          </a:prstGeom>
          <a:noFill/>
        </p:spPr>
        <p:txBody>
          <a:bodyPr wrap="square" lIns="0" tIns="0" rIns="0" bIns="0" anchor="t">
            <a:spAutoFit/>
          </a:bodyPr>
          <a:lstStyle/>
          <a:p>
            <a:pPr algn="l"/>
            <a:r>
              <a:rPr sz="1300" b="1">
                <a:solidFill>
                  <a:srgbClr val="55657E"/>
                </a:solidFill>
                <a:latin typeface="Calibri"/>
              </a:rPr>
              <a:t>Hiperparámetros</a:t>
            </a:r>
          </a:p>
        </p:txBody>
      </p:sp>
      <p:sp>
        <p:nvSpPr>
          <p:cNvPr id="448" name="TextBox 447"/>
          <p:cNvSpPr txBox="1"/>
          <p:nvPr/>
        </p:nvSpPr>
        <p:spPr>
          <a:xfrm>
            <a:off x="10241280" y="1417320"/>
            <a:ext cx="1005840" cy="274320"/>
          </a:xfrm>
          <a:prstGeom prst="rect">
            <a:avLst/>
          </a:prstGeom>
          <a:noFill/>
        </p:spPr>
        <p:txBody>
          <a:bodyPr wrap="square" lIns="0" tIns="0" rIns="0" bIns="0" anchor="t">
            <a:spAutoFit/>
          </a:bodyPr>
          <a:lstStyle/>
          <a:p>
            <a:pPr algn="ctr"/>
            <a:r>
              <a:rPr sz="1300" b="1">
                <a:solidFill>
                  <a:srgbClr val="55657E"/>
                </a:solidFill>
                <a:latin typeface="Calibri"/>
              </a:rPr>
              <a:t>Comb.</a:t>
            </a:r>
          </a:p>
        </p:txBody>
      </p:sp>
      <p:sp>
        <p:nvSpPr>
          <p:cNvPr id="449" name="Rounded Rectangle 448"/>
          <p:cNvSpPr/>
          <p:nvPr/>
        </p:nvSpPr>
        <p:spPr>
          <a:xfrm>
            <a:off x="731520" y="1755648"/>
            <a:ext cx="10515600" cy="768096"/>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Rectangle 449"/>
          <p:cNvSpPr/>
          <p:nvPr/>
        </p:nvSpPr>
        <p:spPr>
          <a:xfrm>
            <a:off x="731520" y="1755648"/>
            <a:ext cx="64008" cy="768096"/>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TextBox 450"/>
          <p:cNvSpPr txBox="1"/>
          <p:nvPr/>
        </p:nvSpPr>
        <p:spPr>
          <a:xfrm>
            <a:off x="914400" y="1755648"/>
            <a:ext cx="2560320" cy="768096"/>
          </a:xfrm>
          <a:prstGeom prst="rect">
            <a:avLst/>
          </a:prstGeom>
          <a:noFill/>
        </p:spPr>
        <p:txBody>
          <a:bodyPr wrap="square" lIns="0" tIns="0" rIns="0" bIns="0" anchor="ctr">
            <a:spAutoFit/>
          </a:bodyPr>
          <a:lstStyle/>
          <a:p>
            <a:pPr algn="l"/>
            <a:r>
              <a:rPr sz="1800" b="1">
                <a:solidFill>
                  <a:srgbClr val="1F5FAE"/>
                </a:solidFill>
                <a:latin typeface="Calibri"/>
              </a:rPr>
              <a:t>Regresión logística</a:t>
            </a:r>
          </a:p>
        </p:txBody>
      </p:sp>
      <p:pic>
        <p:nvPicPr>
          <p:cNvPr id="452" name="Picture 451" descr="lr1.png"/>
          <p:cNvPicPr>
            <a:picLocks noChangeAspect="1"/>
          </p:cNvPicPr>
          <p:nvPr/>
        </p:nvPicPr>
        <p:blipFill>
          <a:blip r:embed="rId4"/>
          <a:stretch>
            <a:fillRect/>
          </a:stretch>
        </p:blipFill>
        <p:spPr>
          <a:xfrm>
            <a:off x="3566160" y="1971675"/>
            <a:ext cx="2129409" cy="336042"/>
          </a:xfrm>
          <a:prstGeom prst="rect">
            <a:avLst/>
          </a:prstGeom>
        </p:spPr>
      </p:pic>
      <p:sp>
        <p:nvSpPr>
          <p:cNvPr id="453" name="TextBox 452"/>
          <p:cNvSpPr txBox="1"/>
          <p:nvPr/>
        </p:nvSpPr>
        <p:spPr>
          <a:xfrm>
            <a:off x="7360920" y="1755648"/>
            <a:ext cx="2926080" cy="768096"/>
          </a:xfrm>
          <a:prstGeom prst="rect">
            <a:avLst/>
          </a:prstGeom>
          <a:noFill/>
        </p:spPr>
        <p:txBody>
          <a:bodyPr wrap="square" lIns="0" tIns="0" rIns="0" bIns="0" anchor="ctr">
            <a:spAutoFit/>
          </a:bodyPr>
          <a:lstStyle/>
          <a:p>
            <a:pPr algn="l"/>
            <a:r>
              <a:rPr sz="1250" b="0">
                <a:solidFill>
                  <a:srgbClr val="0F1E36"/>
                </a:solidFill>
                <a:latin typeface="Calibri"/>
              </a:rPr>
              <a:t>C: 0,01 a 100 (8 valores)</a:t>
            </a:r>
          </a:p>
          <a:p>
            <a:pPr algn="l"/>
            <a:r>
              <a:rPr sz="1250" b="0">
                <a:solidFill>
                  <a:srgbClr val="0F1E36"/>
                </a:solidFill>
                <a:latin typeface="Calibri"/>
              </a:rPr>
              <a:t>peso de clase: no / balanceado</a:t>
            </a:r>
          </a:p>
        </p:txBody>
      </p:sp>
      <p:sp>
        <p:nvSpPr>
          <p:cNvPr id="454" name="TextBox 453"/>
          <p:cNvSpPr txBox="1"/>
          <p:nvPr/>
        </p:nvSpPr>
        <p:spPr>
          <a:xfrm>
            <a:off x="10241280" y="1970419"/>
            <a:ext cx="1005840" cy="338554"/>
          </a:xfrm>
          <a:prstGeom prst="rect">
            <a:avLst/>
          </a:prstGeom>
          <a:noFill/>
        </p:spPr>
        <p:txBody>
          <a:bodyPr wrap="square" lIns="0" tIns="0" rIns="0" bIns="0" anchor="ctr">
            <a:spAutoFit/>
          </a:bodyPr>
          <a:lstStyle/>
          <a:p>
            <a:pPr algn="ctr"/>
            <a:r>
              <a:rPr sz="2200" b="1" dirty="0">
                <a:solidFill>
                  <a:schemeClr val="tx1"/>
                </a:solidFill>
                <a:latin typeface="Calibri"/>
              </a:rPr>
              <a:t>16</a:t>
            </a:r>
          </a:p>
        </p:txBody>
      </p:sp>
      <p:sp>
        <p:nvSpPr>
          <p:cNvPr id="455" name="Rectangle 454"/>
          <p:cNvSpPr/>
          <p:nvPr/>
        </p:nvSpPr>
        <p:spPr>
          <a:xfrm>
            <a:off x="731520" y="2578608"/>
            <a:ext cx="64008" cy="768096"/>
          </a:xfrm>
          <a:prstGeom prst="rect">
            <a:avLst/>
          </a:prstGeom>
          <a:solidFill>
            <a:srgbClr val="C26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TextBox 455"/>
          <p:cNvSpPr txBox="1"/>
          <p:nvPr/>
        </p:nvSpPr>
        <p:spPr>
          <a:xfrm>
            <a:off x="914400" y="2578608"/>
            <a:ext cx="2560320" cy="768096"/>
          </a:xfrm>
          <a:prstGeom prst="rect">
            <a:avLst/>
          </a:prstGeom>
          <a:noFill/>
        </p:spPr>
        <p:txBody>
          <a:bodyPr wrap="square" lIns="0" tIns="0" rIns="0" bIns="0" anchor="ctr">
            <a:spAutoFit/>
          </a:bodyPr>
          <a:lstStyle/>
          <a:p>
            <a:pPr algn="l"/>
            <a:r>
              <a:rPr sz="1800" b="1">
                <a:solidFill>
                  <a:srgbClr val="C2610C"/>
                </a:solidFill>
                <a:latin typeface="Calibri"/>
              </a:rPr>
              <a:t>Árbol de decisión</a:t>
            </a:r>
          </a:p>
        </p:txBody>
      </p:sp>
      <p:pic>
        <p:nvPicPr>
          <p:cNvPr id="457" name="Picture 456" descr="arbol1.png"/>
          <p:cNvPicPr>
            <a:picLocks noChangeAspect="1"/>
          </p:cNvPicPr>
          <p:nvPr/>
        </p:nvPicPr>
        <p:blipFill>
          <a:blip r:embed="rId5"/>
          <a:stretch>
            <a:fillRect/>
          </a:stretch>
        </p:blipFill>
        <p:spPr>
          <a:xfrm>
            <a:off x="3566160" y="2666047"/>
            <a:ext cx="2067687" cy="593217"/>
          </a:xfrm>
          <a:prstGeom prst="rect">
            <a:avLst/>
          </a:prstGeom>
        </p:spPr>
      </p:pic>
      <p:sp>
        <p:nvSpPr>
          <p:cNvPr id="458" name="TextBox 457"/>
          <p:cNvSpPr txBox="1"/>
          <p:nvPr/>
        </p:nvSpPr>
        <p:spPr>
          <a:xfrm>
            <a:off x="7360920" y="2578608"/>
            <a:ext cx="2926080" cy="768096"/>
          </a:xfrm>
          <a:prstGeom prst="rect">
            <a:avLst/>
          </a:prstGeom>
          <a:noFill/>
        </p:spPr>
        <p:txBody>
          <a:bodyPr wrap="square" lIns="0" tIns="0" rIns="0" bIns="0" anchor="ctr">
            <a:spAutoFit/>
          </a:bodyPr>
          <a:lstStyle/>
          <a:p>
            <a:pPr algn="l"/>
            <a:r>
              <a:rPr sz="1250" b="0">
                <a:solidFill>
                  <a:srgbClr val="0F1E36"/>
                </a:solidFill>
                <a:latin typeface="Calibri"/>
              </a:rPr>
              <a:t>profundidad: 2 a 5; hoja mínima: 1, 2, 4</a:t>
            </a:r>
          </a:p>
          <a:p>
            <a:pPr algn="l"/>
            <a:r>
              <a:rPr sz="1250" b="0">
                <a:solidFill>
                  <a:srgbClr val="0F1E36"/>
                </a:solidFill>
                <a:latin typeface="Calibri"/>
              </a:rPr>
              <a:t>criterio: Gini / entropía</a:t>
            </a:r>
          </a:p>
        </p:txBody>
      </p:sp>
      <p:sp>
        <p:nvSpPr>
          <p:cNvPr id="459" name="TextBox 458"/>
          <p:cNvSpPr txBox="1"/>
          <p:nvPr/>
        </p:nvSpPr>
        <p:spPr>
          <a:xfrm>
            <a:off x="10241280" y="2793379"/>
            <a:ext cx="1005840" cy="338554"/>
          </a:xfrm>
          <a:prstGeom prst="rect">
            <a:avLst/>
          </a:prstGeom>
          <a:noFill/>
        </p:spPr>
        <p:txBody>
          <a:bodyPr wrap="square" lIns="0" tIns="0" rIns="0" bIns="0" anchor="ctr">
            <a:spAutoFit/>
          </a:bodyPr>
          <a:lstStyle/>
          <a:p>
            <a:pPr algn="ctr"/>
            <a:r>
              <a:rPr sz="2200" b="1" dirty="0">
                <a:solidFill>
                  <a:schemeClr val="tx1"/>
                </a:solidFill>
                <a:latin typeface="Calibri"/>
              </a:rPr>
              <a:t>24</a:t>
            </a:r>
          </a:p>
        </p:txBody>
      </p:sp>
      <p:sp>
        <p:nvSpPr>
          <p:cNvPr id="460" name="Rounded Rectangle 459"/>
          <p:cNvSpPr/>
          <p:nvPr/>
        </p:nvSpPr>
        <p:spPr>
          <a:xfrm>
            <a:off x="731520" y="3401568"/>
            <a:ext cx="10515600" cy="768096"/>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Rectangle 460"/>
          <p:cNvSpPr/>
          <p:nvPr/>
        </p:nvSpPr>
        <p:spPr>
          <a:xfrm>
            <a:off x="731520" y="3401568"/>
            <a:ext cx="64008" cy="768096"/>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TextBox 461"/>
          <p:cNvSpPr txBox="1"/>
          <p:nvPr/>
        </p:nvSpPr>
        <p:spPr>
          <a:xfrm>
            <a:off x="914400" y="3401568"/>
            <a:ext cx="2560320" cy="768096"/>
          </a:xfrm>
          <a:prstGeom prst="rect">
            <a:avLst/>
          </a:prstGeom>
          <a:noFill/>
        </p:spPr>
        <p:txBody>
          <a:bodyPr wrap="square" lIns="0" tIns="0" rIns="0" bIns="0" anchor="ctr">
            <a:spAutoFit/>
          </a:bodyPr>
          <a:lstStyle/>
          <a:p>
            <a:pPr algn="l"/>
            <a:r>
              <a:rPr sz="1800" b="1">
                <a:solidFill>
                  <a:srgbClr val="047857"/>
                </a:solidFill>
                <a:latin typeface="Calibri"/>
              </a:rPr>
              <a:t>Random Forest</a:t>
            </a:r>
          </a:p>
        </p:txBody>
      </p:sp>
      <p:pic>
        <p:nvPicPr>
          <p:cNvPr id="463" name="Picture 462" descr="rf1.png"/>
          <p:cNvPicPr>
            <a:picLocks noChangeAspect="1"/>
          </p:cNvPicPr>
          <p:nvPr/>
        </p:nvPicPr>
        <p:blipFill>
          <a:blip r:embed="rId6"/>
          <a:stretch>
            <a:fillRect/>
          </a:stretch>
        </p:blipFill>
        <p:spPr>
          <a:xfrm>
            <a:off x="3566160" y="3401568"/>
            <a:ext cx="1868805" cy="768096"/>
          </a:xfrm>
          <a:prstGeom prst="rect">
            <a:avLst/>
          </a:prstGeom>
        </p:spPr>
      </p:pic>
      <p:sp>
        <p:nvSpPr>
          <p:cNvPr id="464" name="TextBox 463"/>
          <p:cNvSpPr txBox="1"/>
          <p:nvPr/>
        </p:nvSpPr>
        <p:spPr>
          <a:xfrm>
            <a:off x="7360920" y="3401568"/>
            <a:ext cx="2926080" cy="768096"/>
          </a:xfrm>
          <a:prstGeom prst="rect">
            <a:avLst/>
          </a:prstGeom>
          <a:noFill/>
        </p:spPr>
        <p:txBody>
          <a:bodyPr wrap="square" lIns="0" tIns="0" rIns="0" bIns="0" anchor="ctr">
            <a:spAutoFit/>
          </a:bodyPr>
          <a:lstStyle/>
          <a:p>
            <a:pPr algn="l"/>
            <a:r>
              <a:rPr sz="1250" b="0">
                <a:solidFill>
                  <a:srgbClr val="0F1E36"/>
                </a:solidFill>
                <a:latin typeface="Calibri"/>
              </a:rPr>
              <a:t>B = 150; profundidad: 2, 3, 4, sin límite</a:t>
            </a:r>
          </a:p>
          <a:p>
            <a:pPr algn="l"/>
            <a:r>
              <a:rPr sz="1250" b="0">
                <a:solidFill>
                  <a:srgbClr val="0F1E36"/>
                </a:solidFill>
                <a:latin typeface="Calibri"/>
              </a:rPr>
              <a:t>hoja mínima: 1, 2, 4; variables: √p / todas</a:t>
            </a:r>
          </a:p>
        </p:txBody>
      </p:sp>
      <p:sp>
        <p:nvSpPr>
          <p:cNvPr id="465" name="TextBox 464"/>
          <p:cNvSpPr txBox="1"/>
          <p:nvPr/>
        </p:nvSpPr>
        <p:spPr>
          <a:xfrm>
            <a:off x="10241280" y="3616339"/>
            <a:ext cx="1005840" cy="338554"/>
          </a:xfrm>
          <a:prstGeom prst="rect">
            <a:avLst/>
          </a:prstGeom>
          <a:noFill/>
        </p:spPr>
        <p:txBody>
          <a:bodyPr wrap="square" lIns="0" tIns="0" rIns="0" bIns="0" anchor="ctr">
            <a:spAutoFit/>
          </a:bodyPr>
          <a:lstStyle/>
          <a:p>
            <a:pPr algn="ctr"/>
            <a:r>
              <a:rPr sz="2200" b="1" dirty="0">
                <a:solidFill>
                  <a:schemeClr val="tx1"/>
                </a:solidFill>
                <a:latin typeface="Calibri"/>
              </a:rPr>
              <a:t>24</a:t>
            </a:r>
          </a:p>
        </p:txBody>
      </p:sp>
      <p:sp>
        <p:nvSpPr>
          <p:cNvPr id="466" name="Rectangle 465"/>
          <p:cNvSpPr/>
          <p:nvPr/>
        </p:nvSpPr>
        <p:spPr>
          <a:xfrm>
            <a:off x="731520" y="4224528"/>
            <a:ext cx="64008" cy="7680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TextBox 466"/>
          <p:cNvSpPr txBox="1"/>
          <p:nvPr/>
        </p:nvSpPr>
        <p:spPr>
          <a:xfrm>
            <a:off x="914400" y="4224528"/>
            <a:ext cx="2560320" cy="768096"/>
          </a:xfrm>
          <a:prstGeom prst="rect">
            <a:avLst/>
          </a:prstGeom>
          <a:noFill/>
        </p:spPr>
        <p:txBody>
          <a:bodyPr wrap="square" lIns="0" tIns="0" rIns="0" bIns="0" anchor="ctr">
            <a:spAutoFit/>
          </a:bodyPr>
          <a:lstStyle/>
          <a:p>
            <a:pPr algn="l"/>
            <a:r>
              <a:rPr sz="1800" b="1">
                <a:solidFill>
                  <a:srgbClr val="6D28D9"/>
                </a:solidFill>
                <a:latin typeface="Calibri"/>
              </a:rPr>
              <a:t>XGBoost</a:t>
            </a:r>
          </a:p>
        </p:txBody>
      </p:sp>
      <p:pic>
        <p:nvPicPr>
          <p:cNvPr id="468" name="Picture 467" descr="xgb1.png"/>
          <p:cNvPicPr>
            <a:picLocks noChangeAspect="1"/>
          </p:cNvPicPr>
          <p:nvPr/>
        </p:nvPicPr>
        <p:blipFill>
          <a:blip r:embed="rId7"/>
          <a:stretch>
            <a:fillRect/>
          </a:stretch>
        </p:blipFill>
        <p:spPr>
          <a:xfrm>
            <a:off x="3566160" y="4431982"/>
            <a:ext cx="2276856" cy="353187"/>
          </a:xfrm>
          <a:prstGeom prst="rect">
            <a:avLst/>
          </a:prstGeom>
        </p:spPr>
      </p:pic>
      <p:sp>
        <p:nvSpPr>
          <p:cNvPr id="469" name="TextBox 468"/>
          <p:cNvSpPr txBox="1"/>
          <p:nvPr/>
        </p:nvSpPr>
        <p:spPr>
          <a:xfrm>
            <a:off x="7360920" y="4224528"/>
            <a:ext cx="2926080" cy="768096"/>
          </a:xfrm>
          <a:prstGeom prst="rect">
            <a:avLst/>
          </a:prstGeom>
          <a:noFill/>
        </p:spPr>
        <p:txBody>
          <a:bodyPr wrap="square" lIns="0" tIns="0" rIns="0" bIns="0" anchor="ctr">
            <a:spAutoFit/>
          </a:bodyPr>
          <a:lstStyle/>
          <a:p>
            <a:pPr algn="l"/>
            <a:r>
              <a:rPr sz="1250" b="0">
                <a:solidFill>
                  <a:srgbClr val="0F1E36"/>
                </a:solidFill>
                <a:latin typeface="Calibri"/>
              </a:rPr>
              <a:t>árboles: 100, 200; profundidad: 2, 3</a:t>
            </a:r>
          </a:p>
          <a:p>
            <a:pPr algn="l"/>
            <a:r>
              <a:rPr sz="1250" b="0">
                <a:solidFill>
                  <a:srgbClr val="0F1E36"/>
                </a:solidFill>
                <a:latin typeface="Calibri"/>
              </a:rPr>
              <a:t>η: 0,03, 0,1; λ: 0,5, 1, 2</a:t>
            </a:r>
          </a:p>
        </p:txBody>
      </p:sp>
      <p:sp>
        <p:nvSpPr>
          <p:cNvPr id="470" name="TextBox 469"/>
          <p:cNvSpPr txBox="1"/>
          <p:nvPr/>
        </p:nvSpPr>
        <p:spPr>
          <a:xfrm>
            <a:off x="10241280" y="4439299"/>
            <a:ext cx="1005840" cy="338554"/>
          </a:xfrm>
          <a:prstGeom prst="rect">
            <a:avLst/>
          </a:prstGeom>
          <a:noFill/>
        </p:spPr>
        <p:txBody>
          <a:bodyPr wrap="square" lIns="0" tIns="0" rIns="0" bIns="0" anchor="ctr">
            <a:spAutoFit/>
          </a:bodyPr>
          <a:lstStyle/>
          <a:p>
            <a:pPr algn="ctr"/>
            <a:r>
              <a:rPr sz="2200" b="1" dirty="0">
                <a:solidFill>
                  <a:schemeClr val="tx1"/>
                </a:solidFill>
                <a:latin typeface="Calibri"/>
              </a:rPr>
              <a:t>24</a:t>
            </a:r>
          </a:p>
        </p:txBody>
      </p:sp>
      <p:sp>
        <p:nvSpPr>
          <p:cNvPr id="471" name="Rounded Rectangle 470"/>
          <p:cNvSpPr/>
          <p:nvPr/>
        </p:nvSpPr>
        <p:spPr>
          <a:xfrm>
            <a:off x="731520" y="5047488"/>
            <a:ext cx="10515600" cy="768096"/>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Rectangle 471"/>
          <p:cNvSpPr/>
          <p:nvPr/>
        </p:nvSpPr>
        <p:spPr>
          <a:xfrm>
            <a:off x="731520" y="5047488"/>
            <a:ext cx="64008" cy="76809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TextBox 472"/>
          <p:cNvSpPr txBox="1"/>
          <p:nvPr/>
        </p:nvSpPr>
        <p:spPr>
          <a:xfrm>
            <a:off x="914400" y="5047488"/>
            <a:ext cx="2560320" cy="768096"/>
          </a:xfrm>
          <a:prstGeom prst="rect">
            <a:avLst/>
          </a:prstGeom>
          <a:noFill/>
        </p:spPr>
        <p:txBody>
          <a:bodyPr wrap="square" lIns="0" tIns="0" rIns="0" bIns="0" anchor="ctr">
            <a:spAutoFit/>
          </a:bodyPr>
          <a:lstStyle/>
          <a:p>
            <a:pPr algn="l"/>
            <a:r>
              <a:rPr sz="1800" b="1">
                <a:solidFill>
                  <a:srgbClr val="0369A1"/>
                </a:solidFill>
                <a:latin typeface="Calibri"/>
              </a:rPr>
              <a:t>SVM (kernel RBF)</a:t>
            </a:r>
          </a:p>
        </p:txBody>
      </p:sp>
      <p:pic>
        <p:nvPicPr>
          <p:cNvPr id="474" name="Picture 473" descr="svm1.png"/>
          <p:cNvPicPr>
            <a:picLocks noChangeAspect="1"/>
          </p:cNvPicPr>
          <p:nvPr/>
        </p:nvPicPr>
        <p:blipFill>
          <a:blip r:embed="rId8"/>
          <a:stretch>
            <a:fillRect/>
          </a:stretch>
        </p:blipFill>
        <p:spPr>
          <a:xfrm>
            <a:off x="3566160" y="5138356"/>
            <a:ext cx="3065526" cy="586359"/>
          </a:xfrm>
          <a:prstGeom prst="rect">
            <a:avLst/>
          </a:prstGeom>
        </p:spPr>
      </p:pic>
      <p:sp>
        <p:nvSpPr>
          <p:cNvPr id="475" name="TextBox 474"/>
          <p:cNvSpPr txBox="1"/>
          <p:nvPr/>
        </p:nvSpPr>
        <p:spPr>
          <a:xfrm>
            <a:off x="7360920" y="5047488"/>
            <a:ext cx="2926080" cy="768096"/>
          </a:xfrm>
          <a:prstGeom prst="rect">
            <a:avLst/>
          </a:prstGeom>
          <a:noFill/>
        </p:spPr>
        <p:txBody>
          <a:bodyPr wrap="square" lIns="0" tIns="0" rIns="0" bIns="0" anchor="ctr">
            <a:spAutoFit/>
          </a:bodyPr>
          <a:lstStyle/>
          <a:p>
            <a:pPr algn="l"/>
            <a:r>
              <a:rPr sz="1250" b="0">
                <a:solidFill>
                  <a:srgbClr val="0F1E36"/>
                </a:solidFill>
                <a:latin typeface="Calibri"/>
              </a:rPr>
              <a:t>C: 0,1 a 10 (5 valores)</a:t>
            </a:r>
          </a:p>
          <a:p>
            <a:pPr algn="l"/>
            <a:r>
              <a:rPr sz="1250" b="0">
                <a:solidFill>
                  <a:srgbClr val="0F1E36"/>
                </a:solidFill>
                <a:latin typeface="Calibri"/>
              </a:rPr>
              <a:t>γ: scale, auto, 0,01, 0,1</a:t>
            </a:r>
          </a:p>
        </p:txBody>
      </p:sp>
      <p:sp>
        <p:nvSpPr>
          <p:cNvPr id="476" name="TextBox 475"/>
          <p:cNvSpPr txBox="1"/>
          <p:nvPr/>
        </p:nvSpPr>
        <p:spPr>
          <a:xfrm>
            <a:off x="10241280" y="5262259"/>
            <a:ext cx="1005840" cy="338554"/>
          </a:xfrm>
          <a:prstGeom prst="rect">
            <a:avLst/>
          </a:prstGeom>
          <a:noFill/>
        </p:spPr>
        <p:txBody>
          <a:bodyPr wrap="square" lIns="0" tIns="0" rIns="0" bIns="0" anchor="ctr">
            <a:spAutoFit/>
          </a:bodyPr>
          <a:lstStyle/>
          <a:p>
            <a:pPr algn="ctr"/>
            <a:r>
              <a:rPr sz="2200" b="1" dirty="0">
                <a:solidFill>
                  <a:schemeClr val="tx1"/>
                </a:solidFill>
                <a:latin typeface="Calibri"/>
              </a:rPr>
              <a:t>20</a:t>
            </a:r>
          </a:p>
        </p:txBody>
      </p:sp>
      <p:sp>
        <p:nvSpPr>
          <p:cNvPr id="477" name="TextBox 476"/>
          <p:cNvSpPr txBox="1"/>
          <p:nvPr/>
        </p:nvSpPr>
        <p:spPr>
          <a:xfrm>
            <a:off x="731520" y="5943600"/>
            <a:ext cx="9875520" cy="274320"/>
          </a:xfrm>
          <a:prstGeom prst="rect">
            <a:avLst/>
          </a:prstGeom>
          <a:noFill/>
        </p:spPr>
        <p:txBody>
          <a:bodyPr wrap="square" lIns="0" tIns="0" rIns="0" bIns="0" anchor="t">
            <a:spAutoFit/>
          </a:bodyPr>
          <a:lstStyle/>
          <a:p>
            <a:pPr algn="l"/>
            <a:r>
              <a:rPr sz="1100" b="0">
                <a:solidFill>
                  <a:srgbClr val="55657E"/>
                </a:solidFill>
                <a:latin typeface="Calibri"/>
              </a:rPr>
              <a:t>Regresión logística y árbol de decisión [8]; Random Forest [9]; XGBoost [10]; SVM [11]; implementación en scikit-learn [14]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15"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31" name="Google Shape;331;p15"/>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13</a:t>
            </a:r>
            <a:endParaRPr/>
          </a:p>
        </p:txBody>
      </p:sp>
      <p:sp>
        <p:nvSpPr>
          <p:cNvPr id="332" name="Google Shape;332;p15"/>
          <p:cNvSpPr txBox="1"/>
          <p:nvPr/>
        </p:nvSpPr>
        <p:spPr>
          <a:xfrm>
            <a:off x="731520" y="118872"/>
            <a:ext cx="7315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33" name="Google Shape;333;p15"/>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15"/>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Validación cruzada anidada</a:t>
            </a:r>
            <a:endParaRPr/>
          </a:p>
        </p:txBody>
      </p:sp>
      <p:sp>
        <p:nvSpPr>
          <p:cNvPr id="335" name="Google Shape;335;p15"/>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Los datos de evaluación nunca participan en una decisión del modelo</a:t>
            </a:r>
            <a:endParaRPr/>
          </a:p>
        </p:txBody>
      </p:sp>
      <p:sp>
        <p:nvSpPr>
          <p:cNvPr id="337" name="TextBox 336"/>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Validación cruzada anidada [5], [6]; prueba t corregida [12]</a:t>
            </a:r>
          </a:p>
        </p:txBody>
      </p:sp>
      <p:pic>
        <p:nvPicPr>
          <p:cNvPr id="338" name="Picture 337" descr="validacion_anidada.png"/>
          <p:cNvPicPr>
            <a:picLocks noChangeAspect="1"/>
          </p:cNvPicPr>
          <p:nvPr/>
        </p:nvPicPr>
        <p:blipFill>
          <a:blip r:embed="rId4"/>
          <a:stretch>
            <a:fillRect/>
          </a:stretch>
        </p:blipFill>
        <p:spPr>
          <a:xfrm>
            <a:off x="731520" y="1523346"/>
            <a:ext cx="10515600" cy="44513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pic>
        <p:nvPicPr>
          <p:cNvPr id="378" name="Google Shape;378;p19"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79" name="Google Shape;379;p19"/>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14</a:t>
            </a:r>
            <a:endParaRPr/>
          </a:p>
        </p:txBody>
      </p:sp>
      <p:sp>
        <p:nvSpPr>
          <p:cNvPr id="380" name="Google Shape;380;p19"/>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381" name="Google Shape;381;p19"/>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19"/>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Comparación de algoritmos</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métrica AUC-PR</a:t>
            </a:r>
            <a:endParaRPr/>
          </a:p>
        </p:txBody>
      </p:sp>
      <p:sp>
        <p:nvSpPr>
          <p:cNvPr id="383" name="Google Shape;383;p19"/>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80 estudiantes </a:t>
            </a:r>
            <a:r>
              <a:rPr lang="en-US" sz="1800">
                <a:solidFill>
                  <a:srgbClr val="55657E"/>
                </a:solidFill>
                <a:latin typeface="Calibri"/>
                <a:ea typeface="Calibri"/>
                <a:cs typeface="Calibri"/>
                <a:sym typeface="Calibri"/>
              </a:rPr>
              <a:t>- </a:t>
            </a:r>
            <a:r>
              <a:rPr lang="en-US" sz="1800" b="0" i="0">
                <a:solidFill>
                  <a:srgbClr val="55657E"/>
                </a:solidFill>
                <a:latin typeface="Calibri"/>
                <a:ea typeface="Calibri"/>
                <a:cs typeface="Calibri"/>
                <a:sym typeface="Calibri"/>
              </a:rPr>
              <a:t>10 repeticiones × 5 particiones</a:t>
            </a:r>
            <a:endParaRPr/>
          </a:p>
        </p:txBody>
      </p:sp>
      <p:pic>
        <p:nvPicPr>
          <p:cNvPr id="384" name="Google Shape;384;p19" descr="aucpr.png"/>
          <p:cNvPicPr preferRelativeResize="0"/>
          <p:nvPr/>
        </p:nvPicPr>
        <p:blipFill rotWithShape="1">
          <a:blip r:embed="rId4">
            <a:alphaModFix/>
          </a:blip>
          <a:srcRect/>
          <a:stretch/>
        </p:blipFill>
        <p:spPr>
          <a:xfrm>
            <a:off x="8749982" y="914400"/>
            <a:ext cx="2251075" cy="457200"/>
          </a:xfrm>
          <a:prstGeom prst="rect">
            <a:avLst/>
          </a:prstGeom>
          <a:noFill/>
          <a:ln>
            <a:noFill/>
          </a:ln>
        </p:spPr>
      </p:pic>
      <p:pic>
        <p:nvPicPr>
          <p:cNvPr id="385" name="Google Shape;385;p19" descr="f09_aucpr_repeticiones.png"/>
          <p:cNvPicPr preferRelativeResize="0"/>
          <p:nvPr/>
        </p:nvPicPr>
        <p:blipFill rotWithShape="1">
          <a:blip r:embed="rId5">
            <a:alphaModFix/>
          </a:blip>
          <a:srcRect/>
          <a:stretch/>
        </p:blipFill>
        <p:spPr>
          <a:xfrm>
            <a:off x="777240" y="1508760"/>
            <a:ext cx="10424159" cy="4297680"/>
          </a:xfrm>
          <a:prstGeom prst="rect">
            <a:avLst/>
          </a:prstGeom>
          <a:noFill/>
          <a:ln>
            <a:noFill/>
          </a:ln>
        </p:spPr>
      </p:pic>
      <p:sp>
        <p:nvSpPr>
          <p:cNvPr id="386" name="TextBox 385"/>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AUC-PR como métrica para clases desbalanceadas [13]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pic>
        <p:nvPicPr>
          <p:cNvPr id="415" name="Google Shape;415;p22"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16" name="Google Shape;416;p22"/>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15</a:t>
            </a:r>
            <a:endParaRPr/>
          </a:p>
        </p:txBody>
      </p:sp>
      <p:sp>
        <p:nvSpPr>
          <p:cNvPr id="417" name="Google Shape;417;p22"/>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dirty="0">
                <a:solidFill>
                  <a:srgbClr val="6D28D9"/>
                </a:solidFill>
                <a:latin typeface="Calibri"/>
                <a:ea typeface="Calibri"/>
                <a:cs typeface="Calibri"/>
                <a:sym typeface="Calibri"/>
              </a:rPr>
              <a:t>EVALUACIÓN</a:t>
            </a:r>
            <a:endParaRPr dirty="0"/>
          </a:p>
        </p:txBody>
      </p:sp>
      <p:sp>
        <p:nvSpPr>
          <p:cNvPr id="418" name="Google Shape;418;p22"/>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22"/>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Matrices de confusión</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dos niveles de alerta</a:t>
            </a:r>
            <a:endParaRPr sz="3000" b="1" i="0">
              <a:solidFill>
                <a:srgbClr val="0F1E36"/>
              </a:solidFill>
              <a:latin typeface="Calibri"/>
              <a:ea typeface="Calibri"/>
              <a:cs typeface="Calibri"/>
              <a:sym typeface="Calibri"/>
            </a:endParaRPr>
          </a:p>
        </p:txBody>
      </p:sp>
      <p:sp>
        <p:nvSpPr>
          <p:cNvPr id="420" name="Google Shape;420;p22"/>
          <p:cNvSpPr txBox="1"/>
          <p:nvPr/>
        </p:nvSpPr>
        <p:spPr>
          <a:xfrm>
            <a:off x="731520" y="969264"/>
            <a:ext cx="106071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1800" b="0" i="0">
                <a:solidFill>
                  <a:srgbClr val="55657E"/>
                </a:solidFill>
                <a:latin typeface="Calibri"/>
              </a:rPr>
              <a:t>Porcentaje sobre cada fila; entre paréntesis, número de estudiantes</a:t>
            </a:r>
            <a:endParaRPr/>
          </a:p>
        </p:txBody>
      </p:sp>
      <p:pic>
        <p:nvPicPr>
          <p:cNvPr id="421" name="Picture 420" descr="f12_confusion_v5.png"/>
          <p:cNvPicPr>
            <a:picLocks noChangeAspect="1"/>
          </p:cNvPicPr>
          <p:nvPr/>
        </p:nvPicPr>
        <p:blipFill>
          <a:blip r:embed="rId4"/>
          <a:stretch>
            <a:fillRect/>
          </a:stretch>
        </p:blipFill>
        <p:spPr>
          <a:xfrm>
            <a:off x="817961" y="1751496"/>
            <a:ext cx="10434242" cy="43018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pic>
        <p:nvPicPr>
          <p:cNvPr id="439" name="Google Shape;439;p2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40" name="Google Shape;440;p2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16</a:t>
            </a:r>
            <a:endParaRPr/>
          </a:p>
        </p:txBody>
      </p:sp>
      <p:sp>
        <p:nvSpPr>
          <p:cNvPr id="441" name="Google Shape;441;p2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42" name="Google Shape;442;p2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Segundo objetivo</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graduación</a:t>
            </a:r>
            <a:endParaRPr sz="3000" b="1" i="0">
              <a:solidFill>
                <a:srgbClr val="0F1E36"/>
              </a:solidFill>
              <a:latin typeface="Calibri"/>
              <a:ea typeface="Calibri"/>
              <a:cs typeface="Calibri"/>
              <a:sym typeface="Calibri"/>
            </a:endParaRPr>
          </a:p>
        </p:txBody>
      </p:sp>
      <p:sp>
        <p:nvSpPr>
          <p:cNvPr id="444" name="Google Shape;444;p24"/>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SVM y Random Forest empatan (p = 0,39)</a:t>
            </a:r>
            <a:r>
              <a:rPr lang="en-US" sz="1800">
                <a:solidFill>
                  <a:srgbClr val="55657E"/>
                </a:solidFill>
                <a:latin typeface="Calibri"/>
                <a:ea typeface="Calibri"/>
                <a:cs typeface="Calibri"/>
                <a:sym typeface="Calibri"/>
              </a:rPr>
              <a:t>, </a:t>
            </a:r>
            <a:r>
              <a:rPr lang="en-US" sz="1800" b="0" i="0">
                <a:solidFill>
                  <a:srgbClr val="55657E"/>
                </a:solidFill>
                <a:latin typeface="Calibri"/>
                <a:ea typeface="Calibri"/>
                <a:cs typeface="Calibri"/>
                <a:sym typeface="Calibri"/>
              </a:rPr>
              <a:t>se elige Random Forest</a:t>
            </a:r>
            <a:endParaRPr/>
          </a:p>
        </p:txBody>
      </p:sp>
      <p:pic>
        <p:nvPicPr>
          <p:cNvPr id="445" name="Google Shape;445;p24" descr="f14_graduacion.png"/>
          <p:cNvPicPr preferRelativeResize="0"/>
          <p:nvPr/>
        </p:nvPicPr>
        <p:blipFill rotWithShape="1">
          <a:blip r:embed="rId4">
            <a:alphaModFix/>
          </a:blip>
          <a:srcRect/>
          <a:stretch/>
        </p:blipFill>
        <p:spPr>
          <a:xfrm>
            <a:off x="731520" y="1515267"/>
            <a:ext cx="10515600" cy="42389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9" name="Google Shape;439;p2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40" name="Google Shape;440;p2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17</a:t>
            </a:r>
            <a:endParaRPr/>
          </a:p>
        </p:txBody>
      </p:sp>
      <p:sp>
        <p:nvSpPr>
          <p:cNvPr id="441" name="Google Shape;441;p2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42" name="Google Shape;442;p2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Límites declarados</a:t>
            </a:r>
            <a:endParaRPr sz="3000" b="1" i="0">
              <a:solidFill>
                <a:srgbClr val="0F1E36"/>
              </a:solidFill>
              <a:latin typeface="Calibri"/>
              <a:ea typeface="Calibri"/>
              <a:cs typeface="Calibri"/>
              <a:sym typeface="Calibri"/>
            </a:endParaRPr>
          </a:p>
        </p:txBody>
      </p:sp>
      <p:sp>
        <p:nvSpPr>
          <p:cNvPr id="444" name="Google Shape;444;p24"/>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dirty="0" err="1">
                <a:solidFill>
                  <a:srgbClr val="55657E"/>
                </a:solidFill>
                <a:latin typeface="Calibri"/>
                <a:ea typeface="Calibri"/>
                <a:cs typeface="Calibri"/>
                <a:sym typeface="Calibri"/>
              </a:rPr>
              <a:t>Definen</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cómo</a:t>
            </a:r>
            <a:r>
              <a:rPr lang="en-US" sz="1800" b="0" i="0" dirty="0">
                <a:solidFill>
                  <a:srgbClr val="55657E"/>
                </a:solidFill>
                <a:latin typeface="Calibri"/>
                <a:ea typeface="Calibri"/>
                <a:cs typeface="Calibri"/>
                <a:sym typeface="Calibri"/>
              </a:rPr>
              <a:t> se </a:t>
            </a:r>
            <a:r>
              <a:rPr lang="en-US" sz="1800" b="0" i="0" dirty="0" err="1">
                <a:solidFill>
                  <a:srgbClr val="55657E"/>
                </a:solidFill>
                <a:latin typeface="Calibri"/>
                <a:ea typeface="Calibri"/>
                <a:cs typeface="Calibri"/>
                <a:sym typeface="Calibri"/>
              </a:rPr>
              <a:t>usa</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el</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modelo</a:t>
            </a:r>
            <a:endParaRPr dirty="0"/>
          </a:p>
        </p:txBody>
      </p:sp>
      <p:sp>
        <p:nvSpPr>
          <p:cNvPr id="445" name="Rectangle 444"/>
          <p:cNvSpPr/>
          <p:nvPr/>
        </p:nvSpPr>
        <p:spPr>
          <a:xfrm>
            <a:off x="731520" y="1463040"/>
            <a:ext cx="3429000" cy="4343400"/>
          </a:xfrm>
          <a:prstGeom prst="rect">
            <a:avLst/>
          </a:prstGeom>
          <a:solidFill>
            <a:srgbClr val="FFFFFF"/>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Rectangle 445"/>
          <p:cNvSpPr/>
          <p:nvPr/>
        </p:nvSpPr>
        <p:spPr>
          <a:xfrm>
            <a:off x="731520" y="1463040"/>
            <a:ext cx="342900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val 446"/>
          <p:cNvSpPr/>
          <p:nvPr/>
        </p:nvSpPr>
        <p:spPr>
          <a:xfrm>
            <a:off x="896112" y="1572768"/>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E3A5F"/>
                </a:solidFill>
                <a:latin typeface="Calibri"/>
              </a:rPr>
              <a:t>1</a:t>
            </a:r>
          </a:p>
        </p:txBody>
      </p:sp>
      <p:sp>
        <p:nvSpPr>
          <p:cNvPr id="448" name="TextBox 447"/>
          <p:cNvSpPr txBox="1"/>
          <p:nvPr/>
        </p:nvSpPr>
        <p:spPr>
          <a:xfrm>
            <a:off x="1371600" y="1608004"/>
            <a:ext cx="2697480" cy="276999"/>
          </a:xfrm>
          <a:prstGeom prst="rect">
            <a:avLst/>
          </a:prstGeom>
          <a:noFill/>
        </p:spPr>
        <p:txBody>
          <a:bodyPr wrap="square" lIns="0" tIns="0" rIns="0" bIns="0" anchor="ctr">
            <a:spAutoFit/>
          </a:bodyPr>
          <a:lstStyle/>
          <a:p>
            <a:pPr algn="l"/>
            <a:r>
              <a:rPr sz="1800" b="1" i="1" dirty="0">
                <a:solidFill>
                  <a:srgbClr val="FFFFFF"/>
                </a:solidFill>
                <a:latin typeface="Calibri"/>
              </a:rPr>
              <a:t>Casos </a:t>
            </a:r>
            <a:r>
              <a:rPr sz="1800" b="1" i="1" dirty="0" err="1">
                <a:solidFill>
                  <a:srgbClr val="FFFFFF"/>
                </a:solidFill>
                <a:latin typeface="Calibri"/>
              </a:rPr>
              <a:t>simultáneos</a:t>
            </a:r>
            <a:endParaRPr sz="1800" b="1" i="1" dirty="0">
              <a:solidFill>
                <a:srgbClr val="FFFFFF"/>
              </a:solidFill>
              <a:latin typeface="Calibri"/>
            </a:endParaRPr>
          </a:p>
        </p:txBody>
      </p:sp>
      <p:sp>
        <p:nvSpPr>
          <p:cNvPr id="449" name="TextBox 448"/>
          <p:cNvSpPr txBox="1"/>
          <p:nvPr/>
        </p:nvSpPr>
        <p:spPr>
          <a:xfrm>
            <a:off x="960120" y="2212848"/>
            <a:ext cx="2971800" cy="228600"/>
          </a:xfrm>
          <a:prstGeom prst="rect">
            <a:avLst/>
          </a:prstGeom>
          <a:noFill/>
        </p:spPr>
        <p:txBody>
          <a:bodyPr wrap="square" lIns="0" tIns="0" rIns="0" bIns="0" anchor="t">
            <a:spAutoFit/>
          </a:bodyPr>
          <a:lstStyle/>
          <a:p>
            <a:pPr algn="l"/>
            <a:r>
              <a:rPr sz="1100" b="1" spc="100">
                <a:solidFill>
                  <a:srgbClr val="55657E"/>
                </a:solidFill>
                <a:latin typeface="Calibri"/>
              </a:rPr>
              <a:t>HALLAZGO</a:t>
            </a:r>
          </a:p>
        </p:txBody>
      </p:sp>
      <p:sp>
        <p:nvSpPr>
          <p:cNvPr id="450" name="TextBox 449"/>
          <p:cNvSpPr txBox="1"/>
          <p:nvPr/>
        </p:nvSpPr>
        <p:spPr>
          <a:xfrm>
            <a:off x="960120" y="2450592"/>
            <a:ext cx="2971800" cy="914400"/>
          </a:xfrm>
          <a:prstGeom prst="rect">
            <a:avLst/>
          </a:prstGeom>
          <a:noFill/>
        </p:spPr>
        <p:txBody>
          <a:bodyPr wrap="square" lIns="0" tIns="0" rIns="0" bIns="0" anchor="t">
            <a:spAutoFit/>
          </a:bodyPr>
          <a:lstStyle/>
          <a:p>
            <a:pPr algn="l"/>
            <a:r>
              <a:rPr sz="1650" b="0">
                <a:solidFill>
                  <a:srgbClr val="0F1E36"/>
                </a:solidFill>
                <a:latin typeface="Calibri"/>
              </a:rPr>
              <a:t>42 % de los casos ocurre en el 1.er semestre: ahí el modelo confirma, no anticipa</a:t>
            </a:r>
          </a:p>
        </p:txBody>
      </p:sp>
      <p:sp>
        <p:nvSpPr>
          <p:cNvPr id="451" name="Rectangle 450"/>
          <p:cNvSpPr/>
          <p:nvPr/>
        </p:nvSpPr>
        <p:spPr>
          <a:xfrm>
            <a:off x="960120" y="3401568"/>
            <a:ext cx="2971800" cy="10972"/>
          </a:xfrm>
          <a:prstGeom prst="rect">
            <a:avLst/>
          </a:prstGeom>
          <a:solidFill>
            <a:srgbClr val="D4D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TextBox 451"/>
          <p:cNvSpPr txBox="1"/>
          <p:nvPr/>
        </p:nvSpPr>
        <p:spPr>
          <a:xfrm>
            <a:off x="960120" y="3474720"/>
            <a:ext cx="2971800" cy="548640"/>
          </a:xfrm>
          <a:prstGeom prst="rect">
            <a:avLst/>
          </a:prstGeom>
          <a:noFill/>
        </p:spPr>
        <p:txBody>
          <a:bodyPr wrap="square" lIns="0" tIns="0" rIns="0" bIns="0" anchor="t">
            <a:spAutoFit/>
          </a:bodyPr>
          <a:lstStyle/>
          <a:p>
            <a:pPr algn="l"/>
            <a:r>
              <a:rPr sz="3000" b="1">
                <a:solidFill>
                  <a:srgbClr val="1F5FAE"/>
                </a:solidFill>
                <a:latin typeface="Calibri"/>
              </a:rPr>
              <a:t>3,1 × azar</a:t>
            </a:r>
          </a:p>
        </p:txBody>
      </p:sp>
      <p:sp>
        <p:nvSpPr>
          <p:cNvPr id="453" name="TextBox 452"/>
          <p:cNvSpPr txBox="1"/>
          <p:nvPr/>
        </p:nvSpPr>
        <p:spPr>
          <a:xfrm>
            <a:off x="960120" y="4023360"/>
            <a:ext cx="2971800" cy="411480"/>
          </a:xfrm>
          <a:prstGeom prst="rect">
            <a:avLst/>
          </a:prstGeom>
          <a:noFill/>
        </p:spPr>
        <p:txBody>
          <a:bodyPr wrap="square" lIns="0" tIns="0" rIns="0" bIns="0" anchor="t">
            <a:spAutoFit/>
          </a:bodyPr>
          <a:lstStyle/>
          <a:p>
            <a:pPr algn="l"/>
            <a:r>
              <a:rPr sz="1250" b="0">
                <a:solidFill>
                  <a:srgbClr val="55657E"/>
                </a:solidFill>
                <a:latin typeface="Calibri"/>
              </a:rPr>
              <a:t>Solo casos futuros (n = 72): 0,47 vs. 0,15</a:t>
            </a:r>
          </a:p>
        </p:txBody>
      </p:sp>
      <p:sp>
        <p:nvSpPr>
          <p:cNvPr id="454" name="Rectangle 453"/>
          <p:cNvSpPr/>
          <p:nvPr/>
        </p:nvSpPr>
        <p:spPr>
          <a:xfrm>
            <a:off x="960120" y="4498848"/>
            <a:ext cx="2971800" cy="10972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Rectangle 454"/>
          <p:cNvSpPr/>
          <p:nvPr/>
        </p:nvSpPr>
        <p:spPr>
          <a:xfrm>
            <a:off x="960120" y="4498848"/>
            <a:ext cx="64008"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TextBox 455"/>
          <p:cNvSpPr txBox="1"/>
          <p:nvPr/>
        </p:nvSpPr>
        <p:spPr>
          <a:xfrm>
            <a:off x="1188720" y="4626864"/>
            <a:ext cx="2606040" cy="228600"/>
          </a:xfrm>
          <a:prstGeom prst="rect">
            <a:avLst/>
          </a:prstGeom>
          <a:noFill/>
        </p:spPr>
        <p:txBody>
          <a:bodyPr wrap="square" lIns="0" tIns="0" rIns="0" bIns="0" anchor="t">
            <a:spAutoFit/>
          </a:bodyPr>
          <a:lstStyle/>
          <a:p>
            <a:pPr algn="l"/>
            <a:r>
              <a:rPr sz="1100" b="1" spc="100">
                <a:solidFill>
                  <a:srgbClr val="1F5FAE"/>
                </a:solidFill>
                <a:latin typeface="Calibri"/>
              </a:rPr>
              <a:t>DECISIÓN</a:t>
            </a:r>
          </a:p>
        </p:txBody>
      </p:sp>
      <p:sp>
        <p:nvSpPr>
          <p:cNvPr id="457" name="TextBox 456"/>
          <p:cNvSpPr txBox="1"/>
          <p:nvPr/>
        </p:nvSpPr>
        <p:spPr>
          <a:xfrm>
            <a:off x="1188720" y="4882896"/>
            <a:ext cx="2606040" cy="640080"/>
          </a:xfrm>
          <a:prstGeom prst="rect">
            <a:avLst/>
          </a:prstGeom>
          <a:noFill/>
        </p:spPr>
        <p:txBody>
          <a:bodyPr wrap="square" lIns="0" tIns="0" rIns="0" bIns="0" anchor="t">
            <a:spAutoFit/>
          </a:bodyPr>
          <a:lstStyle/>
          <a:p>
            <a:pPr algn="l"/>
            <a:r>
              <a:rPr sz="1550" b="1">
                <a:solidFill>
                  <a:srgbClr val="0F1E36"/>
                </a:solidFill>
                <a:latin typeface="Calibri"/>
              </a:rPr>
              <a:t>La alerta temprana sigue siendo útil para los casos posteriores</a:t>
            </a:r>
          </a:p>
        </p:txBody>
      </p:sp>
      <p:sp>
        <p:nvSpPr>
          <p:cNvPr id="458" name="Rectangle 457"/>
          <p:cNvSpPr/>
          <p:nvPr/>
        </p:nvSpPr>
        <p:spPr>
          <a:xfrm>
            <a:off x="4288536" y="1463040"/>
            <a:ext cx="3429000" cy="4343400"/>
          </a:xfrm>
          <a:prstGeom prst="rect">
            <a:avLst/>
          </a:prstGeom>
          <a:solidFill>
            <a:srgbClr val="FFFFFF"/>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Rectangle 458"/>
          <p:cNvSpPr/>
          <p:nvPr/>
        </p:nvSpPr>
        <p:spPr>
          <a:xfrm>
            <a:off x="4288536" y="1437726"/>
            <a:ext cx="342900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val 459"/>
          <p:cNvSpPr/>
          <p:nvPr/>
        </p:nvSpPr>
        <p:spPr>
          <a:xfrm>
            <a:off x="4462272" y="1572768"/>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E3A5F"/>
                </a:solidFill>
                <a:latin typeface="Calibri"/>
              </a:rPr>
              <a:t>2</a:t>
            </a:r>
          </a:p>
        </p:txBody>
      </p:sp>
      <p:sp>
        <p:nvSpPr>
          <p:cNvPr id="461" name="TextBox 460"/>
          <p:cNvSpPr txBox="1"/>
          <p:nvPr/>
        </p:nvSpPr>
        <p:spPr>
          <a:xfrm>
            <a:off x="4937760" y="1608004"/>
            <a:ext cx="2697480" cy="276999"/>
          </a:xfrm>
          <a:prstGeom prst="rect">
            <a:avLst/>
          </a:prstGeom>
          <a:noFill/>
        </p:spPr>
        <p:txBody>
          <a:bodyPr wrap="square" lIns="0" tIns="0" rIns="0" bIns="0" anchor="ctr">
            <a:spAutoFit/>
          </a:bodyPr>
          <a:lstStyle/>
          <a:p>
            <a:pPr algn="l"/>
            <a:r>
              <a:rPr sz="1800" b="1" i="1" dirty="0" err="1">
                <a:solidFill>
                  <a:srgbClr val="FFFFFF"/>
                </a:solidFill>
                <a:latin typeface="Calibri"/>
              </a:rPr>
              <a:t>Calibración</a:t>
            </a:r>
            <a:endParaRPr sz="1800" b="1" i="1" dirty="0">
              <a:solidFill>
                <a:srgbClr val="FFFFFF"/>
              </a:solidFill>
              <a:latin typeface="Calibri"/>
            </a:endParaRPr>
          </a:p>
        </p:txBody>
      </p:sp>
      <p:sp>
        <p:nvSpPr>
          <p:cNvPr id="462" name="TextBox 461"/>
          <p:cNvSpPr txBox="1"/>
          <p:nvPr/>
        </p:nvSpPr>
        <p:spPr>
          <a:xfrm>
            <a:off x="4526280" y="2212848"/>
            <a:ext cx="2971800" cy="228600"/>
          </a:xfrm>
          <a:prstGeom prst="rect">
            <a:avLst/>
          </a:prstGeom>
          <a:noFill/>
        </p:spPr>
        <p:txBody>
          <a:bodyPr wrap="square" lIns="0" tIns="0" rIns="0" bIns="0" anchor="t">
            <a:spAutoFit/>
          </a:bodyPr>
          <a:lstStyle/>
          <a:p>
            <a:pPr algn="l"/>
            <a:r>
              <a:rPr sz="1100" b="1" spc="100">
                <a:solidFill>
                  <a:srgbClr val="55657E"/>
                </a:solidFill>
                <a:latin typeface="Calibri"/>
              </a:rPr>
              <a:t>HALLAZGO</a:t>
            </a:r>
          </a:p>
        </p:txBody>
      </p:sp>
      <p:sp>
        <p:nvSpPr>
          <p:cNvPr id="463" name="TextBox 462"/>
          <p:cNvSpPr txBox="1"/>
          <p:nvPr/>
        </p:nvSpPr>
        <p:spPr>
          <a:xfrm>
            <a:off x="4526280" y="2450592"/>
            <a:ext cx="2971800" cy="914400"/>
          </a:xfrm>
          <a:prstGeom prst="rect">
            <a:avLst/>
          </a:prstGeom>
          <a:noFill/>
        </p:spPr>
        <p:txBody>
          <a:bodyPr wrap="square" lIns="0" tIns="0" rIns="0" bIns="0" anchor="t">
            <a:spAutoFit/>
          </a:bodyPr>
          <a:lstStyle/>
          <a:p>
            <a:pPr algn="l"/>
            <a:r>
              <a:rPr sz="1650" b="0">
                <a:solidFill>
                  <a:srgbClr val="0F1E36"/>
                </a:solidFill>
                <a:latin typeface="Calibri"/>
              </a:rPr>
              <a:t>Calibrar las probabilidades (isotónica y Platt) no mejora al modelo original</a:t>
            </a:r>
          </a:p>
        </p:txBody>
      </p:sp>
      <p:sp>
        <p:nvSpPr>
          <p:cNvPr id="464" name="Rectangle 463"/>
          <p:cNvSpPr/>
          <p:nvPr/>
        </p:nvSpPr>
        <p:spPr>
          <a:xfrm>
            <a:off x="4526280" y="3401568"/>
            <a:ext cx="2971800" cy="10972"/>
          </a:xfrm>
          <a:prstGeom prst="rect">
            <a:avLst/>
          </a:prstGeom>
          <a:solidFill>
            <a:srgbClr val="D4D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TextBox 464"/>
          <p:cNvSpPr txBox="1"/>
          <p:nvPr/>
        </p:nvSpPr>
        <p:spPr>
          <a:xfrm>
            <a:off x="4526280" y="3474720"/>
            <a:ext cx="2971800" cy="548640"/>
          </a:xfrm>
          <a:prstGeom prst="rect">
            <a:avLst/>
          </a:prstGeom>
          <a:noFill/>
        </p:spPr>
        <p:txBody>
          <a:bodyPr wrap="square" lIns="0" tIns="0" rIns="0" bIns="0" anchor="t">
            <a:spAutoFit/>
          </a:bodyPr>
          <a:lstStyle/>
          <a:p>
            <a:pPr algn="l"/>
            <a:r>
              <a:rPr sz="3000" b="1">
                <a:solidFill>
                  <a:srgbClr val="1F5FAE"/>
                </a:solidFill>
                <a:latin typeface="Calibri"/>
              </a:rPr>
              <a:t>Sin mejora</a:t>
            </a:r>
          </a:p>
        </p:txBody>
      </p:sp>
      <p:sp>
        <p:nvSpPr>
          <p:cNvPr id="466" name="TextBox 465"/>
          <p:cNvSpPr txBox="1"/>
          <p:nvPr/>
        </p:nvSpPr>
        <p:spPr>
          <a:xfrm>
            <a:off x="4526280" y="4023360"/>
            <a:ext cx="2971800" cy="411480"/>
          </a:xfrm>
          <a:prstGeom prst="rect">
            <a:avLst/>
          </a:prstGeom>
          <a:noFill/>
        </p:spPr>
        <p:txBody>
          <a:bodyPr wrap="square" lIns="0" tIns="0" rIns="0" bIns="0" anchor="t">
            <a:spAutoFit/>
          </a:bodyPr>
          <a:lstStyle/>
          <a:p>
            <a:pPr algn="l"/>
            <a:r>
              <a:rPr sz="1250" b="0">
                <a:solidFill>
                  <a:srgbClr val="55657E"/>
                </a:solidFill>
                <a:latin typeface="Calibri"/>
              </a:rPr>
              <a:t>en la curva de calibración</a:t>
            </a:r>
          </a:p>
        </p:txBody>
      </p:sp>
      <p:sp>
        <p:nvSpPr>
          <p:cNvPr id="467" name="Rectangle 466"/>
          <p:cNvSpPr/>
          <p:nvPr/>
        </p:nvSpPr>
        <p:spPr>
          <a:xfrm>
            <a:off x="4526280" y="4498848"/>
            <a:ext cx="2971800" cy="10972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Rectangle 467"/>
          <p:cNvSpPr/>
          <p:nvPr/>
        </p:nvSpPr>
        <p:spPr>
          <a:xfrm>
            <a:off x="4526280" y="4498848"/>
            <a:ext cx="64008"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TextBox 468"/>
          <p:cNvSpPr txBox="1"/>
          <p:nvPr/>
        </p:nvSpPr>
        <p:spPr>
          <a:xfrm>
            <a:off x="4754880" y="4626864"/>
            <a:ext cx="2606040" cy="228600"/>
          </a:xfrm>
          <a:prstGeom prst="rect">
            <a:avLst/>
          </a:prstGeom>
          <a:noFill/>
        </p:spPr>
        <p:txBody>
          <a:bodyPr wrap="square" lIns="0" tIns="0" rIns="0" bIns="0" anchor="t">
            <a:spAutoFit/>
          </a:bodyPr>
          <a:lstStyle/>
          <a:p>
            <a:pPr algn="l"/>
            <a:r>
              <a:rPr sz="1100" b="1" spc="100">
                <a:solidFill>
                  <a:srgbClr val="1F5FAE"/>
                </a:solidFill>
                <a:latin typeface="Calibri"/>
              </a:rPr>
              <a:t>DECISIÓN</a:t>
            </a:r>
          </a:p>
        </p:txBody>
      </p:sp>
      <p:sp>
        <p:nvSpPr>
          <p:cNvPr id="470" name="TextBox 469"/>
          <p:cNvSpPr txBox="1"/>
          <p:nvPr/>
        </p:nvSpPr>
        <p:spPr>
          <a:xfrm>
            <a:off x="4754880" y="4882896"/>
            <a:ext cx="2606040" cy="640080"/>
          </a:xfrm>
          <a:prstGeom prst="rect">
            <a:avLst/>
          </a:prstGeom>
          <a:noFill/>
        </p:spPr>
        <p:txBody>
          <a:bodyPr wrap="square" lIns="0" tIns="0" rIns="0" bIns="0" anchor="t">
            <a:spAutoFit/>
          </a:bodyPr>
          <a:lstStyle/>
          <a:p>
            <a:pPr algn="l"/>
            <a:r>
              <a:rPr sz="1550" b="1">
                <a:solidFill>
                  <a:srgbClr val="0F1E36"/>
                </a:solidFill>
                <a:latin typeface="Calibri"/>
              </a:rPr>
              <a:t>Se muestran niveles de alerta, no porcentajes</a:t>
            </a:r>
          </a:p>
        </p:txBody>
      </p:sp>
      <p:sp>
        <p:nvSpPr>
          <p:cNvPr id="471" name="Rectangle 470"/>
          <p:cNvSpPr/>
          <p:nvPr/>
        </p:nvSpPr>
        <p:spPr>
          <a:xfrm>
            <a:off x="7863840" y="1463040"/>
            <a:ext cx="3429000" cy="4343400"/>
          </a:xfrm>
          <a:prstGeom prst="rect">
            <a:avLst/>
          </a:prstGeom>
          <a:solidFill>
            <a:srgbClr val="FFFFFF"/>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Rectangle 471"/>
          <p:cNvSpPr/>
          <p:nvPr/>
        </p:nvSpPr>
        <p:spPr>
          <a:xfrm>
            <a:off x="7863840" y="1463040"/>
            <a:ext cx="342900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val 472"/>
          <p:cNvSpPr/>
          <p:nvPr/>
        </p:nvSpPr>
        <p:spPr>
          <a:xfrm>
            <a:off x="8028431" y="1572768"/>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E3A5F"/>
                </a:solidFill>
                <a:latin typeface="Calibri"/>
              </a:rPr>
              <a:t>3</a:t>
            </a:r>
          </a:p>
        </p:txBody>
      </p:sp>
      <p:sp>
        <p:nvSpPr>
          <p:cNvPr id="474" name="TextBox 473"/>
          <p:cNvSpPr txBox="1"/>
          <p:nvPr/>
        </p:nvSpPr>
        <p:spPr>
          <a:xfrm>
            <a:off x="8503919" y="1608004"/>
            <a:ext cx="2697480" cy="276999"/>
          </a:xfrm>
          <a:prstGeom prst="rect">
            <a:avLst/>
          </a:prstGeom>
          <a:noFill/>
        </p:spPr>
        <p:txBody>
          <a:bodyPr wrap="square" lIns="0" tIns="0" rIns="0" bIns="0" anchor="ctr">
            <a:spAutoFit/>
          </a:bodyPr>
          <a:lstStyle/>
          <a:p>
            <a:pPr algn="l"/>
            <a:r>
              <a:rPr sz="1800" b="1" i="1" dirty="0" err="1">
                <a:solidFill>
                  <a:srgbClr val="FFFFFF"/>
                </a:solidFill>
                <a:latin typeface="Calibri"/>
              </a:rPr>
              <a:t>Semestre</a:t>
            </a:r>
            <a:r>
              <a:rPr sz="1800" b="1" i="1" dirty="0">
                <a:solidFill>
                  <a:srgbClr val="FFFFFF"/>
                </a:solidFill>
                <a:latin typeface="Calibri"/>
              </a:rPr>
              <a:t> a </a:t>
            </a:r>
            <a:r>
              <a:rPr sz="1800" b="1" i="1" dirty="0" err="1">
                <a:solidFill>
                  <a:srgbClr val="FFFFFF"/>
                </a:solidFill>
                <a:latin typeface="Calibri"/>
              </a:rPr>
              <a:t>semestre</a:t>
            </a:r>
            <a:endParaRPr sz="1800" b="1" i="1" dirty="0">
              <a:solidFill>
                <a:srgbClr val="FFFFFF"/>
              </a:solidFill>
              <a:latin typeface="Calibri"/>
            </a:endParaRPr>
          </a:p>
        </p:txBody>
      </p:sp>
      <p:sp>
        <p:nvSpPr>
          <p:cNvPr id="475" name="TextBox 474"/>
          <p:cNvSpPr txBox="1"/>
          <p:nvPr/>
        </p:nvSpPr>
        <p:spPr>
          <a:xfrm>
            <a:off x="8092440" y="2212848"/>
            <a:ext cx="2971800" cy="228600"/>
          </a:xfrm>
          <a:prstGeom prst="rect">
            <a:avLst/>
          </a:prstGeom>
          <a:noFill/>
        </p:spPr>
        <p:txBody>
          <a:bodyPr wrap="square" lIns="0" tIns="0" rIns="0" bIns="0" anchor="t">
            <a:spAutoFit/>
          </a:bodyPr>
          <a:lstStyle/>
          <a:p>
            <a:pPr algn="l"/>
            <a:r>
              <a:rPr sz="1100" b="1" spc="100">
                <a:solidFill>
                  <a:srgbClr val="55657E"/>
                </a:solidFill>
                <a:latin typeface="Calibri"/>
              </a:rPr>
              <a:t>HALLAZGO</a:t>
            </a:r>
          </a:p>
        </p:txBody>
      </p:sp>
      <p:sp>
        <p:nvSpPr>
          <p:cNvPr id="476" name="TextBox 475"/>
          <p:cNvSpPr txBox="1"/>
          <p:nvPr/>
        </p:nvSpPr>
        <p:spPr>
          <a:xfrm>
            <a:off x="8092440" y="2450592"/>
            <a:ext cx="2971800" cy="914400"/>
          </a:xfrm>
          <a:prstGeom prst="rect">
            <a:avLst/>
          </a:prstGeom>
          <a:noFill/>
        </p:spPr>
        <p:txBody>
          <a:bodyPr wrap="square" lIns="0" tIns="0" rIns="0" bIns="0" anchor="t">
            <a:spAutoFit/>
          </a:bodyPr>
          <a:lstStyle/>
          <a:p>
            <a:pPr algn="l"/>
            <a:r>
              <a:rPr sz="1650" b="0">
                <a:solidFill>
                  <a:srgbClr val="0F1E36"/>
                </a:solidFill>
                <a:latin typeface="Calibri"/>
              </a:rPr>
              <a:t>Predecir en cortes sucesivos de la carrera no supera al azar</a:t>
            </a:r>
          </a:p>
        </p:txBody>
      </p:sp>
      <p:sp>
        <p:nvSpPr>
          <p:cNvPr id="477" name="Rectangle 476"/>
          <p:cNvSpPr/>
          <p:nvPr/>
        </p:nvSpPr>
        <p:spPr>
          <a:xfrm>
            <a:off x="8092440" y="3401568"/>
            <a:ext cx="2971800" cy="10972"/>
          </a:xfrm>
          <a:prstGeom prst="rect">
            <a:avLst/>
          </a:prstGeom>
          <a:solidFill>
            <a:srgbClr val="D4D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TextBox 477"/>
          <p:cNvSpPr txBox="1"/>
          <p:nvPr/>
        </p:nvSpPr>
        <p:spPr>
          <a:xfrm>
            <a:off x="8092440" y="3474720"/>
            <a:ext cx="2971800" cy="548640"/>
          </a:xfrm>
          <a:prstGeom prst="rect">
            <a:avLst/>
          </a:prstGeom>
          <a:noFill/>
        </p:spPr>
        <p:txBody>
          <a:bodyPr wrap="square" lIns="0" tIns="0" rIns="0" bIns="0" anchor="t">
            <a:spAutoFit/>
          </a:bodyPr>
          <a:lstStyle/>
          <a:p>
            <a:pPr algn="l"/>
            <a:r>
              <a:rPr sz="3000" b="1">
                <a:solidFill>
                  <a:srgbClr val="1F5FAE"/>
                </a:solidFill>
                <a:latin typeface="Calibri"/>
              </a:rPr>
              <a:t>lift ≈ 1</a:t>
            </a:r>
          </a:p>
        </p:txBody>
      </p:sp>
      <p:sp>
        <p:nvSpPr>
          <p:cNvPr id="479" name="TextBox 478"/>
          <p:cNvSpPr txBox="1"/>
          <p:nvPr/>
        </p:nvSpPr>
        <p:spPr>
          <a:xfrm>
            <a:off x="8092440" y="4023360"/>
            <a:ext cx="2971800" cy="411480"/>
          </a:xfrm>
          <a:prstGeom prst="rect">
            <a:avLst/>
          </a:prstGeom>
          <a:noFill/>
        </p:spPr>
        <p:txBody>
          <a:bodyPr wrap="square" lIns="0" tIns="0" rIns="0" bIns="0" anchor="t">
            <a:spAutoFit/>
          </a:bodyPr>
          <a:lstStyle/>
          <a:p>
            <a:pPr algn="l"/>
            <a:r>
              <a:rPr sz="1250" b="0">
                <a:solidFill>
                  <a:srgbClr val="55657E"/>
                </a:solidFill>
                <a:latin typeface="Calibri"/>
              </a:rPr>
              <a:t>Random Forest por corte: 1,09; 0,93; 1,27</a:t>
            </a:r>
          </a:p>
        </p:txBody>
      </p:sp>
      <p:sp>
        <p:nvSpPr>
          <p:cNvPr id="480" name="Rectangle 479"/>
          <p:cNvSpPr/>
          <p:nvPr/>
        </p:nvSpPr>
        <p:spPr>
          <a:xfrm>
            <a:off x="8092440" y="4498848"/>
            <a:ext cx="2971800" cy="10972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Rectangle 480"/>
          <p:cNvSpPr/>
          <p:nvPr/>
        </p:nvSpPr>
        <p:spPr>
          <a:xfrm>
            <a:off x="8092440" y="4498848"/>
            <a:ext cx="64008"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TextBox 481"/>
          <p:cNvSpPr txBox="1"/>
          <p:nvPr/>
        </p:nvSpPr>
        <p:spPr>
          <a:xfrm>
            <a:off x="8321040" y="4626864"/>
            <a:ext cx="2606040" cy="228600"/>
          </a:xfrm>
          <a:prstGeom prst="rect">
            <a:avLst/>
          </a:prstGeom>
          <a:noFill/>
        </p:spPr>
        <p:txBody>
          <a:bodyPr wrap="square" lIns="0" tIns="0" rIns="0" bIns="0" anchor="t">
            <a:spAutoFit/>
          </a:bodyPr>
          <a:lstStyle/>
          <a:p>
            <a:pPr algn="l"/>
            <a:r>
              <a:rPr sz="1100" b="1" spc="100">
                <a:solidFill>
                  <a:srgbClr val="1F5FAE"/>
                </a:solidFill>
                <a:latin typeface="Calibri"/>
              </a:rPr>
              <a:t>DECISIÓN</a:t>
            </a:r>
          </a:p>
        </p:txBody>
      </p:sp>
      <p:sp>
        <p:nvSpPr>
          <p:cNvPr id="483" name="TextBox 482"/>
          <p:cNvSpPr txBox="1"/>
          <p:nvPr/>
        </p:nvSpPr>
        <p:spPr>
          <a:xfrm>
            <a:off x="8321040" y="4882896"/>
            <a:ext cx="2606040" cy="640080"/>
          </a:xfrm>
          <a:prstGeom prst="rect">
            <a:avLst/>
          </a:prstGeom>
          <a:noFill/>
        </p:spPr>
        <p:txBody>
          <a:bodyPr wrap="square" lIns="0" tIns="0" rIns="0" bIns="0" anchor="t">
            <a:spAutoFit/>
          </a:bodyPr>
          <a:lstStyle/>
          <a:p>
            <a:pPr algn="l"/>
            <a:r>
              <a:rPr sz="1550" b="1">
                <a:solidFill>
                  <a:srgbClr val="0F1E36"/>
                </a:solidFill>
                <a:latin typeface="Calibri"/>
              </a:rPr>
              <a:t>El seguimiento semestral aplica las reglas del reglamento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pic>
        <p:nvPicPr>
          <p:cNvPr id="499" name="Google Shape;499;p29"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500" name="Google Shape;500;p29"/>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18</a:t>
            </a:r>
            <a:endParaRPr/>
          </a:p>
        </p:txBody>
      </p:sp>
      <p:sp>
        <p:nvSpPr>
          <p:cNvPr id="501" name="Google Shape;501;p29"/>
          <p:cNvSpPr txBox="1"/>
          <p:nvPr/>
        </p:nvSpPr>
        <p:spPr>
          <a:xfrm>
            <a:off x="731520" y="118872"/>
            <a:ext cx="7315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0F766E"/>
                </a:solidFill>
                <a:latin typeface="Calibri"/>
                <a:ea typeface="Calibri"/>
                <a:cs typeface="Calibri"/>
                <a:sym typeface="Calibri"/>
              </a:rPr>
              <a:t> DESPLIEGUE</a:t>
            </a:r>
            <a:endParaRPr/>
          </a:p>
        </p:txBody>
      </p:sp>
      <p:sp>
        <p:nvSpPr>
          <p:cNvPr id="502" name="Google Shape;502;p29"/>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03" name="Google Shape;503;p29"/>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TRAYECTA</a:t>
            </a:r>
            <a:endParaRPr/>
          </a:p>
        </p:txBody>
      </p:sp>
      <p:sp>
        <p:nvSpPr>
          <p:cNvPr id="504" name="Google Shape;504;p29"/>
          <p:cNvSpPr txBox="1"/>
          <p:nvPr/>
        </p:nvSpPr>
        <p:spPr>
          <a:xfrm>
            <a:off x="731520" y="969264"/>
            <a:ext cx="106071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Alerta y trayectoria académica</a:t>
            </a:r>
            <a:endParaRPr sz="1800">
              <a:solidFill>
                <a:srgbClr val="55657E"/>
              </a:solidFill>
              <a:latin typeface="Calibri"/>
              <a:ea typeface="Calibri"/>
              <a:cs typeface="Calibri"/>
              <a:sym typeface="Calibri"/>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referencia: SPADIES, a escala de programa</a:t>
            </a:r>
            <a:endParaRPr/>
          </a:p>
        </p:txBody>
      </p:sp>
      <p:graphicFrame>
        <p:nvGraphicFramePr>
          <p:cNvPr id="506" name="Google Shape;506;p29"/>
          <p:cNvGraphicFramePr/>
          <p:nvPr/>
        </p:nvGraphicFramePr>
        <p:xfrm>
          <a:off x="731520" y="3520440"/>
          <a:ext cx="7955279" cy="1828800"/>
        </p:xfrm>
        <a:graphic>
          <a:graphicData uri="http://schemas.openxmlformats.org/drawingml/2006/table">
            <a:tbl>
              <a:tblPr firstRow="1" bandRow="1">
                <a:noFill/>
                <a:tableStyleId>{F6607F2B-0D1A-44AA-933E-E49CCDE99D64}</a:tableStyleId>
              </a:tblPr>
              <a:tblGrid>
                <a:gridCol w="1867762">
                  <a:extLst>
                    <a:ext uri="{9D8B030D-6E8A-4147-A177-3AD203B41FA5}">
                      <a16:colId xmlns:a16="http://schemas.microsoft.com/office/drawing/2014/main" val="20000"/>
                    </a:ext>
                  </a:extLst>
                </a:gridCol>
                <a:gridCol w="2697876">
                  <a:extLst>
                    <a:ext uri="{9D8B030D-6E8A-4147-A177-3AD203B41FA5}">
                      <a16:colId xmlns:a16="http://schemas.microsoft.com/office/drawing/2014/main" val="20001"/>
                    </a:ext>
                  </a:extLst>
                </a:gridCol>
                <a:gridCol w="3389641">
                  <a:extLst>
                    <a:ext uri="{9D8B030D-6E8A-4147-A177-3AD203B41FA5}">
                      <a16:colId xmlns:a16="http://schemas.microsoft.com/office/drawing/2014/main" val="20002"/>
                    </a:ext>
                  </a:extLst>
                </a:gridCol>
              </a:tblGrid>
              <a:tr h="457200">
                <a:tc>
                  <a:txBody>
                    <a:bodyPr/>
                    <a:lstStyle/>
                    <a:p>
                      <a:pPr marL="0" marR="0" lvl="0" indent="0" algn="l" rtl="0">
                        <a:spcBef>
                          <a:spcPts val="0"/>
                        </a:spcBef>
                        <a:spcAft>
                          <a:spcPts val="0"/>
                        </a:spcAft>
                        <a:buNone/>
                      </a:pPr>
                      <a:endParaRPr sz="1800" u="none" strike="noStrike" cap="none"/>
                    </a:p>
                  </a:txBody>
                  <a:tcPr marL="73150" marR="73150" marT="45725" marB="45725" anchor="ctr">
                    <a:lnR w="12700" cap="flat" cmpd="sng">
                      <a:solidFill>
                        <a:schemeClr val="lt1"/>
                      </a:solidFill>
                      <a:prstDash val="solid"/>
                      <a:round/>
                      <a:headEnd type="none" w="sm" len="sm"/>
                      <a:tailEnd type="none" w="sm" len="sm"/>
                    </a:lnR>
                    <a:solidFill>
                      <a:srgbClr val="E3EAF4"/>
                    </a:solidFill>
                  </a:tcPr>
                </a:tc>
                <a:tc>
                  <a:txBody>
                    <a:bodyPr/>
                    <a:lstStyle/>
                    <a:p>
                      <a:pPr marL="0" marR="0" lvl="0" indent="0" algn="l" rtl="0">
                        <a:spcBef>
                          <a:spcPts val="0"/>
                        </a:spcBef>
                        <a:spcAft>
                          <a:spcPts val="0"/>
                        </a:spcAft>
                        <a:buNone/>
                      </a:pPr>
                      <a:r>
                        <a:rPr lang="en-US" sz="1400" b="1" u="none" strike="noStrike" cap="none">
                          <a:solidFill>
                            <a:srgbClr val="55657E"/>
                          </a:solidFill>
                          <a:latin typeface="Calibri"/>
                          <a:ea typeface="Calibri"/>
                          <a:cs typeface="Calibri"/>
                          <a:sym typeface="Calibri"/>
                        </a:rPr>
                        <a:t>SPADIES (nacional)</a:t>
                      </a:r>
                      <a:endParaRPr/>
                    </a:p>
                  </a:txBody>
                  <a:tcPr marL="73150" marR="731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E3EAF4"/>
                    </a:solidFill>
                  </a:tcPr>
                </a:tc>
                <a:tc>
                  <a:txBody>
                    <a:bodyPr/>
                    <a:lstStyle/>
                    <a:p>
                      <a:pPr marL="0" marR="0" lvl="0" indent="0" algn="l" rtl="0">
                        <a:spcBef>
                          <a:spcPts val="0"/>
                        </a:spcBef>
                        <a:spcAft>
                          <a:spcPts val="0"/>
                        </a:spcAft>
                        <a:buNone/>
                      </a:pPr>
                      <a:r>
                        <a:rPr lang="en-US" sz="1400" b="1" u="none" strike="noStrike" cap="none">
                          <a:solidFill>
                            <a:srgbClr val="55657E"/>
                          </a:solidFill>
                          <a:latin typeface="Calibri"/>
                          <a:ea typeface="Calibri"/>
                          <a:cs typeface="Calibri"/>
                          <a:sym typeface="Calibri"/>
                        </a:rPr>
                        <a:t>TRAYECTA (este trabajo)</a:t>
                      </a:r>
                      <a:endParaRPr/>
                    </a:p>
                  </a:txBody>
                  <a:tcPr marL="73150" marR="73150" marT="45725" marB="45725" anchor="ctr">
                    <a:lnL w="12700" cap="flat" cmpd="sng">
                      <a:solidFill>
                        <a:schemeClr val="lt1"/>
                      </a:solidFill>
                      <a:prstDash val="solid"/>
                      <a:round/>
                      <a:headEnd type="none" w="sm" len="sm"/>
                      <a:tailEnd type="none" w="sm" len="sm"/>
                    </a:lnL>
                    <a:solidFill>
                      <a:srgbClr val="E3EAF4"/>
                    </a:solidFill>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Unidad</a:t>
                      </a:r>
                      <a:endParaRPr/>
                    </a:p>
                  </a:txBody>
                  <a:tcPr marL="73150" marR="73150" marT="45725" marB="45725" anchor="ctr">
                    <a:lnR w="12700" cap="flat" cmpd="sng">
                      <a:solidFill>
                        <a:schemeClr val="lt1"/>
                      </a:solidFill>
                      <a:prstDash val="solid"/>
                      <a:round/>
                      <a:headEnd type="none" w="sm" len="sm"/>
                      <a:tailEnd type="none" w="sm" len="sm"/>
                    </a:lnR>
                    <a:solidFill>
                      <a:srgbClr val="FFFFFF"/>
                    </a:solidFill>
                  </a:tcPr>
                </a:tc>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instituciones del país</a:t>
                      </a:r>
                      <a:endParaRPr/>
                    </a:p>
                  </a:txBody>
                  <a:tcPr marL="73150" marR="731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un programa</a:t>
                      </a:r>
                      <a:endParaRPr/>
                    </a:p>
                  </a:txBody>
                  <a:tcPr marL="73150" marR="73150" marT="45725" marB="45725" anchor="ctr">
                    <a:lnL w="12700" cap="flat" cmpd="sng">
                      <a:solidFill>
                        <a:schemeClr val="lt1"/>
                      </a:solidFill>
                      <a:prstDash val="solid"/>
                      <a:round/>
                      <a:headEnd type="none" w="sm" len="sm"/>
                      <a:tailEnd type="none" w="sm" len="sm"/>
                    </a:lnL>
                    <a:solidFill>
                      <a:srgbClr val="FFFFFF"/>
                    </a:solidFill>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Criterio de riesgo</a:t>
                      </a:r>
                      <a:endParaRPr/>
                    </a:p>
                  </a:txBody>
                  <a:tcPr marL="73150" marR="73150" marT="45725" marB="45725" anchor="ctr">
                    <a:lnR w="12700" cap="flat" cmpd="sng">
                      <a:solidFill>
                        <a:schemeClr val="lt1"/>
                      </a:solidFill>
                      <a:prstDash val="solid"/>
                      <a:round/>
                      <a:headEnd type="none" w="sm" len="sm"/>
                      <a:tailEnd type="none" w="sm" len="sm"/>
                    </a:lnR>
                    <a:solidFill>
                      <a:srgbClr val="F7F9FC"/>
                    </a:solidFill>
                  </a:tcPr>
                </a:tc>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deserción</a:t>
                      </a:r>
                      <a:endParaRPr/>
                    </a:p>
                  </a:txBody>
                  <a:tcPr marL="73150" marR="731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7F9FC"/>
                    </a:solidFill>
                  </a:tcPr>
                </a:tc>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Reglamento: arts. 19, 20 y 21</a:t>
                      </a:r>
                      <a:endParaRPr/>
                    </a:p>
                  </a:txBody>
                  <a:tcPr marL="73150" marR="73150" marT="45725" marB="45725" anchor="ctr">
                    <a:lnL w="12700" cap="flat" cmpd="sng">
                      <a:solidFill>
                        <a:schemeClr val="lt1"/>
                      </a:solidFill>
                      <a:prstDash val="solid"/>
                      <a:round/>
                      <a:headEnd type="none" w="sm" len="sm"/>
                      <a:tailEnd type="none" w="sm" len="sm"/>
                    </a:lnL>
                    <a:solidFill>
                      <a:srgbClr val="F7F9FC"/>
                    </a:solidFill>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Planes de estudio</a:t>
                      </a:r>
                      <a:endParaRPr/>
                    </a:p>
                  </a:txBody>
                  <a:tcPr marL="73150" marR="73150" marT="45725" marB="45725" anchor="ctr">
                    <a:lnR w="12700" cap="flat" cmpd="sng">
                      <a:solidFill>
                        <a:schemeClr val="lt1"/>
                      </a:solidFill>
                      <a:prstDash val="solid"/>
                      <a:round/>
                      <a:headEnd type="none" w="sm" len="sm"/>
                      <a:tailEnd type="none" w="sm" len="sm"/>
                    </a:lnR>
                    <a:solidFill>
                      <a:srgbClr val="FFFFFF"/>
                    </a:solidFill>
                  </a:tcPr>
                </a:tc>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fuera de su alcance</a:t>
                      </a:r>
                      <a:endParaRPr/>
                    </a:p>
                  </a:txBody>
                  <a:tcPr marL="73150" marR="731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F1E36"/>
                          </a:solidFill>
                          <a:latin typeface="Calibri"/>
                          <a:ea typeface="Calibri"/>
                          <a:cs typeface="Calibri"/>
                          <a:sym typeface="Calibri"/>
                        </a:rPr>
                        <a:t>equivalencias 2011 ↔ 2018</a:t>
                      </a:r>
                      <a:endParaRPr/>
                    </a:p>
                  </a:txBody>
                  <a:tcPr marL="73150" marR="73150" marT="45725" marB="45725" anchor="ctr">
                    <a:lnL w="12700" cap="flat" cmpd="sng">
                      <a:solidFill>
                        <a:schemeClr val="lt1"/>
                      </a:solidFill>
                      <a:prstDash val="solid"/>
                      <a:round/>
                      <a:headEnd type="none" w="sm" len="sm"/>
                      <a:tailEnd type="none" w="sm" len="sm"/>
                    </a:lnL>
                    <a:solidFill>
                      <a:srgbClr val="FFFFFF"/>
                    </a:solidFill>
                  </a:tcPr>
                </a:tc>
                <a:extLst>
                  <a:ext uri="{0D108BD9-81ED-4DB2-BD59-A6C34878D82A}">
                    <a16:rowId xmlns:a16="http://schemas.microsoft.com/office/drawing/2014/main" val="10003"/>
                  </a:ext>
                </a:extLst>
              </a:tr>
            </a:tbl>
          </a:graphicData>
        </a:graphic>
      </p:graphicFrame>
      <p:sp>
        <p:nvSpPr>
          <p:cNvPr id="507" name="TextBox 506"/>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Referencia de producto: SPADIES, Ministerio de Educación Nacional [15]</a:t>
            </a:r>
          </a:p>
        </p:txBody>
      </p:sp>
      <p:pic>
        <p:nvPicPr>
          <p:cNvPr id="508" name="Picture 507" descr="arquitectura_trayecta.png"/>
          <p:cNvPicPr>
            <a:picLocks noChangeAspect="1"/>
          </p:cNvPicPr>
          <p:nvPr/>
        </p:nvPicPr>
        <p:blipFill>
          <a:blip r:embed="rId4"/>
          <a:stretch>
            <a:fillRect/>
          </a:stretch>
        </p:blipFill>
        <p:spPr>
          <a:xfrm>
            <a:off x="731520" y="1645920"/>
            <a:ext cx="7955279" cy="1730483"/>
          </a:xfrm>
          <a:prstGeom prst="rect">
            <a:avLst/>
          </a:prstGeom>
        </p:spPr>
      </p:pic>
      <p:sp>
        <p:nvSpPr>
          <p:cNvPr id="509" name="Rounded Rectangle 508"/>
          <p:cNvSpPr/>
          <p:nvPr/>
        </p:nvSpPr>
        <p:spPr>
          <a:xfrm>
            <a:off x="9006840" y="1600200"/>
            <a:ext cx="2240280" cy="3611880"/>
          </a:xfrm>
          <a:prstGeom prst="roundRect">
            <a:avLst>
              <a:gd name="adj" fmla="val 6000"/>
            </a:avLst>
          </a:prstGeom>
          <a:solidFill>
            <a:srgbClr val="FFFFFF"/>
          </a:solidFill>
          <a:ln w="9525">
            <a:solidFill>
              <a:srgbClr val="D4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TextBox 509"/>
          <p:cNvSpPr txBox="1"/>
          <p:nvPr/>
        </p:nvSpPr>
        <p:spPr>
          <a:xfrm>
            <a:off x="9098280" y="1691640"/>
            <a:ext cx="2057400" cy="320040"/>
          </a:xfrm>
          <a:prstGeom prst="rect">
            <a:avLst/>
          </a:prstGeom>
          <a:noFill/>
        </p:spPr>
        <p:txBody>
          <a:bodyPr wrap="square" lIns="0" tIns="0" rIns="0" bIns="0" anchor="t">
            <a:spAutoFit/>
          </a:bodyPr>
          <a:lstStyle/>
          <a:p>
            <a:pPr algn="ctr"/>
            <a:r>
              <a:rPr sz="1600" b="1">
                <a:solidFill>
                  <a:srgbClr val="1F5FAE"/>
                </a:solidFill>
                <a:latin typeface="Calibri"/>
              </a:rPr>
              <a:t>Pruébela</a:t>
            </a:r>
          </a:p>
        </p:txBody>
      </p:sp>
      <p:pic>
        <p:nvPicPr>
          <p:cNvPr id="511" name="Picture 510" descr="qr.png"/>
          <p:cNvPicPr>
            <a:picLocks noChangeAspect="1"/>
          </p:cNvPicPr>
          <p:nvPr/>
        </p:nvPicPr>
        <p:blipFill>
          <a:blip r:embed="rId5"/>
          <a:stretch>
            <a:fillRect/>
          </a:stretch>
        </p:blipFill>
        <p:spPr>
          <a:xfrm>
            <a:off x="9235440" y="2057400"/>
            <a:ext cx="1783080" cy="1783080"/>
          </a:xfrm>
          <a:prstGeom prst="rect">
            <a:avLst/>
          </a:prstGeom>
        </p:spPr>
      </p:pic>
      <p:sp>
        <p:nvSpPr>
          <p:cNvPr id="512" name="TextBox 511"/>
          <p:cNvSpPr txBox="1"/>
          <p:nvPr/>
        </p:nvSpPr>
        <p:spPr>
          <a:xfrm>
            <a:off x="9098280" y="3931920"/>
            <a:ext cx="2057400" cy="1188720"/>
          </a:xfrm>
          <a:prstGeom prst="rect">
            <a:avLst/>
          </a:prstGeom>
          <a:noFill/>
        </p:spPr>
        <p:txBody>
          <a:bodyPr wrap="square" lIns="0" tIns="0" rIns="0" bIns="0" anchor="t">
            <a:spAutoFit/>
          </a:bodyPr>
          <a:lstStyle/>
          <a:p>
            <a:pPr algn="ctr"/>
            <a:r>
              <a:rPr sz="1200" b="0">
                <a:solidFill>
                  <a:srgbClr val="55657E"/>
                </a:solidFill>
                <a:latin typeface="Calibri"/>
              </a:rPr>
              <a:t>cohortes simuladas</a:t>
            </a:r>
          </a:p>
          <a:p>
            <a:pPr algn="ctr"/>
            <a:r>
              <a:rPr sz="1100" b="0">
                <a:solidFill>
                  <a:srgbClr val="0F1E36"/>
                </a:solidFill>
                <a:latin typeface="Calibri"/>
              </a:rPr>
              <a:t>proyecto-trayectoria-academica.streamlit.app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9" name="Google Shape;439;p2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40" name="Google Shape;440;p2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19</a:t>
            </a:r>
            <a:endParaRPr/>
          </a:p>
        </p:txBody>
      </p:sp>
      <p:sp>
        <p:nvSpPr>
          <p:cNvPr id="441" name="Google Shape;441;p2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DESPLIEGUE</a:t>
            </a:r>
            <a:endParaRPr/>
          </a:p>
        </p:txBody>
      </p:sp>
      <p:sp>
        <p:nvSpPr>
          <p:cNvPr id="442" name="Google Shape;442;p2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TRAYECTA en uso</a:t>
            </a:r>
            <a:endParaRPr sz="3000" b="1" i="0">
              <a:solidFill>
                <a:srgbClr val="0F1E36"/>
              </a:solidFill>
              <a:latin typeface="Calibri"/>
              <a:ea typeface="Calibri"/>
              <a:cs typeface="Calibri"/>
              <a:sym typeface="Calibri"/>
            </a:endParaRPr>
          </a:p>
        </p:txBody>
      </p:sp>
      <p:sp>
        <p:nvSpPr>
          <p:cNvPr id="444" name="Google Shape;444;p24"/>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Cohorte simulada, modelos entrenados con los datos reales</a:t>
            </a:r>
            <a:endParaRPr/>
          </a:p>
        </p:txBody>
      </p:sp>
      <p:pic>
        <p:nvPicPr>
          <p:cNvPr id="445" name="Picture 444" descr="panorama_c.png"/>
          <p:cNvPicPr>
            <a:picLocks noChangeAspect="1"/>
          </p:cNvPicPr>
          <p:nvPr/>
        </p:nvPicPr>
        <p:blipFill>
          <a:blip r:embed="rId4"/>
          <a:stretch>
            <a:fillRect/>
          </a:stretch>
        </p:blipFill>
        <p:spPr>
          <a:xfrm>
            <a:off x="225552" y="1508760"/>
            <a:ext cx="5662127" cy="3919934"/>
          </a:xfrm>
          <a:prstGeom prst="rect">
            <a:avLst/>
          </a:prstGeom>
          <a:ln w="9525">
            <a:solidFill>
              <a:srgbClr val="D4DDE9"/>
            </a:solidFill>
          </a:ln>
        </p:spPr>
      </p:pic>
      <p:sp>
        <p:nvSpPr>
          <p:cNvPr id="446" name="TextBox 445"/>
          <p:cNvSpPr txBox="1"/>
          <p:nvPr/>
        </p:nvSpPr>
        <p:spPr>
          <a:xfrm>
            <a:off x="731520" y="5599557"/>
            <a:ext cx="5120640" cy="457200"/>
          </a:xfrm>
          <a:prstGeom prst="rect">
            <a:avLst/>
          </a:prstGeom>
          <a:noFill/>
        </p:spPr>
        <p:txBody>
          <a:bodyPr wrap="square" lIns="0" tIns="0" rIns="0" bIns="0" anchor="t">
            <a:spAutoFit/>
          </a:bodyPr>
          <a:lstStyle/>
          <a:p>
            <a:pPr algn="ctr"/>
            <a:r>
              <a:rPr sz="1400" b="0" dirty="0">
                <a:solidFill>
                  <a:srgbClr val="0F1E36"/>
                </a:solidFill>
                <a:latin typeface="Calibri"/>
              </a:rPr>
              <a:t>Panorama: </a:t>
            </a:r>
            <a:r>
              <a:rPr sz="1400" b="0" dirty="0" err="1">
                <a:solidFill>
                  <a:srgbClr val="0F1E36"/>
                </a:solidFill>
                <a:latin typeface="Calibri"/>
              </a:rPr>
              <a:t>riesgo</a:t>
            </a:r>
            <a:r>
              <a:rPr sz="1400" b="0" dirty="0">
                <a:solidFill>
                  <a:srgbClr val="0F1E36"/>
                </a:solidFill>
                <a:latin typeface="Calibri"/>
              </a:rPr>
              <a:t> de </a:t>
            </a:r>
            <a:r>
              <a:rPr sz="1400" b="0" dirty="0" err="1">
                <a:solidFill>
                  <a:srgbClr val="0F1E36"/>
                </a:solidFill>
                <a:latin typeface="Calibri"/>
              </a:rPr>
              <a:t>cada</a:t>
            </a:r>
            <a:r>
              <a:rPr sz="1400" b="0" dirty="0">
                <a:solidFill>
                  <a:srgbClr val="0F1E36"/>
                </a:solidFill>
                <a:latin typeface="Calibri"/>
              </a:rPr>
              <a:t> </a:t>
            </a:r>
            <a:r>
              <a:rPr sz="1400" b="0" dirty="0" err="1">
                <a:solidFill>
                  <a:srgbClr val="0F1E36"/>
                </a:solidFill>
                <a:latin typeface="Calibri"/>
              </a:rPr>
              <a:t>estudiante</a:t>
            </a:r>
            <a:r>
              <a:rPr sz="1400" b="0" dirty="0">
                <a:solidFill>
                  <a:srgbClr val="0F1E36"/>
                </a:solidFill>
                <a:latin typeface="Calibri"/>
              </a:rPr>
              <a:t> y </a:t>
            </a:r>
            <a:r>
              <a:rPr sz="1400" b="0" dirty="0" err="1">
                <a:solidFill>
                  <a:srgbClr val="0F1E36"/>
                </a:solidFill>
                <a:latin typeface="Calibri"/>
              </a:rPr>
              <a:t>situación</a:t>
            </a:r>
            <a:r>
              <a:rPr sz="1400" b="0" dirty="0">
                <a:solidFill>
                  <a:srgbClr val="0F1E36"/>
                </a:solidFill>
                <a:latin typeface="Calibri"/>
              </a:rPr>
              <a:t> </a:t>
            </a:r>
            <a:r>
              <a:rPr sz="1400" b="0" dirty="0" err="1">
                <a:solidFill>
                  <a:srgbClr val="0F1E36"/>
                </a:solidFill>
                <a:latin typeface="Calibri"/>
              </a:rPr>
              <a:t>frente</a:t>
            </a:r>
            <a:r>
              <a:rPr sz="1400" b="0" dirty="0">
                <a:solidFill>
                  <a:srgbClr val="0F1E36"/>
                </a:solidFill>
                <a:latin typeface="Calibri"/>
              </a:rPr>
              <a:t> al </a:t>
            </a:r>
            <a:r>
              <a:rPr sz="1400" b="0" dirty="0" err="1">
                <a:solidFill>
                  <a:srgbClr val="0F1E36"/>
                </a:solidFill>
                <a:latin typeface="Calibri"/>
              </a:rPr>
              <a:t>reglamento</a:t>
            </a:r>
            <a:endParaRPr sz="1400" b="0" dirty="0">
              <a:solidFill>
                <a:srgbClr val="0F1E36"/>
              </a:solidFill>
              <a:latin typeface="Calibri"/>
            </a:endParaRPr>
          </a:p>
        </p:txBody>
      </p:sp>
      <p:pic>
        <p:nvPicPr>
          <p:cNvPr id="447" name="Picture 446" descr="ficha_c.png"/>
          <p:cNvPicPr>
            <a:picLocks noChangeAspect="1"/>
          </p:cNvPicPr>
          <p:nvPr/>
        </p:nvPicPr>
        <p:blipFill>
          <a:blip r:embed="rId5"/>
          <a:stretch>
            <a:fillRect/>
          </a:stretch>
        </p:blipFill>
        <p:spPr>
          <a:xfrm>
            <a:off x="6080758" y="1508760"/>
            <a:ext cx="5662127" cy="3919934"/>
          </a:xfrm>
          <a:prstGeom prst="rect">
            <a:avLst/>
          </a:prstGeom>
          <a:ln w="9525">
            <a:solidFill>
              <a:srgbClr val="D4DDE9"/>
            </a:solidFill>
          </a:ln>
        </p:spPr>
      </p:pic>
      <p:sp>
        <p:nvSpPr>
          <p:cNvPr id="448" name="TextBox 447"/>
          <p:cNvSpPr txBox="1"/>
          <p:nvPr/>
        </p:nvSpPr>
        <p:spPr>
          <a:xfrm>
            <a:off x="6035040" y="5596128"/>
            <a:ext cx="5120640" cy="457200"/>
          </a:xfrm>
          <a:prstGeom prst="rect">
            <a:avLst/>
          </a:prstGeom>
          <a:noFill/>
        </p:spPr>
        <p:txBody>
          <a:bodyPr wrap="square" lIns="0" tIns="0" rIns="0" bIns="0" anchor="t">
            <a:spAutoFit/>
          </a:bodyPr>
          <a:lstStyle/>
          <a:p>
            <a:pPr algn="ctr"/>
            <a:r>
              <a:rPr sz="1400" b="0" dirty="0" err="1">
                <a:solidFill>
                  <a:srgbClr val="0F1E36"/>
                </a:solidFill>
                <a:latin typeface="Calibri"/>
              </a:rPr>
              <a:t>Ficha</a:t>
            </a:r>
            <a:r>
              <a:rPr sz="1400" b="0" dirty="0">
                <a:solidFill>
                  <a:srgbClr val="0F1E36"/>
                </a:solidFill>
                <a:latin typeface="Calibri"/>
              </a:rPr>
              <a:t>: </a:t>
            </a:r>
            <a:r>
              <a:rPr sz="1400" b="0" dirty="0" err="1">
                <a:solidFill>
                  <a:srgbClr val="0F1E36"/>
                </a:solidFill>
                <a:latin typeface="Calibri"/>
              </a:rPr>
              <a:t>recorrido</a:t>
            </a:r>
            <a:r>
              <a:rPr sz="1400" b="0" dirty="0">
                <a:solidFill>
                  <a:srgbClr val="0F1E36"/>
                </a:solidFill>
                <a:latin typeface="Calibri"/>
              </a:rPr>
              <a:t> </a:t>
            </a:r>
            <a:r>
              <a:rPr sz="1400" b="0" dirty="0" err="1">
                <a:solidFill>
                  <a:srgbClr val="0F1E36"/>
                </a:solidFill>
                <a:latin typeface="Calibri"/>
              </a:rPr>
              <a:t>semestre</a:t>
            </a:r>
            <a:r>
              <a:rPr sz="1400" b="0" dirty="0">
                <a:solidFill>
                  <a:srgbClr val="0F1E36"/>
                </a:solidFill>
                <a:latin typeface="Calibri"/>
              </a:rPr>
              <a:t> a </a:t>
            </a:r>
            <a:r>
              <a:rPr sz="1400" b="0" dirty="0" err="1">
                <a:solidFill>
                  <a:srgbClr val="0F1E36"/>
                </a:solidFill>
                <a:latin typeface="Calibri"/>
              </a:rPr>
              <a:t>semestre</a:t>
            </a:r>
            <a:r>
              <a:rPr sz="1400" b="0" dirty="0">
                <a:solidFill>
                  <a:srgbClr val="0F1E36"/>
                </a:solidFill>
                <a:latin typeface="Calibri"/>
              </a:rPr>
              <a:t> y </a:t>
            </a:r>
            <a:r>
              <a:rPr sz="1400" b="0" dirty="0" err="1">
                <a:solidFill>
                  <a:srgbClr val="0F1E36"/>
                </a:solidFill>
                <a:latin typeface="Calibri"/>
              </a:rPr>
              <a:t>condiciones</a:t>
            </a:r>
            <a:r>
              <a:rPr sz="1400" b="0" dirty="0">
                <a:solidFill>
                  <a:srgbClr val="0F1E36"/>
                </a:solidFill>
                <a:latin typeface="Calibri"/>
              </a:rPr>
              <a:t> </a:t>
            </a:r>
            <a:r>
              <a:rPr sz="1400" b="0" dirty="0" err="1">
                <a:solidFill>
                  <a:srgbClr val="0F1E36"/>
                </a:solidFill>
                <a:latin typeface="Calibri"/>
              </a:rPr>
              <a:t>activadas</a:t>
            </a:r>
            <a:endParaRPr sz="1400" b="0" dirty="0">
              <a:solidFill>
                <a:srgbClr val="0F1E36"/>
              </a:solidFill>
              <a:latin typeface="Calibri"/>
            </a:endParaRPr>
          </a:p>
        </p:txBody>
      </p:sp>
      <p:sp>
        <p:nvSpPr>
          <p:cNvPr id="449" name="TextBox 448"/>
          <p:cNvSpPr txBox="1"/>
          <p:nvPr/>
        </p:nvSpPr>
        <p:spPr>
          <a:xfrm>
            <a:off x="731520" y="6227620"/>
            <a:ext cx="9875520" cy="200055"/>
          </a:xfrm>
          <a:prstGeom prst="rect">
            <a:avLst/>
          </a:prstGeom>
          <a:noFill/>
        </p:spPr>
        <p:txBody>
          <a:bodyPr wrap="square" lIns="0" tIns="0" rIns="0" bIns="0" anchor="t">
            <a:spAutoFit/>
          </a:bodyPr>
          <a:lstStyle/>
          <a:p>
            <a:pPr algn="ctr"/>
            <a:r>
              <a:rPr sz="1300" b="1" dirty="0" err="1">
                <a:solidFill>
                  <a:srgbClr val="1F5FAE"/>
                </a:solidFill>
                <a:latin typeface="Calibri"/>
              </a:rPr>
              <a:t>En</a:t>
            </a:r>
            <a:r>
              <a:rPr sz="1300" b="1" dirty="0">
                <a:solidFill>
                  <a:srgbClr val="1F5FAE"/>
                </a:solidFill>
                <a:latin typeface="Calibri"/>
              </a:rPr>
              <a:t> </a:t>
            </a:r>
            <a:r>
              <a:rPr sz="1300" b="1" dirty="0" err="1">
                <a:solidFill>
                  <a:srgbClr val="1F5FAE"/>
                </a:solidFill>
                <a:latin typeface="Calibri"/>
              </a:rPr>
              <a:t>línea</a:t>
            </a:r>
            <a:r>
              <a:rPr sz="1300" b="1" dirty="0">
                <a:solidFill>
                  <a:srgbClr val="1F5FAE"/>
                </a:solidFill>
                <a:latin typeface="Calibri"/>
              </a:rPr>
              <a:t>: </a:t>
            </a:r>
            <a:r>
              <a:rPr lang="es-CO" sz="1300" b="0" dirty="0">
                <a:solidFill>
                  <a:srgbClr val="0F1E36"/>
                </a:solidFill>
                <a:latin typeface="Calibri"/>
              </a:rPr>
              <a:t>https://p</a:t>
            </a:r>
            <a:r>
              <a:rPr sz="1300" b="0" dirty="0" err="1">
                <a:solidFill>
                  <a:srgbClr val="0F1E36"/>
                </a:solidFill>
                <a:latin typeface="Calibri"/>
              </a:rPr>
              <a:t>royecto-trayectoria-academica.streamlit.app</a:t>
            </a:r>
            <a:endParaRPr sz="1300" b="0" dirty="0">
              <a:solidFill>
                <a:srgbClr val="0F1E36"/>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32"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539" name="Google Shape;539;p32"/>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20</a:t>
            </a:r>
            <a:endParaRPr/>
          </a:p>
        </p:txBody>
      </p:sp>
      <p:sp>
        <p:nvSpPr>
          <p:cNvPr id="540" name="Google Shape;540;p32"/>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41" name="Google Shape;541;p32"/>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Conclusiones</a:t>
            </a:r>
            <a:endParaRPr/>
          </a:p>
        </p:txBody>
      </p:sp>
      <p:sp>
        <p:nvSpPr>
          <p:cNvPr id="542" name="Google Shape;542;p32"/>
          <p:cNvSpPr/>
          <p:nvPr/>
        </p:nvSpPr>
        <p:spPr>
          <a:xfrm>
            <a:off x="731520" y="1691640"/>
            <a:ext cx="777240" cy="777240"/>
          </a:xfrm>
          <a:prstGeom prst="ellipse">
            <a:avLst/>
          </a:prstGeom>
          <a:solidFill>
            <a:srgbClr val="1F5FAE"/>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1">
                <a:solidFill>
                  <a:srgbClr val="FFFFFF"/>
                </a:solidFill>
                <a:latin typeface="Calibri"/>
                <a:ea typeface="Calibri"/>
                <a:cs typeface="Calibri"/>
                <a:sym typeface="Calibri"/>
              </a:rPr>
              <a:t>1</a:t>
            </a:r>
            <a:endParaRPr/>
          </a:p>
        </p:txBody>
      </p:sp>
      <p:sp>
        <p:nvSpPr>
          <p:cNvPr id="543" name="Google Shape;543;p32"/>
          <p:cNvSpPr txBox="1"/>
          <p:nvPr/>
        </p:nvSpPr>
        <p:spPr>
          <a:xfrm>
            <a:off x="1783080" y="1463040"/>
            <a:ext cx="4160520" cy="17373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300" b="1" i="0">
                <a:solidFill>
                  <a:srgbClr val="0F1E36"/>
                </a:solidFill>
                <a:latin typeface="Calibri"/>
                <a:ea typeface="Calibri"/>
                <a:cs typeface="Calibri"/>
                <a:sym typeface="Calibri"/>
              </a:rPr>
              <a:t>Random Forest es el más adecuado</a:t>
            </a:r>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AUC-PR 0,745: tres veces el azar</a:t>
            </a:r>
            <a:endParaRPr/>
          </a:p>
        </p:txBody>
      </p:sp>
      <p:sp>
        <p:nvSpPr>
          <p:cNvPr id="544" name="Google Shape;544;p32"/>
          <p:cNvSpPr/>
          <p:nvPr/>
        </p:nvSpPr>
        <p:spPr>
          <a:xfrm>
            <a:off x="6126480" y="1691640"/>
            <a:ext cx="777240" cy="777240"/>
          </a:xfrm>
          <a:prstGeom prst="ellipse">
            <a:avLst/>
          </a:prstGeom>
          <a:solidFill>
            <a:srgbClr val="D97706"/>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1">
                <a:solidFill>
                  <a:srgbClr val="FFFFFF"/>
                </a:solidFill>
                <a:latin typeface="Calibri"/>
                <a:ea typeface="Calibri"/>
                <a:cs typeface="Calibri"/>
                <a:sym typeface="Calibri"/>
              </a:rPr>
              <a:t>2</a:t>
            </a:r>
            <a:endParaRPr/>
          </a:p>
        </p:txBody>
      </p:sp>
      <p:sp>
        <p:nvSpPr>
          <p:cNvPr id="545" name="Google Shape;545;p32"/>
          <p:cNvSpPr txBox="1"/>
          <p:nvPr/>
        </p:nvSpPr>
        <p:spPr>
          <a:xfrm>
            <a:off x="7178040" y="1463040"/>
            <a:ext cx="4160520" cy="17373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300" b="1" i="0">
                <a:solidFill>
                  <a:srgbClr val="0F1E36"/>
                </a:solidFill>
                <a:latin typeface="Calibri"/>
                <a:ea typeface="Calibri"/>
                <a:cs typeface="Calibri"/>
                <a:sym typeface="Calibri"/>
              </a:rPr>
              <a:t>El 1.er semestre concentra la señal</a:t>
            </a:r>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alerta a tiempo, cuando ocurre el abandono</a:t>
            </a:r>
            <a:endParaRPr/>
          </a:p>
        </p:txBody>
      </p:sp>
      <p:sp>
        <p:nvSpPr>
          <p:cNvPr id="546" name="Google Shape;546;p32"/>
          <p:cNvSpPr/>
          <p:nvPr/>
        </p:nvSpPr>
        <p:spPr>
          <a:xfrm>
            <a:off x="731520" y="3840480"/>
            <a:ext cx="777240" cy="777240"/>
          </a:xfrm>
          <a:prstGeom prst="ellipse">
            <a:avLst/>
          </a:prstGeom>
          <a:solidFill>
            <a:srgbClr val="B91C1C"/>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1">
                <a:solidFill>
                  <a:srgbClr val="FFFFFF"/>
                </a:solidFill>
                <a:latin typeface="Calibri"/>
                <a:ea typeface="Calibri"/>
                <a:cs typeface="Calibri"/>
                <a:sym typeface="Calibri"/>
              </a:rPr>
              <a:t>3</a:t>
            </a:r>
            <a:endParaRPr/>
          </a:p>
        </p:txBody>
      </p:sp>
      <p:sp>
        <p:nvSpPr>
          <p:cNvPr id="547" name="Google Shape;547;p32"/>
          <p:cNvSpPr txBox="1"/>
          <p:nvPr/>
        </p:nvSpPr>
        <p:spPr>
          <a:xfrm>
            <a:off x="1783080" y="3611880"/>
            <a:ext cx="4160520" cy="17373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300" b="1" i="0">
                <a:solidFill>
                  <a:srgbClr val="0F1E36"/>
                </a:solidFill>
                <a:latin typeface="Calibri"/>
                <a:ea typeface="Calibri"/>
                <a:cs typeface="Calibri"/>
                <a:sym typeface="Calibri"/>
              </a:rPr>
              <a:t>Medir bien pesa más que el algoritmo</a:t>
            </a:r>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los sesgos inflaban hasta 15 puntos</a:t>
            </a:r>
            <a:endParaRPr/>
          </a:p>
        </p:txBody>
      </p:sp>
      <p:sp>
        <p:nvSpPr>
          <p:cNvPr id="548" name="Google Shape;548;p32"/>
          <p:cNvSpPr/>
          <p:nvPr/>
        </p:nvSpPr>
        <p:spPr>
          <a:xfrm>
            <a:off x="6126480" y="3840480"/>
            <a:ext cx="777240" cy="777240"/>
          </a:xfrm>
          <a:prstGeom prst="ellipse">
            <a:avLst/>
          </a:prstGeom>
          <a:solidFill>
            <a:srgbClr val="047857"/>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1">
                <a:solidFill>
                  <a:srgbClr val="FFFFFF"/>
                </a:solidFill>
                <a:latin typeface="Calibri"/>
                <a:ea typeface="Calibri"/>
                <a:cs typeface="Calibri"/>
                <a:sym typeface="Calibri"/>
              </a:rPr>
              <a:t>4</a:t>
            </a:r>
            <a:endParaRPr/>
          </a:p>
        </p:txBody>
      </p:sp>
      <p:sp>
        <p:nvSpPr>
          <p:cNvPr id="549" name="Google Shape;549;p32"/>
          <p:cNvSpPr txBox="1"/>
          <p:nvPr/>
        </p:nvSpPr>
        <p:spPr>
          <a:xfrm>
            <a:off x="7178090" y="3840468"/>
            <a:ext cx="4160400" cy="2801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300" b="1">
                <a:solidFill>
                  <a:srgbClr val="0F1E36"/>
                </a:solidFill>
                <a:latin typeface="Calibri"/>
                <a:ea typeface="Calibri"/>
                <a:cs typeface="Calibri"/>
                <a:sym typeface="Calibri"/>
              </a:rPr>
              <a:t>La calidad en los datos es determinante para establecer una metodología viable</a:t>
            </a:r>
            <a:br>
              <a:rPr lang="en-US" sz="2300" b="1">
                <a:solidFill>
                  <a:srgbClr val="0F1E36"/>
                </a:solidFill>
                <a:latin typeface="Calibri"/>
                <a:ea typeface="Calibri"/>
                <a:cs typeface="Calibri"/>
                <a:sym typeface="Calibri"/>
              </a:rPr>
            </a:br>
            <a:endParaRPr sz="1800">
              <a:solidFill>
                <a:srgbClr val="55657E"/>
              </a:solidFill>
              <a:latin typeface="Calibri"/>
              <a:ea typeface="Calibri"/>
              <a:cs typeface="Calibri"/>
              <a:sym typeface="Calibri"/>
            </a:endParaRPr>
          </a:p>
          <a:p>
            <a:pPr marL="0" marR="0" lvl="0" indent="0" algn="l" rtl="0">
              <a:spcBef>
                <a:spcPts val="0"/>
              </a:spcBef>
              <a:spcAft>
                <a:spcPts val="0"/>
              </a:spcAft>
              <a:buNone/>
            </a:pPr>
            <a:r>
              <a:rPr lang="en-US" sz="1800">
                <a:solidFill>
                  <a:srgbClr val="55657E"/>
                </a:solidFill>
                <a:latin typeface="Calibri"/>
                <a:ea typeface="Calibri"/>
                <a:cs typeface="Calibri"/>
                <a:sym typeface="Calibri"/>
              </a:rPr>
              <a:t>Antes de pensar en el modelo, los datos deben ser confiables, consistentes y relevantes. </a:t>
            </a:r>
            <a:r>
              <a:rPr lang="en-US" sz="1800" b="1">
                <a:solidFill>
                  <a:srgbClr val="55657E"/>
                </a:solidFill>
                <a:latin typeface="Calibri"/>
                <a:ea typeface="Calibri"/>
                <a:cs typeface="Calibri"/>
                <a:sym typeface="Calibri"/>
              </a:rPr>
              <a:t>Un buen modelo comienza con buenos datos</a:t>
            </a:r>
            <a:r>
              <a:rPr lang="en-US" sz="1800">
                <a:solidFill>
                  <a:srgbClr val="55657E"/>
                </a:solidFill>
                <a:latin typeface="Calibri"/>
                <a:ea typeface="Calibri"/>
                <a:cs typeface="Calibri"/>
                <a:sym typeface="Calibri"/>
              </a:rPr>
              <a:t>. </a:t>
            </a:r>
            <a:endParaRPr sz="1800">
              <a:solidFill>
                <a:srgbClr val="55657E"/>
              </a:solidFill>
              <a:latin typeface="Calibri"/>
              <a:ea typeface="Calibri"/>
              <a:cs typeface="Calibri"/>
              <a:sym typeface="Calibri"/>
            </a:endParaRPr>
          </a:p>
          <a:p>
            <a:pPr marL="0" marR="0" lvl="0" indent="0" algn="l" rtl="0">
              <a:spcBef>
                <a:spcPts val="0"/>
              </a:spcBef>
              <a:spcAft>
                <a:spcPts val="0"/>
              </a:spcAft>
              <a:buNone/>
            </a:pPr>
            <a:endParaRPr sz="2300" b="1">
              <a:solidFill>
                <a:srgbClr val="0F1E36"/>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pic>
        <p:nvPicPr>
          <p:cNvPr id="562" name="Google Shape;562;p33"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563" name="Google Shape;563;p33"/>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21</a:t>
            </a:r>
            <a:endParaRPr/>
          </a:p>
        </p:txBody>
      </p:sp>
      <p:sp>
        <p:nvSpPr>
          <p:cNvPr id="564" name="Google Shape;564;p33"/>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65" name="Google Shape;565;p33"/>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Límites y siguiente paso</a:t>
            </a:r>
            <a:endParaRPr/>
          </a:p>
        </p:txBody>
      </p:sp>
      <p:sp>
        <p:nvSpPr>
          <p:cNvPr id="566" name="Google Shape;566;p33"/>
          <p:cNvSpPr txBox="1"/>
          <p:nvPr/>
        </p:nvSpPr>
        <p:spPr>
          <a:xfrm>
            <a:off x="731520" y="1554480"/>
            <a:ext cx="5760720" cy="2560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  Una sola muestra de 80 estudiantes: estudio exploratorio</a:t>
            </a:r>
            <a:endParaRPr/>
          </a:p>
          <a:p>
            <a:pPr marL="0" marR="0" lvl="0" indent="0" algn="l" rtl="0">
              <a:spcBef>
                <a:spcPts val="1400"/>
              </a:spcBef>
              <a:spcAft>
                <a:spcPts val="0"/>
              </a:spcAft>
              <a:buNone/>
            </a:pPr>
            <a:r>
              <a:rPr lang="en-US" sz="2000" b="0" i="0">
                <a:solidFill>
                  <a:srgbClr val="0F1E36"/>
                </a:solidFill>
                <a:latin typeface="Calibri"/>
                <a:ea typeface="Calibri"/>
                <a:cs typeface="Calibri"/>
                <a:sym typeface="Calibri"/>
              </a:rPr>
              <a:t>▸  Validación con cohortes recientes, sin modificar el modelo</a:t>
            </a:r>
            <a:endParaRPr/>
          </a:p>
          <a:p>
            <a:pPr marL="0" marR="0" lvl="0" indent="0" algn="l" rtl="0">
              <a:spcBef>
                <a:spcPts val="1400"/>
              </a:spcBef>
              <a:spcAft>
                <a:spcPts val="0"/>
              </a:spcAft>
              <a:buNone/>
            </a:pPr>
            <a:r>
              <a:rPr lang="en-US" sz="2000" b="0" i="0">
                <a:solidFill>
                  <a:srgbClr val="0F1E36"/>
                </a:solidFill>
                <a:latin typeface="Calibri"/>
                <a:ea typeface="Calibri"/>
                <a:cs typeface="Calibri"/>
                <a:sym typeface="Calibri"/>
              </a:rPr>
              <a:t>▸  Extensión a Ingeniería Electrónica y Biología</a:t>
            </a:r>
            <a:endParaRPr/>
          </a:p>
        </p:txBody>
      </p:sp>
      <p:pic>
        <p:nvPicPr>
          <p:cNvPr id="567" name="Google Shape;567;p33" descr="f19_aprendizaje.png"/>
          <p:cNvPicPr preferRelativeResize="0"/>
          <p:nvPr/>
        </p:nvPicPr>
        <p:blipFill rotWithShape="1">
          <a:blip r:embed="rId4">
            <a:alphaModFix/>
          </a:blip>
          <a:srcRect/>
          <a:stretch/>
        </p:blipFill>
        <p:spPr>
          <a:xfrm>
            <a:off x="6866312" y="1417320"/>
            <a:ext cx="4189614" cy="3291840"/>
          </a:xfrm>
          <a:prstGeom prst="rect">
            <a:avLst/>
          </a:prstGeom>
          <a:noFill/>
          <a:ln>
            <a:noFill/>
          </a:ln>
        </p:spPr>
      </p:pic>
      <p:sp>
        <p:nvSpPr>
          <p:cNvPr id="568" name="Google Shape;568;p33"/>
          <p:cNvSpPr txBox="1"/>
          <p:nvPr/>
        </p:nvSpPr>
        <p:spPr>
          <a:xfrm>
            <a:off x="6675120" y="4709160"/>
            <a:ext cx="4572000" cy="3200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0" b="0" i="0">
                <a:solidFill>
                  <a:srgbClr val="55657E"/>
                </a:solidFill>
                <a:latin typeface="Calibri"/>
                <a:ea typeface="Calibri"/>
                <a:cs typeface="Calibri"/>
                <a:sym typeface="Calibri"/>
              </a:rPr>
              <a:t>Curva de aprendizaje: aún sube (techo ≈ 0,84)</a:t>
            </a:r>
            <a:endParaRPr/>
          </a:p>
        </p:txBody>
      </p:sp>
      <p:sp>
        <p:nvSpPr>
          <p:cNvPr id="569" name="Google Shape;569;p33"/>
          <p:cNvSpPr txBox="1"/>
          <p:nvPr/>
        </p:nvSpPr>
        <p:spPr>
          <a:xfrm>
            <a:off x="731520" y="4114800"/>
            <a:ext cx="576072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b="1" i="0">
                <a:solidFill>
                  <a:srgbClr val="1F5FAE"/>
                </a:solidFill>
                <a:latin typeface="Calibri"/>
                <a:ea typeface="Calibri"/>
                <a:cs typeface="Calibri"/>
                <a:sym typeface="Calibri"/>
              </a:rPr>
              <a:t>¡Gracias!</a:t>
            </a:r>
            <a:endParaRPr/>
          </a:p>
          <a:p>
            <a:pPr marL="0" marR="0" lvl="0" indent="0" algn="l" rtl="0">
              <a:spcBef>
                <a:spcPts val="0"/>
              </a:spcBef>
              <a:spcAft>
                <a:spcPts val="0"/>
              </a:spcAft>
              <a:buNone/>
            </a:pPr>
            <a:r>
              <a:rPr lang="en-US" sz="1600" b="0" i="0">
                <a:solidFill>
                  <a:srgbClr val="55657E"/>
                </a:solidFill>
                <a:latin typeface="Calibri"/>
                <a:ea typeface="Calibri"/>
                <a:cs typeface="Calibri"/>
                <a:sym typeface="Calibri"/>
              </a:rPr>
              <a:t>joan.martinez@unillanos.edu.co</a:t>
            </a:r>
            <a:endParaRPr/>
          </a:p>
        </p:txBody>
      </p:sp>
      <p:sp>
        <p:nvSpPr>
          <p:cNvPr id="570" name="Google Shape;570;p33"/>
          <p:cNvSpPr txBox="1"/>
          <p:nvPr/>
        </p:nvSpPr>
        <p:spPr>
          <a:xfrm>
            <a:off x="731520" y="5532120"/>
            <a:ext cx="987552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0" i="0">
                <a:solidFill>
                  <a:srgbClr val="55657E"/>
                </a:solidFill>
                <a:latin typeface="Calibri"/>
                <a:ea typeface="Calibri"/>
                <a:cs typeface="Calibri"/>
                <a:sym typeface="Calibri"/>
              </a:rPr>
              <a:t>Proyecto DGI/Unillanos C07-02-2026-027, Oficina de Sistemas, Universidad de los Llanos</a:t>
            </a:r>
            <a:endParaRPr/>
          </a:p>
        </p:txBody>
      </p:sp>
      <p:pic>
        <p:nvPicPr>
          <p:cNvPr id="571" name="Picture 570" descr="qr.png"/>
          <p:cNvPicPr>
            <a:picLocks noChangeAspect="1"/>
          </p:cNvPicPr>
          <p:nvPr/>
        </p:nvPicPr>
        <p:blipFill>
          <a:blip r:embed="rId5"/>
          <a:stretch>
            <a:fillRect/>
          </a:stretch>
        </p:blipFill>
        <p:spPr>
          <a:xfrm>
            <a:off x="4754880" y="3840480"/>
            <a:ext cx="1234440" cy="1234440"/>
          </a:xfrm>
          <a:prstGeom prst="rect">
            <a:avLst/>
          </a:prstGeom>
        </p:spPr>
      </p:pic>
      <p:sp>
        <p:nvSpPr>
          <p:cNvPr id="572" name="TextBox 571"/>
          <p:cNvSpPr txBox="1"/>
          <p:nvPr/>
        </p:nvSpPr>
        <p:spPr>
          <a:xfrm>
            <a:off x="3931920" y="5102352"/>
            <a:ext cx="2926080" cy="274320"/>
          </a:xfrm>
          <a:prstGeom prst="rect">
            <a:avLst/>
          </a:prstGeom>
          <a:noFill/>
        </p:spPr>
        <p:txBody>
          <a:bodyPr wrap="square" lIns="0" tIns="0" rIns="0" bIns="0" anchor="t">
            <a:spAutoFit/>
          </a:bodyPr>
          <a:lstStyle/>
          <a:p>
            <a:pPr algn="ctr"/>
            <a:r>
              <a:rPr sz="1050" b="0">
                <a:solidFill>
                  <a:srgbClr val="55657E"/>
                </a:solidFill>
                <a:latin typeface="Calibri"/>
              </a:rPr>
              <a:t>proyecto-trayectoria-academica.streamlit.app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h26ced1568c81ade5_1_4"/>
          <p:cNvSpPr/>
          <p:nvPr/>
        </p:nvSpPr>
        <p:spPr>
          <a:xfrm>
            <a:off x="566928" y="457200"/>
            <a:ext cx="50400" cy="420600"/>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h26ced1568c81ade5_1_4"/>
          <p:cNvSpPr txBox="1"/>
          <p:nvPr/>
        </p:nvSpPr>
        <p:spPr>
          <a:xfrm>
            <a:off x="731520" y="347472"/>
            <a:ext cx="10607100" cy="4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a:solidFill>
                  <a:srgbClr val="0F1E36"/>
                </a:solidFill>
                <a:latin typeface="Calibri"/>
                <a:ea typeface="Calibri"/>
                <a:cs typeface="Calibri"/>
                <a:sym typeface="Calibri"/>
              </a:rPr>
              <a:t>Referencias</a:t>
            </a:r>
            <a:endParaRPr/>
          </a:p>
        </p:txBody>
      </p:sp>
      <p:sp>
        <p:nvSpPr>
          <p:cNvPr id="556" name="TextBox 555"/>
          <p:cNvSpPr txBox="1"/>
          <p:nvPr/>
        </p:nvSpPr>
        <p:spPr>
          <a:xfrm>
            <a:off x="731520" y="1188720"/>
            <a:ext cx="5212080" cy="4754880"/>
          </a:xfrm>
          <a:prstGeom prst="rect">
            <a:avLst/>
          </a:prstGeom>
          <a:noFill/>
        </p:spPr>
        <p:txBody>
          <a:bodyPr wrap="square" lIns="0" tIns="0" rIns="0" bIns="0" anchor="t">
            <a:spAutoFit/>
          </a:bodyPr>
          <a:lstStyle/>
          <a:p>
            <a:pPr algn="l">
              <a:spcAft>
                <a:spcPts val="500"/>
              </a:spcAft>
            </a:pPr>
            <a:r>
              <a:rPr sz="1150" b="1" i="0" dirty="0">
                <a:solidFill>
                  <a:srgbClr val="1F5FAE"/>
                </a:solidFill>
                <a:latin typeface="Calibri"/>
              </a:rPr>
              <a:t>[1]  </a:t>
            </a:r>
            <a:r>
              <a:rPr sz="1150" b="0" i="0" dirty="0" err="1">
                <a:solidFill>
                  <a:srgbClr val="0F1E36"/>
                </a:solidFill>
                <a:latin typeface="Calibri"/>
              </a:rPr>
              <a:t>Laboratorio</a:t>
            </a:r>
            <a:r>
              <a:rPr sz="1150" b="0" i="0" dirty="0">
                <a:solidFill>
                  <a:srgbClr val="0F1E36"/>
                </a:solidFill>
                <a:latin typeface="Calibri"/>
              </a:rPr>
              <a:t> de </a:t>
            </a:r>
            <a:r>
              <a:rPr sz="1150" b="0" i="0" dirty="0" err="1">
                <a:solidFill>
                  <a:srgbClr val="0F1E36"/>
                </a:solidFill>
                <a:latin typeface="Calibri"/>
              </a:rPr>
              <a:t>Economía</a:t>
            </a:r>
            <a:r>
              <a:rPr sz="1150" b="0" i="0" dirty="0">
                <a:solidFill>
                  <a:srgbClr val="0F1E36"/>
                </a:solidFill>
                <a:latin typeface="Calibri"/>
              </a:rPr>
              <a:t> de la </a:t>
            </a:r>
            <a:r>
              <a:rPr sz="1150" b="0" i="0" dirty="0" err="1">
                <a:solidFill>
                  <a:srgbClr val="0F1E36"/>
                </a:solidFill>
                <a:latin typeface="Calibri"/>
              </a:rPr>
              <a:t>Educación</a:t>
            </a:r>
            <a:r>
              <a:rPr sz="1150" b="0" i="0" dirty="0">
                <a:solidFill>
                  <a:srgbClr val="0F1E36"/>
                </a:solidFill>
                <a:latin typeface="Calibri"/>
              </a:rPr>
              <a:t>, «</a:t>
            </a:r>
            <a:r>
              <a:rPr sz="1150" b="0" i="0" dirty="0" err="1">
                <a:solidFill>
                  <a:srgbClr val="0F1E36"/>
                </a:solidFill>
                <a:latin typeface="Calibri"/>
              </a:rPr>
              <a:t>Deserción</a:t>
            </a:r>
            <a:r>
              <a:rPr sz="1150" b="0" i="0" dirty="0">
                <a:solidFill>
                  <a:srgbClr val="0F1E36"/>
                </a:solidFill>
                <a:latin typeface="Calibri"/>
              </a:rPr>
              <a:t> </a:t>
            </a:r>
            <a:r>
              <a:rPr sz="1150" b="0" i="0" dirty="0" err="1">
                <a:solidFill>
                  <a:srgbClr val="0F1E36"/>
                </a:solidFill>
                <a:latin typeface="Calibri"/>
              </a:rPr>
              <a:t>en</a:t>
            </a:r>
            <a:r>
              <a:rPr sz="1150" b="0" i="0" dirty="0">
                <a:solidFill>
                  <a:srgbClr val="0F1E36"/>
                </a:solidFill>
                <a:latin typeface="Calibri"/>
              </a:rPr>
              <a:t> la </a:t>
            </a:r>
            <a:r>
              <a:rPr sz="1150" b="0" i="0" dirty="0" err="1">
                <a:solidFill>
                  <a:srgbClr val="0F1E36"/>
                </a:solidFill>
                <a:latin typeface="Calibri"/>
              </a:rPr>
              <a:t>educación</a:t>
            </a:r>
            <a:r>
              <a:rPr sz="1150" b="0" i="0" dirty="0">
                <a:solidFill>
                  <a:srgbClr val="0F1E36"/>
                </a:solidFill>
                <a:latin typeface="Calibri"/>
              </a:rPr>
              <a:t> superior </a:t>
            </a:r>
            <a:r>
              <a:rPr sz="1150" b="0" i="0" dirty="0" err="1">
                <a:solidFill>
                  <a:srgbClr val="0F1E36"/>
                </a:solidFill>
                <a:latin typeface="Calibri"/>
              </a:rPr>
              <a:t>en</a:t>
            </a:r>
            <a:r>
              <a:rPr sz="1150" b="0" i="0" dirty="0">
                <a:solidFill>
                  <a:srgbClr val="0F1E36"/>
                </a:solidFill>
                <a:latin typeface="Calibri"/>
              </a:rPr>
              <a:t> Colombia», Informe No. 74, Pontificia Universidad Javeriana, 2023.</a:t>
            </a:r>
          </a:p>
          <a:p>
            <a:pPr algn="l">
              <a:spcAft>
                <a:spcPts val="500"/>
              </a:spcAft>
            </a:pPr>
            <a:r>
              <a:rPr sz="1150" b="1" i="0" dirty="0">
                <a:solidFill>
                  <a:srgbClr val="1F5FAE"/>
                </a:solidFill>
                <a:latin typeface="Calibri"/>
              </a:rPr>
              <a:t>[2]  </a:t>
            </a:r>
            <a:r>
              <a:rPr sz="1150" b="0" i="0" dirty="0">
                <a:solidFill>
                  <a:srgbClr val="0F1E36"/>
                </a:solidFill>
                <a:latin typeface="Calibri"/>
              </a:rPr>
              <a:t>R. Wirth y J. </a:t>
            </a:r>
            <a:r>
              <a:rPr sz="1150" b="0" i="0" dirty="0" err="1">
                <a:solidFill>
                  <a:srgbClr val="0F1E36"/>
                </a:solidFill>
                <a:latin typeface="Calibri"/>
              </a:rPr>
              <a:t>Hipp</a:t>
            </a:r>
            <a:r>
              <a:rPr sz="1150" b="0" i="0" dirty="0">
                <a:solidFill>
                  <a:srgbClr val="0F1E36"/>
                </a:solidFill>
                <a:latin typeface="Calibri"/>
              </a:rPr>
              <a:t>, «CRISP-DM: Towards a standard process model for data mining», Proc. 4th Int. Conf. Practical Applications of Knowledge Discovery and Data Mining, 2000, pp. 29-39.</a:t>
            </a:r>
          </a:p>
          <a:p>
            <a:pPr algn="l">
              <a:spcAft>
                <a:spcPts val="500"/>
              </a:spcAft>
            </a:pPr>
            <a:r>
              <a:rPr sz="1150" b="1" i="0" dirty="0">
                <a:solidFill>
                  <a:srgbClr val="1F5FAE"/>
                </a:solidFill>
                <a:latin typeface="Calibri"/>
              </a:rPr>
              <a:t>[3]  </a:t>
            </a:r>
            <a:r>
              <a:rPr sz="1150" b="0" i="0" dirty="0">
                <a:solidFill>
                  <a:srgbClr val="0F1E36"/>
                </a:solidFill>
                <a:latin typeface="Calibri"/>
              </a:rPr>
              <a:t>IBM Corp., </a:t>
            </a:r>
            <a:r>
              <a:rPr sz="1150" b="0" i="0" dirty="0" err="1">
                <a:solidFill>
                  <a:srgbClr val="0F1E36"/>
                </a:solidFill>
                <a:latin typeface="Calibri"/>
              </a:rPr>
              <a:t>Guía</a:t>
            </a:r>
            <a:r>
              <a:rPr sz="1150" b="0" i="0" dirty="0">
                <a:solidFill>
                  <a:srgbClr val="0F1E36"/>
                </a:solidFill>
                <a:latin typeface="Calibri"/>
              </a:rPr>
              <a:t> de CRISP-DM de IBM SPSS Modeler (v. 18.3). Armonk, NY: IBM, 2021.</a:t>
            </a:r>
          </a:p>
          <a:p>
            <a:pPr algn="l">
              <a:spcAft>
                <a:spcPts val="500"/>
              </a:spcAft>
            </a:pPr>
            <a:r>
              <a:rPr sz="1150" b="1" i="0" dirty="0">
                <a:solidFill>
                  <a:srgbClr val="1F5FAE"/>
                </a:solidFill>
                <a:latin typeface="Calibri"/>
              </a:rPr>
              <a:t>[4]  </a:t>
            </a:r>
            <a:r>
              <a:rPr sz="1150" b="0" i="0" dirty="0">
                <a:solidFill>
                  <a:srgbClr val="0F1E36"/>
                </a:solidFill>
                <a:latin typeface="Calibri"/>
              </a:rPr>
              <a:t>Universidad de los Llanos, </a:t>
            </a:r>
            <a:r>
              <a:rPr sz="1150" b="0" i="0" dirty="0" err="1">
                <a:solidFill>
                  <a:srgbClr val="0F1E36"/>
                </a:solidFill>
                <a:latin typeface="Calibri"/>
              </a:rPr>
              <a:t>Acuerdo</a:t>
            </a:r>
            <a:r>
              <a:rPr sz="1150" b="0" i="0" dirty="0">
                <a:solidFill>
                  <a:srgbClr val="0F1E36"/>
                </a:solidFill>
                <a:latin typeface="Calibri"/>
              </a:rPr>
              <a:t> Superior No. 020 de 2021: </a:t>
            </a:r>
            <a:r>
              <a:rPr sz="1150" b="0" i="0" dirty="0" err="1">
                <a:solidFill>
                  <a:srgbClr val="0F1E36"/>
                </a:solidFill>
                <a:latin typeface="Calibri"/>
              </a:rPr>
              <a:t>Reglamento</a:t>
            </a:r>
            <a:r>
              <a:rPr sz="1150" b="0" i="0" dirty="0">
                <a:solidFill>
                  <a:srgbClr val="0F1E36"/>
                </a:solidFill>
                <a:latin typeface="Calibri"/>
              </a:rPr>
              <a:t> </a:t>
            </a:r>
            <a:r>
              <a:rPr sz="1150" b="0" i="0" dirty="0" err="1">
                <a:solidFill>
                  <a:srgbClr val="0F1E36"/>
                </a:solidFill>
                <a:latin typeface="Calibri"/>
              </a:rPr>
              <a:t>Estudiantil</a:t>
            </a:r>
            <a:r>
              <a:rPr sz="1150" b="0" i="0" dirty="0">
                <a:solidFill>
                  <a:srgbClr val="0F1E36"/>
                </a:solidFill>
                <a:latin typeface="Calibri"/>
              </a:rPr>
              <a:t> de </a:t>
            </a:r>
            <a:r>
              <a:rPr sz="1150" b="0" i="0" dirty="0" err="1">
                <a:solidFill>
                  <a:srgbClr val="0F1E36"/>
                </a:solidFill>
                <a:latin typeface="Calibri"/>
              </a:rPr>
              <a:t>pregrado</a:t>
            </a:r>
            <a:r>
              <a:rPr sz="1150" b="0" i="0" dirty="0">
                <a:solidFill>
                  <a:srgbClr val="0F1E36"/>
                </a:solidFill>
                <a:latin typeface="Calibri"/>
              </a:rPr>
              <a:t>. Villavicencio, 2021.</a:t>
            </a:r>
          </a:p>
          <a:p>
            <a:pPr algn="l">
              <a:spcAft>
                <a:spcPts val="500"/>
              </a:spcAft>
            </a:pPr>
            <a:r>
              <a:rPr sz="1150" b="1" i="0" dirty="0">
                <a:solidFill>
                  <a:srgbClr val="1F5FAE"/>
                </a:solidFill>
                <a:latin typeface="Calibri"/>
              </a:rPr>
              <a:t>[5]  </a:t>
            </a:r>
            <a:r>
              <a:rPr sz="1150" b="0" i="0" dirty="0">
                <a:solidFill>
                  <a:srgbClr val="0F1E36"/>
                </a:solidFill>
                <a:latin typeface="Calibri"/>
              </a:rPr>
              <a:t>S. Varma y R. Simon, «Bias in error estimation when using cross-validation for model selection», BMC Bioinformatics, vol. 7, p. 91, 2006.</a:t>
            </a:r>
          </a:p>
          <a:p>
            <a:pPr algn="l">
              <a:spcAft>
                <a:spcPts val="500"/>
              </a:spcAft>
            </a:pPr>
            <a:r>
              <a:rPr sz="1150" b="1" i="0" dirty="0">
                <a:solidFill>
                  <a:srgbClr val="1F5FAE"/>
                </a:solidFill>
                <a:latin typeface="Calibri"/>
              </a:rPr>
              <a:t>[6]  </a:t>
            </a:r>
            <a:r>
              <a:rPr sz="1150" b="0" i="0" dirty="0">
                <a:solidFill>
                  <a:srgbClr val="0F1E36"/>
                </a:solidFill>
                <a:latin typeface="Calibri"/>
              </a:rPr>
              <a:t>G. C. Cawley y N. L. C. Talbot, «On over-fitting in model selection and subsequent selection bias in performance evaluation», J. Mach. Learn. Res., vol. 11, pp. 2079-2107, 2010.</a:t>
            </a:r>
          </a:p>
          <a:p>
            <a:pPr algn="l">
              <a:spcAft>
                <a:spcPts val="500"/>
              </a:spcAft>
            </a:pPr>
            <a:r>
              <a:rPr sz="1150" b="1" i="0" dirty="0">
                <a:solidFill>
                  <a:srgbClr val="1F5FAE"/>
                </a:solidFill>
                <a:latin typeface="Calibri"/>
              </a:rPr>
              <a:t>[7]  </a:t>
            </a:r>
            <a:r>
              <a:rPr sz="1150" b="0" i="0" dirty="0">
                <a:solidFill>
                  <a:srgbClr val="0F1E36"/>
                </a:solidFill>
                <a:latin typeface="Calibri"/>
              </a:rPr>
              <a:t>C. </a:t>
            </a:r>
            <a:r>
              <a:rPr sz="1150" b="0" i="0" dirty="0" err="1">
                <a:solidFill>
                  <a:srgbClr val="0F1E36"/>
                </a:solidFill>
                <a:latin typeface="Calibri"/>
              </a:rPr>
              <a:t>Ambroise</a:t>
            </a:r>
            <a:r>
              <a:rPr sz="1150" b="0" i="0" dirty="0">
                <a:solidFill>
                  <a:srgbClr val="0F1E36"/>
                </a:solidFill>
                <a:latin typeface="Calibri"/>
              </a:rPr>
              <a:t> y G. J. McLachlan, «Selection bias in gene extraction on the basis of microarray gene-expression data», PNAS, vol. 99, no. 10, pp. 6562-6566, 2002.</a:t>
            </a:r>
          </a:p>
          <a:p>
            <a:pPr algn="l">
              <a:spcAft>
                <a:spcPts val="500"/>
              </a:spcAft>
            </a:pPr>
            <a:r>
              <a:rPr sz="1150" b="1" i="0" dirty="0">
                <a:solidFill>
                  <a:srgbClr val="1F5FAE"/>
                </a:solidFill>
                <a:latin typeface="Calibri"/>
              </a:rPr>
              <a:t>[8]  </a:t>
            </a:r>
            <a:r>
              <a:rPr sz="1150" b="0" i="0" dirty="0">
                <a:solidFill>
                  <a:srgbClr val="0F1E36"/>
                </a:solidFill>
                <a:latin typeface="Calibri"/>
              </a:rPr>
              <a:t>T. Hastie, R. </a:t>
            </a:r>
            <a:r>
              <a:rPr sz="1150" b="0" i="0" dirty="0" err="1">
                <a:solidFill>
                  <a:srgbClr val="0F1E36"/>
                </a:solidFill>
                <a:latin typeface="Calibri"/>
              </a:rPr>
              <a:t>Tibshirani</a:t>
            </a:r>
            <a:r>
              <a:rPr sz="1150" b="0" i="0" dirty="0">
                <a:solidFill>
                  <a:srgbClr val="0F1E36"/>
                </a:solidFill>
                <a:latin typeface="Calibri"/>
              </a:rPr>
              <a:t> y J. Friedman, The Elements of Statistical Learning, 2.ª ed. Nueva York: Springer, 2009.</a:t>
            </a:r>
          </a:p>
        </p:txBody>
      </p:sp>
      <p:sp>
        <p:nvSpPr>
          <p:cNvPr id="557" name="TextBox 556"/>
          <p:cNvSpPr txBox="1"/>
          <p:nvPr/>
        </p:nvSpPr>
        <p:spPr>
          <a:xfrm>
            <a:off x="6172200" y="1188720"/>
            <a:ext cx="5212080" cy="4754880"/>
          </a:xfrm>
          <a:prstGeom prst="rect">
            <a:avLst/>
          </a:prstGeom>
          <a:noFill/>
        </p:spPr>
        <p:txBody>
          <a:bodyPr wrap="square" lIns="0" tIns="0" rIns="0" bIns="0" anchor="t">
            <a:spAutoFit/>
          </a:bodyPr>
          <a:lstStyle/>
          <a:p>
            <a:pPr algn="l">
              <a:spcAft>
                <a:spcPts val="500"/>
              </a:spcAft>
            </a:pPr>
            <a:r>
              <a:rPr sz="1150" b="1" i="0">
                <a:solidFill>
                  <a:srgbClr val="1F5FAE"/>
                </a:solidFill>
                <a:latin typeface="Calibri"/>
              </a:rPr>
              <a:t>[9]  </a:t>
            </a:r>
            <a:r>
              <a:rPr sz="1150" b="0" i="0">
                <a:solidFill>
                  <a:srgbClr val="0F1E36"/>
                </a:solidFill>
                <a:latin typeface="Calibri"/>
              </a:rPr>
              <a:t>L. Breiman, «Random forests», Machine Learning, vol. 45, no. 1, pp. 5-32, 2001.</a:t>
            </a:r>
          </a:p>
          <a:p>
            <a:pPr algn="l">
              <a:spcAft>
                <a:spcPts val="500"/>
              </a:spcAft>
            </a:pPr>
            <a:r>
              <a:rPr sz="1150" b="1" i="0">
                <a:solidFill>
                  <a:srgbClr val="1F5FAE"/>
                </a:solidFill>
                <a:latin typeface="Calibri"/>
              </a:rPr>
              <a:t>[10]  </a:t>
            </a:r>
            <a:r>
              <a:rPr sz="1150" b="0" i="0">
                <a:solidFill>
                  <a:srgbClr val="0F1E36"/>
                </a:solidFill>
                <a:latin typeface="Calibri"/>
              </a:rPr>
              <a:t>T. Chen y C. Guestrin, «XGBoost: A scalable tree boosting system», Proc. 22nd ACM SIGKDD, 2016, pp. 785-794.</a:t>
            </a:r>
          </a:p>
          <a:p>
            <a:pPr algn="l">
              <a:spcAft>
                <a:spcPts val="500"/>
              </a:spcAft>
            </a:pPr>
            <a:r>
              <a:rPr sz="1150" b="1" i="0">
                <a:solidFill>
                  <a:srgbClr val="1F5FAE"/>
                </a:solidFill>
                <a:latin typeface="Calibri"/>
              </a:rPr>
              <a:t>[11]  </a:t>
            </a:r>
            <a:r>
              <a:rPr sz="1150" b="0" i="0">
                <a:solidFill>
                  <a:srgbClr val="0F1E36"/>
                </a:solidFill>
                <a:latin typeface="Calibri"/>
              </a:rPr>
              <a:t>C. Cortes y V. Vapnik, «Support-vector networks», Machine Learning, vol. 20, no. 3, pp. 273-297, 1995.</a:t>
            </a:r>
          </a:p>
          <a:p>
            <a:pPr algn="l">
              <a:spcAft>
                <a:spcPts val="500"/>
              </a:spcAft>
            </a:pPr>
            <a:r>
              <a:rPr sz="1150" b="1" i="0">
                <a:solidFill>
                  <a:srgbClr val="1F5FAE"/>
                </a:solidFill>
                <a:latin typeface="Calibri"/>
              </a:rPr>
              <a:t>[12]  </a:t>
            </a:r>
            <a:r>
              <a:rPr sz="1150" b="0" i="0">
                <a:solidFill>
                  <a:srgbClr val="0F1E36"/>
                </a:solidFill>
                <a:latin typeface="Calibri"/>
              </a:rPr>
              <a:t>C. Nadeau e Y. Bengio, «Inference for the generalization error», Machine Learning, vol. 52, no. 3, pp. 239-281, 2003.</a:t>
            </a:r>
          </a:p>
          <a:p>
            <a:pPr algn="l">
              <a:spcAft>
                <a:spcPts val="500"/>
              </a:spcAft>
            </a:pPr>
            <a:r>
              <a:rPr sz="1150" b="1" i="0">
                <a:solidFill>
                  <a:srgbClr val="1F5FAE"/>
                </a:solidFill>
                <a:latin typeface="Calibri"/>
              </a:rPr>
              <a:t>[13]  </a:t>
            </a:r>
            <a:r>
              <a:rPr sz="1150" b="0" i="0">
                <a:solidFill>
                  <a:srgbClr val="0F1E36"/>
                </a:solidFill>
                <a:latin typeface="Calibri"/>
              </a:rPr>
              <a:t>T. Saito y M. Rehmsmeier, «The precision-recall plot is more informative than the ROC plot when evaluating binary classifiers on imbalanced datasets», PLoS ONE, vol. 10, no. 3, e0118432, 2015.</a:t>
            </a:r>
          </a:p>
          <a:p>
            <a:pPr algn="l">
              <a:spcAft>
                <a:spcPts val="500"/>
              </a:spcAft>
            </a:pPr>
            <a:r>
              <a:rPr sz="1150" b="1" i="0">
                <a:solidFill>
                  <a:srgbClr val="1F5FAE"/>
                </a:solidFill>
                <a:latin typeface="Calibri"/>
              </a:rPr>
              <a:t>[14]  </a:t>
            </a:r>
            <a:r>
              <a:rPr sz="1150" b="0" i="0">
                <a:solidFill>
                  <a:srgbClr val="0F1E36"/>
                </a:solidFill>
                <a:latin typeface="Calibri"/>
              </a:rPr>
              <a:t>F. Pedregosa et al., «Scikit-learn: Machine learning in Python», J. Mach. Learn. Res., vol. 12, pp. 2825-2830, 2011.</a:t>
            </a:r>
          </a:p>
          <a:p>
            <a:pPr algn="l">
              <a:spcAft>
                <a:spcPts val="500"/>
              </a:spcAft>
            </a:pPr>
            <a:r>
              <a:rPr sz="1150" b="1" i="0">
                <a:solidFill>
                  <a:srgbClr val="1F5FAE"/>
                </a:solidFill>
                <a:latin typeface="Calibri"/>
              </a:rPr>
              <a:t>[15]  </a:t>
            </a:r>
            <a:r>
              <a:rPr sz="1150" b="0" i="0">
                <a:solidFill>
                  <a:srgbClr val="0F1E36"/>
                </a:solidFill>
                <a:latin typeface="Calibri"/>
              </a:rPr>
              <a:t>Ministerio de Educación Nacional, SPADIES: Sistema para la Prevención de la Deserción de la Educación Superior. Bogotá: MEN.</a:t>
            </a:r>
          </a:p>
          <a:p>
            <a:pPr algn="l">
              <a:spcAft>
                <a:spcPts val="500"/>
              </a:spcAft>
            </a:pPr>
            <a:r>
              <a:rPr sz="1150" b="1" i="0">
                <a:solidFill>
                  <a:srgbClr val="1F5FAE"/>
                </a:solidFill>
                <a:latin typeface="Calibri"/>
              </a:rPr>
              <a:t>[16]  </a:t>
            </a:r>
            <a:r>
              <a:rPr sz="1150" b="0" i="0">
                <a:solidFill>
                  <a:srgbClr val="0F1E36"/>
                </a:solidFill>
                <a:latin typeface="Calibri"/>
              </a:rPr>
              <a:t>C. Romero y S. Ventura, «Educational data mining: A review of the state of the art», IEEE Trans. Syst., Man, Cybern. C, vol. 40, no. 6, pp. 601-618, 2010.</a:t>
            </a:r>
          </a:p>
        </p:txBody>
      </p:sp>
      <p:pic>
        <p:nvPicPr>
          <p:cNvPr id="558" name="Picture 557" descr="image.png"/>
          <p:cNvPicPr>
            <a:picLocks noChangeAspect="1"/>
          </p:cNvPicPr>
          <p:nvPr/>
        </p:nvPicPr>
        <p:blipFill>
          <a:blip r:embed="rId3"/>
          <a:stretch>
            <a:fillRect/>
          </a:stretch>
        </p:blipFill>
        <p:spPr>
          <a:xfrm>
            <a:off x="11356848" y="5861304"/>
            <a:ext cx="731520" cy="731520"/>
          </a:xfrm>
          <a:prstGeom prst="rect">
            <a:avLst/>
          </a:prstGeom>
        </p:spPr>
      </p:pic>
      <p:sp>
        <p:nvSpPr>
          <p:cNvPr id="559" name="TextBox 558"/>
          <p:cNvSpPr txBox="1"/>
          <p:nvPr/>
        </p:nvSpPr>
        <p:spPr>
          <a:xfrm>
            <a:off x="10789920" y="6053328"/>
            <a:ext cx="457200" cy="274320"/>
          </a:xfrm>
          <a:prstGeom prst="rect">
            <a:avLst/>
          </a:prstGeom>
          <a:noFill/>
        </p:spPr>
        <p:txBody>
          <a:bodyPr wrap="square" lIns="0" tIns="0" rIns="0" bIns="0" anchor="t">
            <a:spAutoFit/>
          </a:bodyPr>
          <a:lstStyle/>
          <a:p>
            <a:pPr algn="r"/>
            <a:r>
              <a:rPr sz="1000" b="0" i="0">
                <a:solidFill>
                  <a:srgbClr val="55657E"/>
                </a:solidFill>
                <a:latin typeface="Calibri"/>
              </a:rPr>
              <a:t>22</a:t>
            </a:r>
          </a:p>
        </p:txBody>
      </p:sp>
    </p:spTree>
  </p:cSld>
  <p:clrMapOvr>
    <a:masterClrMapping/>
  </p:clrMapOvr>
</p:sld>
</file>

<file path=ppt/theme/theme1.xml><?xml version="1.0" encoding="utf-8"?>
<a:theme xmlns:a="http://schemas.openxmlformats.org/drawingml/2006/main" name="Custom Design">
  <a:themeElements>
    <a:clrScheme name="CICI 2026">
      <a:dk1>
        <a:srgbClr val="000000"/>
      </a:dk1>
      <a:lt1>
        <a:srgbClr val="FFFFFF"/>
      </a:lt1>
      <a:dk2>
        <a:srgbClr val="2F2F2F"/>
      </a:dk2>
      <a:lt2>
        <a:srgbClr val="EFF5FA"/>
      </a:lt2>
      <a:accent1>
        <a:srgbClr val="1E73BE"/>
      </a:accent1>
      <a:accent2>
        <a:srgbClr val="8DC63F"/>
      </a:accent2>
      <a:accent3>
        <a:srgbClr val="0B4C86"/>
      </a:accent3>
      <a:accent4>
        <a:srgbClr val="13B5E4"/>
      </a:accent4>
      <a:accent5>
        <a:srgbClr val="5A5A5A"/>
      </a:accent5>
      <a:accent6>
        <a:srgbClr val="2F2F2F"/>
      </a:accent6>
      <a:hlink>
        <a:srgbClr val="1E73BE"/>
      </a:hlink>
      <a:folHlink>
        <a:srgbClr val="0B4C8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562</TotalTime>
  <Words>3985</Words>
  <Application>Microsoft Office PowerPoint</Application>
  <PresentationFormat>Panorámica</PresentationFormat>
  <Paragraphs>371</Paragraphs>
  <Slides>22</Slides>
  <Notes>22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22</vt:i4>
      </vt:variant>
    </vt:vector>
  </HeadingPairs>
  <TitlesOfParts>
    <vt:vector size="25" baseType="lpstr">
      <vt:lpstr>Arial</vt:lpstr>
      <vt:lpstr>Calibri</vt:lpstr>
      <vt:lpstr>Custom Design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Joan David Martínez Hernández</cp:lastModifiedBy>
  <cp:revision>18</cp:revision>
  <dcterms:created xsi:type="dcterms:W3CDTF">2018-07-12T20:50:47Z</dcterms:created>
  <dcterms:modified xsi:type="dcterms:W3CDTF">2026-10-07T11:53:38Z</dcterms:modified>
</cp:coreProperties>
</file>