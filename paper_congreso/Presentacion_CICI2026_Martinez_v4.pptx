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sldIdLst>
    <p:sldId id="256" r:id="rId2"/>
    <p:sldId id="257" r:id="rId3"/>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87"/>
    <p:restoredTop sz="95685"/>
  </p:normalViewPr>
  <p:slideViewPr>
    <p:cSldViewPr snapToGrid="0" snapToObjects="1">
      <p:cViewPr varScale="1">
        <p:scale>
          <a:sx n="120" d="100"/>
          <a:sy n="120" d="100"/>
        </p:scale>
        <p:origin x="184" y="21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0:25] Portada</a:t>
            </a:r>
          </a:p>
          <a:p/>
          <a:p>
            <a:r>
              <a:t>Buenos días. Mi nombre es Joan David Martínez, estudiante de Ingeniería de Sistemas de la Universidad de los Llanos. Presento el trabajo 129, desarrollado con las profesoras Diana Marcela Cardona y Sara Cristina Guerrero. La pregunta que nos guía es sencilla: ¿podemos anticipar, con los datos que la universidad ya tiene, qué estudiantes están en riesgo académico?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 0:30] El problema del abandono</a:t>
            </a:r>
          </a:p>
          <a:p/>
          <a:p>
            <a:r>
              <a:t>Empecemos por el tamaño del problema. En Colombia, solo el 45 por ciento de quienes ingresan a la educación superior se gradúa después de quince semestres. En las dos cohortes que estudiamos, las que ingresaron a Ingeniería de Sistemas en 2017 y 2018, el 63 por ciento no se había graduado. Y de quienes abandonaron, casi dos de cada tres lo hicieron en los dos primeros semestres.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 0:25] ¿Cuándo abandonan?</a:t>
            </a:r>
          </a:p>
          <a:p/>
          <a:p>
            <a:r>
              <a:t>Esta gráfica lo muestra en detalle. Cada barra cuenta a los estudiantes según cuántos semestres alcanzaron a cursar antes de abandonar. Las barras rojas, de cero a dos semestres, reúnen 38 de los 59 casos. Por eso, si queremos ayudar a tiempo, la alerta debe llegar al terminar el primer semestre.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 0:30] Metodología CRISP-DM</a:t>
            </a:r>
          </a:p>
          <a:p/>
          <a:p>
            <a:r>
              <a:t>Para responder la pregunta seguimos CRISP-DM, la metodología más usada en minería de datos. Organiza el proyecto en seis fases, desde entender el problema hasta poner el modelo en uso. Las flechas rojas muestran que el camino no fue lineal: la evaluación nos obligó a volver a preparar los datos, y el modelado nos llevó a redefinir la variable objetivo.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 · 0:40] Los datos</a:t>
            </a:r>
          </a:p>
          <a:p/>
          <a:p>
            <a:r>
              <a:t>Trabajamos con seis archivos de la Oficina de Sistemas: más de ocho mil quinientas notas y casi dos mil registros del estado de cada estudiante en cada semestre. Fueron hechos para gestionar, no para analizar, así que la mayor parte del trabajo fue limpiarlos con reglas escritas, sin tocar los originales. El embudo muestra el resultado: de 95 admitidos, 90 tuvieron actividad académica, 80 alcanzaron a estar sujetos al reglamento y 19 perdieron la calidad de estudiante por bajo rendimiento.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 · 0:40] Resultados preliminares</a:t>
            </a:r>
          </a:p>
          <a:p/>
          <a:p>
            <a:r>
              <a:t>Esta tabla resume nuestros resultados preliminares, obtenidos con validación cruzada de cinco particiones. Comparamos tres algoritmos con dos objetivos: detectar el bajo rendimiento y predecir la graduación. La exhaustividad es la proporción de estudiantes en riesgo que el modelo detecta; el AUC mide qué tan bien separa los dos grupos: 1 es perfecto y 0,5 es azar. Random Forest detectó ocho de cada diez casos de bajo rendimiento, y el promedio del primer semestre concentró el 40 por ciento de la importancia.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 · 0:20] Factores sin relación</a:t>
            </a:r>
          </a:p>
          <a:p/>
          <a:p>
            <a:r>
              <a:t>También hay resultados negativos que vale la pena reportar. El género, la educación de los padres y haber repetido un año escolar no mostraron relación significativa con el rendimiento. Con grupos tan pequeños esto no prueba que no influyan, pero aquí no sirven para predecir.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 · 0:35] Asignaturas críticas</a:t>
            </a:r>
          </a:p>
          <a:p/>
          <a:p>
            <a:r>
              <a:t>¿Dónde se pierde el semestre? Calculamos un índice de criticidad que pondera en 70 por ciento la tasa de reprobación y en 30 por ciento las repeticiones. Los puntos rojos corresponden al plan 2011 y los azules a su equivalente en el plan 2018. Matemáticas II, Física I y Álgebra Lineal encabezan la lista, y el orden se conserva al traducir: el apoyo debe ir a los mismos cursos del primer año.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[4:05 · 0:25] Equivalencias entre planes</a:t>
            </a:r>
          </a:p>
          <a:p/>
          <a:p>
            <a:r>
              <a:t>El programa cambió de plan de estudios en 2018. Una resolución oficial define 72 equivalencias entre cursos, que transcribimos y convertimos en una capa de traducción. El diagrama muestra el primer año: cada curso antiguo, a la izquierda, se traduce a su nombre vigente, a la derecha. Así el sistema funciona con cohortes antiguas, nuevas o mixtas.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 · 0:35] Antes de desplegar, auditamos</a:t>
            </a:r>
          </a:p>
          <a:p/>
          <a:p>
            <a:r>
              <a:t>Antes de convertir el modelo en herramienta, auditamos nuestro propio diseño y encontramos tres problemas. No eran errores de programación, sino de diseño experimental. Primero, la variable objetivo: el promedio de carrera incluye el primer semestre, que era a la vez el predictor, así que el modelo en parte se predecía a sí mismo. Segundo, los hiperparámetros se ajustaban mirando también los datos de evaluación. Tercero, las variables se elegían mirando toda la muestra.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[5:05 · 0:20] Cuánto inflaba cada problema</a:t>
            </a:r>
          </a:p>
          <a:p/>
          <a:p>
            <a:r>
              <a:t>Medimos cuánto inflaba cada problema el resultado. Elegir las variables con toda la muestra sumaba 15 puntos; ajustar los hiperparámetros con los datos de evaluación favorecía sobre todo a XGBoost. La línea punteada es nuestro umbral de diferencia relevante.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[5:25 · 0:25] Fase 4 · Objetivo y variables</a:t>
            </a:r>
          </a:p>
          <a:p/>
          <a:p>
            <a:r>
              <a:t>Entramos al modelado. La nueva variable objetivo es la definición oficial: el artículo 19 del Reglamento Estudiantil, que establece cuándo un estudiante pierde su calidad por bajo rendimiento. Usamos solo seis variables, disponibles al cierre del primer semestre: el promedio de ese semestre, un indicador de si lo cursó, y cuatro puntajes de la prueba Saber 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[5:50 · 0:40] Fase 4 · Algoritmos (1 de 2)</a:t>
            </a:r>
          </a:p>
          <a:p/>
          <a:p>
            <a:r>
              <a:t>Comparamos cinco algoritmos, de más simple a más complejo. La regresión logística convierte una suma ponderada de las variables en una probabilidad mediante la función sigmoide; el parámetro C controla cuánto se castiga la complejidad. El árbol de decisión divide los datos con preguntas sucesivas, y en cada corte elige la que más reduce la impureza, medida con Gini o entropía. Random Forest promedia 150 árboles, cada uno entrenado con una muestra distinta y con variables elegidas al azar en cada corte.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[6:30 · 0:30] Fase 4 · Algoritmos (2 de 2)</a:t>
            </a:r>
          </a:p>
          <a:p/>
          <a:p>
            <a:r>
              <a:t>XGBoost también combina árboles, pero en secuencia: cada árbol nuevo corrige los errores del anterior, con una tasa de aprendizaje eta y una penalización lambda que evita el sobreajuste. La máquina de vectores de soporte busca la frontera de máxima separación, y el kernel radial le permite trazar fronteras curvas. Todas las rejillas tienen entre 16 y 24 combinaciones, para que ningún algoritmo tenga ventaja.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 · 0:30] Fase 4 · Validación cruzada anidada</a:t>
            </a:r>
          </a:p>
          <a:p/>
          <a:p>
            <a:r>
              <a:t>Así entrenamos y evaluamos. Dividimos a los 80 estudiantes en cinco partes: cuatro entrenan y una evalúa. Dentro de las cuatro de entrenamiento, una segunda validación elige los hiperparámetros. Los 16 estudiantes de evaluación nunca participan en ninguna decisión. Todo se repite diez veces con particiones distintas: obtenemos 50 mediciones por algoritmo, que comparamos con la prueba t corregida de Nadeau y Bengio.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 · 0:15] Fase 4 · ¿Cuántas variables?</a:t>
            </a:r>
          </a:p>
          <a:p/>
          <a:p>
            <a:r>
              <a:t>¿Cuántas variables necesitamos? Cada punto es un conjunto de variables evaluado con Random Forest. Las seis variables académicas rinden igual que las diecinueve candidatas, y los datos socioeconómicos solos quedan cerca del azar, la línea roja.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[7:45 · 0:20] Fase 4 · Hiperparámetros elegidos</a:t>
            </a:r>
          </a:p>
          <a:p/>
          <a:p>
            <a:r>
              <a:t>Esta gráfica muestra qué hiperparámetros eligió Random Forest en cada una de las 50 particiones. Predominan los árboles poco profundos, de profundidad tres, que usan todas las variables en cada corte: un modelo deliberadamente simple, adecuado para una muestra pequeña.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[8:05 · 0:10] Fase 4 · Importancia de las variables</a:t>
            </a:r>
          </a:p>
          <a:p/>
          <a:p>
            <a:r>
              <a:t>Esta es la importancia por permutación: cuánto cae el desempeño si desordenamos una variable. El promedio del primer semestre domina; las demás aportan poco.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[8:15 · 0:35] Fase 5 · Comparación de algoritmos</a:t>
            </a:r>
          </a:p>
          <a:p/>
          <a:p>
            <a:r>
              <a:t>Pasamos a la evaluación. Usamos el AUC-PR, el área bajo la curva de precisión y exhaustividad, adecuada cuando los casos de interés son pocos. Se lee así: 1 es perfecto, y el azar equivale a la proporción de casos, 0,24, la línea roja. Cada punto es una repetición y el rombo negro, la media. Random Forest obtiene 0,745, tres veces el azar y con poca variación; le siguen SVM con 0,714 y XGBoost con 0,630.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[8:50 · 0:25] Fase 5 · Comparaciones pareadas</a:t>
            </a:r>
          </a:p>
          <a:p/>
          <a:p>
            <a:r>
              <a:t>Este mapa compara cada par de algoritmos: la diferencia de AUC-PR y su valor p corregido; en negrita, las diferencias significativas. Random Forest supera a XGBoost, al árbol y a la regresión logística. Frente a SVM la diferencia no es significativa, y en ese caso preferimos el modelo más sencillo.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[9:15 · 0:15] Fase 5 · Curvas PR y ROC</a:t>
            </a:r>
          </a:p>
          <a:p/>
          <a:p>
            <a:r>
              <a:t>Las curvas completas confirman el patrón. A la izquierda, precisión frente a exhaustividad; a la derecha, la curva ROC. Random Forest, en azul, se mantiene arriba en casi todo el recorrido.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[9:30 · 0:35] Fase 5 · Matrices de confusión</a:t>
            </a:r>
          </a:p>
          <a:p/>
          <a:p>
            <a:r>
              <a:t>El puntaje de riesgo se convierte en alerta con un umbral, y definimos dos niveles. Estas son sus matrices de confusión, siempre con estudiantes que el modelo no había visto. En el nivel confirmado hay 13 alertas: 12 son casos reales y solo una es falsa alarma. En el nivel de seguimiento se detectan 15 de los 19 casos, a cambio de 24 falsas alarmas. En un acompañamiento preventivo, una falsa alarma cuesta poco.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[10:05 · 0:15] Fase 5 · Elección del umbral</a:t>
            </a:r>
          </a:p>
          <a:p/>
          <a:p>
            <a:r>
              <a:t>Esta curva muestra el compromiso completo: al subir el umbral aumenta la precisión, en naranja, y disminuyen los casos detectados, en azul. Cuántos estudiantes acompañar lo decide la universidad según su capacidad.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[10:20 · 0:20] Fase 5 · Graduación</a:t>
            </a:r>
          </a:p>
          <a:p/>
          <a:p>
            <a:r>
              <a:t>Repetimos el protocolo para predecir la graduación; aquí el azar es 0,39. SVM obtiene 0,725 y Random Forest 0,705, pero la diferencia no es significativa. Por simplicidad elegimos Random Forest. Esto corrige nuestros resultados preliminares, donde XGBoost aparecía como el mejor.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[10:40 · 0:20] Límite 1 · Casos simultáneos</a:t>
            </a:r>
          </a:p>
          <a:p/>
          <a:p>
            <a:r>
              <a:t>Ahora, los límites, que medimos de forma explícita. El 42 por ciento de los casos ocurre ya en el primer semestre: ahí el modelo confirma, no anticipa. Si evaluamos solo los casos futuros, el desempeño baja a 0,47, pero sigue siendo tres veces el azar.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 · 0:10] Límite 2 · Calibración</a:t>
            </a:r>
          </a:p>
          <a:p/>
          <a:p>
            <a:r>
              <a:t>Intentamos calibrar las probabilidades con dos métodos. Ninguno mejoró al modelo original, así que el sistema muestra niveles de alerta y no porcentajes.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[11:10 · 0:20] Límite 3 · Semestre a semestre</a:t>
            </a:r>
          </a:p>
          <a:p/>
          <a:p>
            <a:r>
              <a:t>También intentamos predecir semestre a semestre, en tres cortes sucesivos de la carrera. Las barras quedan alrededor de uno, es decir, al nivel del azar. Por eso no desplegamos ese modelo: el seguimiento semestral se hace con las reglas del reglamento.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[11:30 · 0:15] Robustez · Plan 2018</a:t>
            </a:r>
          </a:p>
          <a:p/>
          <a:p>
            <a:r>
              <a:t>Por último, simulamos que los estudiantes cursaron el plan 2018. El AUC-PR se mantiene entre 0,74 y 0,76, aunque el promedio sube algo más de una décima; los umbrales deberán ajustarse con la primera cohorte real.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[11:45 · 0:35] Fase 6 · TRAYECTA</a:t>
            </a:r>
          </a:p>
          <a:p/>
          <a:p>
            <a:r>
              <a:t>Con lo que superó la auditoría construimos TRAYECTA, un prototipo de seguimiento inspirado en SPADIES, el sistema nacional de seguimiento a la deserción, llevado al nivel de un programa y con las reglas de nuestra universidad. Se carga el extracto académico sin nombres; las equivalencias unifican los planes; se aplican las reglas del reglamento y los dos modelos validados; y el resultado se presenta en pantallas para el equipo académico.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[12:20 · 0:30] Demostración · Panorama</a:t>
            </a:r>
          </a:p>
          <a:p/>
          <a:p>
            <a:r>
              <a:t>Veamos el sistema. Para proteger la privacidad, la demostración usa una cohorte simulada: ningún estudiante es real, pero los modelos sí son los entrenados con los datos reales. Arriba, el resumen de la cohorte y sus alertas. Cada punto de la gráfica central es un estudiante, ubicado según su riesgo. Abajo, la situación del reglamento semestre a semestre y la lista de priorización para el equipo de acompañamiento.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[12:50 · 0:30] Demostración · Ficha y carga</a:t>
            </a:r>
          </a:p>
          <a:p/>
          <a:p>
            <a:r>
              <a:t>Al elegir un estudiante se abre su ficha, inspirada en SPADIES: su recorrido semestre a semestre, los créditos aprobados y perdidos, las reglas que se activaron y la comparación de su ingreso con la cohorte. Y al cargar una cohorte nueva, el sistema reconoce el plan de estudios, valida cada código contra el catálogo oficial y advierte si hay planes mezclados.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[13:20 · 0:45] Conclusiones</a:t>
            </a:r>
          </a:p>
          <a:p/>
          <a:p>
            <a:r>
              <a:t>Cuatro conclusiones. Primera: Random Forest es el algoritmo más adecuado para estos datos, tanto en los resultados preliminares como con el protocolo estricto, con un AUC-PR tres veces superior al azar. Segunda: el promedio del primer semestre concentra la información útil y permite alertar justo cuando ocurre la mayor parte del abandono. Tercera: con pocos datos, la forma de medir puede cambiar el resultado más que el algoritmo. Y cuarta: es posible convertir un modelo honesto en un producto útil, que predice donde hay información y aplica el reglamento donde no la hay.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[14:05 · 0:35] Límites y siguiente paso</a:t>
            </a:r>
          </a:p>
          <a:p/>
          <a:p>
            <a:r>
              <a:t>Un límite importante: todo proviene de una muestra de 80 estudiantes, sin validación con estudiantes nuevos; es un estudio exploratorio. La curva de aprendizaje aún sube y sugiere un techo cercano a 0,84. Ya solicitamos las cohortes recientes para validar el modelo sin modificarlo, y luego extenderemos el sistema a Ingeniería Electrónica y Biología. Agradecemos al proyecto C07-02-2026-027 y a la Oficina de Sistemas. Muchas gracias; quedo atento a sus preguntas.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 —] Anexo para preguntas</a:t>
            </a:r>
          </a:p>
          <a:p/>
          <a:p>
            <a:r>
              <a:t>Lámina de respaldo; no se presenta. ¿Por qué el reglamento de 2022 si las cohortes estudiaron con el de 2003? Porque es la definición vigente, la que regirá a los estudiantes en quienes se usará el modelo; lo declaramos como supuesto. ¿Es suficiente la muestra? La curva de aprendizaje sigue subiendo; estimamos un techo de 0,84 y que duplicar los datos aportaría unos 5 puntos. ¿Por qué no redes neuronales profundas? Con 80 casos no hay datos suficientes para entrenarlas. ¿Qué significa la variable sin primer semestre? Identifica a quienes ingresaron por homologación al plan 2018; sin ellos el resultado es prácticamente igual, 0,756. ¿Por qué AUC-PR y no exactitud? Porque los casos de riesgo son el 24 por ciento: un modelo que dijera siempre no hay riesgo tendría 76 por ciento de exactitud sin servir para nada.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p:spPr>
        <p:txBody>
          <a:bodyPr anchor="b"/>
          <a:lstStyle>
            <a:lvl1pPr algn="ctr">
              <a:defRPr sz="6000"/>
            </a:lvl1pPr>
          </a:lstStyle>
          <a:p>
            <a:r>
              <a:rPr lang="es-ES_tradnl" dirty="0"/>
              <a:t>ID ##: Título del trabajo</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_tradnl" dirty="0"/>
              <a:t>Nombres y Apellidos de Autores</a:t>
            </a:r>
          </a:p>
          <a:p>
            <a:r>
              <a:rPr lang="es-ES_tradnl" dirty="0"/>
              <a:t>Afiliación de autores</a:t>
            </a:r>
            <a:endParaRPr lang="en-US" dirty="0"/>
          </a:p>
        </p:txBody>
      </p:sp>
    </p:spTree>
    <p:extLst>
      <p:ext uri="{BB962C8B-B14F-4D97-AF65-F5344CB8AC3E}">
        <p14:creationId xmlns:p14="http://schemas.microsoft.com/office/powerpoint/2010/main" val="1548233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_tradnl" dirty="0"/>
              <a:t>Haga clic para modificar el estilo de título del patrón</a:t>
            </a:r>
            <a:endParaRPr lang="en-US" dirty="0"/>
          </a:p>
        </p:txBody>
      </p:sp>
      <p:sp>
        <p:nvSpPr>
          <p:cNvPr id="3" name="Content Placeholder 2"/>
          <p:cNvSpPr>
            <a:spLocks noGrp="1"/>
          </p:cNvSpPr>
          <p:nvPr>
            <p:ph idx="1" hasCustomPrompt="1"/>
          </p:nvPr>
        </p:nvSpPr>
        <p:spPr/>
        <p:txBody>
          <a:body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Date Placeholder 3"/>
          <p:cNvSpPr>
            <a:spLocks noGrp="1"/>
          </p:cNvSpPr>
          <p:nvPr>
            <p:ph type="dt" sz="half" idx="10"/>
          </p:nvPr>
        </p:nvSpPr>
        <p:spPr/>
        <p:txBody>
          <a:bodyPr/>
          <a:lstStyle/>
          <a:p>
            <a:fld id="{6747AB31-954A-7842-ADD2-0741990EB64F}"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610515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1" y="1709738"/>
            <a:ext cx="10515600" cy="2852737"/>
          </a:xfrm>
        </p:spPr>
        <p:txBody>
          <a:bodyPr anchor="b"/>
          <a:lstStyle>
            <a:lvl1pPr>
              <a:defRPr sz="6000"/>
            </a:lvl1pPr>
          </a:lstStyle>
          <a:p>
            <a:r>
              <a:rPr lang="es-ES_tradnl" dirty="0"/>
              <a:t>Haga clic para modificar el estilo de título del patrón</a:t>
            </a:r>
            <a:endParaRPr lang="en-US" dirty="0"/>
          </a:p>
        </p:txBody>
      </p:sp>
      <p:sp>
        <p:nvSpPr>
          <p:cNvPr id="3" name="Text Placeholder 2"/>
          <p:cNvSpPr>
            <a:spLocks noGrp="1"/>
          </p:cNvSpPr>
          <p:nvPr>
            <p:ph type="body" idx="1" hasCustomPrompt="1"/>
          </p:nvPr>
        </p:nvSpPr>
        <p:spPr>
          <a:xfrm>
            <a:off x="831851"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_tradnl" dirty="0"/>
              <a:t>Haga clic para modificar el estilo del texto</a:t>
            </a:r>
          </a:p>
        </p:txBody>
      </p:sp>
      <p:sp>
        <p:nvSpPr>
          <p:cNvPr id="4" name="Date Placeholder 3"/>
          <p:cNvSpPr>
            <a:spLocks noGrp="1"/>
          </p:cNvSpPr>
          <p:nvPr>
            <p:ph type="dt" sz="half" idx="10"/>
          </p:nvPr>
        </p:nvSpPr>
        <p:spPr/>
        <p:txBody>
          <a:bodyPr/>
          <a:lstStyle/>
          <a:p>
            <a:fld id="{6747AB31-954A-7842-ADD2-0741990EB64F}"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1585990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_tradnl" dirty="0"/>
              <a:t>Haga clic para modificar el estilo de título del patrón</a:t>
            </a:r>
            <a:endParaRPr lang="en-US" dirty="0"/>
          </a:p>
        </p:txBody>
      </p:sp>
      <p:sp>
        <p:nvSpPr>
          <p:cNvPr id="3" name="Content Placeholder 2"/>
          <p:cNvSpPr>
            <a:spLocks noGrp="1"/>
          </p:cNvSpPr>
          <p:nvPr>
            <p:ph sz="half" idx="1" hasCustomPrompt="1"/>
          </p:nvPr>
        </p:nvSpPr>
        <p:spPr>
          <a:xfrm>
            <a:off x="838200" y="1825625"/>
            <a:ext cx="5156200" cy="4351338"/>
          </a:xfrm>
        </p:spPr>
        <p:txBody>
          <a:body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Content Placeholder 3"/>
          <p:cNvSpPr>
            <a:spLocks noGrp="1"/>
          </p:cNvSpPr>
          <p:nvPr>
            <p:ph sz="half" idx="2" hasCustomPrompt="1"/>
          </p:nvPr>
        </p:nvSpPr>
        <p:spPr>
          <a:xfrm>
            <a:off x="6197600" y="1825625"/>
            <a:ext cx="5156200" cy="4351338"/>
          </a:xfrm>
        </p:spPr>
        <p:txBody>
          <a:body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Tree>
    <p:extLst>
      <p:ext uri="{BB962C8B-B14F-4D97-AF65-F5344CB8AC3E}">
        <p14:creationId xmlns:p14="http://schemas.microsoft.com/office/powerpoint/2010/main" val="1374344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40317" y="365125"/>
            <a:ext cx="10515600" cy="1325563"/>
          </a:xfrm>
        </p:spPr>
        <p:txBody>
          <a:bodyPr/>
          <a:lstStyle/>
          <a:p>
            <a:r>
              <a:rPr lang="es-ES_tradnl" dirty="0"/>
              <a:t>Haga clic para modificar el estilo de título del patrón</a:t>
            </a:r>
            <a:endParaRPr lang="en-US" dirty="0"/>
          </a:p>
        </p:txBody>
      </p:sp>
      <p:sp>
        <p:nvSpPr>
          <p:cNvPr id="3" name="Text Placeholder 2"/>
          <p:cNvSpPr>
            <a:spLocks noGrp="1"/>
          </p:cNvSpPr>
          <p:nvPr>
            <p:ph type="body" idx="1" hasCustomPrompt="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del texto</a:t>
            </a:r>
          </a:p>
        </p:txBody>
      </p:sp>
      <p:sp>
        <p:nvSpPr>
          <p:cNvPr id="4" name="Content Placeholder 3"/>
          <p:cNvSpPr>
            <a:spLocks noGrp="1"/>
          </p:cNvSpPr>
          <p:nvPr>
            <p:ph sz="half" idx="2" hasCustomPrompt="1"/>
          </p:nvPr>
        </p:nvSpPr>
        <p:spPr>
          <a:xfrm>
            <a:off x="840317" y="2505075"/>
            <a:ext cx="5158316" cy="3684588"/>
          </a:xfrm>
        </p:spPr>
        <p:txBody>
          <a:body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5" name="Text Placeholder 4"/>
          <p:cNvSpPr>
            <a:spLocks noGrp="1"/>
          </p:cNvSpPr>
          <p:nvPr>
            <p:ph type="body" sz="quarter" idx="3" hasCustomPrompt="1"/>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del texto</a:t>
            </a:r>
          </a:p>
        </p:txBody>
      </p:sp>
      <p:sp>
        <p:nvSpPr>
          <p:cNvPr id="6" name="Content Placeholder 5"/>
          <p:cNvSpPr>
            <a:spLocks noGrp="1"/>
          </p:cNvSpPr>
          <p:nvPr>
            <p:ph sz="quarter" idx="4" hasCustomPrompt="1"/>
          </p:nvPr>
        </p:nvSpPr>
        <p:spPr>
          <a:xfrm>
            <a:off x="6172200" y="2505075"/>
            <a:ext cx="5183717" cy="3684588"/>
          </a:xfrm>
        </p:spPr>
        <p:txBody>
          <a:body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7" name="Date Placeholder 6"/>
          <p:cNvSpPr>
            <a:spLocks noGrp="1"/>
          </p:cNvSpPr>
          <p:nvPr>
            <p:ph type="dt" sz="half" idx="10"/>
          </p:nvPr>
        </p:nvSpPr>
        <p:spPr/>
        <p:txBody>
          <a:bodyPr/>
          <a:lstStyle/>
          <a:p>
            <a:fld id="{6747AB31-954A-7842-ADD2-0741990EB64F}" type="datetimeFigureOut">
              <a:rPr lang="en-US" smtClean="0"/>
              <a:t>9/10/26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760313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_tradnl" dirty="0"/>
              <a:t>Haga clic para modificar el estilo de título del patrón</a:t>
            </a:r>
            <a:endParaRPr lang="en-US" dirty="0"/>
          </a:p>
        </p:txBody>
      </p:sp>
      <p:sp>
        <p:nvSpPr>
          <p:cNvPr id="3" name="Date Placeholder 2"/>
          <p:cNvSpPr>
            <a:spLocks noGrp="1"/>
          </p:cNvSpPr>
          <p:nvPr>
            <p:ph type="dt" sz="half" idx="10"/>
          </p:nvPr>
        </p:nvSpPr>
        <p:spPr/>
        <p:txBody>
          <a:bodyPr/>
          <a:lstStyle/>
          <a:p>
            <a:fld id="{6747AB31-954A-7842-ADD2-0741990EB64F}" type="datetimeFigureOut">
              <a:rPr lang="en-US" smtClean="0"/>
              <a:t>9/10/26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147717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47AB31-954A-7842-ADD2-0741990EB64F}" type="datetimeFigureOut">
              <a:rPr lang="en-US" smtClean="0"/>
              <a:t>9/10/26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356426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40317" y="457200"/>
            <a:ext cx="3932767" cy="1600200"/>
          </a:xfrm>
        </p:spPr>
        <p:txBody>
          <a:bodyPr anchor="b"/>
          <a:lstStyle>
            <a:lvl1pPr>
              <a:defRPr sz="3200"/>
            </a:lvl1pPr>
          </a:lstStyle>
          <a:p>
            <a:r>
              <a:rPr lang="es-ES_tradnl" dirty="0"/>
              <a:t>Haga clic para modificar el estilo de título del patrón</a:t>
            </a:r>
            <a:endParaRPr lang="en-US" dirty="0"/>
          </a:p>
        </p:txBody>
      </p:sp>
      <p:sp>
        <p:nvSpPr>
          <p:cNvPr id="3" name="Content Placeholder 2"/>
          <p:cNvSpPr>
            <a:spLocks noGrp="1"/>
          </p:cNvSpPr>
          <p:nvPr>
            <p:ph idx="1" hasCustomPrompt="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Text Placeholder 3"/>
          <p:cNvSpPr>
            <a:spLocks noGrp="1"/>
          </p:cNvSpPr>
          <p:nvPr>
            <p:ph type="body" sz="half" idx="2" hasCustomPrompt="1"/>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dirty="0"/>
              <a:t>Haga clic para modificar el estilo del texto</a:t>
            </a:r>
          </a:p>
        </p:txBody>
      </p:sp>
      <p:sp>
        <p:nvSpPr>
          <p:cNvPr id="5" name="Date Placeholder 4"/>
          <p:cNvSpPr>
            <a:spLocks noGrp="1"/>
          </p:cNvSpPr>
          <p:nvPr>
            <p:ph type="dt" sz="half" idx="10"/>
          </p:nvPr>
        </p:nvSpPr>
        <p:spPr/>
        <p:txBody>
          <a:bodyPr/>
          <a:lstStyle/>
          <a:p>
            <a:fld id="{6747AB31-954A-7842-ADD2-0741990EB64F}"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945117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40317" y="457200"/>
            <a:ext cx="3932767" cy="1600200"/>
          </a:xfrm>
        </p:spPr>
        <p:txBody>
          <a:bodyPr anchor="b"/>
          <a:lstStyle>
            <a:lvl1pPr>
              <a:defRPr sz="3200"/>
            </a:lvl1pPr>
          </a:lstStyle>
          <a:p>
            <a:r>
              <a:rPr lang="es-ES_tradnl" dirty="0"/>
              <a:t>Haga clic para modificar el estilo de título del patrón</a:t>
            </a:r>
            <a:endParaRPr lang="en-US" dirty="0"/>
          </a:p>
        </p:txBody>
      </p:sp>
      <p:sp>
        <p:nvSpPr>
          <p:cNvPr id="3" name="Picture Placeholder 2"/>
          <p:cNvSpPr>
            <a:spLocks noGrp="1"/>
          </p:cNvSpPr>
          <p:nvPr>
            <p:ph type="pic" idx="1"/>
          </p:nvPr>
        </p:nvSpPr>
        <p:spPr>
          <a:xfrm>
            <a:off x="5183717"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hasCustomPrompt="1"/>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dirty="0"/>
              <a:t>Haga clic para modificar el estilo del texto</a:t>
            </a:r>
          </a:p>
        </p:txBody>
      </p:sp>
      <p:sp>
        <p:nvSpPr>
          <p:cNvPr id="5" name="Date Placeholder 4"/>
          <p:cNvSpPr>
            <a:spLocks noGrp="1"/>
          </p:cNvSpPr>
          <p:nvPr>
            <p:ph type="dt" sz="half" idx="10"/>
          </p:nvPr>
        </p:nvSpPr>
        <p:spPr/>
        <p:txBody>
          <a:bodyPr/>
          <a:lstStyle/>
          <a:p>
            <a:fld id="{6747AB31-954A-7842-ADD2-0741990EB64F}"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188994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_tradnl" dirty="0"/>
              <a:t>Haga clic para modificar el estilo de título del patrón</a:t>
            </a:r>
            <a:endParaRPr lang="en-US" dirty="0"/>
          </a:p>
        </p:txBody>
      </p:sp>
      <p:sp>
        <p:nvSpPr>
          <p:cNvPr id="3" name="Vertical Text Placeholder 2"/>
          <p:cNvSpPr>
            <a:spLocks noGrp="1"/>
          </p:cNvSpPr>
          <p:nvPr>
            <p:ph type="body" orient="vert" idx="1" hasCustomPrompt="1"/>
          </p:nvPr>
        </p:nvSpPr>
        <p:spPr/>
        <p:txBody>
          <a:bodyPr vert="eaVert"/>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Date Placeholder 3"/>
          <p:cNvSpPr>
            <a:spLocks noGrp="1"/>
          </p:cNvSpPr>
          <p:nvPr>
            <p:ph type="dt" sz="half" idx="10"/>
          </p:nvPr>
        </p:nvSpPr>
        <p:spPr/>
        <p:txBody>
          <a:bodyPr/>
          <a:lstStyle/>
          <a:p>
            <a:fld id="{6747AB31-954A-7842-ADD2-0741990EB64F}"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1780695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p>
            <a:r>
              <a:rPr lang="es-ES_tradnl" dirty="0"/>
              <a:t>Haga clic para modificar el estilo de título del patrón</a:t>
            </a:r>
            <a:endParaRPr lang="en-US" dirty="0"/>
          </a:p>
        </p:txBody>
      </p:sp>
      <p:sp>
        <p:nvSpPr>
          <p:cNvPr id="3" name="Vertical Text Placeholder 2"/>
          <p:cNvSpPr>
            <a:spLocks noGrp="1"/>
          </p:cNvSpPr>
          <p:nvPr>
            <p:ph type="body" orient="vert" idx="1" hasCustomPrompt="1"/>
          </p:nvPr>
        </p:nvSpPr>
        <p:spPr>
          <a:xfrm>
            <a:off x="838200" y="365125"/>
            <a:ext cx="7683500" cy="5811838"/>
          </a:xfrm>
        </p:spPr>
        <p:txBody>
          <a:bodyPr vert="eaVert"/>
          <a:lstStyle/>
          <a:p>
            <a:pPr lvl="0"/>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Date Placeholder 3"/>
          <p:cNvSpPr>
            <a:spLocks noGrp="1"/>
          </p:cNvSpPr>
          <p:nvPr>
            <p:ph type="dt" sz="half" idx="10"/>
          </p:nvPr>
        </p:nvSpPr>
        <p:spPr/>
        <p:txBody>
          <a:bodyPr/>
          <a:lstStyle/>
          <a:p>
            <a:fld id="{6747AB31-954A-7842-ADD2-0741990EB64F}"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A37C3-BF9F-8242-8F9B-2E9EADE96552}" type="slidenum">
              <a:rPr lang="en-US" smtClean="0"/>
              <a:t>‹#›</a:t>
            </a:fld>
            <a:endParaRPr lang="en-US"/>
          </a:p>
        </p:txBody>
      </p:sp>
    </p:spTree>
    <p:extLst>
      <p:ext uri="{BB962C8B-B14F-4D97-AF65-F5344CB8AC3E}">
        <p14:creationId xmlns:p14="http://schemas.microsoft.com/office/powerpoint/2010/main" val="7093935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dirty="0"/>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lang="es-ES_tradnl" dirty="0"/>
              <a:t>Haga clic para modificar el estilo del texto</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n-US" dirty="0"/>
          </a:p>
        </p:txBody>
      </p:sp>
      <p:sp>
        <p:nvSpPr>
          <p:cNvPr id="4" name="Date Placeholder 3"/>
          <p:cNvSpPr>
            <a:spLocks noGrp="1"/>
          </p:cNvSpPr>
          <p:nvPr>
            <p:ph type="dt" sz="half" idx="2"/>
          </p:nvPr>
        </p:nvSpPr>
        <p:spPr>
          <a:xfrm>
            <a:off x="9524035" y="6234837"/>
            <a:ext cx="1371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47AB31-954A-7842-ADD2-0741990EB64F}" type="datetimeFigureOut">
              <a:rPr lang="en-US" smtClean="0"/>
              <a:t>9/10/26</a:t>
            </a:fld>
            <a:endParaRPr lang="en-US"/>
          </a:p>
        </p:txBody>
      </p:sp>
      <p:sp>
        <p:nvSpPr>
          <p:cNvPr id="5" name="Footer Placeholder 4"/>
          <p:cNvSpPr>
            <a:spLocks noGrp="1"/>
          </p:cNvSpPr>
          <p:nvPr>
            <p:ph type="ftr" sz="quarter" idx="3"/>
          </p:nvPr>
        </p:nvSpPr>
        <p:spPr>
          <a:xfrm>
            <a:off x="9517283" y="5869711"/>
            <a:ext cx="267471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895635" y="6234838"/>
            <a:ext cx="129636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CA37C3-BF9F-8242-8F9B-2E9EADE96552}" type="slidenum">
              <a:rPr lang="en-US" smtClean="0"/>
              <a:t>‹#›</a:t>
            </a:fld>
            <a:endParaRPr lang="en-US"/>
          </a:p>
        </p:txBody>
      </p:sp>
    </p:spTree>
    <p:extLst>
      <p:ext uri="{BB962C8B-B14F-4D97-AF65-F5344CB8AC3E}">
        <p14:creationId xmlns:p14="http://schemas.microsoft.com/office/powerpoint/2010/main" val="199889881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a:buNone/>
        <a:tabLst/>
        <a:defRPr sz="2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9.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0.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3.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4.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7.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8.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circle with white and green text&#10;&#10;AI-generated content may be incorrect.">
            <a:extLst>
              <a:ext uri="{FF2B5EF4-FFF2-40B4-BE49-F238E27FC236}">
                <a16:creationId xmlns:a16="http://schemas.microsoft.com/office/drawing/2014/main" id="{4C9D16E6-4A94-D2ED-C38F-A502CC0DCB27}"/>
              </a:ext>
            </a:extLst>
          </p:cNvPr>
          <p:cNvPicPr>
            <a:picLocks noGrp="1" noRot="1" noChangeAspect="1" noMove="1" noResize="1" noEditPoints="1" noAdjustHandles="1" noChangeArrowheads="1" noChangeShapeType="1" noCrop="1"/>
          </p:cNvPicPr>
          <p:nvPr/>
        </p:nvPicPr>
        <p:blipFill>
          <a:blip r:embed="rId2"/>
          <a:stretch>
            <a:fillRect/>
          </a:stretch>
        </p:blipFill>
        <p:spPr>
          <a:xfrm>
            <a:off x="11353798" y="5858538"/>
            <a:ext cx="733647" cy="733647"/>
          </a:xfrm>
          <a:prstGeom prst="rect">
            <a:avLst/>
          </a:prstGeom>
        </p:spPr>
      </p:pic>
      <p:sp>
        <p:nvSpPr>
          <p:cNvPr id="6" name="TextBox 5"/>
          <p:cNvSpPr txBox="1"/>
          <p:nvPr/>
        </p:nvSpPr>
        <p:spPr>
          <a:xfrm>
            <a:off x="914400" y="1691640"/>
            <a:ext cx="10360152" cy="1737360"/>
          </a:xfrm>
          <a:prstGeom prst="rect">
            <a:avLst/>
          </a:prstGeom>
          <a:noFill/>
        </p:spPr>
        <p:txBody>
          <a:bodyPr wrap="square" anchor="ctr" lIns="0" rIns="0" tIns="0" bIns="0">
            <a:spAutoFit/>
          </a:bodyPr>
          <a:lstStyle/>
          <a:p>
            <a:pPr algn="ctr"/>
            <a:r>
              <a:rPr sz="3800" b="1" i="0">
                <a:solidFill>
                  <a:srgbClr val="1F5FAE"/>
                </a:solidFill>
                <a:latin typeface="Calibri"/>
              </a:rPr>
              <a:t>ID 129: </a:t>
            </a:r>
            <a:r>
              <a:rPr sz="3800" b="1" i="0">
                <a:solidFill>
                  <a:srgbClr val="0F1E36"/>
                </a:solidFill>
                <a:latin typeface="Calibri"/>
              </a:rPr>
              <a:t>Aprendizaje automático para predicción del éxito académico en Ingeniería de Sistemas</a:t>
            </a:r>
          </a:p>
        </p:txBody>
      </p:sp>
      <p:sp>
        <p:nvSpPr>
          <p:cNvPr id="7" name="TextBox 6"/>
          <p:cNvSpPr txBox="1"/>
          <p:nvPr/>
        </p:nvSpPr>
        <p:spPr>
          <a:xfrm>
            <a:off x="914400" y="3739896"/>
            <a:ext cx="10360152" cy="365760"/>
          </a:xfrm>
          <a:prstGeom prst="rect">
            <a:avLst/>
          </a:prstGeom>
          <a:noFill/>
        </p:spPr>
        <p:txBody>
          <a:bodyPr wrap="square" anchor="t" lIns="0" rIns="0" tIns="0" bIns="0">
            <a:spAutoFit/>
          </a:bodyPr>
          <a:lstStyle/>
          <a:p>
            <a:pPr algn="ctr"/>
            <a:r>
              <a:rPr sz="1700" b="0" i="0">
                <a:solidFill>
                  <a:srgbClr val="0F1E36"/>
                </a:solidFill>
                <a:latin typeface="Calibri"/>
              </a:rPr>
              <a:t>Joan David Martínez Hernández  -  Diana Marcela Cardona Román  -  Sara Cristina Guerrero</a:t>
            </a:r>
          </a:p>
        </p:txBody>
      </p:sp>
      <p:sp>
        <p:nvSpPr>
          <p:cNvPr id="8" name="TextBox 7"/>
          <p:cNvSpPr txBox="1"/>
          <p:nvPr/>
        </p:nvSpPr>
        <p:spPr>
          <a:xfrm>
            <a:off x="914400" y="4754880"/>
            <a:ext cx="10360152" cy="320040"/>
          </a:xfrm>
          <a:prstGeom prst="rect">
            <a:avLst/>
          </a:prstGeom>
          <a:noFill/>
        </p:spPr>
        <p:txBody>
          <a:bodyPr wrap="square" anchor="t" lIns="0" rIns="0" tIns="0" bIns="0">
            <a:spAutoFit/>
          </a:bodyPr>
          <a:lstStyle/>
          <a:p>
            <a:pPr algn="ctr"/>
            <a:r>
              <a:rPr sz="1350" b="0" i="0">
                <a:solidFill>
                  <a:srgbClr val="55657E"/>
                </a:solidFill>
                <a:latin typeface="Calibri"/>
              </a:rPr>
              <a:t>Facultad de Ciencias Básicas e Ingeniería · Universidad de los Llanos · Villavicencio, Meta, Colombia</a:t>
            </a:r>
          </a:p>
        </p:txBody>
      </p:sp>
      <p:sp>
        <p:nvSpPr>
          <p:cNvPr id="9" name="TextBox 8"/>
          <p:cNvSpPr txBox="1"/>
          <p:nvPr/>
        </p:nvSpPr>
        <p:spPr>
          <a:xfrm>
            <a:off x="914400" y="5120640"/>
            <a:ext cx="10360152" cy="274320"/>
          </a:xfrm>
          <a:prstGeom prst="rect">
            <a:avLst/>
          </a:prstGeom>
          <a:noFill/>
        </p:spPr>
        <p:txBody>
          <a:bodyPr wrap="square" anchor="t" lIns="0" rIns="0" tIns="0" bIns="0">
            <a:spAutoFit/>
          </a:bodyPr>
          <a:lstStyle/>
          <a:p>
            <a:pPr algn="ctr"/>
            <a:r>
              <a:rPr sz="1200" b="0" i="0">
                <a:solidFill>
                  <a:srgbClr val="55657E"/>
                </a:solidFill>
                <a:latin typeface="Calibri"/>
              </a:rPr>
              <a:t>Proyecto DGI/Unillanos C07-02-2026-027</a:t>
            </a:r>
          </a:p>
        </p:txBody>
      </p:sp>
      <p:pic>
        <p:nvPicPr>
          <p:cNvPr id="10" name="Picture 9" descr="image.png"/>
          <p:cNvPicPr>
            <a:picLocks noChangeAspect="1"/>
          </p:cNvPicPr>
          <p:nvPr/>
        </p:nvPicPr>
        <p:blipFill>
          <a:blip r:embed="rId3"/>
          <a:srcRect/>
          <a:stretch>
            <a:fillRect/>
          </a:stretch>
        </p:blipFill>
        <p:spPr>
          <a:xfrm>
            <a:off x="104555" y="5745251"/>
            <a:ext cx="2454442" cy="960219"/>
          </a:xfrm>
          <a:prstGeom prst="rect">
            <a:avLst/>
          </a:prstGeom>
        </p:spPr>
      </p:pic>
      <p:pic>
        <p:nvPicPr>
          <p:cNvPr id="11" name="Picture 10" descr="image.png"/>
          <p:cNvPicPr>
            <a:picLocks noChangeAspect="1"/>
          </p:cNvPicPr>
          <p:nvPr/>
        </p:nvPicPr>
        <p:blipFill>
          <a:blip r:embed="rId4"/>
          <a:srcRect/>
          <a:stretch>
            <a:fillRect/>
          </a:stretch>
        </p:blipFill>
        <p:spPr>
          <a:xfrm>
            <a:off x="6094476" y="5935610"/>
            <a:ext cx="576018" cy="611141"/>
          </a:xfrm>
          <a:prstGeom prst="rect">
            <a:avLst/>
          </a:prstGeom>
        </p:spPr>
      </p:pic>
      <p:pic>
        <p:nvPicPr>
          <p:cNvPr id="12" name="Picture 11" descr="image.png"/>
          <p:cNvPicPr>
            <a:picLocks noChangeAspect="1"/>
          </p:cNvPicPr>
          <p:nvPr/>
        </p:nvPicPr>
        <p:blipFill>
          <a:blip r:embed="rId5"/>
          <a:srcRect/>
          <a:stretch>
            <a:fillRect/>
          </a:stretch>
        </p:blipFill>
        <p:spPr>
          <a:xfrm>
            <a:off x="6821873" y="5941412"/>
            <a:ext cx="2238375" cy="504825"/>
          </a:xfrm>
          <a:prstGeom prst="rect">
            <a:avLst/>
          </a:prstGeom>
        </p:spPr>
      </p:pic>
      <p:pic>
        <p:nvPicPr>
          <p:cNvPr id="13" name="Picture 12" descr="image.png"/>
          <p:cNvPicPr>
            <a:picLocks noChangeAspect="1"/>
          </p:cNvPicPr>
          <p:nvPr/>
        </p:nvPicPr>
        <p:blipFill>
          <a:blip r:embed="rId6"/>
          <a:srcRect/>
          <a:stretch>
            <a:fillRect/>
          </a:stretch>
        </p:blipFill>
        <p:spPr>
          <a:xfrm>
            <a:off x="9195884" y="5935610"/>
            <a:ext cx="652810" cy="611141"/>
          </a:xfrm>
          <a:prstGeom prst="rect">
            <a:avLst/>
          </a:prstGeom>
        </p:spPr>
      </p:pic>
      <p:pic>
        <p:nvPicPr>
          <p:cNvPr id="14" name="Picture 13" descr="image.png"/>
          <p:cNvPicPr>
            <a:picLocks noChangeAspect="1"/>
          </p:cNvPicPr>
          <p:nvPr/>
        </p:nvPicPr>
        <p:blipFill>
          <a:blip r:embed="rId7"/>
          <a:srcRect/>
          <a:stretch>
            <a:fillRect/>
          </a:stretch>
        </p:blipFill>
        <p:spPr>
          <a:xfrm>
            <a:off x="9976624" y="5888253"/>
            <a:ext cx="1249244" cy="611141"/>
          </a:xfrm>
          <a:prstGeom prst="rect">
            <a:avLst/>
          </a:prstGeom>
        </p:spPr>
      </p:pic>
    </p:spTree>
    <p:extLst>
      <p:ext uri="{BB962C8B-B14F-4D97-AF65-F5344CB8AC3E}">
        <p14:creationId xmlns:p14="http://schemas.microsoft.com/office/powerpoint/2010/main" val="77404459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1F5FAE"/>
                </a:solidFill>
                <a:latin typeface="Calibri"/>
              </a:rPr>
              <a:t>FASE 1 · COMPRENSIÓN DEL PROBLEMA</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El problema del abandono</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Más de la mitad no se gradúa, y en nuestro programa el abandono es temprano</a:t>
            </a:r>
          </a:p>
        </p:txBody>
      </p:sp>
      <p:sp>
        <p:nvSpPr>
          <p:cNvPr id="8" name="TextBox 7"/>
          <p:cNvSpPr txBox="1"/>
          <p:nvPr/>
        </p:nvSpPr>
        <p:spPr>
          <a:xfrm>
            <a:off x="731520" y="2011680"/>
            <a:ext cx="3383280" cy="1005840"/>
          </a:xfrm>
          <a:prstGeom prst="rect">
            <a:avLst/>
          </a:prstGeom>
          <a:noFill/>
        </p:spPr>
        <p:txBody>
          <a:bodyPr wrap="square" anchor="t" lIns="0" rIns="0" tIns="0" bIns="0">
            <a:spAutoFit/>
          </a:bodyPr>
          <a:lstStyle/>
          <a:p>
            <a:pPr algn="ctr"/>
            <a:r>
              <a:rPr sz="6000" b="1" i="0">
                <a:solidFill>
                  <a:srgbClr val="D97706"/>
                </a:solidFill>
                <a:latin typeface="Calibri"/>
              </a:rPr>
              <a:t>45,1 %</a:t>
            </a:r>
          </a:p>
        </p:txBody>
      </p:sp>
      <p:sp>
        <p:nvSpPr>
          <p:cNvPr id="9" name="TextBox 8"/>
          <p:cNvSpPr txBox="1"/>
          <p:nvPr/>
        </p:nvSpPr>
        <p:spPr>
          <a:xfrm>
            <a:off x="731520" y="3108960"/>
            <a:ext cx="3383280" cy="411480"/>
          </a:xfrm>
          <a:prstGeom prst="rect">
            <a:avLst/>
          </a:prstGeom>
          <a:noFill/>
        </p:spPr>
        <p:txBody>
          <a:bodyPr wrap="square" anchor="t" lIns="0" rIns="0" tIns="0" bIns="0">
            <a:spAutoFit/>
          </a:bodyPr>
          <a:lstStyle/>
          <a:p>
            <a:pPr algn="ctr"/>
            <a:r>
              <a:rPr sz="2100" b="1" i="0">
                <a:solidFill>
                  <a:srgbClr val="0F1E36"/>
                </a:solidFill>
                <a:latin typeface="Calibri"/>
              </a:rPr>
              <a:t>Graduación nacional</a:t>
            </a:r>
          </a:p>
        </p:txBody>
      </p:sp>
      <p:sp>
        <p:nvSpPr>
          <p:cNvPr id="10" name="TextBox 9"/>
          <p:cNvSpPr txBox="1"/>
          <p:nvPr/>
        </p:nvSpPr>
        <p:spPr>
          <a:xfrm>
            <a:off x="731520" y="3566160"/>
            <a:ext cx="3383280" cy="731520"/>
          </a:xfrm>
          <a:prstGeom prst="rect">
            <a:avLst/>
          </a:prstGeom>
          <a:noFill/>
        </p:spPr>
        <p:txBody>
          <a:bodyPr wrap="square" anchor="t" lIns="0" rIns="0" tIns="0" bIns="0">
            <a:spAutoFit/>
          </a:bodyPr>
          <a:lstStyle/>
          <a:p>
            <a:pPr algn="ctr"/>
            <a:r>
              <a:rPr sz="1600" b="0" i="0">
                <a:solidFill>
                  <a:srgbClr val="55657E"/>
                </a:solidFill>
                <a:latin typeface="Calibri"/>
              </a:rPr>
              <a:t>tras 15 semestres (LEE, 2023)</a:t>
            </a:r>
          </a:p>
        </p:txBody>
      </p:sp>
      <p:sp>
        <p:nvSpPr>
          <p:cNvPr id="11" name="TextBox 10"/>
          <p:cNvSpPr txBox="1"/>
          <p:nvPr/>
        </p:nvSpPr>
        <p:spPr>
          <a:xfrm>
            <a:off x="4389120" y="2011680"/>
            <a:ext cx="3383280" cy="1005840"/>
          </a:xfrm>
          <a:prstGeom prst="rect">
            <a:avLst/>
          </a:prstGeom>
          <a:noFill/>
        </p:spPr>
        <p:txBody>
          <a:bodyPr wrap="square" anchor="t" lIns="0" rIns="0" tIns="0" bIns="0">
            <a:spAutoFit/>
          </a:bodyPr>
          <a:lstStyle/>
          <a:p>
            <a:pPr algn="ctr"/>
            <a:r>
              <a:rPr sz="6000" b="1" i="0">
                <a:solidFill>
                  <a:srgbClr val="B91C1C"/>
                </a:solidFill>
                <a:latin typeface="Calibri"/>
              </a:rPr>
              <a:t>63 %</a:t>
            </a:r>
          </a:p>
        </p:txBody>
      </p:sp>
      <p:sp>
        <p:nvSpPr>
          <p:cNvPr id="12" name="TextBox 11"/>
          <p:cNvSpPr txBox="1"/>
          <p:nvPr/>
        </p:nvSpPr>
        <p:spPr>
          <a:xfrm>
            <a:off x="4389120" y="3108960"/>
            <a:ext cx="3383280" cy="411480"/>
          </a:xfrm>
          <a:prstGeom prst="rect">
            <a:avLst/>
          </a:prstGeom>
          <a:noFill/>
        </p:spPr>
        <p:txBody>
          <a:bodyPr wrap="square" anchor="t" lIns="0" rIns="0" tIns="0" bIns="0">
            <a:spAutoFit/>
          </a:bodyPr>
          <a:lstStyle/>
          <a:p>
            <a:pPr algn="ctr"/>
            <a:r>
              <a:rPr sz="2100" b="1" i="0">
                <a:solidFill>
                  <a:srgbClr val="0F1E36"/>
                </a:solidFill>
                <a:latin typeface="Calibri"/>
              </a:rPr>
              <a:t>Sin graduación</a:t>
            </a:r>
          </a:p>
        </p:txBody>
      </p:sp>
      <p:sp>
        <p:nvSpPr>
          <p:cNvPr id="13" name="TextBox 12"/>
          <p:cNvSpPr txBox="1"/>
          <p:nvPr/>
        </p:nvSpPr>
        <p:spPr>
          <a:xfrm>
            <a:off x="4389120" y="3566160"/>
            <a:ext cx="3383280" cy="731520"/>
          </a:xfrm>
          <a:prstGeom prst="rect">
            <a:avLst/>
          </a:prstGeom>
          <a:noFill/>
        </p:spPr>
        <p:txBody>
          <a:bodyPr wrap="square" anchor="t" lIns="0" rIns="0" tIns="0" bIns="0">
            <a:spAutoFit/>
          </a:bodyPr>
          <a:lstStyle/>
          <a:p>
            <a:pPr algn="ctr"/>
            <a:r>
              <a:rPr sz="1600" b="0" i="0">
                <a:solidFill>
                  <a:srgbClr val="55657E"/>
                </a:solidFill>
                <a:latin typeface="Calibri"/>
              </a:rPr>
              <a:t>cohortes 2017-2 y 2018-1
Ingeniería de Sistemas</a:t>
            </a:r>
          </a:p>
        </p:txBody>
      </p:sp>
      <p:sp>
        <p:nvSpPr>
          <p:cNvPr id="14" name="TextBox 13"/>
          <p:cNvSpPr txBox="1"/>
          <p:nvPr/>
        </p:nvSpPr>
        <p:spPr>
          <a:xfrm>
            <a:off x="8046720" y="2011680"/>
            <a:ext cx="3383280" cy="1005840"/>
          </a:xfrm>
          <a:prstGeom prst="rect">
            <a:avLst/>
          </a:prstGeom>
          <a:noFill/>
        </p:spPr>
        <p:txBody>
          <a:bodyPr wrap="square" anchor="t" lIns="0" rIns="0" tIns="0" bIns="0">
            <a:spAutoFit/>
          </a:bodyPr>
          <a:lstStyle/>
          <a:p>
            <a:pPr algn="ctr"/>
            <a:r>
              <a:rPr sz="6000" b="1" i="0">
                <a:solidFill>
                  <a:srgbClr val="0369A1"/>
                </a:solidFill>
                <a:latin typeface="Calibri"/>
              </a:rPr>
              <a:t>64 %</a:t>
            </a:r>
          </a:p>
        </p:txBody>
      </p:sp>
      <p:sp>
        <p:nvSpPr>
          <p:cNvPr id="15" name="TextBox 14"/>
          <p:cNvSpPr txBox="1"/>
          <p:nvPr/>
        </p:nvSpPr>
        <p:spPr>
          <a:xfrm>
            <a:off x="8046720" y="3108960"/>
            <a:ext cx="3383280" cy="411480"/>
          </a:xfrm>
          <a:prstGeom prst="rect">
            <a:avLst/>
          </a:prstGeom>
          <a:noFill/>
        </p:spPr>
        <p:txBody>
          <a:bodyPr wrap="square" anchor="t" lIns="0" rIns="0" tIns="0" bIns="0">
            <a:spAutoFit/>
          </a:bodyPr>
          <a:lstStyle/>
          <a:p>
            <a:pPr algn="ctr"/>
            <a:r>
              <a:rPr sz="2100" b="1" i="0">
                <a:solidFill>
                  <a:srgbClr val="0F1E36"/>
                </a:solidFill>
                <a:latin typeface="Calibri"/>
              </a:rPr>
              <a:t>Abandono temprano</a:t>
            </a:r>
          </a:p>
        </p:txBody>
      </p:sp>
      <p:sp>
        <p:nvSpPr>
          <p:cNvPr id="16" name="TextBox 15"/>
          <p:cNvSpPr txBox="1"/>
          <p:nvPr/>
        </p:nvSpPr>
        <p:spPr>
          <a:xfrm>
            <a:off x="8046720" y="3566160"/>
            <a:ext cx="3383280" cy="731520"/>
          </a:xfrm>
          <a:prstGeom prst="rect">
            <a:avLst/>
          </a:prstGeom>
          <a:noFill/>
        </p:spPr>
        <p:txBody>
          <a:bodyPr wrap="square" anchor="t" lIns="0" rIns="0" tIns="0" bIns="0">
            <a:spAutoFit/>
          </a:bodyPr>
          <a:lstStyle/>
          <a:p>
            <a:pPr algn="ctr"/>
            <a:r>
              <a:rPr sz="1600" b="0" i="0">
                <a:solidFill>
                  <a:srgbClr val="55657E"/>
                </a:solidFill>
                <a:latin typeface="Calibri"/>
              </a:rPr>
              <a:t>de quienes abandonan, lo hacen
en los dos primeros semestres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3</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1F5FAE"/>
                </a:solidFill>
                <a:latin typeface="Calibri"/>
              </a:rPr>
              <a:t>FASE 1 · COMPRENSIÓN DEL PROBLEMA</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¿Cuándo abandonan?</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La alerta debe llegar al cierre del 1.er semestre</a:t>
            </a:r>
          </a:p>
        </p:txBody>
      </p:sp>
      <p:pic>
        <p:nvPicPr>
          <p:cNvPr id="8" name="Picture 7" descr="f01_duracion.png"/>
          <p:cNvPicPr>
            <a:picLocks noChangeAspect="1"/>
          </p:cNvPicPr>
          <p:nvPr/>
        </p:nvPicPr>
        <p:blipFill>
          <a:blip r:embed="rId3"/>
          <a:stretch>
            <a:fillRect/>
          </a:stretch>
        </p:blipFill>
        <p:spPr>
          <a:xfrm>
            <a:off x="2586775" y="1463040"/>
            <a:ext cx="6805089" cy="4343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4</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1F5FAE"/>
                </a:solidFill>
                <a:latin typeface="Calibri"/>
              </a:rPr>
              <a:t>MÉTODO</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Metodología CRISP-DM</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Seis fases, con regresos (rojo) cuando la evidencia lo exigió</a:t>
            </a:r>
          </a:p>
        </p:txBody>
      </p:sp>
      <p:pic>
        <p:nvPicPr>
          <p:cNvPr id="8" name="Picture 7" descr="d1_crispdm.png"/>
          <p:cNvPicPr>
            <a:picLocks noChangeAspect="1"/>
          </p:cNvPicPr>
          <p:nvPr/>
        </p:nvPicPr>
        <p:blipFill>
          <a:blip r:embed="rId3"/>
          <a:stretch>
            <a:fillRect/>
          </a:stretch>
        </p:blipFill>
        <p:spPr>
          <a:xfrm>
            <a:off x="1097280" y="1603955"/>
            <a:ext cx="9784080" cy="410728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5</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1F5FAE"/>
                </a:solidFill>
                <a:latin typeface="Calibri"/>
              </a:rPr>
              <a:t>FASE 2 · COMPRENSIÓN DE LOS DATOS</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Los datos</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Seis fuentes administrativas del SIIF, limpiadas con reglas escritas</a:t>
            </a:r>
          </a:p>
        </p:txBody>
      </p:sp>
      <p:pic>
        <p:nvPicPr>
          <p:cNvPr id="8" name="Picture 7" descr="f02_embudo.png"/>
          <p:cNvPicPr>
            <a:picLocks noChangeAspect="1"/>
          </p:cNvPicPr>
          <p:nvPr/>
        </p:nvPicPr>
        <p:blipFill>
          <a:blip r:embed="rId3"/>
          <a:stretch>
            <a:fillRect/>
          </a:stretch>
        </p:blipFill>
        <p:spPr>
          <a:xfrm>
            <a:off x="548640" y="1871907"/>
            <a:ext cx="6766560" cy="3479945"/>
          </a:xfrm>
          <a:prstGeom prst="rect">
            <a:avLst/>
          </a:prstGeom>
        </p:spPr>
      </p:pic>
      <p:sp>
        <p:nvSpPr>
          <p:cNvPr id="9" name="TextBox 8"/>
          <p:cNvSpPr txBox="1"/>
          <p:nvPr/>
        </p:nvSpPr>
        <p:spPr>
          <a:xfrm>
            <a:off x="7680960" y="1691640"/>
            <a:ext cx="1737360" cy="731520"/>
          </a:xfrm>
          <a:prstGeom prst="rect">
            <a:avLst/>
          </a:prstGeom>
          <a:noFill/>
        </p:spPr>
        <p:txBody>
          <a:bodyPr wrap="square" anchor="ctr" lIns="0" rIns="0" tIns="0" bIns="0">
            <a:spAutoFit/>
          </a:bodyPr>
          <a:lstStyle/>
          <a:p>
            <a:pPr algn="r"/>
            <a:r>
              <a:rPr sz="3400" b="1" i="0">
                <a:solidFill>
                  <a:srgbClr val="D97706"/>
                </a:solidFill>
                <a:latin typeface="Calibri"/>
              </a:rPr>
              <a:t>8 503</a:t>
            </a:r>
          </a:p>
        </p:txBody>
      </p:sp>
      <p:sp>
        <p:nvSpPr>
          <p:cNvPr id="10" name="TextBox 9"/>
          <p:cNvSpPr txBox="1"/>
          <p:nvPr/>
        </p:nvSpPr>
        <p:spPr>
          <a:xfrm>
            <a:off x="9555480" y="1691640"/>
            <a:ext cx="2011680" cy="731520"/>
          </a:xfrm>
          <a:prstGeom prst="rect">
            <a:avLst/>
          </a:prstGeom>
          <a:noFill/>
        </p:spPr>
        <p:txBody>
          <a:bodyPr wrap="square" anchor="ctr" lIns="0" rIns="0" tIns="0" bIns="0">
            <a:spAutoFit/>
          </a:bodyPr>
          <a:lstStyle/>
          <a:p>
            <a:pPr algn="l"/>
            <a:r>
              <a:rPr sz="1800" b="0" i="0">
                <a:solidFill>
                  <a:srgbClr val="0F1E36"/>
                </a:solidFill>
                <a:latin typeface="Calibri"/>
              </a:rPr>
              <a:t>notas</a:t>
            </a:r>
          </a:p>
        </p:txBody>
      </p:sp>
      <p:sp>
        <p:nvSpPr>
          <p:cNvPr id="11" name="TextBox 10"/>
          <p:cNvSpPr txBox="1"/>
          <p:nvPr/>
        </p:nvSpPr>
        <p:spPr>
          <a:xfrm>
            <a:off x="7680960" y="2697480"/>
            <a:ext cx="1737360" cy="731520"/>
          </a:xfrm>
          <a:prstGeom prst="rect">
            <a:avLst/>
          </a:prstGeom>
          <a:noFill/>
        </p:spPr>
        <p:txBody>
          <a:bodyPr wrap="square" anchor="ctr" lIns="0" rIns="0" tIns="0" bIns="0">
            <a:spAutoFit/>
          </a:bodyPr>
          <a:lstStyle/>
          <a:p>
            <a:pPr algn="r"/>
            <a:r>
              <a:rPr sz="3400" b="1" i="0">
                <a:solidFill>
                  <a:srgbClr val="D97706"/>
                </a:solidFill>
                <a:latin typeface="Calibri"/>
              </a:rPr>
              <a:t>1 968</a:t>
            </a:r>
          </a:p>
        </p:txBody>
      </p:sp>
      <p:sp>
        <p:nvSpPr>
          <p:cNvPr id="12" name="TextBox 11"/>
          <p:cNvSpPr txBox="1"/>
          <p:nvPr/>
        </p:nvSpPr>
        <p:spPr>
          <a:xfrm>
            <a:off x="9555480" y="2697480"/>
            <a:ext cx="2011680" cy="731520"/>
          </a:xfrm>
          <a:prstGeom prst="rect">
            <a:avLst/>
          </a:prstGeom>
          <a:noFill/>
        </p:spPr>
        <p:txBody>
          <a:bodyPr wrap="square" anchor="ctr" lIns="0" rIns="0" tIns="0" bIns="0">
            <a:spAutoFit/>
          </a:bodyPr>
          <a:lstStyle/>
          <a:p>
            <a:pPr algn="l"/>
            <a:r>
              <a:rPr sz="1800" b="0" i="0">
                <a:solidFill>
                  <a:srgbClr val="0F1E36"/>
                </a:solidFill>
                <a:latin typeface="Calibri"/>
              </a:rPr>
              <a:t>estados por semestre</a:t>
            </a:r>
          </a:p>
        </p:txBody>
      </p:sp>
      <p:sp>
        <p:nvSpPr>
          <p:cNvPr id="13" name="TextBox 12"/>
          <p:cNvSpPr txBox="1"/>
          <p:nvPr/>
        </p:nvSpPr>
        <p:spPr>
          <a:xfrm>
            <a:off x="7680960" y="3703320"/>
            <a:ext cx="1737360" cy="731520"/>
          </a:xfrm>
          <a:prstGeom prst="rect">
            <a:avLst/>
          </a:prstGeom>
          <a:noFill/>
        </p:spPr>
        <p:txBody>
          <a:bodyPr wrap="square" anchor="ctr" lIns="0" rIns="0" tIns="0" bIns="0">
            <a:spAutoFit/>
          </a:bodyPr>
          <a:lstStyle/>
          <a:p>
            <a:pPr algn="r"/>
            <a:r>
              <a:rPr sz="3400" b="1" i="0">
                <a:solidFill>
                  <a:srgbClr val="D97706"/>
                </a:solidFill>
                <a:latin typeface="Calibri"/>
              </a:rPr>
              <a:t>541</a:t>
            </a:r>
          </a:p>
        </p:txBody>
      </p:sp>
      <p:sp>
        <p:nvSpPr>
          <p:cNvPr id="14" name="TextBox 13"/>
          <p:cNvSpPr txBox="1"/>
          <p:nvPr/>
        </p:nvSpPr>
        <p:spPr>
          <a:xfrm>
            <a:off x="9555480" y="3703320"/>
            <a:ext cx="2011680" cy="731520"/>
          </a:xfrm>
          <a:prstGeom prst="rect">
            <a:avLst/>
          </a:prstGeom>
          <a:noFill/>
        </p:spPr>
        <p:txBody>
          <a:bodyPr wrap="square" anchor="ctr" lIns="0" rIns="0" tIns="0" bIns="0">
            <a:spAutoFit/>
          </a:bodyPr>
          <a:lstStyle/>
          <a:p>
            <a:pPr algn="l"/>
            <a:r>
              <a:rPr sz="1800" b="0" i="0">
                <a:solidFill>
                  <a:srgbClr val="0F1E36"/>
                </a:solidFill>
                <a:latin typeface="Calibri"/>
              </a:rPr>
              <a:t>estados completados</a:t>
            </a:r>
          </a:p>
        </p:txBody>
      </p:sp>
      <p:sp>
        <p:nvSpPr>
          <p:cNvPr id="15" name="TextBox 14"/>
          <p:cNvSpPr txBox="1"/>
          <p:nvPr/>
        </p:nvSpPr>
        <p:spPr>
          <a:xfrm>
            <a:off x="7680960" y="4709160"/>
            <a:ext cx="1737360" cy="731520"/>
          </a:xfrm>
          <a:prstGeom prst="rect">
            <a:avLst/>
          </a:prstGeom>
          <a:noFill/>
        </p:spPr>
        <p:txBody>
          <a:bodyPr wrap="square" anchor="ctr" lIns="0" rIns="0" tIns="0" bIns="0">
            <a:spAutoFit/>
          </a:bodyPr>
          <a:lstStyle/>
          <a:p>
            <a:pPr algn="r"/>
            <a:r>
              <a:rPr sz="3400" b="1" i="0">
                <a:solidFill>
                  <a:srgbClr val="D97706"/>
                </a:solidFill>
                <a:latin typeface="Calibri"/>
              </a:rPr>
              <a:t>76</a:t>
            </a:r>
          </a:p>
        </p:txBody>
      </p:sp>
      <p:sp>
        <p:nvSpPr>
          <p:cNvPr id="16" name="TextBox 15"/>
          <p:cNvSpPr txBox="1"/>
          <p:nvPr/>
        </p:nvSpPr>
        <p:spPr>
          <a:xfrm>
            <a:off x="9555480" y="4709160"/>
            <a:ext cx="2011680" cy="731520"/>
          </a:xfrm>
          <a:prstGeom prst="rect">
            <a:avLst/>
          </a:prstGeom>
          <a:noFill/>
        </p:spPr>
        <p:txBody>
          <a:bodyPr wrap="square" anchor="ctr" lIns="0" rIns="0" tIns="0" bIns="0">
            <a:spAutoFit/>
          </a:bodyPr>
          <a:lstStyle/>
          <a:p>
            <a:pPr algn="l"/>
            <a:r>
              <a:rPr sz="1800" b="0" i="0">
                <a:solidFill>
                  <a:srgbClr val="0F1E36"/>
                </a:solidFill>
                <a:latin typeface="Calibri"/>
              </a:rPr>
              <a:t>registros recuperados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6</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1F5FAE"/>
                </a:solidFill>
                <a:latin typeface="Calibri"/>
              </a:rPr>
              <a:t>HALLAZGOS PRELIMINARES</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Resultados preliminares</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Validación cruzada de 5 particiones · N = 90 · tres algoritmos</a:t>
            </a:r>
          </a:p>
        </p:txBody>
      </p:sp>
      <p:graphicFrame>
        <p:nvGraphicFramePr>
          <p:cNvPr id="8" name="Table 7"/>
          <p:cNvGraphicFramePr>
            <a:graphicFrameLocks noGrp="1"/>
          </p:cNvGraphicFramePr>
          <p:nvPr/>
        </p:nvGraphicFramePr>
        <p:xfrm>
          <a:off x="731520" y="1600200"/>
          <a:ext cx="7223760" cy="3840480"/>
        </p:xfrm>
        <a:graphic>
          <a:graphicData uri="http://schemas.openxmlformats.org/drawingml/2006/table">
            <a:tbl>
              <a:tblPr firstRow="1" bandRow="1">
                <a:tableStyleId>{5C22544A-7EE6-4342-B048-85BDC9FD1C3A}</a:tableStyleId>
              </a:tblPr>
              <a:tblGrid>
                <a:gridCol w="2011680"/>
                <a:gridCol w="2103120"/>
                <a:gridCol w="1005840"/>
                <a:gridCol w="1097280"/>
                <a:gridCol w="1005840"/>
              </a:tblGrid>
              <a:tr h="548640">
                <a:tc>
                  <a:txBody>
                    <a:bodyPr/>
                    <a:lstStyle/>
                    <a:p>
                      <a:pPr algn="l"/>
                      <a:r>
                        <a:rPr sz="1650" b="1">
                          <a:solidFill>
                            <a:srgbClr val="55657E"/>
                          </a:solidFill>
                          <a:latin typeface="Calibri"/>
                        </a:rPr>
                        <a:t>Objetivo</a:t>
                      </a:r>
                    </a:p>
                  </a:txBody>
                  <a:tcPr marL="73152" marR="73152" anchor="ctr">
                    <a:solidFill>
                      <a:srgbClr val="E3EAF4"/>
                    </a:solidFill>
                  </a:tcPr>
                </a:tc>
                <a:tc>
                  <a:txBody>
                    <a:bodyPr/>
                    <a:lstStyle/>
                    <a:p>
                      <a:pPr algn="l"/>
                      <a:r>
                        <a:rPr sz="1650" b="1">
                          <a:solidFill>
                            <a:srgbClr val="55657E"/>
                          </a:solidFill>
                          <a:latin typeface="Calibri"/>
                        </a:rPr>
                        <a:t>Modelo</a:t>
                      </a:r>
                    </a:p>
                  </a:txBody>
                  <a:tcPr marL="73152" marR="73152" anchor="ctr">
                    <a:solidFill>
                      <a:srgbClr val="E3EAF4"/>
                    </a:solidFill>
                  </a:tcPr>
                </a:tc>
                <a:tc>
                  <a:txBody>
                    <a:bodyPr/>
                    <a:lstStyle/>
                    <a:p>
                      <a:pPr algn="ctr"/>
                      <a:r>
                        <a:rPr sz="1650" b="1">
                          <a:solidFill>
                            <a:srgbClr val="55657E"/>
                          </a:solidFill>
                          <a:latin typeface="Calibri"/>
                        </a:rPr>
                        <a:t>Exhaust.</a:t>
                      </a:r>
                    </a:p>
                  </a:txBody>
                  <a:tcPr marL="73152" marR="73152" anchor="ctr">
                    <a:solidFill>
                      <a:srgbClr val="E3EAF4"/>
                    </a:solidFill>
                  </a:tcPr>
                </a:tc>
                <a:tc>
                  <a:txBody>
                    <a:bodyPr/>
                    <a:lstStyle/>
                    <a:p>
                      <a:pPr algn="ctr"/>
                      <a:r>
                        <a:rPr sz="1650" b="1">
                          <a:solidFill>
                            <a:srgbClr val="55657E"/>
                          </a:solidFill>
                          <a:latin typeface="Calibri"/>
                        </a:rPr>
                        <a:t>Precisión</a:t>
                      </a:r>
                    </a:p>
                  </a:txBody>
                  <a:tcPr marL="73152" marR="73152" anchor="ctr">
                    <a:solidFill>
                      <a:srgbClr val="E3EAF4"/>
                    </a:solidFill>
                  </a:tcPr>
                </a:tc>
                <a:tc>
                  <a:txBody>
                    <a:bodyPr/>
                    <a:lstStyle/>
                    <a:p>
                      <a:pPr algn="ctr"/>
                      <a:r>
                        <a:rPr sz="1650" b="1">
                          <a:solidFill>
                            <a:srgbClr val="55657E"/>
                          </a:solidFill>
                          <a:latin typeface="Calibri"/>
                        </a:rPr>
                        <a:t>AUC</a:t>
                      </a:r>
                    </a:p>
                  </a:txBody>
                  <a:tcPr marL="73152" marR="73152" anchor="ctr">
                    <a:solidFill>
                      <a:srgbClr val="E3EAF4"/>
                    </a:solidFill>
                  </a:tcPr>
                </a:tc>
              </a:tr>
              <a:tr h="548640">
                <a:tc>
                  <a:txBody>
                    <a:bodyPr/>
                    <a:lstStyle/>
                    <a:p>
                      <a:pPr algn="l"/>
                      <a:r>
                        <a:rPr sz="1700" b="0">
                          <a:solidFill>
                            <a:srgbClr val="0F1E36"/>
                          </a:solidFill>
                          <a:latin typeface="Calibri"/>
                        </a:rPr>
                        <a:t>Bajo rendimiento</a:t>
                      </a:r>
                    </a:p>
                  </a:txBody>
                  <a:tcPr marL="73152" marR="73152" anchor="ctr">
                    <a:solidFill>
                      <a:srgbClr val="FFFFFF"/>
                    </a:solidFill>
                  </a:tcPr>
                </a:tc>
                <a:tc>
                  <a:txBody>
                    <a:bodyPr/>
                    <a:lstStyle/>
                    <a:p>
                      <a:pPr algn="l"/>
                      <a:r>
                        <a:rPr sz="1700" b="0">
                          <a:solidFill>
                            <a:srgbClr val="0F1E36"/>
                          </a:solidFill>
                          <a:latin typeface="Calibri"/>
                        </a:rPr>
                        <a:t>Árbol de decisión</a:t>
                      </a:r>
                    </a:p>
                  </a:txBody>
                  <a:tcPr marL="73152" marR="73152" anchor="ctr">
                    <a:solidFill>
                      <a:srgbClr val="FFFFFF"/>
                    </a:solidFill>
                  </a:tcPr>
                </a:tc>
                <a:tc>
                  <a:txBody>
                    <a:bodyPr/>
                    <a:lstStyle/>
                    <a:p>
                      <a:pPr algn="ctr"/>
                      <a:r>
                        <a:rPr sz="1700" b="0">
                          <a:solidFill>
                            <a:srgbClr val="0F1E36"/>
                          </a:solidFill>
                          <a:latin typeface="Calibri"/>
                        </a:rPr>
                        <a:t>0,632</a:t>
                      </a:r>
                    </a:p>
                  </a:txBody>
                  <a:tcPr marL="73152" marR="73152" anchor="ctr">
                    <a:solidFill>
                      <a:srgbClr val="FFFFFF"/>
                    </a:solidFill>
                  </a:tcPr>
                </a:tc>
                <a:tc>
                  <a:txBody>
                    <a:bodyPr/>
                    <a:lstStyle/>
                    <a:p>
                      <a:pPr algn="ctr"/>
                      <a:r>
                        <a:rPr sz="1700" b="0">
                          <a:solidFill>
                            <a:srgbClr val="0F1E36"/>
                          </a:solidFill>
                          <a:latin typeface="Calibri"/>
                        </a:rPr>
                        <a:t>0,667</a:t>
                      </a:r>
                    </a:p>
                  </a:txBody>
                  <a:tcPr marL="73152" marR="73152" anchor="ctr">
                    <a:solidFill>
                      <a:srgbClr val="FFFFFF"/>
                    </a:solidFill>
                  </a:tcPr>
                </a:tc>
                <a:tc>
                  <a:txBody>
                    <a:bodyPr/>
                    <a:lstStyle/>
                    <a:p>
                      <a:pPr algn="ctr"/>
                      <a:r>
                        <a:rPr sz="1700" b="0">
                          <a:solidFill>
                            <a:srgbClr val="0F1E36"/>
                          </a:solidFill>
                          <a:latin typeface="Calibri"/>
                        </a:rPr>
                        <a:t>0,702</a:t>
                      </a:r>
                    </a:p>
                  </a:txBody>
                  <a:tcPr marL="73152" marR="73152" anchor="ctr">
                    <a:solidFill>
                      <a:srgbClr val="FFFFFF"/>
                    </a:solidFill>
                  </a:tcPr>
                </a:tc>
              </a:tr>
              <a:tr h="548640">
                <a:tc>
                  <a:txBody>
                    <a:bodyPr/>
                    <a:lstStyle/>
                    <a:p>
                      <a:pPr algn="l"/>
                      <a:r>
                        <a:rPr sz="1700" b="1">
                          <a:solidFill>
                            <a:srgbClr val="047857"/>
                          </a:solidFill>
                          <a:latin typeface="Calibri"/>
                        </a:rPr>
                        <a:t/>
                      </a:r>
                    </a:p>
                  </a:txBody>
                  <a:tcPr marL="73152" marR="73152" anchor="ctr">
                    <a:solidFill>
                      <a:srgbClr val="F7F9FC"/>
                    </a:solidFill>
                  </a:tcPr>
                </a:tc>
                <a:tc>
                  <a:txBody>
                    <a:bodyPr/>
                    <a:lstStyle/>
                    <a:p>
                      <a:pPr algn="l"/>
                      <a:r>
                        <a:rPr sz="1700" b="1">
                          <a:solidFill>
                            <a:srgbClr val="047857"/>
                          </a:solidFill>
                          <a:latin typeface="Calibri"/>
                        </a:rPr>
                        <a:t>Random Forest</a:t>
                      </a:r>
                    </a:p>
                  </a:txBody>
                  <a:tcPr marL="73152" marR="73152" anchor="ctr">
                    <a:solidFill>
                      <a:srgbClr val="F7F9FC"/>
                    </a:solidFill>
                  </a:tcPr>
                </a:tc>
                <a:tc>
                  <a:txBody>
                    <a:bodyPr/>
                    <a:lstStyle/>
                    <a:p>
                      <a:pPr algn="ctr"/>
                      <a:r>
                        <a:rPr sz="1700" b="0">
                          <a:solidFill>
                            <a:srgbClr val="047857"/>
                          </a:solidFill>
                          <a:latin typeface="Calibri"/>
                        </a:rPr>
                        <a:t>0,816</a:t>
                      </a:r>
                    </a:p>
                  </a:txBody>
                  <a:tcPr marL="73152" marR="73152" anchor="ctr">
                    <a:solidFill>
                      <a:srgbClr val="F7F9FC"/>
                    </a:solidFill>
                  </a:tcPr>
                </a:tc>
                <a:tc>
                  <a:txBody>
                    <a:bodyPr/>
                    <a:lstStyle/>
                    <a:p>
                      <a:pPr algn="ctr"/>
                      <a:r>
                        <a:rPr sz="1700" b="0">
                          <a:solidFill>
                            <a:srgbClr val="047857"/>
                          </a:solidFill>
                          <a:latin typeface="Calibri"/>
                        </a:rPr>
                        <a:t>0,484</a:t>
                      </a:r>
                    </a:p>
                  </a:txBody>
                  <a:tcPr marL="73152" marR="73152" anchor="ctr">
                    <a:solidFill>
                      <a:srgbClr val="F7F9FC"/>
                    </a:solidFill>
                  </a:tcPr>
                </a:tc>
                <a:tc>
                  <a:txBody>
                    <a:bodyPr/>
                    <a:lstStyle/>
                    <a:p>
                      <a:pPr algn="ctr"/>
                      <a:r>
                        <a:rPr sz="1700" b="0">
                          <a:solidFill>
                            <a:srgbClr val="047857"/>
                          </a:solidFill>
                          <a:latin typeface="Calibri"/>
                        </a:rPr>
                        <a:t>0,752</a:t>
                      </a:r>
                    </a:p>
                  </a:txBody>
                  <a:tcPr marL="73152" marR="73152" anchor="ctr">
                    <a:solidFill>
                      <a:srgbClr val="F7F9FC"/>
                    </a:solidFill>
                  </a:tcPr>
                </a:tc>
              </a:tr>
              <a:tr h="548640">
                <a:tc>
                  <a:txBody>
                    <a:bodyPr/>
                    <a:lstStyle/>
                    <a:p>
                      <a:pPr algn="l"/>
                      <a:r>
                        <a:rPr sz="1700" b="0">
                          <a:solidFill>
                            <a:srgbClr val="0F1E36"/>
                          </a:solidFill>
                          <a:latin typeface="Calibri"/>
                        </a:rPr>
                        <a:t/>
                      </a:r>
                    </a:p>
                  </a:txBody>
                  <a:tcPr marL="73152" marR="73152" anchor="ctr">
                    <a:solidFill>
                      <a:srgbClr val="FFFFFF"/>
                    </a:solidFill>
                  </a:tcPr>
                </a:tc>
                <a:tc>
                  <a:txBody>
                    <a:bodyPr/>
                    <a:lstStyle/>
                    <a:p>
                      <a:pPr algn="l"/>
                      <a:r>
                        <a:rPr sz="1700" b="0">
                          <a:solidFill>
                            <a:srgbClr val="0F1E36"/>
                          </a:solidFill>
                          <a:latin typeface="Calibri"/>
                        </a:rPr>
                        <a:t>XGBoost</a:t>
                      </a:r>
                    </a:p>
                  </a:txBody>
                  <a:tcPr marL="73152" marR="73152" anchor="ctr">
                    <a:solidFill>
                      <a:srgbClr val="FFFFFF"/>
                    </a:solidFill>
                  </a:tcPr>
                </a:tc>
                <a:tc>
                  <a:txBody>
                    <a:bodyPr/>
                    <a:lstStyle/>
                    <a:p>
                      <a:pPr algn="ctr"/>
                      <a:r>
                        <a:rPr sz="1700" b="0">
                          <a:solidFill>
                            <a:srgbClr val="0F1E36"/>
                          </a:solidFill>
                          <a:latin typeface="Calibri"/>
                        </a:rPr>
                        <a:t>0,737</a:t>
                      </a:r>
                    </a:p>
                  </a:txBody>
                  <a:tcPr marL="73152" marR="73152" anchor="ctr">
                    <a:solidFill>
                      <a:srgbClr val="FFFFFF"/>
                    </a:solidFill>
                  </a:tcPr>
                </a:tc>
                <a:tc>
                  <a:txBody>
                    <a:bodyPr/>
                    <a:lstStyle/>
                    <a:p>
                      <a:pPr algn="ctr"/>
                      <a:r>
                        <a:rPr sz="1700" b="0">
                          <a:solidFill>
                            <a:srgbClr val="0F1E36"/>
                          </a:solidFill>
                          <a:latin typeface="Calibri"/>
                        </a:rPr>
                        <a:t>0,596</a:t>
                      </a:r>
                    </a:p>
                  </a:txBody>
                  <a:tcPr marL="73152" marR="73152" anchor="ctr">
                    <a:solidFill>
                      <a:srgbClr val="FFFFFF"/>
                    </a:solidFill>
                  </a:tcPr>
                </a:tc>
                <a:tc>
                  <a:txBody>
                    <a:bodyPr/>
                    <a:lstStyle/>
                    <a:p>
                      <a:pPr algn="ctr"/>
                      <a:r>
                        <a:rPr sz="1700" b="0">
                          <a:solidFill>
                            <a:srgbClr val="0F1E36"/>
                          </a:solidFill>
                          <a:latin typeface="Calibri"/>
                        </a:rPr>
                        <a:t>0,776</a:t>
                      </a:r>
                    </a:p>
                  </a:txBody>
                  <a:tcPr marL="73152" marR="73152" anchor="ctr">
                    <a:solidFill>
                      <a:srgbClr val="FFFFFF"/>
                    </a:solidFill>
                  </a:tcPr>
                </a:tc>
              </a:tr>
              <a:tr h="548640">
                <a:tc>
                  <a:txBody>
                    <a:bodyPr/>
                    <a:lstStyle/>
                    <a:p>
                      <a:pPr algn="l"/>
                      <a:r>
                        <a:rPr sz="1700" b="0">
                          <a:solidFill>
                            <a:srgbClr val="0F1E36"/>
                          </a:solidFill>
                          <a:latin typeface="Calibri"/>
                        </a:rPr>
                        <a:t>Graduación</a:t>
                      </a:r>
                    </a:p>
                  </a:txBody>
                  <a:tcPr marL="73152" marR="73152" anchor="ctr">
                    <a:solidFill>
                      <a:srgbClr val="F7F9FC"/>
                    </a:solidFill>
                  </a:tcPr>
                </a:tc>
                <a:tc>
                  <a:txBody>
                    <a:bodyPr/>
                    <a:lstStyle/>
                    <a:p>
                      <a:pPr algn="l"/>
                      <a:r>
                        <a:rPr sz="1700" b="0">
                          <a:solidFill>
                            <a:srgbClr val="0F1E36"/>
                          </a:solidFill>
                          <a:latin typeface="Calibri"/>
                        </a:rPr>
                        <a:t>Árbol de decisión</a:t>
                      </a:r>
                    </a:p>
                  </a:txBody>
                  <a:tcPr marL="73152" marR="73152" anchor="ctr">
                    <a:solidFill>
                      <a:srgbClr val="F7F9FC"/>
                    </a:solidFill>
                  </a:tcPr>
                </a:tc>
                <a:tc>
                  <a:txBody>
                    <a:bodyPr/>
                    <a:lstStyle/>
                    <a:p>
                      <a:pPr algn="ctr"/>
                      <a:r>
                        <a:rPr sz="1700" b="0">
                          <a:solidFill>
                            <a:srgbClr val="0F1E36"/>
                          </a:solidFill>
                          <a:latin typeface="Calibri"/>
                        </a:rPr>
                        <a:t>0,686</a:t>
                      </a:r>
                    </a:p>
                  </a:txBody>
                  <a:tcPr marL="73152" marR="73152" anchor="ctr">
                    <a:solidFill>
                      <a:srgbClr val="F7F9FC"/>
                    </a:solidFill>
                  </a:tcPr>
                </a:tc>
                <a:tc>
                  <a:txBody>
                    <a:bodyPr/>
                    <a:lstStyle/>
                    <a:p>
                      <a:pPr algn="ctr"/>
                      <a:r>
                        <a:rPr sz="1700" b="0">
                          <a:solidFill>
                            <a:srgbClr val="0F1E36"/>
                          </a:solidFill>
                          <a:latin typeface="Calibri"/>
                        </a:rPr>
                        <a:t>0,686</a:t>
                      </a:r>
                    </a:p>
                  </a:txBody>
                  <a:tcPr marL="73152" marR="73152" anchor="ctr">
                    <a:solidFill>
                      <a:srgbClr val="F7F9FC"/>
                    </a:solidFill>
                  </a:tcPr>
                </a:tc>
                <a:tc>
                  <a:txBody>
                    <a:bodyPr/>
                    <a:lstStyle/>
                    <a:p>
                      <a:pPr algn="ctr"/>
                      <a:r>
                        <a:rPr sz="1700" b="0">
                          <a:solidFill>
                            <a:srgbClr val="0F1E36"/>
                          </a:solidFill>
                          <a:latin typeface="Calibri"/>
                        </a:rPr>
                        <a:t>0,728</a:t>
                      </a:r>
                    </a:p>
                  </a:txBody>
                  <a:tcPr marL="73152" marR="73152" anchor="ctr">
                    <a:solidFill>
                      <a:srgbClr val="F7F9FC"/>
                    </a:solidFill>
                  </a:tcPr>
                </a:tc>
              </a:tr>
              <a:tr h="548640">
                <a:tc>
                  <a:txBody>
                    <a:bodyPr/>
                    <a:lstStyle/>
                    <a:p>
                      <a:pPr algn="l"/>
                      <a:r>
                        <a:rPr sz="1700" b="0">
                          <a:solidFill>
                            <a:srgbClr val="0F1E36"/>
                          </a:solidFill>
                          <a:latin typeface="Calibri"/>
                        </a:rPr>
                        <a:t/>
                      </a:r>
                    </a:p>
                  </a:txBody>
                  <a:tcPr marL="73152" marR="73152" anchor="ctr">
                    <a:solidFill>
                      <a:srgbClr val="FFFFFF"/>
                    </a:solidFill>
                  </a:tcPr>
                </a:tc>
                <a:tc>
                  <a:txBody>
                    <a:bodyPr/>
                    <a:lstStyle/>
                    <a:p>
                      <a:pPr algn="l"/>
                      <a:r>
                        <a:rPr sz="1700" b="0">
                          <a:solidFill>
                            <a:srgbClr val="0F1E36"/>
                          </a:solidFill>
                          <a:latin typeface="Calibri"/>
                        </a:rPr>
                        <a:t>Random Forest</a:t>
                      </a:r>
                    </a:p>
                  </a:txBody>
                  <a:tcPr marL="73152" marR="73152" anchor="ctr">
                    <a:solidFill>
                      <a:srgbClr val="FFFFFF"/>
                    </a:solidFill>
                  </a:tcPr>
                </a:tc>
                <a:tc>
                  <a:txBody>
                    <a:bodyPr/>
                    <a:lstStyle/>
                    <a:p>
                      <a:pPr algn="ctr"/>
                      <a:r>
                        <a:rPr sz="1700" b="0">
                          <a:solidFill>
                            <a:srgbClr val="0F1E36"/>
                          </a:solidFill>
                          <a:latin typeface="Calibri"/>
                        </a:rPr>
                        <a:t>0,657</a:t>
                      </a:r>
                    </a:p>
                  </a:txBody>
                  <a:tcPr marL="73152" marR="73152" anchor="ctr">
                    <a:solidFill>
                      <a:srgbClr val="FFFFFF"/>
                    </a:solidFill>
                  </a:tcPr>
                </a:tc>
                <a:tc>
                  <a:txBody>
                    <a:bodyPr/>
                    <a:lstStyle/>
                    <a:p>
                      <a:pPr algn="ctr"/>
                      <a:r>
                        <a:rPr sz="1700" b="0">
                          <a:solidFill>
                            <a:srgbClr val="0F1E36"/>
                          </a:solidFill>
                          <a:latin typeface="Calibri"/>
                        </a:rPr>
                        <a:t>0,821</a:t>
                      </a:r>
                    </a:p>
                  </a:txBody>
                  <a:tcPr marL="73152" marR="73152" anchor="ctr">
                    <a:solidFill>
                      <a:srgbClr val="FFFFFF"/>
                    </a:solidFill>
                  </a:tcPr>
                </a:tc>
                <a:tc>
                  <a:txBody>
                    <a:bodyPr/>
                    <a:lstStyle/>
                    <a:p>
                      <a:pPr algn="ctr"/>
                      <a:r>
                        <a:rPr sz="1700" b="0">
                          <a:solidFill>
                            <a:srgbClr val="0F1E36"/>
                          </a:solidFill>
                          <a:latin typeface="Calibri"/>
                        </a:rPr>
                        <a:t>0,844</a:t>
                      </a:r>
                    </a:p>
                  </a:txBody>
                  <a:tcPr marL="73152" marR="73152" anchor="ctr">
                    <a:solidFill>
                      <a:srgbClr val="FFFFFF"/>
                    </a:solidFill>
                  </a:tcPr>
                </a:tc>
              </a:tr>
              <a:tr h="548640">
                <a:tc>
                  <a:txBody>
                    <a:bodyPr/>
                    <a:lstStyle/>
                    <a:p>
                      <a:pPr algn="l"/>
                      <a:r>
                        <a:rPr sz="1700" b="1">
                          <a:solidFill>
                            <a:srgbClr val="047857"/>
                          </a:solidFill>
                          <a:latin typeface="Calibri"/>
                        </a:rPr>
                        <a:t/>
                      </a:r>
                    </a:p>
                  </a:txBody>
                  <a:tcPr marL="73152" marR="73152" anchor="ctr">
                    <a:solidFill>
                      <a:srgbClr val="F7F9FC"/>
                    </a:solidFill>
                  </a:tcPr>
                </a:tc>
                <a:tc>
                  <a:txBody>
                    <a:bodyPr/>
                    <a:lstStyle/>
                    <a:p>
                      <a:pPr algn="l"/>
                      <a:r>
                        <a:rPr sz="1700" b="1">
                          <a:solidFill>
                            <a:srgbClr val="047857"/>
                          </a:solidFill>
                          <a:latin typeface="Calibri"/>
                        </a:rPr>
                        <a:t>XGBoost</a:t>
                      </a:r>
                    </a:p>
                  </a:txBody>
                  <a:tcPr marL="73152" marR="73152" anchor="ctr">
                    <a:solidFill>
                      <a:srgbClr val="F7F9FC"/>
                    </a:solidFill>
                  </a:tcPr>
                </a:tc>
                <a:tc>
                  <a:txBody>
                    <a:bodyPr/>
                    <a:lstStyle/>
                    <a:p>
                      <a:pPr algn="ctr"/>
                      <a:r>
                        <a:rPr sz="1700" b="0">
                          <a:solidFill>
                            <a:srgbClr val="047857"/>
                          </a:solidFill>
                          <a:latin typeface="Calibri"/>
                        </a:rPr>
                        <a:t>0,600</a:t>
                      </a:r>
                    </a:p>
                  </a:txBody>
                  <a:tcPr marL="73152" marR="73152" anchor="ctr">
                    <a:solidFill>
                      <a:srgbClr val="F7F9FC"/>
                    </a:solidFill>
                  </a:tcPr>
                </a:tc>
                <a:tc>
                  <a:txBody>
                    <a:bodyPr/>
                    <a:lstStyle/>
                    <a:p>
                      <a:pPr algn="ctr"/>
                      <a:r>
                        <a:rPr sz="1700" b="0">
                          <a:solidFill>
                            <a:srgbClr val="047857"/>
                          </a:solidFill>
                          <a:latin typeface="Calibri"/>
                        </a:rPr>
                        <a:t>0,808</a:t>
                      </a:r>
                    </a:p>
                  </a:txBody>
                  <a:tcPr marL="73152" marR="73152" anchor="ctr">
                    <a:solidFill>
                      <a:srgbClr val="F7F9FC"/>
                    </a:solidFill>
                  </a:tcPr>
                </a:tc>
                <a:tc>
                  <a:txBody>
                    <a:bodyPr/>
                    <a:lstStyle/>
                    <a:p>
                      <a:pPr algn="ctr"/>
                      <a:r>
                        <a:rPr sz="1700" b="0">
                          <a:solidFill>
                            <a:srgbClr val="047857"/>
                          </a:solidFill>
                          <a:latin typeface="Calibri"/>
                        </a:rPr>
                        <a:t>0,853</a:t>
                      </a:r>
                    </a:p>
                  </a:txBody>
                  <a:tcPr marL="73152" marR="73152" anchor="ctr">
                    <a:solidFill>
                      <a:srgbClr val="F7F9FC"/>
                    </a:solidFill>
                  </a:tcPr>
                </a:tc>
              </a:tr>
            </a:tbl>
          </a:graphicData>
        </a:graphic>
      </p:graphicFrame>
      <p:sp>
        <p:nvSpPr>
          <p:cNvPr id="9" name="TextBox 8"/>
          <p:cNvSpPr txBox="1"/>
          <p:nvPr/>
        </p:nvSpPr>
        <p:spPr>
          <a:xfrm>
            <a:off x="8321040" y="1737360"/>
            <a:ext cx="3017520" cy="1097280"/>
          </a:xfrm>
          <a:prstGeom prst="rect">
            <a:avLst/>
          </a:prstGeom>
          <a:noFill/>
        </p:spPr>
        <p:txBody>
          <a:bodyPr wrap="square" anchor="t" lIns="0" rIns="0" tIns="0" bIns="0">
            <a:spAutoFit/>
          </a:bodyPr>
          <a:lstStyle/>
          <a:p>
            <a:pPr algn="ctr"/>
            <a:r>
              <a:rPr sz="5800" b="1" i="0">
                <a:solidFill>
                  <a:srgbClr val="0369A1"/>
                </a:solidFill>
                <a:latin typeface="Calibri"/>
              </a:rPr>
              <a:t>40,4 %</a:t>
            </a:r>
          </a:p>
        </p:txBody>
      </p:sp>
      <p:sp>
        <p:nvSpPr>
          <p:cNvPr id="10" name="TextBox 9"/>
          <p:cNvSpPr txBox="1"/>
          <p:nvPr/>
        </p:nvSpPr>
        <p:spPr>
          <a:xfrm>
            <a:off x="8321040" y="2880360"/>
            <a:ext cx="3017520" cy="1463040"/>
          </a:xfrm>
          <a:prstGeom prst="rect">
            <a:avLst/>
          </a:prstGeom>
          <a:noFill/>
        </p:spPr>
        <p:txBody>
          <a:bodyPr wrap="square" anchor="t" lIns="0" rIns="0" tIns="0" bIns="0">
            <a:spAutoFit/>
          </a:bodyPr>
          <a:lstStyle/>
          <a:p>
            <a:pPr algn="ctr"/>
            <a:r>
              <a:rPr sz="1800" b="0" i="0">
                <a:solidFill>
                  <a:srgbClr val="0F1E36"/>
                </a:solidFill>
                <a:latin typeface="Calibri"/>
              </a:rPr>
              <a:t>de la importancia del modelo corresponde al promedio del 1.er semestre</a:t>
            </a:r>
          </a:p>
        </p:txBody>
      </p:sp>
      <p:sp>
        <p:nvSpPr>
          <p:cNvPr id="11" name="TextBox 10"/>
          <p:cNvSpPr txBox="1"/>
          <p:nvPr/>
        </p:nvSpPr>
        <p:spPr>
          <a:xfrm>
            <a:off x="731520" y="5577840"/>
            <a:ext cx="8686800" cy="365760"/>
          </a:xfrm>
          <a:prstGeom prst="rect">
            <a:avLst/>
          </a:prstGeom>
          <a:noFill/>
        </p:spPr>
        <p:txBody>
          <a:bodyPr wrap="square" anchor="t" lIns="0" rIns="0" tIns="0" bIns="0">
            <a:spAutoFit/>
          </a:bodyPr>
          <a:lstStyle/>
          <a:p>
            <a:pPr algn="l"/>
            <a:r>
              <a:rPr sz="1500" b="0" i="0">
                <a:solidFill>
                  <a:srgbClr val="55657E"/>
                </a:solidFill>
                <a:latin typeface="Calibri"/>
              </a:rPr>
              <a:t>Exhaustividad: casos en riesgo detectados.   AUC: 1 = perfecto · 0,5 = azar.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7</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1F5FAE"/>
                </a:solidFill>
                <a:latin typeface="Calibri"/>
              </a:rPr>
              <a:t>HALLAZGOS PRELIMINARES</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Factores sin relación con el rendimiento</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Resultados negativos: tampoco son predictores útiles en esta población</a:t>
            </a:r>
          </a:p>
        </p:txBody>
      </p:sp>
      <p:pic>
        <p:nvPicPr>
          <p:cNvPr id="8" name="Picture 7" descr="f04a_genero.png"/>
          <p:cNvPicPr>
            <a:picLocks noChangeAspect="1"/>
          </p:cNvPicPr>
          <p:nvPr/>
        </p:nvPicPr>
        <p:blipFill>
          <a:blip r:embed="rId3"/>
          <a:stretch>
            <a:fillRect/>
          </a:stretch>
        </p:blipFill>
        <p:spPr>
          <a:xfrm>
            <a:off x="640079" y="1946807"/>
            <a:ext cx="3246120" cy="3421585"/>
          </a:xfrm>
          <a:prstGeom prst="rect">
            <a:avLst/>
          </a:prstGeom>
        </p:spPr>
      </p:pic>
      <p:pic>
        <p:nvPicPr>
          <p:cNvPr id="9" name="Picture 8" descr="f04b_padres.png"/>
          <p:cNvPicPr>
            <a:picLocks noChangeAspect="1"/>
          </p:cNvPicPr>
          <p:nvPr/>
        </p:nvPicPr>
        <p:blipFill>
          <a:blip r:embed="rId4"/>
          <a:stretch>
            <a:fillRect/>
          </a:stretch>
        </p:blipFill>
        <p:spPr>
          <a:xfrm>
            <a:off x="3977639" y="1950395"/>
            <a:ext cx="4114800" cy="3414408"/>
          </a:xfrm>
          <a:prstGeom prst="rect">
            <a:avLst/>
          </a:prstGeom>
        </p:spPr>
      </p:pic>
      <p:pic>
        <p:nvPicPr>
          <p:cNvPr id="10" name="Picture 9" descr="f04c_repitencia.png"/>
          <p:cNvPicPr>
            <a:picLocks noChangeAspect="1"/>
          </p:cNvPicPr>
          <p:nvPr/>
        </p:nvPicPr>
        <p:blipFill>
          <a:blip r:embed="rId5"/>
          <a:stretch>
            <a:fillRect/>
          </a:stretch>
        </p:blipFill>
        <p:spPr>
          <a:xfrm>
            <a:off x="8183879" y="1946807"/>
            <a:ext cx="3246120" cy="342158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8</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1F5FAE"/>
                </a:solidFill>
                <a:latin typeface="Calibri"/>
              </a:rPr>
              <a:t>FASE 2 · COMPRENSIÓN DE LOS DATOS</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Asignaturas críticas</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El orden se conserva al traducir al plan 2018: el apoyo va al primer año</a:t>
            </a:r>
          </a:p>
        </p:txBody>
      </p:sp>
      <p:pic>
        <p:nvPicPr>
          <p:cNvPr id="8" name="Picture 7" descr="f03_criticas.png"/>
          <p:cNvPicPr>
            <a:picLocks noChangeAspect="1"/>
          </p:cNvPicPr>
          <p:nvPr/>
        </p:nvPicPr>
        <p:blipFill>
          <a:blip r:embed="rId3"/>
          <a:stretch>
            <a:fillRect/>
          </a:stretch>
        </p:blipFill>
        <p:spPr>
          <a:xfrm>
            <a:off x="777240" y="1463040"/>
            <a:ext cx="10424159" cy="43434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9</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1F5FAE"/>
                </a:solidFill>
                <a:latin typeface="Calibri"/>
              </a:rPr>
              <a:t>FASE 3 · PREPARACIÓN DE LOS DATOS</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Equivalencias entre planes de estudio</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72 equivalencias oficiales (Res. 036 de 2017) · en rojo, las críticas</a:t>
            </a:r>
          </a:p>
        </p:txBody>
      </p:sp>
      <p:pic>
        <p:nvPicPr>
          <p:cNvPr id="8" name="Picture 7" descr="d4_equivalencias.png"/>
          <p:cNvPicPr>
            <a:picLocks noChangeAspect="1"/>
          </p:cNvPicPr>
          <p:nvPr/>
        </p:nvPicPr>
        <p:blipFill>
          <a:blip r:embed="rId3"/>
          <a:stretch>
            <a:fillRect/>
          </a:stretch>
        </p:blipFill>
        <p:spPr>
          <a:xfrm>
            <a:off x="1562548" y="1463040"/>
            <a:ext cx="9036423" cy="43891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10</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1F5FAE"/>
                </a:solidFill>
                <a:latin typeface="Calibri"/>
              </a:rPr>
              <a:t>FASE 3 · PREPARACIÓN DE LOS DATOS</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Antes de desplegar, auditamos</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Tres problemas de diseño experimental, no de código</a:t>
            </a:r>
          </a:p>
        </p:txBody>
      </p:sp>
      <p:sp>
        <p:nvSpPr>
          <p:cNvPr id="8" name="Rectangle 7"/>
          <p:cNvSpPr/>
          <p:nvPr/>
        </p:nvSpPr>
        <p:spPr>
          <a:xfrm>
            <a:off x="731520" y="1691640"/>
            <a:ext cx="82296" cy="35661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5840" y="1691640"/>
            <a:ext cx="3017520" cy="457200"/>
          </a:xfrm>
          <a:prstGeom prst="rect">
            <a:avLst/>
          </a:prstGeom>
          <a:noFill/>
        </p:spPr>
        <p:txBody>
          <a:bodyPr wrap="square" anchor="t" lIns="0" rIns="0" tIns="0" bIns="0">
            <a:spAutoFit/>
          </a:bodyPr>
          <a:lstStyle/>
          <a:p>
            <a:pPr algn="l"/>
            <a:r>
              <a:rPr sz="2200" b="1" i="0">
                <a:solidFill>
                  <a:srgbClr val="B91C1C"/>
                </a:solidFill>
                <a:latin typeface="Calibri"/>
              </a:rPr>
              <a:t>1 · Variable objetivo</a:t>
            </a:r>
          </a:p>
        </p:txBody>
      </p:sp>
      <p:sp>
        <p:nvSpPr>
          <p:cNvPr id="10" name="TextBox 9"/>
          <p:cNvSpPr txBox="1"/>
          <p:nvPr/>
        </p:nvSpPr>
        <p:spPr>
          <a:xfrm>
            <a:off x="1005840" y="2377440"/>
            <a:ext cx="3017520" cy="1280160"/>
          </a:xfrm>
          <a:prstGeom prst="rect">
            <a:avLst/>
          </a:prstGeom>
          <a:noFill/>
        </p:spPr>
        <p:txBody>
          <a:bodyPr wrap="square" anchor="t" lIns="0" rIns="0" tIns="0" bIns="0">
            <a:spAutoFit/>
          </a:bodyPr>
          <a:lstStyle/>
          <a:p>
            <a:pPr algn="l"/>
            <a:r>
              <a:rPr sz="1900" b="0" i="0">
                <a:solidFill>
                  <a:srgbClr val="0F1E36"/>
                </a:solidFill>
                <a:latin typeface="Calibri"/>
              </a:rPr>
              <a:t>El promedio de carrera contenía al predictor</a:t>
            </a:r>
          </a:p>
        </p:txBody>
      </p:sp>
      <p:sp>
        <p:nvSpPr>
          <p:cNvPr id="11" name="TextBox 10"/>
          <p:cNvSpPr txBox="1"/>
          <p:nvPr/>
        </p:nvSpPr>
        <p:spPr>
          <a:xfrm>
            <a:off x="1005840" y="3931920"/>
            <a:ext cx="3017520" cy="365760"/>
          </a:xfrm>
          <a:prstGeom prst="rect">
            <a:avLst/>
          </a:prstGeom>
          <a:noFill/>
        </p:spPr>
        <p:txBody>
          <a:bodyPr wrap="square" anchor="t" lIns="0" rIns="0" tIns="0" bIns="0">
            <a:spAutoFit/>
          </a:bodyPr>
          <a:lstStyle/>
          <a:p>
            <a:pPr algn="l"/>
            <a:r>
              <a:rPr sz="1500" b="1" i="0">
                <a:solidFill>
                  <a:srgbClr val="55657E"/>
                </a:solidFill>
                <a:latin typeface="Calibri"/>
              </a:rPr>
              <a:t>Ahora</a:t>
            </a:r>
          </a:p>
        </p:txBody>
      </p:sp>
      <p:sp>
        <p:nvSpPr>
          <p:cNvPr id="12" name="TextBox 11"/>
          <p:cNvSpPr txBox="1"/>
          <p:nvPr/>
        </p:nvSpPr>
        <p:spPr>
          <a:xfrm>
            <a:off x="1005840" y="4297680"/>
            <a:ext cx="3017520" cy="914400"/>
          </a:xfrm>
          <a:prstGeom prst="rect">
            <a:avLst/>
          </a:prstGeom>
          <a:noFill/>
        </p:spPr>
        <p:txBody>
          <a:bodyPr wrap="square" anchor="t" lIns="0" rIns="0" tIns="0" bIns="0">
            <a:spAutoFit/>
          </a:bodyPr>
          <a:lstStyle/>
          <a:p>
            <a:pPr algn="l"/>
            <a:r>
              <a:rPr sz="2100" b="1" i="0">
                <a:solidFill>
                  <a:srgbClr val="047857"/>
                </a:solidFill>
                <a:latin typeface="Calibri"/>
              </a:rPr>
              <a:t>Art. 19 del Reglamento</a:t>
            </a:r>
          </a:p>
        </p:txBody>
      </p:sp>
      <p:sp>
        <p:nvSpPr>
          <p:cNvPr id="13" name="Rectangle 12"/>
          <p:cNvSpPr/>
          <p:nvPr/>
        </p:nvSpPr>
        <p:spPr>
          <a:xfrm>
            <a:off x="4297680" y="1691640"/>
            <a:ext cx="82296" cy="35661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0" y="1691640"/>
            <a:ext cx="3017520" cy="457200"/>
          </a:xfrm>
          <a:prstGeom prst="rect">
            <a:avLst/>
          </a:prstGeom>
          <a:noFill/>
        </p:spPr>
        <p:txBody>
          <a:bodyPr wrap="square" anchor="t" lIns="0" rIns="0" tIns="0" bIns="0">
            <a:spAutoFit/>
          </a:bodyPr>
          <a:lstStyle/>
          <a:p>
            <a:pPr algn="l"/>
            <a:r>
              <a:rPr sz="2200" b="1" i="0">
                <a:solidFill>
                  <a:srgbClr val="D97706"/>
                </a:solidFill>
                <a:latin typeface="Calibri"/>
              </a:rPr>
              <a:t>2 · Hiperparámetros</a:t>
            </a:r>
          </a:p>
        </p:txBody>
      </p:sp>
      <p:sp>
        <p:nvSpPr>
          <p:cNvPr id="15" name="TextBox 14"/>
          <p:cNvSpPr txBox="1"/>
          <p:nvPr/>
        </p:nvSpPr>
        <p:spPr>
          <a:xfrm>
            <a:off x="4572000" y="2377440"/>
            <a:ext cx="3017520" cy="1280160"/>
          </a:xfrm>
          <a:prstGeom prst="rect">
            <a:avLst/>
          </a:prstGeom>
          <a:noFill/>
        </p:spPr>
        <p:txBody>
          <a:bodyPr wrap="square" anchor="t" lIns="0" rIns="0" tIns="0" bIns="0">
            <a:spAutoFit/>
          </a:bodyPr>
          <a:lstStyle/>
          <a:p>
            <a:pPr algn="l"/>
            <a:r>
              <a:rPr sz="1900" b="0" i="0">
                <a:solidFill>
                  <a:srgbClr val="0F1E36"/>
                </a:solidFill>
                <a:latin typeface="Calibri"/>
              </a:rPr>
              <a:t>Se ajustaban viendo los datos de evaluación</a:t>
            </a:r>
          </a:p>
        </p:txBody>
      </p:sp>
      <p:sp>
        <p:nvSpPr>
          <p:cNvPr id="16" name="TextBox 15"/>
          <p:cNvSpPr txBox="1"/>
          <p:nvPr/>
        </p:nvSpPr>
        <p:spPr>
          <a:xfrm>
            <a:off x="4572000" y="3931920"/>
            <a:ext cx="3017520" cy="365760"/>
          </a:xfrm>
          <a:prstGeom prst="rect">
            <a:avLst/>
          </a:prstGeom>
          <a:noFill/>
        </p:spPr>
        <p:txBody>
          <a:bodyPr wrap="square" anchor="t" lIns="0" rIns="0" tIns="0" bIns="0">
            <a:spAutoFit/>
          </a:bodyPr>
          <a:lstStyle/>
          <a:p>
            <a:pPr algn="l"/>
            <a:r>
              <a:rPr sz="1500" b="1" i="0">
                <a:solidFill>
                  <a:srgbClr val="55657E"/>
                </a:solidFill>
                <a:latin typeface="Calibri"/>
              </a:rPr>
              <a:t>Ahora</a:t>
            </a:r>
          </a:p>
        </p:txBody>
      </p:sp>
      <p:sp>
        <p:nvSpPr>
          <p:cNvPr id="17" name="TextBox 16"/>
          <p:cNvSpPr txBox="1"/>
          <p:nvPr/>
        </p:nvSpPr>
        <p:spPr>
          <a:xfrm>
            <a:off x="4572000" y="4297680"/>
            <a:ext cx="3017520" cy="914400"/>
          </a:xfrm>
          <a:prstGeom prst="rect">
            <a:avLst/>
          </a:prstGeom>
          <a:noFill/>
        </p:spPr>
        <p:txBody>
          <a:bodyPr wrap="square" anchor="t" lIns="0" rIns="0" tIns="0" bIns="0">
            <a:spAutoFit/>
          </a:bodyPr>
          <a:lstStyle/>
          <a:p>
            <a:pPr algn="l"/>
            <a:r>
              <a:rPr sz="2100" b="1" i="0">
                <a:solidFill>
                  <a:srgbClr val="047857"/>
                </a:solidFill>
                <a:latin typeface="Calibri"/>
              </a:rPr>
              <a:t>Validación anidada</a:t>
            </a:r>
          </a:p>
        </p:txBody>
      </p:sp>
      <p:sp>
        <p:nvSpPr>
          <p:cNvPr id="18" name="Rectangle 17"/>
          <p:cNvSpPr/>
          <p:nvPr/>
        </p:nvSpPr>
        <p:spPr>
          <a:xfrm>
            <a:off x="7863840" y="1691640"/>
            <a:ext cx="82296" cy="35661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138160" y="1691640"/>
            <a:ext cx="3017520" cy="457200"/>
          </a:xfrm>
          <a:prstGeom prst="rect">
            <a:avLst/>
          </a:prstGeom>
          <a:noFill/>
        </p:spPr>
        <p:txBody>
          <a:bodyPr wrap="square" anchor="t" lIns="0" rIns="0" tIns="0" bIns="0">
            <a:spAutoFit/>
          </a:bodyPr>
          <a:lstStyle/>
          <a:p>
            <a:pPr algn="l"/>
            <a:r>
              <a:rPr sz="2200" b="1" i="0">
                <a:solidFill>
                  <a:srgbClr val="6D28D9"/>
                </a:solidFill>
                <a:latin typeface="Calibri"/>
              </a:rPr>
              <a:t>3 · Selección de variables</a:t>
            </a:r>
          </a:p>
        </p:txBody>
      </p:sp>
      <p:sp>
        <p:nvSpPr>
          <p:cNvPr id="20" name="TextBox 19"/>
          <p:cNvSpPr txBox="1"/>
          <p:nvPr/>
        </p:nvSpPr>
        <p:spPr>
          <a:xfrm>
            <a:off x="8138160" y="2377440"/>
            <a:ext cx="3017520" cy="1280160"/>
          </a:xfrm>
          <a:prstGeom prst="rect">
            <a:avLst/>
          </a:prstGeom>
          <a:noFill/>
        </p:spPr>
        <p:txBody>
          <a:bodyPr wrap="square" anchor="t" lIns="0" rIns="0" tIns="0" bIns="0">
            <a:spAutoFit/>
          </a:bodyPr>
          <a:lstStyle/>
          <a:p>
            <a:pPr algn="l"/>
            <a:r>
              <a:rPr sz="1900" b="0" i="0">
                <a:solidFill>
                  <a:srgbClr val="0F1E36"/>
                </a:solidFill>
                <a:latin typeface="Calibri"/>
              </a:rPr>
              <a:t>Se elegían con toda la muestra</a:t>
            </a:r>
          </a:p>
        </p:txBody>
      </p:sp>
      <p:sp>
        <p:nvSpPr>
          <p:cNvPr id="21" name="TextBox 20"/>
          <p:cNvSpPr txBox="1"/>
          <p:nvPr/>
        </p:nvSpPr>
        <p:spPr>
          <a:xfrm>
            <a:off x="8138160" y="3931920"/>
            <a:ext cx="3017520" cy="365760"/>
          </a:xfrm>
          <a:prstGeom prst="rect">
            <a:avLst/>
          </a:prstGeom>
          <a:noFill/>
        </p:spPr>
        <p:txBody>
          <a:bodyPr wrap="square" anchor="t" lIns="0" rIns="0" tIns="0" bIns="0">
            <a:spAutoFit/>
          </a:bodyPr>
          <a:lstStyle/>
          <a:p>
            <a:pPr algn="l"/>
            <a:r>
              <a:rPr sz="1500" b="1" i="0">
                <a:solidFill>
                  <a:srgbClr val="55657E"/>
                </a:solidFill>
                <a:latin typeface="Calibri"/>
              </a:rPr>
              <a:t>Ahora</a:t>
            </a:r>
          </a:p>
        </p:txBody>
      </p:sp>
      <p:sp>
        <p:nvSpPr>
          <p:cNvPr id="22" name="TextBox 21"/>
          <p:cNvSpPr txBox="1"/>
          <p:nvPr/>
        </p:nvSpPr>
        <p:spPr>
          <a:xfrm>
            <a:off x="8138160" y="4297680"/>
            <a:ext cx="3017520" cy="914400"/>
          </a:xfrm>
          <a:prstGeom prst="rect">
            <a:avLst/>
          </a:prstGeom>
          <a:noFill/>
        </p:spPr>
        <p:txBody>
          <a:bodyPr wrap="square" anchor="t" lIns="0" rIns="0" tIns="0" bIns="0">
            <a:spAutoFit/>
          </a:bodyPr>
          <a:lstStyle/>
          <a:p>
            <a:pPr algn="l"/>
            <a:r>
              <a:rPr sz="2100" b="1" i="0">
                <a:solidFill>
                  <a:srgbClr val="047857"/>
                </a:solidFill>
                <a:latin typeface="Calibri"/>
              </a:rPr>
              <a:t>Dentro de cada partición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11</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1F5FAE"/>
                </a:solidFill>
                <a:latin typeface="Calibri"/>
              </a:rPr>
              <a:t>FASE 3 · PREPARACIÓN DE LOS DATOS</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Cuánto inflaba cada problema</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AUC-PR ganado de forma injusta frente a la medición honesta</a:t>
            </a:r>
          </a:p>
        </p:txBody>
      </p:sp>
      <p:pic>
        <p:nvPicPr>
          <p:cNvPr id="8" name="Picture 7" descr="f05_sesgos.png"/>
          <p:cNvPicPr>
            <a:picLocks noChangeAspect="1"/>
          </p:cNvPicPr>
          <p:nvPr/>
        </p:nvPicPr>
        <p:blipFill>
          <a:blip r:embed="rId3"/>
          <a:stretch>
            <a:fillRect/>
          </a:stretch>
        </p:blipFill>
        <p:spPr>
          <a:xfrm>
            <a:off x="731520" y="1914005"/>
            <a:ext cx="10515599" cy="344146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12</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C2410C"/>
                </a:solidFill>
                <a:latin typeface="Calibri"/>
              </a:rPr>
              <a:t>FASE 4 · MODELADO</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Variable objetivo y variables</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Todo lo que el modelo usa existe al cierre del 1.er semestre</a:t>
            </a:r>
          </a:p>
        </p:txBody>
      </p:sp>
      <p:sp>
        <p:nvSpPr>
          <p:cNvPr id="8" name="Rounded Rectangle 7"/>
          <p:cNvSpPr/>
          <p:nvPr/>
        </p:nvSpPr>
        <p:spPr>
          <a:xfrm>
            <a:off x="731520" y="1691640"/>
            <a:ext cx="4937760" cy="3566160"/>
          </a:xfrm>
          <a:prstGeom prst="roundRect">
            <a:avLst>
              <a:gd name="adj" fmla="val 6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5840" y="1874519"/>
            <a:ext cx="4480560" cy="3200400"/>
          </a:xfrm>
          <a:prstGeom prst="rect">
            <a:avLst/>
          </a:prstGeom>
          <a:noFill/>
        </p:spPr>
        <p:txBody>
          <a:bodyPr wrap="square" anchor="t" lIns="0" rIns="0" tIns="0" bIns="0">
            <a:spAutoFit/>
          </a:bodyPr>
          <a:lstStyle/>
          <a:p>
            <a:pPr algn="l"/>
            <a:r>
              <a:rPr sz="1800" b="1" i="0">
                <a:solidFill>
                  <a:srgbClr val="1F5FAE"/>
                </a:solidFill>
                <a:latin typeface="Calibri"/>
              </a:rPr>
              <a:t>Variable objetivo</a:t>
            </a:r>
          </a:p>
          <a:p>
            <a:pPr algn="l"/>
            <a:r>
              <a:rPr sz="2400" b="1" i="0">
                <a:solidFill>
                  <a:srgbClr val="0F1E36"/>
                </a:solidFill>
                <a:latin typeface="Calibri"/>
              </a:rPr>
              <a:t>Art. 19 del Reglamento Estudiantil</a:t>
            </a:r>
          </a:p>
          <a:p>
            <a:pPr algn="l"/>
            <a:r>
              <a:rPr sz="1800" b="0" i="0">
                <a:solidFill>
                  <a:srgbClr val="55657E"/>
                </a:solidFill>
                <a:latin typeface="Calibri"/>
              </a:rPr>
              <a:t>pérdida de la calidad de estudiante por bajo rendimiento</a:t>
            </a:r>
          </a:p>
          <a:p>
            <a:pPr algn="l"/>
            <a:r>
              <a:rPr sz="1000" b="0" i="0">
                <a:solidFill>
                  <a:srgbClr val="0F1E36"/>
                </a:solidFill>
                <a:latin typeface="Calibri"/>
              </a:rPr>
              <a:t> </a:t>
            </a:r>
          </a:p>
          <a:p>
            <a:pPr algn="l"/>
            <a:r>
              <a:rPr sz="3000" b="1" i="0">
                <a:solidFill>
                  <a:srgbClr val="B91C1C"/>
                </a:solidFill>
                <a:latin typeface="Calibri"/>
              </a:rPr>
              <a:t>19 casos de 80</a:t>
            </a:r>
          </a:p>
          <a:p>
            <a:pPr algn="l"/>
            <a:r>
              <a:rPr sz="1600" b="0" i="0">
                <a:solidFill>
                  <a:srgbClr val="55657E"/>
                </a:solidFill>
                <a:latin typeface="Calibri"/>
              </a:rPr>
              <a:t>prevalencia 0,2375 = AUC-PR del azar</a:t>
            </a:r>
          </a:p>
        </p:txBody>
      </p:sp>
      <p:sp>
        <p:nvSpPr>
          <p:cNvPr id="10" name="TextBox 9"/>
          <p:cNvSpPr txBox="1"/>
          <p:nvPr/>
        </p:nvSpPr>
        <p:spPr>
          <a:xfrm>
            <a:off x="6126480" y="1691640"/>
            <a:ext cx="5120640" cy="411480"/>
          </a:xfrm>
          <a:prstGeom prst="rect">
            <a:avLst/>
          </a:prstGeom>
          <a:noFill/>
        </p:spPr>
        <p:txBody>
          <a:bodyPr wrap="square" anchor="t" lIns="0" rIns="0" tIns="0" bIns="0">
            <a:spAutoFit/>
          </a:bodyPr>
          <a:lstStyle/>
          <a:p>
            <a:pPr algn="l"/>
            <a:r>
              <a:rPr sz="1800" b="1" i="0">
                <a:solidFill>
                  <a:srgbClr val="1F5FAE"/>
                </a:solidFill>
                <a:latin typeface="Calibri"/>
              </a:rPr>
              <a:t>Seis variables (conjunto S3)</a:t>
            </a:r>
          </a:p>
        </p:txBody>
      </p:sp>
      <p:sp>
        <p:nvSpPr>
          <p:cNvPr id="11" name="TextBox 10"/>
          <p:cNvSpPr txBox="1"/>
          <p:nvPr/>
        </p:nvSpPr>
        <p:spPr>
          <a:xfrm>
            <a:off x="6126480" y="2240280"/>
            <a:ext cx="3840480" cy="457200"/>
          </a:xfrm>
          <a:prstGeom prst="rect">
            <a:avLst/>
          </a:prstGeom>
          <a:noFill/>
        </p:spPr>
        <p:txBody>
          <a:bodyPr wrap="square" anchor="ctr" lIns="0" rIns="0" tIns="0" bIns="0">
            <a:spAutoFit/>
          </a:bodyPr>
          <a:lstStyle/>
          <a:p>
            <a:pPr algn="l"/>
            <a:r>
              <a:rPr sz="2000" b="1" i="0">
                <a:solidFill>
                  <a:srgbClr val="0F1E36"/>
                </a:solidFill>
                <a:latin typeface="Calibri"/>
              </a:rPr>
              <a:t>Promedio del 1.er semestre</a:t>
            </a:r>
          </a:p>
        </p:txBody>
      </p:sp>
      <p:sp>
        <p:nvSpPr>
          <p:cNvPr id="12" name="TextBox 11"/>
          <p:cNvSpPr txBox="1"/>
          <p:nvPr/>
        </p:nvSpPr>
        <p:spPr>
          <a:xfrm>
            <a:off x="9875520" y="2240280"/>
            <a:ext cx="1371600" cy="457200"/>
          </a:xfrm>
          <a:prstGeom prst="rect">
            <a:avLst/>
          </a:prstGeom>
          <a:noFill/>
        </p:spPr>
        <p:txBody>
          <a:bodyPr wrap="square" anchor="ctr" lIns="0" rIns="0" tIns="0" bIns="0">
            <a:spAutoFit/>
          </a:bodyPr>
          <a:lstStyle/>
          <a:p>
            <a:pPr algn="r"/>
            <a:r>
              <a:rPr sz="1500" b="0" i="0">
                <a:solidFill>
                  <a:srgbClr val="55657E"/>
                </a:solidFill>
                <a:latin typeface="Calibri"/>
              </a:rPr>
              <a:t>académica</a:t>
            </a:r>
          </a:p>
        </p:txBody>
      </p:sp>
      <p:sp>
        <p:nvSpPr>
          <p:cNvPr id="13" name="TextBox 12"/>
          <p:cNvSpPr txBox="1"/>
          <p:nvPr/>
        </p:nvSpPr>
        <p:spPr>
          <a:xfrm>
            <a:off x="6126480" y="2752344"/>
            <a:ext cx="3840480" cy="457200"/>
          </a:xfrm>
          <a:prstGeom prst="rect">
            <a:avLst/>
          </a:prstGeom>
          <a:noFill/>
        </p:spPr>
        <p:txBody>
          <a:bodyPr wrap="square" anchor="ctr" lIns="0" rIns="0" tIns="0" bIns="0">
            <a:spAutoFit/>
          </a:bodyPr>
          <a:lstStyle/>
          <a:p>
            <a:pPr algn="l"/>
            <a:r>
              <a:rPr sz="2000" b="0" i="0">
                <a:solidFill>
                  <a:srgbClr val="0F1E36"/>
                </a:solidFill>
                <a:latin typeface="Calibri"/>
              </a:rPr>
              <a:t>Sin primer semestre</a:t>
            </a:r>
          </a:p>
        </p:txBody>
      </p:sp>
      <p:sp>
        <p:nvSpPr>
          <p:cNvPr id="14" name="TextBox 13"/>
          <p:cNvSpPr txBox="1"/>
          <p:nvPr/>
        </p:nvSpPr>
        <p:spPr>
          <a:xfrm>
            <a:off x="9875520" y="2752344"/>
            <a:ext cx="1371600" cy="457200"/>
          </a:xfrm>
          <a:prstGeom prst="rect">
            <a:avLst/>
          </a:prstGeom>
          <a:noFill/>
        </p:spPr>
        <p:txBody>
          <a:bodyPr wrap="square" anchor="ctr" lIns="0" rIns="0" tIns="0" bIns="0">
            <a:spAutoFit/>
          </a:bodyPr>
          <a:lstStyle/>
          <a:p>
            <a:pPr algn="r"/>
            <a:r>
              <a:rPr sz="1500" b="0" i="0">
                <a:solidFill>
                  <a:srgbClr val="55657E"/>
                </a:solidFill>
                <a:latin typeface="Calibri"/>
              </a:rPr>
              <a:t>indicador</a:t>
            </a:r>
          </a:p>
        </p:txBody>
      </p:sp>
      <p:sp>
        <p:nvSpPr>
          <p:cNvPr id="15" name="TextBox 14"/>
          <p:cNvSpPr txBox="1"/>
          <p:nvPr/>
        </p:nvSpPr>
        <p:spPr>
          <a:xfrm>
            <a:off x="6126480" y="3264408"/>
            <a:ext cx="3840480" cy="457200"/>
          </a:xfrm>
          <a:prstGeom prst="rect">
            <a:avLst/>
          </a:prstGeom>
          <a:noFill/>
        </p:spPr>
        <p:txBody>
          <a:bodyPr wrap="square" anchor="ctr" lIns="0" rIns="0" tIns="0" bIns="0">
            <a:spAutoFit/>
          </a:bodyPr>
          <a:lstStyle/>
          <a:p>
            <a:pPr algn="l"/>
            <a:r>
              <a:rPr sz="2000" b="0" i="0">
                <a:solidFill>
                  <a:srgbClr val="0F1E36"/>
                </a:solidFill>
                <a:latin typeface="Calibri"/>
              </a:rPr>
              <a:t>Saber 11 · total</a:t>
            </a:r>
          </a:p>
        </p:txBody>
      </p:sp>
      <p:sp>
        <p:nvSpPr>
          <p:cNvPr id="16" name="TextBox 15"/>
          <p:cNvSpPr txBox="1"/>
          <p:nvPr/>
        </p:nvSpPr>
        <p:spPr>
          <a:xfrm>
            <a:off x="9875520" y="3264408"/>
            <a:ext cx="1371600" cy="457200"/>
          </a:xfrm>
          <a:prstGeom prst="rect">
            <a:avLst/>
          </a:prstGeom>
          <a:noFill/>
        </p:spPr>
        <p:txBody>
          <a:bodyPr wrap="square" anchor="ctr" lIns="0" rIns="0" tIns="0" bIns="0">
            <a:spAutoFit/>
          </a:bodyPr>
          <a:lstStyle/>
          <a:p>
            <a:pPr algn="r"/>
            <a:r>
              <a:rPr sz="1500" b="0" i="0">
                <a:solidFill>
                  <a:srgbClr val="55657E"/>
                </a:solidFill>
                <a:latin typeface="Calibri"/>
              </a:rPr>
              <a:t>ingreso</a:t>
            </a:r>
          </a:p>
        </p:txBody>
      </p:sp>
      <p:sp>
        <p:nvSpPr>
          <p:cNvPr id="17" name="TextBox 16"/>
          <p:cNvSpPr txBox="1"/>
          <p:nvPr/>
        </p:nvSpPr>
        <p:spPr>
          <a:xfrm>
            <a:off x="6126480" y="3776472"/>
            <a:ext cx="3840480" cy="457200"/>
          </a:xfrm>
          <a:prstGeom prst="rect">
            <a:avLst/>
          </a:prstGeom>
          <a:noFill/>
        </p:spPr>
        <p:txBody>
          <a:bodyPr wrap="square" anchor="ctr" lIns="0" rIns="0" tIns="0" bIns="0">
            <a:spAutoFit/>
          </a:bodyPr>
          <a:lstStyle/>
          <a:p>
            <a:pPr algn="l"/>
            <a:r>
              <a:rPr sz="2000" b="0" i="0">
                <a:solidFill>
                  <a:srgbClr val="0F1E36"/>
                </a:solidFill>
                <a:latin typeface="Calibri"/>
              </a:rPr>
              <a:t>Saber 11 · matemáticas</a:t>
            </a:r>
          </a:p>
        </p:txBody>
      </p:sp>
      <p:sp>
        <p:nvSpPr>
          <p:cNvPr id="18" name="TextBox 17"/>
          <p:cNvSpPr txBox="1"/>
          <p:nvPr/>
        </p:nvSpPr>
        <p:spPr>
          <a:xfrm>
            <a:off x="9875520" y="3776472"/>
            <a:ext cx="1371600" cy="457200"/>
          </a:xfrm>
          <a:prstGeom prst="rect">
            <a:avLst/>
          </a:prstGeom>
          <a:noFill/>
        </p:spPr>
        <p:txBody>
          <a:bodyPr wrap="square" anchor="ctr" lIns="0" rIns="0" tIns="0" bIns="0">
            <a:spAutoFit/>
          </a:bodyPr>
          <a:lstStyle/>
          <a:p>
            <a:pPr algn="r"/>
            <a:r>
              <a:rPr sz="1500" b="0" i="0">
                <a:solidFill>
                  <a:srgbClr val="55657E"/>
                </a:solidFill>
                <a:latin typeface="Calibri"/>
              </a:rPr>
              <a:t>ingreso</a:t>
            </a:r>
          </a:p>
        </p:txBody>
      </p:sp>
      <p:sp>
        <p:nvSpPr>
          <p:cNvPr id="19" name="TextBox 18"/>
          <p:cNvSpPr txBox="1"/>
          <p:nvPr/>
        </p:nvSpPr>
        <p:spPr>
          <a:xfrm>
            <a:off x="6126480" y="4288536"/>
            <a:ext cx="3840480" cy="457200"/>
          </a:xfrm>
          <a:prstGeom prst="rect">
            <a:avLst/>
          </a:prstGeom>
          <a:noFill/>
        </p:spPr>
        <p:txBody>
          <a:bodyPr wrap="square" anchor="ctr" lIns="0" rIns="0" tIns="0" bIns="0">
            <a:spAutoFit/>
          </a:bodyPr>
          <a:lstStyle/>
          <a:p>
            <a:pPr algn="l"/>
            <a:r>
              <a:rPr sz="2000" b="0" i="0">
                <a:solidFill>
                  <a:srgbClr val="0F1E36"/>
                </a:solidFill>
                <a:latin typeface="Calibri"/>
              </a:rPr>
              <a:t>Saber 11 · lectura crítica</a:t>
            </a:r>
          </a:p>
        </p:txBody>
      </p:sp>
      <p:sp>
        <p:nvSpPr>
          <p:cNvPr id="20" name="TextBox 19"/>
          <p:cNvSpPr txBox="1"/>
          <p:nvPr/>
        </p:nvSpPr>
        <p:spPr>
          <a:xfrm>
            <a:off x="9875520" y="4288536"/>
            <a:ext cx="1371600" cy="457200"/>
          </a:xfrm>
          <a:prstGeom prst="rect">
            <a:avLst/>
          </a:prstGeom>
          <a:noFill/>
        </p:spPr>
        <p:txBody>
          <a:bodyPr wrap="square" anchor="ctr" lIns="0" rIns="0" tIns="0" bIns="0">
            <a:spAutoFit/>
          </a:bodyPr>
          <a:lstStyle/>
          <a:p>
            <a:pPr algn="r"/>
            <a:r>
              <a:rPr sz="1500" b="0" i="0">
                <a:solidFill>
                  <a:srgbClr val="55657E"/>
                </a:solidFill>
                <a:latin typeface="Calibri"/>
              </a:rPr>
              <a:t>ingreso</a:t>
            </a:r>
          </a:p>
        </p:txBody>
      </p:sp>
      <p:sp>
        <p:nvSpPr>
          <p:cNvPr id="21" name="TextBox 20"/>
          <p:cNvSpPr txBox="1"/>
          <p:nvPr/>
        </p:nvSpPr>
        <p:spPr>
          <a:xfrm>
            <a:off x="6126480" y="4800600"/>
            <a:ext cx="3840480" cy="457200"/>
          </a:xfrm>
          <a:prstGeom prst="rect">
            <a:avLst/>
          </a:prstGeom>
          <a:noFill/>
        </p:spPr>
        <p:txBody>
          <a:bodyPr wrap="square" anchor="ctr" lIns="0" rIns="0" tIns="0" bIns="0">
            <a:spAutoFit/>
          </a:bodyPr>
          <a:lstStyle/>
          <a:p>
            <a:pPr algn="l"/>
            <a:r>
              <a:rPr sz="2000" b="0" i="0">
                <a:solidFill>
                  <a:srgbClr val="0F1E36"/>
                </a:solidFill>
                <a:latin typeface="Calibri"/>
              </a:rPr>
              <a:t>Saber 11 · c. naturales</a:t>
            </a:r>
          </a:p>
        </p:txBody>
      </p:sp>
      <p:sp>
        <p:nvSpPr>
          <p:cNvPr id="22" name="TextBox 21"/>
          <p:cNvSpPr txBox="1"/>
          <p:nvPr/>
        </p:nvSpPr>
        <p:spPr>
          <a:xfrm>
            <a:off x="9875520" y="4800600"/>
            <a:ext cx="1371600" cy="457200"/>
          </a:xfrm>
          <a:prstGeom prst="rect">
            <a:avLst/>
          </a:prstGeom>
          <a:noFill/>
        </p:spPr>
        <p:txBody>
          <a:bodyPr wrap="square" anchor="ctr" lIns="0" rIns="0" tIns="0" bIns="0">
            <a:spAutoFit/>
          </a:bodyPr>
          <a:lstStyle/>
          <a:p>
            <a:pPr algn="r"/>
            <a:r>
              <a:rPr sz="1500" b="0" i="0">
                <a:solidFill>
                  <a:srgbClr val="55657E"/>
                </a:solidFill>
                <a:latin typeface="Calibri"/>
              </a:rPr>
              <a:t>ingreso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13</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C2410C"/>
                </a:solidFill>
                <a:latin typeface="Calibri"/>
              </a:rPr>
              <a:t>FASE 4 · MODELADO</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Cinco algoritmos · 1 de 2</a:t>
            </a:r>
          </a:p>
        </p:txBody>
      </p:sp>
      <p:sp>
        <p:nvSpPr>
          <p:cNvPr id="7" name="TextBox 6"/>
          <p:cNvSpPr txBox="1"/>
          <p:nvPr/>
        </p:nvSpPr>
        <p:spPr>
          <a:xfrm>
            <a:off x="8138160" y="1005840"/>
            <a:ext cx="3108960" cy="365760"/>
          </a:xfrm>
          <a:prstGeom prst="rect">
            <a:avLst/>
          </a:prstGeom>
          <a:noFill/>
        </p:spPr>
        <p:txBody>
          <a:bodyPr wrap="square" anchor="t" lIns="0" rIns="0" tIns="0" bIns="0">
            <a:spAutoFit/>
          </a:bodyPr>
          <a:lstStyle/>
          <a:p>
            <a:pPr algn="l"/>
            <a:r>
              <a:rPr sz="1500" b="1" i="0">
                <a:solidFill>
                  <a:srgbClr val="55657E"/>
                </a:solidFill>
                <a:latin typeface="Calibri"/>
              </a:rPr>
              <a:t>Rejilla de hiperparámetros</a:t>
            </a:r>
          </a:p>
        </p:txBody>
      </p:sp>
      <p:sp>
        <p:nvSpPr>
          <p:cNvPr id="8" name="TextBox 7"/>
          <p:cNvSpPr txBox="1"/>
          <p:nvPr/>
        </p:nvSpPr>
        <p:spPr>
          <a:xfrm>
            <a:off x="3657600" y="1005840"/>
            <a:ext cx="4023360" cy="365760"/>
          </a:xfrm>
          <a:prstGeom prst="rect">
            <a:avLst/>
          </a:prstGeom>
          <a:noFill/>
        </p:spPr>
        <p:txBody>
          <a:bodyPr wrap="square" anchor="t" lIns="0" rIns="0" tIns="0" bIns="0">
            <a:spAutoFit/>
          </a:bodyPr>
          <a:lstStyle/>
          <a:p>
            <a:pPr algn="l"/>
            <a:r>
              <a:rPr sz="1500" b="1" i="0">
                <a:solidFill>
                  <a:srgbClr val="55657E"/>
                </a:solidFill>
                <a:latin typeface="Calibri"/>
              </a:rPr>
              <a:t>Formulación</a:t>
            </a:r>
          </a:p>
        </p:txBody>
      </p:sp>
      <p:sp>
        <p:nvSpPr>
          <p:cNvPr id="9" name="Rectangle 8"/>
          <p:cNvSpPr/>
          <p:nvPr/>
        </p:nvSpPr>
        <p:spPr>
          <a:xfrm>
            <a:off x="731520" y="1444752"/>
            <a:ext cx="73152" cy="1271016"/>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60120" y="1371600"/>
            <a:ext cx="2651760" cy="1417320"/>
          </a:xfrm>
          <a:prstGeom prst="rect">
            <a:avLst/>
          </a:prstGeom>
          <a:noFill/>
        </p:spPr>
        <p:txBody>
          <a:bodyPr wrap="square" anchor="ctr" lIns="0" rIns="0" tIns="0" bIns="0">
            <a:spAutoFit/>
          </a:bodyPr>
          <a:lstStyle/>
          <a:p>
            <a:pPr algn="l"/>
            <a:r>
              <a:rPr sz="2100" b="1" i="0">
                <a:solidFill>
                  <a:srgbClr val="1F5FAE"/>
                </a:solidFill>
                <a:latin typeface="Calibri"/>
              </a:rPr>
              <a:t>Regresión logística</a:t>
            </a:r>
          </a:p>
          <a:p>
            <a:pPr algn="l"/>
            <a:r>
              <a:rPr sz="1500" b="0" i="0">
                <a:solidFill>
                  <a:srgbClr val="55657E"/>
                </a:solidFill>
                <a:latin typeface="Calibri"/>
              </a:rPr>
              <a:t>suma ponderada → probabilidad</a:t>
            </a:r>
          </a:p>
        </p:txBody>
      </p:sp>
      <p:pic>
        <p:nvPicPr>
          <p:cNvPr id="11" name="Picture 10" descr="lr.png"/>
          <p:cNvPicPr>
            <a:picLocks noChangeAspect="1"/>
          </p:cNvPicPr>
          <p:nvPr/>
        </p:nvPicPr>
        <p:blipFill>
          <a:blip r:embed="rId3"/>
          <a:stretch>
            <a:fillRect/>
          </a:stretch>
        </p:blipFill>
        <p:spPr>
          <a:xfrm>
            <a:off x="3657600" y="1476132"/>
            <a:ext cx="4027516" cy="1208254"/>
          </a:xfrm>
          <a:prstGeom prst="rect">
            <a:avLst/>
          </a:prstGeom>
        </p:spPr>
      </p:pic>
      <p:sp>
        <p:nvSpPr>
          <p:cNvPr id="12" name="TextBox 11"/>
          <p:cNvSpPr txBox="1"/>
          <p:nvPr/>
        </p:nvSpPr>
        <p:spPr>
          <a:xfrm>
            <a:off x="8138160" y="1371600"/>
            <a:ext cx="3154680" cy="1417320"/>
          </a:xfrm>
          <a:prstGeom prst="rect">
            <a:avLst/>
          </a:prstGeom>
          <a:noFill/>
        </p:spPr>
        <p:txBody>
          <a:bodyPr wrap="square" anchor="ctr" lIns="0" rIns="0" tIns="0" bIns="0">
            <a:spAutoFit/>
          </a:bodyPr>
          <a:lstStyle/>
          <a:p>
            <a:pPr algn="l"/>
            <a:r>
              <a:rPr sz="1500" b="0" i="0">
                <a:solidFill>
                  <a:srgbClr val="0F1E36"/>
                </a:solidFill>
                <a:latin typeface="Calibri"/>
              </a:rPr>
              <a:t>C: 0,01 a 100 (8 valores)</a:t>
            </a:r>
          </a:p>
          <a:p>
            <a:pPr algn="l"/>
            <a:r>
              <a:rPr sz="1500" b="0" i="0">
                <a:solidFill>
                  <a:srgbClr val="0F1E36"/>
                </a:solidFill>
                <a:latin typeface="Calibri"/>
              </a:rPr>
              <a:t>peso de clase: no / balanceado</a:t>
            </a:r>
          </a:p>
          <a:p>
            <a:pPr algn="l"/>
            <a:r>
              <a:rPr sz="1500" b="1" i="0">
                <a:solidFill>
                  <a:srgbClr val="1F5FAE"/>
                </a:solidFill>
                <a:latin typeface="Calibri"/>
              </a:rPr>
              <a:t>16 combinaciones</a:t>
            </a:r>
          </a:p>
        </p:txBody>
      </p:sp>
      <p:sp>
        <p:nvSpPr>
          <p:cNvPr id="13" name="Rectangle 12"/>
          <p:cNvSpPr/>
          <p:nvPr/>
        </p:nvSpPr>
        <p:spPr>
          <a:xfrm>
            <a:off x="731520" y="2907792"/>
            <a:ext cx="73152" cy="117957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0120" y="2834640"/>
            <a:ext cx="2651760" cy="1325880"/>
          </a:xfrm>
          <a:prstGeom prst="rect">
            <a:avLst/>
          </a:prstGeom>
          <a:noFill/>
        </p:spPr>
        <p:txBody>
          <a:bodyPr wrap="square" anchor="ctr" lIns="0" rIns="0" tIns="0" bIns="0">
            <a:spAutoFit/>
          </a:bodyPr>
          <a:lstStyle/>
          <a:p>
            <a:pPr algn="l"/>
            <a:r>
              <a:rPr sz="2100" b="1" i="0">
                <a:solidFill>
                  <a:srgbClr val="D97706"/>
                </a:solidFill>
                <a:latin typeface="Calibri"/>
              </a:rPr>
              <a:t>Árbol de decisión</a:t>
            </a:r>
          </a:p>
          <a:p>
            <a:pPr algn="l"/>
            <a:r>
              <a:rPr sz="1500" b="0" i="0">
                <a:solidFill>
                  <a:srgbClr val="55657E"/>
                </a:solidFill>
                <a:latin typeface="Calibri"/>
              </a:rPr>
              <a:t>preguntas sucesivas que reducen la impureza</a:t>
            </a:r>
          </a:p>
        </p:txBody>
      </p:sp>
      <p:pic>
        <p:nvPicPr>
          <p:cNvPr id="15" name="Picture 14" descr="arbol.png"/>
          <p:cNvPicPr>
            <a:picLocks noChangeAspect="1"/>
          </p:cNvPicPr>
          <p:nvPr/>
        </p:nvPicPr>
        <p:blipFill>
          <a:blip r:embed="rId4"/>
          <a:stretch>
            <a:fillRect/>
          </a:stretch>
        </p:blipFill>
        <p:spPr>
          <a:xfrm>
            <a:off x="3657600" y="3036485"/>
            <a:ext cx="4297680" cy="922188"/>
          </a:xfrm>
          <a:prstGeom prst="rect">
            <a:avLst/>
          </a:prstGeom>
        </p:spPr>
      </p:pic>
      <p:sp>
        <p:nvSpPr>
          <p:cNvPr id="16" name="TextBox 15"/>
          <p:cNvSpPr txBox="1"/>
          <p:nvPr/>
        </p:nvSpPr>
        <p:spPr>
          <a:xfrm>
            <a:off x="8138160" y="2834640"/>
            <a:ext cx="3154680" cy="1325880"/>
          </a:xfrm>
          <a:prstGeom prst="rect">
            <a:avLst/>
          </a:prstGeom>
          <a:noFill/>
        </p:spPr>
        <p:txBody>
          <a:bodyPr wrap="square" anchor="ctr" lIns="0" rIns="0" tIns="0" bIns="0">
            <a:spAutoFit/>
          </a:bodyPr>
          <a:lstStyle/>
          <a:p>
            <a:pPr algn="l"/>
            <a:r>
              <a:rPr sz="1500" b="0" i="0">
                <a:solidFill>
                  <a:srgbClr val="0F1E36"/>
                </a:solidFill>
                <a:latin typeface="Calibri"/>
              </a:rPr>
              <a:t>profundidad: 2, 3, 4, 5</a:t>
            </a:r>
          </a:p>
          <a:p>
            <a:pPr algn="l"/>
            <a:r>
              <a:rPr sz="1500" b="0" i="0">
                <a:solidFill>
                  <a:srgbClr val="0F1E36"/>
                </a:solidFill>
                <a:latin typeface="Calibri"/>
              </a:rPr>
              <a:t>hoja mínima: 1, 2, 4</a:t>
            </a:r>
          </a:p>
          <a:p>
            <a:pPr algn="l"/>
            <a:r>
              <a:rPr sz="1500" b="0" i="0">
                <a:solidFill>
                  <a:srgbClr val="0F1E36"/>
                </a:solidFill>
                <a:latin typeface="Calibri"/>
              </a:rPr>
              <a:t>criterio: Gini / entropía</a:t>
            </a:r>
          </a:p>
          <a:p>
            <a:pPr algn="l"/>
            <a:r>
              <a:rPr sz="1500" b="1" i="0">
                <a:solidFill>
                  <a:srgbClr val="D97706"/>
                </a:solidFill>
                <a:latin typeface="Calibri"/>
              </a:rPr>
              <a:t>24 combinaciones</a:t>
            </a:r>
          </a:p>
        </p:txBody>
      </p:sp>
      <p:sp>
        <p:nvSpPr>
          <p:cNvPr id="17" name="Rectangle 16"/>
          <p:cNvSpPr/>
          <p:nvPr/>
        </p:nvSpPr>
        <p:spPr>
          <a:xfrm>
            <a:off x="731520" y="4279392"/>
            <a:ext cx="73152" cy="1408176"/>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60120" y="4206240"/>
            <a:ext cx="2651760" cy="1554480"/>
          </a:xfrm>
          <a:prstGeom prst="rect">
            <a:avLst/>
          </a:prstGeom>
          <a:noFill/>
        </p:spPr>
        <p:txBody>
          <a:bodyPr wrap="square" anchor="ctr" lIns="0" rIns="0" tIns="0" bIns="0">
            <a:spAutoFit/>
          </a:bodyPr>
          <a:lstStyle/>
          <a:p>
            <a:pPr algn="l"/>
            <a:r>
              <a:rPr sz="2100" b="1" i="0">
                <a:solidFill>
                  <a:srgbClr val="047857"/>
                </a:solidFill>
                <a:latin typeface="Calibri"/>
              </a:rPr>
              <a:t>Random Forest</a:t>
            </a:r>
          </a:p>
          <a:p>
            <a:pPr algn="l"/>
            <a:r>
              <a:rPr sz="1500" b="0" i="0">
                <a:solidFill>
                  <a:srgbClr val="55657E"/>
                </a:solidFill>
                <a:latin typeface="Calibri"/>
              </a:rPr>
              <a:t>promedio de B = 150 árboles con bootstrap y variables al azar</a:t>
            </a:r>
          </a:p>
        </p:txBody>
      </p:sp>
      <p:pic>
        <p:nvPicPr>
          <p:cNvPr id="19" name="Picture 18" descr="rf.png"/>
          <p:cNvPicPr>
            <a:picLocks noChangeAspect="1"/>
          </p:cNvPicPr>
          <p:nvPr/>
        </p:nvPicPr>
        <p:blipFill>
          <a:blip r:embed="rId5"/>
          <a:stretch>
            <a:fillRect/>
          </a:stretch>
        </p:blipFill>
        <p:spPr>
          <a:xfrm>
            <a:off x="3657600" y="4590599"/>
            <a:ext cx="1903198" cy="785760"/>
          </a:xfrm>
          <a:prstGeom prst="rect">
            <a:avLst/>
          </a:prstGeom>
        </p:spPr>
      </p:pic>
      <p:sp>
        <p:nvSpPr>
          <p:cNvPr id="20" name="TextBox 19"/>
          <p:cNvSpPr txBox="1"/>
          <p:nvPr/>
        </p:nvSpPr>
        <p:spPr>
          <a:xfrm>
            <a:off x="8138160" y="4206240"/>
            <a:ext cx="3154680" cy="1554480"/>
          </a:xfrm>
          <a:prstGeom prst="rect">
            <a:avLst/>
          </a:prstGeom>
          <a:noFill/>
        </p:spPr>
        <p:txBody>
          <a:bodyPr wrap="square" anchor="ctr" lIns="0" rIns="0" tIns="0" bIns="0">
            <a:spAutoFit/>
          </a:bodyPr>
          <a:lstStyle/>
          <a:p>
            <a:pPr algn="l"/>
            <a:r>
              <a:rPr sz="1500" b="0" i="0">
                <a:solidFill>
                  <a:srgbClr val="0F1E36"/>
                </a:solidFill>
                <a:latin typeface="Calibri"/>
              </a:rPr>
              <a:t>profundidad: 2, 3, 4, sin límite</a:t>
            </a:r>
          </a:p>
          <a:p>
            <a:pPr algn="l"/>
            <a:r>
              <a:rPr sz="1500" b="0" i="0">
                <a:solidFill>
                  <a:srgbClr val="0F1E36"/>
                </a:solidFill>
                <a:latin typeface="Calibri"/>
              </a:rPr>
              <a:t>hoja mínima: 1, 2, 4</a:t>
            </a:r>
          </a:p>
          <a:p>
            <a:pPr algn="l"/>
            <a:r>
              <a:rPr sz="1500" b="0" i="0">
                <a:solidFill>
                  <a:srgbClr val="0F1E36"/>
                </a:solidFill>
                <a:latin typeface="Calibri"/>
              </a:rPr>
              <a:t>variables por corte: √p, todas</a:t>
            </a:r>
          </a:p>
          <a:p>
            <a:pPr algn="l"/>
            <a:r>
              <a:rPr sz="1500" b="1" i="0">
                <a:solidFill>
                  <a:srgbClr val="047857"/>
                </a:solidFill>
                <a:latin typeface="Calibri"/>
              </a:rPr>
              <a:t>24 combinaciones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14</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C2410C"/>
                </a:solidFill>
                <a:latin typeface="Calibri"/>
              </a:rPr>
              <a:t>FASE 4 · MODELADO</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Cinco algoritmos · 2 de 2</a:t>
            </a:r>
          </a:p>
        </p:txBody>
      </p:sp>
      <p:sp>
        <p:nvSpPr>
          <p:cNvPr id="7" name="TextBox 6"/>
          <p:cNvSpPr txBox="1"/>
          <p:nvPr/>
        </p:nvSpPr>
        <p:spPr>
          <a:xfrm>
            <a:off x="8138160" y="1005840"/>
            <a:ext cx="3108960" cy="365760"/>
          </a:xfrm>
          <a:prstGeom prst="rect">
            <a:avLst/>
          </a:prstGeom>
          <a:noFill/>
        </p:spPr>
        <p:txBody>
          <a:bodyPr wrap="square" anchor="t" lIns="0" rIns="0" tIns="0" bIns="0">
            <a:spAutoFit/>
          </a:bodyPr>
          <a:lstStyle/>
          <a:p>
            <a:pPr algn="l"/>
            <a:r>
              <a:rPr sz="1500" b="1" i="0">
                <a:solidFill>
                  <a:srgbClr val="55657E"/>
                </a:solidFill>
                <a:latin typeface="Calibri"/>
              </a:rPr>
              <a:t>Rejilla de hiperparámetros</a:t>
            </a:r>
          </a:p>
        </p:txBody>
      </p:sp>
      <p:sp>
        <p:nvSpPr>
          <p:cNvPr id="8" name="TextBox 7"/>
          <p:cNvSpPr txBox="1"/>
          <p:nvPr/>
        </p:nvSpPr>
        <p:spPr>
          <a:xfrm>
            <a:off x="3657600" y="1005840"/>
            <a:ext cx="4023360" cy="365760"/>
          </a:xfrm>
          <a:prstGeom prst="rect">
            <a:avLst/>
          </a:prstGeom>
          <a:noFill/>
        </p:spPr>
        <p:txBody>
          <a:bodyPr wrap="square" anchor="t" lIns="0" rIns="0" tIns="0" bIns="0">
            <a:spAutoFit/>
          </a:bodyPr>
          <a:lstStyle/>
          <a:p>
            <a:pPr algn="l"/>
            <a:r>
              <a:rPr sz="1500" b="1" i="0">
                <a:solidFill>
                  <a:srgbClr val="55657E"/>
                </a:solidFill>
                <a:latin typeface="Calibri"/>
              </a:rPr>
              <a:t>Formulación</a:t>
            </a:r>
          </a:p>
        </p:txBody>
      </p:sp>
      <p:sp>
        <p:nvSpPr>
          <p:cNvPr id="9" name="Rectangle 8"/>
          <p:cNvSpPr/>
          <p:nvPr/>
        </p:nvSpPr>
        <p:spPr>
          <a:xfrm>
            <a:off x="731520" y="1490472"/>
            <a:ext cx="73152" cy="14538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60120" y="1417320"/>
            <a:ext cx="2651760" cy="1600200"/>
          </a:xfrm>
          <a:prstGeom prst="rect">
            <a:avLst/>
          </a:prstGeom>
          <a:noFill/>
        </p:spPr>
        <p:txBody>
          <a:bodyPr wrap="square" anchor="ctr" lIns="0" rIns="0" tIns="0" bIns="0">
            <a:spAutoFit/>
          </a:bodyPr>
          <a:lstStyle/>
          <a:p>
            <a:pPr algn="l"/>
            <a:r>
              <a:rPr sz="2100" b="1" i="0">
                <a:solidFill>
                  <a:srgbClr val="6D28D9"/>
                </a:solidFill>
                <a:latin typeface="Calibri"/>
              </a:rPr>
              <a:t>XGBoost</a:t>
            </a:r>
          </a:p>
          <a:p>
            <a:pPr algn="l"/>
            <a:r>
              <a:rPr sz="1500" b="0" i="0">
                <a:solidFill>
                  <a:srgbClr val="55657E"/>
                </a:solidFill>
                <a:latin typeface="Calibri"/>
              </a:rPr>
              <a:t>árboles en secuencia: cada uno corrige al anterior</a:t>
            </a:r>
          </a:p>
        </p:txBody>
      </p:sp>
      <p:pic>
        <p:nvPicPr>
          <p:cNvPr id="11" name="Picture 10" descr="xgb.png"/>
          <p:cNvPicPr>
            <a:picLocks noChangeAspect="1"/>
          </p:cNvPicPr>
          <p:nvPr/>
        </p:nvPicPr>
        <p:blipFill>
          <a:blip r:embed="rId3"/>
          <a:stretch>
            <a:fillRect/>
          </a:stretch>
        </p:blipFill>
        <p:spPr>
          <a:xfrm>
            <a:off x="3657600" y="1700160"/>
            <a:ext cx="4142024" cy="1034518"/>
          </a:xfrm>
          <a:prstGeom prst="rect">
            <a:avLst/>
          </a:prstGeom>
        </p:spPr>
      </p:pic>
      <p:sp>
        <p:nvSpPr>
          <p:cNvPr id="12" name="TextBox 11"/>
          <p:cNvSpPr txBox="1"/>
          <p:nvPr/>
        </p:nvSpPr>
        <p:spPr>
          <a:xfrm>
            <a:off x="8138160" y="1417320"/>
            <a:ext cx="3154680" cy="1600200"/>
          </a:xfrm>
          <a:prstGeom prst="rect">
            <a:avLst/>
          </a:prstGeom>
          <a:noFill/>
        </p:spPr>
        <p:txBody>
          <a:bodyPr wrap="square" anchor="ctr" lIns="0" rIns="0" tIns="0" bIns="0">
            <a:spAutoFit/>
          </a:bodyPr>
          <a:lstStyle/>
          <a:p>
            <a:pPr algn="l"/>
            <a:r>
              <a:rPr sz="1500" b="0" i="0">
                <a:solidFill>
                  <a:srgbClr val="0F1E36"/>
                </a:solidFill>
                <a:latin typeface="Calibri"/>
              </a:rPr>
              <a:t>árboles: 100, 200</a:t>
            </a:r>
          </a:p>
          <a:p>
            <a:pPr algn="l"/>
            <a:r>
              <a:rPr sz="1500" b="0" i="0">
                <a:solidFill>
                  <a:srgbClr val="0F1E36"/>
                </a:solidFill>
                <a:latin typeface="Calibri"/>
              </a:rPr>
              <a:t>profundidad: 2, 3</a:t>
            </a:r>
          </a:p>
          <a:p>
            <a:pPr algn="l"/>
            <a:r>
              <a:rPr sz="1500" b="0" i="0">
                <a:solidFill>
                  <a:srgbClr val="0F1E36"/>
                </a:solidFill>
                <a:latin typeface="Calibri"/>
              </a:rPr>
              <a:t>tasa η: 0,03, 0,1</a:t>
            </a:r>
          </a:p>
          <a:p>
            <a:pPr algn="l"/>
            <a:r>
              <a:rPr sz="1500" b="0" i="0">
                <a:solidFill>
                  <a:srgbClr val="0F1E36"/>
                </a:solidFill>
                <a:latin typeface="Calibri"/>
              </a:rPr>
              <a:t>penalización λ: 0,5, 1, 2</a:t>
            </a:r>
          </a:p>
          <a:p>
            <a:pPr algn="l"/>
            <a:r>
              <a:rPr sz="1500" b="1" i="0">
                <a:solidFill>
                  <a:srgbClr val="6D28D9"/>
                </a:solidFill>
                <a:latin typeface="Calibri"/>
              </a:rPr>
              <a:t>24 combinaciones</a:t>
            </a:r>
          </a:p>
        </p:txBody>
      </p:sp>
      <p:sp>
        <p:nvSpPr>
          <p:cNvPr id="13" name="Rectangle 12"/>
          <p:cNvSpPr/>
          <p:nvPr/>
        </p:nvSpPr>
        <p:spPr>
          <a:xfrm>
            <a:off x="731520" y="3227832"/>
            <a:ext cx="73152" cy="13167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0120" y="3154680"/>
            <a:ext cx="2651760" cy="1463040"/>
          </a:xfrm>
          <a:prstGeom prst="rect">
            <a:avLst/>
          </a:prstGeom>
          <a:noFill/>
        </p:spPr>
        <p:txBody>
          <a:bodyPr wrap="square" anchor="ctr" lIns="0" rIns="0" tIns="0" bIns="0">
            <a:spAutoFit/>
          </a:bodyPr>
          <a:lstStyle/>
          <a:p>
            <a:pPr algn="l"/>
            <a:r>
              <a:rPr sz="2100" b="1" i="0">
                <a:solidFill>
                  <a:srgbClr val="0F766E"/>
                </a:solidFill>
                <a:latin typeface="Calibri"/>
              </a:rPr>
              <a:t>SVM (kernel RBF)</a:t>
            </a:r>
          </a:p>
          <a:p>
            <a:pPr algn="l"/>
            <a:r>
              <a:rPr sz="1500" b="0" i="0">
                <a:solidFill>
                  <a:srgbClr val="55657E"/>
                </a:solidFill>
                <a:latin typeface="Calibri"/>
              </a:rPr>
              <a:t>frontera de máxima separación, curva</a:t>
            </a:r>
          </a:p>
        </p:txBody>
      </p:sp>
      <p:pic>
        <p:nvPicPr>
          <p:cNvPr id="15" name="Picture 14" descr="svm.png"/>
          <p:cNvPicPr>
            <a:picLocks noChangeAspect="1"/>
          </p:cNvPicPr>
          <p:nvPr/>
        </p:nvPicPr>
        <p:blipFill>
          <a:blip r:embed="rId4"/>
          <a:stretch>
            <a:fillRect/>
          </a:stretch>
        </p:blipFill>
        <p:spPr>
          <a:xfrm>
            <a:off x="3657600" y="3372889"/>
            <a:ext cx="3233858" cy="1026621"/>
          </a:xfrm>
          <a:prstGeom prst="rect">
            <a:avLst/>
          </a:prstGeom>
        </p:spPr>
      </p:pic>
      <p:sp>
        <p:nvSpPr>
          <p:cNvPr id="16" name="TextBox 15"/>
          <p:cNvSpPr txBox="1"/>
          <p:nvPr/>
        </p:nvSpPr>
        <p:spPr>
          <a:xfrm>
            <a:off x="8138160" y="3154680"/>
            <a:ext cx="3154680" cy="1463040"/>
          </a:xfrm>
          <a:prstGeom prst="rect">
            <a:avLst/>
          </a:prstGeom>
          <a:noFill/>
        </p:spPr>
        <p:txBody>
          <a:bodyPr wrap="square" anchor="ctr" lIns="0" rIns="0" tIns="0" bIns="0">
            <a:spAutoFit/>
          </a:bodyPr>
          <a:lstStyle/>
          <a:p>
            <a:pPr algn="l"/>
            <a:r>
              <a:rPr sz="1500" b="0" i="0">
                <a:solidFill>
                  <a:srgbClr val="0F1E36"/>
                </a:solidFill>
                <a:latin typeface="Calibri"/>
              </a:rPr>
              <a:t>C: 0,1 a 10 (5 valores)</a:t>
            </a:r>
          </a:p>
          <a:p>
            <a:pPr algn="l"/>
            <a:r>
              <a:rPr sz="1500" b="0" i="0">
                <a:solidFill>
                  <a:srgbClr val="0F1E36"/>
                </a:solidFill>
                <a:latin typeface="Calibri"/>
              </a:rPr>
              <a:t>γ: scale, auto, 0,01, 0,1</a:t>
            </a:r>
          </a:p>
          <a:p>
            <a:pPr algn="l"/>
            <a:r>
              <a:rPr sz="1500" b="1" i="0">
                <a:solidFill>
                  <a:srgbClr val="0F766E"/>
                </a:solidFill>
                <a:latin typeface="Calibri"/>
              </a:rPr>
              <a:t>20 combinaciones</a:t>
            </a:r>
          </a:p>
        </p:txBody>
      </p:sp>
      <p:sp>
        <p:nvSpPr>
          <p:cNvPr id="17" name="Rounded Rectangle 16"/>
          <p:cNvSpPr/>
          <p:nvPr/>
        </p:nvSpPr>
        <p:spPr>
          <a:xfrm>
            <a:off x="731520" y="4892040"/>
            <a:ext cx="10515600" cy="777240"/>
          </a:xfrm>
          <a:prstGeom prst="roundRect">
            <a:avLst>
              <a:gd name="adj" fmla="val 6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60120" y="4937760"/>
            <a:ext cx="10149840" cy="685800"/>
          </a:xfrm>
          <a:prstGeom prst="rect">
            <a:avLst/>
          </a:prstGeom>
          <a:noFill/>
        </p:spPr>
        <p:txBody>
          <a:bodyPr wrap="square" anchor="ctr" lIns="0" rIns="0" tIns="0" bIns="0">
            <a:spAutoFit/>
          </a:bodyPr>
          <a:lstStyle/>
          <a:p>
            <a:pPr algn="l"/>
            <a:r>
              <a:rPr sz="1700" b="1" i="0">
                <a:solidFill>
                  <a:srgbClr val="1F5FAE"/>
                </a:solidFill>
                <a:latin typeface="Calibri"/>
              </a:rPr>
              <a:t>Presupuesto equilibrado: </a:t>
            </a:r>
            <a:r>
              <a:rPr sz="1700" b="0" i="0">
                <a:solidFill>
                  <a:srgbClr val="0F1E36"/>
                </a:solidFill>
                <a:latin typeface="Calibri"/>
              </a:rPr>
              <a:t>16-24 combinaciones por algoritmo · ante empate, el más simple: LR → Árbol → RF → XGBoost → SVM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15</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C2410C"/>
                </a:solidFill>
                <a:latin typeface="Calibri"/>
              </a:rPr>
              <a:t>FASE 4 · MODELADO</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Validación cruzada anidada</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Los datos de evaluación nunca participan en una decisión del modelo</a:t>
            </a:r>
          </a:p>
        </p:txBody>
      </p:sp>
      <p:pic>
        <p:nvPicPr>
          <p:cNvPr id="8" name="Picture 7" descr="d2_anidada.png"/>
          <p:cNvPicPr>
            <a:picLocks noChangeAspect="1"/>
          </p:cNvPicPr>
          <p:nvPr/>
        </p:nvPicPr>
        <p:blipFill>
          <a:blip r:embed="rId3"/>
          <a:stretch>
            <a:fillRect/>
          </a:stretch>
        </p:blipFill>
        <p:spPr>
          <a:xfrm>
            <a:off x="731520" y="2585791"/>
            <a:ext cx="10515600" cy="214361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16</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C2410C"/>
                </a:solidFill>
                <a:latin typeface="Calibri"/>
              </a:rPr>
              <a:t>FASE 4 · MODELADO</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¿Cuántas variables necesitamos?</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Seis variables académicas rinden igual que las 19 candidatas</a:t>
            </a:r>
          </a:p>
        </p:txBody>
      </p:sp>
      <p:pic>
        <p:nvPicPr>
          <p:cNvPr id="8" name="Picture 7" descr="f06_ablacion.png"/>
          <p:cNvPicPr>
            <a:picLocks noChangeAspect="1"/>
          </p:cNvPicPr>
          <p:nvPr/>
        </p:nvPicPr>
        <p:blipFill>
          <a:blip r:embed="rId3"/>
          <a:stretch>
            <a:fillRect/>
          </a:stretch>
        </p:blipFill>
        <p:spPr>
          <a:xfrm>
            <a:off x="2418080" y="1463040"/>
            <a:ext cx="7142480" cy="43434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17</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C2410C"/>
                </a:solidFill>
                <a:latin typeface="Calibri"/>
              </a:rPr>
              <a:t>FASE 4 · MODELADO</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Hiperparámetros elegidos por Random Forest</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Frecuencia en las 50 particiones externas: árboles poco profundos</a:t>
            </a:r>
          </a:p>
        </p:txBody>
      </p:sp>
      <p:pic>
        <p:nvPicPr>
          <p:cNvPr id="8" name="Picture 7" descr="f08_hiperparametros.png"/>
          <p:cNvPicPr>
            <a:picLocks noChangeAspect="1"/>
          </p:cNvPicPr>
          <p:nvPr/>
        </p:nvPicPr>
        <p:blipFill>
          <a:blip r:embed="rId3"/>
          <a:stretch>
            <a:fillRect/>
          </a:stretch>
        </p:blipFill>
        <p:spPr>
          <a:xfrm>
            <a:off x="731520" y="1836018"/>
            <a:ext cx="10515600" cy="359744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18</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C2410C"/>
                </a:solidFill>
                <a:latin typeface="Calibri"/>
              </a:rPr>
              <a:t>FASE 4 · MODELADO</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Importancia por permutación</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El promedio del 1.er semestre concentra la señal</a:t>
            </a:r>
          </a:p>
        </p:txBody>
      </p:sp>
      <p:pic>
        <p:nvPicPr>
          <p:cNvPr id="8" name="Picture 7" descr="f07_permutacion.png"/>
          <p:cNvPicPr>
            <a:picLocks noChangeAspect="1"/>
          </p:cNvPicPr>
          <p:nvPr/>
        </p:nvPicPr>
        <p:blipFill>
          <a:blip r:embed="rId3"/>
          <a:stretch>
            <a:fillRect/>
          </a:stretch>
        </p:blipFill>
        <p:spPr>
          <a:xfrm>
            <a:off x="3093720" y="1463040"/>
            <a:ext cx="5791200" cy="43434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19</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6D28D9"/>
                </a:solidFill>
                <a:latin typeface="Calibri"/>
              </a:rPr>
              <a:t>FASE 5 · EVALUACIÓN</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Comparación de algoritmos · AUC-PR</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Art. 19 · 80 estudiantes · 10 repeticiones × 5 particiones</a:t>
            </a:r>
          </a:p>
        </p:txBody>
      </p:sp>
      <p:pic>
        <p:nvPicPr>
          <p:cNvPr id="8" name="Picture 7" descr="aucpr.png"/>
          <p:cNvPicPr>
            <a:picLocks noChangeAspect="1"/>
          </p:cNvPicPr>
          <p:nvPr/>
        </p:nvPicPr>
        <p:blipFill>
          <a:blip r:embed="rId3"/>
          <a:stretch>
            <a:fillRect/>
          </a:stretch>
        </p:blipFill>
        <p:spPr>
          <a:xfrm>
            <a:off x="8749982" y="914400"/>
            <a:ext cx="2251075" cy="457200"/>
          </a:xfrm>
          <a:prstGeom prst="rect">
            <a:avLst/>
          </a:prstGeom>
        </p:spPr>
      </p:pic>
      <p:pic>
        <p:nvPicPr>
          <p:cNvPr id="9" name="Picture 8" descr="f09_aucpr_repeticiones.png"/>
          <p:cNvPicPr>
            <a:picLocks noChangeAspect="1"/>
          </p:cNvPicPr>
          <p:nvPr/>
        </p:nvPicPr>
        <p:blipFill>
          <a:blip r:embed="rId4"/>
          <a:stretch>
            <a:fillRect/>
          </a:stretch>
        </p:blipFill>
        <p:spPr>
          <a:xfrm>
            <a:off x="777240" y="1508760"/>
            <a:ext cx="10424159" cy="42976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20</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6D28D9"/>
                </a:solidFill>
                <a:latin typeface="Calibri"/>
              </a:rPr>
              <a:t>FASE 5 · EVALUACIÓN</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Comparaciones pareadas</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Diferencia de AUC-PR (fila − columna) · t corregida de Nadeau-Bengio</a:t>
            </a:r>
          </a:p>
        </p:txBody>
      </p:sp>
      <p:pic>
        <p:nvPicPr>
          <p:cNvPr id="8" name="Picture 7" descr="f10_pareadas.png"/>
          <p:cNvPicPr>
            <a:picLocks noChangeAspect="1"/>
          </p:cNvPicPr>
          <p:nvPr/>
        </p:nvPicPr>
        <p:blipFill>
          <a:blip r:embed="rId3"/>
          <a:stretch>
            <a:fillRect/>
          </a:stretch>
        </p:blipFill>
        <p:spPr>
          <a:xfrm>
            <a:off x="906617" y="1463040"/>
            <a:ext cx="10165404" cy="43434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21</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6D28D9"/>
                </a:solidFill>
                <a:latin typeface="Calibri"/>
              </a:rPr>
              <a:t>FASE 5 · EVALUACIÓN</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Curvas de precisión-exhaustividad y ROC</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Predicciones fuera de muestra, promediadas en las 10 repeticiones</a:t>
            </a:r>
          </a:p>
        </p:txBody>
      </p:sp>
      <p:pic>
        <p:nvPicPr>
          <p:cNvPr id="8" name="Picture 7" descr="f11_curvas.png"/>
          <p:cNvPicPr>
            <a:picLocks noChangeAspect="1"/>
          </p:cNvPicPr>
          <p:nvPr/>
        </p:nvPicPr>
        <p:blipFill>
          <a:blip r:embed="rId3"/>
          <a:stretch>
            <a:fillRect/>
          </a:stretch>
        </p:blipFill>
        <p:spPr>
          <a:xfrm>
            <a:off x="936793" y="1463040"/>
            <a:ext cx="10105053" cy="43434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22</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6D28D9"/>
                </a:solidFill>
                <a:latin typeface="Calibri"/>
              </a:rPr>
              <a:t>FASE 5 · EVALUACIÓN</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Matrices de confusión · dos niveles de alerta</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Confirmado: 12 de 13 alertas aciertan · Seguimiento: detecta 15 de 19</a:t>
            </a:r>
          </a:p>
        </p:txBody>
      </p:sp>
      <p:pic>
        <p:nvPicPr>
          <p:cNvPr id="8" name="Picture 7" descr="f12_confusion.png"/>
          <p:cNvPicPr>
            <a:picLocks noChangeAspect="1"/>
          </p:cNvPicPr>
          <p:nvPr/>
        </p:nvPicPr>
        <p:blipFill>
          <a:blip r:embed="rId3"/>
          <a:stretch>
            <a:fillRect/>
          </a:stretch>
        </p:blipFill>
        <p:spPr>
          <a:xfrm>
            <a:off x="731520" y="1483821"/>
            <a:ext cx="10515599" cy="430183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23</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6D28D9"/>
                </a:solidFill>
                <a:latin typeface="Calibri"/>
              </a:rPr>
              <a:t>FASE 5 · EVALUACIÓN</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Elección del umbral</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Cuántos estudiantes acompañar lo decide la Universidad, no el modelo</a:t>
            </a:r>
          </a:p>
        </p:txBody>
      </p:sp>
      <p:pic>
        <p:nvPicPr>
          <p:cNvPr id="8" name="Picture 7" descr="f13_umbral.png"/>
          <p:cNvPicPr>
            <a:picLocks noChangeAspect="1"/>
          </p:cNvPicPr>
          <p:nvPr/>
        </p:nvPicPr>
        <p:blipFill>
          <a:blip r:embed="rId3"/>
          <a:stretch>
            <a:fillRect/>
          </a:stretch>
        </p:blipFill>
        <p:spPr>
          <a:xfrm>
            <a:off x="790987" y="1463040"/>
            <a:ext cx="10396664" cy="43434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24</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6D28D9"/>
                </a:solidFill>
                <a:latin typeface="Calibri"/>
              </a:rPr>
              <a:t>FASE 5 · EVALUACIÓN</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Segundo objetivo · graduación</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SVM y Random Forest empatan (p = 0,39) → se elige Random Forest</a:t>
            </a:r>
          </a:p>
        </p:txBody>
      </p:sp>
      <p:pic>
        <p:nvPicPr>
          <p:cNvPr id="8" name="Picture 7" descr="f14_graduacion.png"/>
          <p:cNvPicPr>
            <a:picLocks noChangeAspect="1"/>
          </p:cNvPicPr>
          <p:nvPr/>
        </p:nvPicPr>
        <p:blipFill>
          <a:blip r:embed="rId3"/>
          <a:stretch>
            <a:fillRect/>
          </a:stretch>
        </p:blipFill>
        <p:spPr>
          <a:xfrm>
            <a:off x="731520" y="1515267"/>
            <a:ext cx="10515600" cy="423894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25</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6D28D9"/>
                </a:solidFill>
                <a:latin typeface="Calibri"/>
              </a:rPr>
              <a:t>FASE 5 · EVALUACIÓN</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Límite 1 · casos simultáneos</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42 % de los casos ocurre en el 1.er semestre: ahí el modelo confirma</a:t>
            </a:r>
          </a:p>
        </p:txBody>
      </p:sp>
      <p:pic>
        <p:nvPicPr>
          <p:cNvPr id="8" name="Picture 7" descr="f15_simultaneidad.png"/>
          <p:cNvPicPr>
            <a:picLocks noChangeAspect="1"/>
          </p:cNvPicPr>
          <p:nvPr/>
        </p:nvPicPr>
        <p:blipFill>
          <a:blip r:embed="rId3"/>
          <a:stretch>
            <a:fillRect/>
          </a:stretch>
        </p:blipFill>
        <p:spPr>
          <a:xfrm>
            <a:off x="3059350" y="1463040"/>
            <a:ext cx="5859938" cy="43434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26</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6D28D9"/>
                </a:solidFill>
                <a:latin typeface="Calibri"/>
              </a:rPr>
              <a:t>FASE 5 · EVALUACIÓN</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Límite 2 · calibración</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Calibrar no mejora: se muestran niveles, no porcentajes</a:t>
            </a:r>
          </a:p>
        </p:txBody>
      </p:sp>
      <p:pic>
        <p:nvPicPr>
          <p:cNvPr id="8" name="Picture 7" descr="f16_calibracion.png"/>
          <p:cNvPicPr>
            <a:picLocks noChangeAspect="1"/>
          </p:cNvPicPr>
          <p:nvPr/>
        </p:nvPicPr>
        <p:blipFill>
          <a:blip r:embed="rId3"/>
          <a:stretch>
            <a:fillRect/>
          </a:stretch>
        </p:blipFill>
        <p:spPr>
          <a:xfrm>
            <a:off x="3643884" y="1463040"/>
            <a:ext cx="4690872" cy="43434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27</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6D28D9"/>
                </a:solidFill>
                <a:latin typeface="Calibri"/>
              </a:rPr>
              <a:t>FASE 5 · EVALUACIÓN</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Límite 3 · predicción semestre a semestre</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Sin señal sobre el azar: el seguimiento usa el reglamento</a:t>
            </a:r>
          </a:p>
        </p:txBody>
      </p:sp>
      <p:pic>
        <p:nvPicPr>
          <p:cNvPr id="8" name="Picture 7" descr="f17_semestral.png"/>
          <p:cNvPicPr>
            <a:picLocks noChangeAspect="1"/>
          </p:cNvPicPr>
          <p:nvPr/>
        </p:nvPicPr>
        <p:blipFill>
          <a:blip r:embed="rId3"/>
          <a:stretch>
            <a:fillRect/>
          </a:stretch>
        </p:blipFill>
        <p:spPr>
          <a:xfrm>
            <a:off x="2870320" y="1463040"/>
            <a:ext cx="6237998" cy="43434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28</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6D28D9"/>
                </a:solidFill>
                <a:latin typeface="Calibri"/>
              </a:rPr>
              <a:t>FASE 5 · EVALUACIÓN</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Robustez · cambio al plan 2018</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El desempeño se mantiene; los umbrales se ajustarán con la primera cohorte</a:t>
            </a:r>
          </a:p>
        </p:txBody>
      </p:sp>
      <p:pic>
        <p:nvPicPr>
          <p:cNvPr id="8" name="Picture 7" descr="f18_plan.png"/>
          <p:cNvPicPr>
            <a:picLocks noChangeAspect="1"/>
          </p:cNvPicPr>
          <p:nvPr/>
        </p:nvPicPr>
        <p:blipFill>
          <a:blip r:embed="rId3"/>
          <a:stretch>
            <a:fillRect/>
          </a:stretch>
        </p:blipFill>
        <p:spPr>
          <a:xfrm>
            <a:off x="2830483" y="1463040"/>
            <a:ext cx="6317672" cy="43434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29</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0F766E"/>
                </a:solidFill>
                <a:latin typeface="Calibri"/>
              </a:rPr>
              <a:t>FASE 6 · DESPLIEGUE</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TRAYECTA</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Alerta y trayectoria académica · referencia: SPADIES, a escala de programa</a:t>
            </a:r>
          </a:p>
        </p:txBody>
      </p:sp>
      <p:pic>
        <p:nvPicPr>
          <p:cNvPr id="8" name="Picture 7" descr="d3_trayecta.png"/>
          <p:cNvPicPr>
            <a:picLocks noChangeAspect="1"/>
          </p:cNvPicPr>
          <p:nvPr/>
        </p:nvPicPr>
        <p:blipFill>
          <a:blip r:embed="rId3"/>
          <a:stretch>
            <a:fillRect/>
          </a:stretch>
        </p:blipFill>
        <p:spPr>
          <a:xfrm>
            <a:off x="1803231" y="1600200"/>
            <a:ext cx="8372176" cy="2103120"/>
          </a:xfrm>
          <a:prstGeom prst="rect">
            <a:avLst/>
          </a:prstGeom>
        </p:spPr>
      </p:pic>
      <p:graphicFrame>
        <p:nvGraphicFramePr>
          <p:cNvPr id="9" name="Table 8"/>
          <p:cNvGraphicFramePr>
            <a:graphicFrameLocks noGrp="1"/>
          </p:cNvGraphicFramePr>
          <p:nvPr/>
        </p:nvGraphicFramePr>
        <p:xfrm>
          <a:off x="731520" y="3931920"/>
          <a:ext cx="10515600" cy="1828800"/>
        </p:xfrm>
        <a:graphic>
          <a:graphicData uri="http://schemas.openxmlformats.org/drawingml/2006/table">
            <a:tbl>
              <a:tblPr firstRow="1" bandRow="1">
                <a:tableStyleId>{5C22544A-7EE6-4342-B048-85BDC9FD1C3A}</a:tableStyleId>
              </a:tblPr>
              <a:tblGrid>
                <a:gridCol w="2468880"/>
                <a:gridCol w="3566160"/>
                <a:gridCol w="4480560"/>
              </a:tblGrid>
              <a:tr h="457200">
                <a:tc>
                  <a:txBody>
                    <a:bodyPr/>
                    <a:lstStyle/>
                    <a:p>
                      <a:pPr algn="l"/>
                      <a:r>
                        <a:rPr sz="1650" b="1">
                          <a:solidFill>
                            <a:srgbClr val="55657E"/>
                          </a:solidFill>
                          <a:latin typeface="Calibri"/>
                        </a:rPr>
                        <a:t/>
                      </a:r>
                    </a:p>
                  </a:txBody>
                  <a:tcPr marL="73152" marR="73152" anchor="ctr">
                    <a:solidFill>
                      <a:srgbClr val="E3EAF4"/>
                    </a:solidFill>
                  </a:tcPr>
                </a:tc>
                <a:tc>
                  <a:txBody>
                    <a:bodyPr/>
                    <a:lstStyle/>
                    <a:p>
                      <a:pPr algn="l"/>
                      <a:r>
                        <a:rPr sz="1650" b="1">
                          <a:solidFill>
                            <a:srgbClr val="55657E"/>
                          </a:solidFill>
                          <a:latin typeface="Calibri"/>
                        </a:rPr>
                        <a:t>SPADIES (nacional)</a:t>
                      </a:r>
                    </a:p>
                  </a:txBody>
                  <a:tcPr marL="73152" marR="73152" anchor="ctr">
                    <a:solidFill>
                      <a:srgbClr val="E3EAF4"/>
                    </a:solidFill>
                  </a:tcPr>
                </a:tc>
                <a:tc>
                  <a:txBody>
                    <a:bodyPr/>
                    <a:lstStyle/>
                    <a:p>
                      <a:pPr algn="l"/>
                      <a:r>
                        <a:rPr sz="1650" b="1">
                          <a:solidFill>
                            <a:srgbClr val="55657E"/>
                          </a:solidFill>
                          <a:latin typeface="Calibri"/>
                        </a:rPr>
                        <a:t>TRAYECTA (este trabajo)</a:t>
                      </a:r>
                    </a:p>
                  </a:txBody>
                  <a:tcPr marL="73152" marR="73152" anchor="ctr">
                    <a:solidFill>
                      <a:srgbClr val="E3EAF4"/>
                    </a:solidFill>
                  </a:tcPr>
                </a:tc>
              </a:tr>
              <a:tr h="457200">
                <a:tc>
                  <a:txBody>
                    <a:bodyPr/>
                    <a:lstStyle/>
                    <a:p>
                      <a:pPr algn="l"/>
                      <a:r>
                        <a:rPr sz="1700" b="0">
                          <a:solidFill>
                            <a:srgbClr val="0F1E36"/>
                          </a:solidFill>
                          <a:latin typeface="Calibri"/>
                        </a:rPr>
                        <a:t>Unidad</a:t>
                      </a:r>
                    </a:p>
                  </a:txBody>
                  <a:tcPr marL="73152" marR="73152" anchor="ctr">
                    <a:solidFill>
                      <a:srgbClr val="FFFFFF"/>
                    </a:solidFill>
                  </a:tcPr>
                </a:tc>
                <a:tc>
                  <a:txBody>
                    <a:bodyPr/>
                    <a:lstStyle/>
                    <a:p>
                      <a:pPr algn="l"/>
                      <a:r>
                        <a:rPr sz="1700" b="0">
                          <a:solidFill>
                            <a:srgbClr val="0F1E36"/>
                          </a:solidFill>
                          <a:latin typeface="Calibri"/>
                        </a:rPr>
                        <a:t>instituciones del país</a:t>
                      </a:r>
                    </a:p>
                  </a:txBody>
                  <a:tcPr marL="73152" marR="73152" anchor="ctr">
                    <a:solidFill>
                      <a:srgbClr val="FFFFFF"/>
                    </a:solidFill>
                  </a:tcPr>
                </a:tc>
                <a:tc>
                  <a:txBody>
                    <a:bodyPr/>
                    <a:lstStyle/>
                    <a:p>
                      <a:pPr algn="l"/>
                      <a:r>
                        <a:rPr sz="1700" b="0">
                          <a:solidFill>
                            <a:srgbClr val="0F1E36"/>
                          </a:solidFill>
                          <a:latin typeface="Calibri"/>
                        </a:rPr>
                        <a:t>un programa</a:t>
                      </a:r>
                    </a:p>
                  </a:txBody>
                  <a:tcPr marL="73152" marR="73152" anchor="ctr">
                    <a:solidFill>
                      <a:srgbClr val="FFFFFF"/>
                    </a:solidFill>
                  </a:tcPr>
                </a:tc>
              </a:tr>
              <a:tr h="457200">
                <a:tc>
                  <a:txBody>
                    <a:bodyPr/>
                    <a:lstStyle/>
                    <a:p>
                      <a:pPr algn="l"/>
                      <a:r>
                        <a:rPr sz="1700" b="0">
                          <a:solidFill>
                            <a:srgbClr val="0F1E36"/>
                          </a:solidFill>
                          <a:latin typeface="Calibri"/>
                        </a:rPr>
                        <a:t>Criterio de riesgo</a:t>
                      </a:r>
                    </a:p>
                  </a:txBody>
                  <a:tcPr marL="73152" marR="73152" anchor="ctr">
                    <a:solidFill>
                      <a:srgbClr val="F7F9FC"/>
                    </a:solidFill>
                  </a:tcPr>
                </a:tc>
                <a:tc>
                  <a:txBody>
                    <a:bodyPr/>
                    <a:lstStyle/>
                    <a:p>
                      <a:pPr algn="l"/>
                      <a:r>
                        <a:rPr sz="1700" b="0">
                          <a:solidFill>
                            <a:srgbClr val="0F1E36"/>
                          </a:solidFill>
                          <a:latin typeface="Calibri"/>
                        </a:rPr>
                        <a:t>deserción</a:t>
                      </a:r>
                    </a:p>
                  </a:txBody>
                  <a:tcPr marL="73152" marR="73152" anchor="ctr">
                    <a:solidFill>
                      <a:srgbClr val="F7F9FC"/>
                    </a:solidFill>
                  </a:tcPr>
                </a:tc>
                <a:tc>
                  <a:txBody>
                    <a:bodyPr/>
                    <a:lstStyle/>
                    <a:p>
                      <a:pPr algn="l"/>
                      <a:r>
                        <a:rPr sz="1700" b="0">
                          <a:solidFill>
                            <a:srgbClr val="0F1E36"/>
                          </a:solidFill>
                          <a:latin typeface="Calibri"/>
                        </a:rPr>
                        <a:t>Reglamento: arts. 19, 20 y 21</a:t>
                      </a:r>
                    </a:p>
                  </a:txBody>
                  <a:tcPr marL="73152" marR="73152" anchor="ctr">
                    <a:solidFill>
                      <a:srgbClr val="F7F9FC"/>
                    </a:solidFill>
                  </a:tcPr>
                </a:tc>
              </a:tr>
              <a:tr h="457200">
                <a:tc>
                  <a:txBody>
                    <a:bodyPr/>
                    <a:lstStyle/>
                    <a:p>
                      <a:pPr algn="l"/>
                      <a:r>
                        <a:rPr sz="1700" b="0">
                          <a:solidFill>
                            <a:srgbClr val="0F1E36"/>
                          </a:solidFill>
                          <a:latin typeface="Calibri"/>
                        </a:rPr>
                        <a:t>Planes de estudio</a:t>
                      </a:r>
                    </a:p>
                  </a:txBody>
                  <a:tcPr marL="73152" marR="73152" anchor="ctr">
                    <a:solidFill>
                      <a:srgbClr val="FFFFFF"/>
                    </a:solidFill>
                  </a:tcPr>
                </a:tc>
                <a:tc>
                  <a:txBody>
                    <a:bodyPr/>
                    <a:lstStyle/>
                    <a:p>
                      <a:pPr algn="l"/>
                      <a:r>
                        <a:rPr sz="1700" b="0">
                          <a:solidFill>
                            <a:srgbClr val="0F1E36"/>
                          </a:solidFill>
                          <a:latin typeface="Calibri"/>
                        </a:rPr>
                        <a:t>fuera de su alcance</a:t>
                      </a:r>
                    </a:p>
                  </a:txBody>
                  <a:tcPr marL="73152" marR="73152" anchor="ctr">
                    <a:solidFill>
                      <a:srgbClr val="FFFFFF"/>
                    </a:solidFill>
                  </a:tcPr>
                </a:tc>
                <a:tc>
                  <a:txBody>
                    <a:bodyPr/>
                    <a:lstStyle/>
                    <a:p>
                      <a:pPr algn="l"/>
                      <a:r>
                        <a:rPr sz="1700" b="0">
                          <a:solidFill>
                            <a:srgbClr val="0F1E36"/>
                          </a:solidFill>
                          <a:latin typeface="Calibri"/>
                        </a:rPr>
                        <a:t>equivalencias 2011 ↔ 2018</a:t>
                      </a:r>
                    </a:p>
                  </a:txBody>
                  <a:tcPr marL="73152" marR="73152"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30</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0F766E"/>
                </a:solidFill>
                <a:latin typeface="Calibri"/>
              </a:rPr>
              <a:t>FASE 6 · DESPLIEGUE</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Demostración · panorama de la cohorte</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Cohorte simulada · modelos entrenados con los datos reales</a:t>
            </a:r>
          </a:p>
        </p:txBody>
      </p:sp>
      <p:pic>
        <p:nvPicPr>
          <p:cNvPr id="8" name="Picture 7" descr="app_panorama.png"/>
          <p:cNvPicPr>
            <a:picLocks noChangeAspect="1"/>
          </p:cNvPicPr>
          <p:nvPr/>
        </p:nvPicPr>
        <p:blipFill>
          <a:blip r:embed="rId3"/>
          <a:stretch>
            <a:fillRect/>
          </a:stretch>
        </p:blipFill>
        <p:spPr>
          <a:xfrm>
            <a:off x="2128519" y="1463040"/>
            <a:ext cx="7721600" cy="43434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31</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0F766E"/>
                </a:solidFill>
                <a:latin typeface="Calibri"/>
              </a:rPr>
              <a:t>FASE 6 · DESPLIEGUE</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Demostración · ficha y carga de cohortes</a:t>
            </a:r>
          </a:p>
        </p:txBody>
      </p:sp>
      <p:sp>
        <p:nvSpPr>
          <p:cNvPr id="7" name="TextBox 6"/>
          <p:cNvSpPr txBox="1"/>
          <p:nvPr/>
        </p:nvSpPr>
        <p:spPr>
          <a:xfrm>
            <a:off x="731520" y="969264"/>
            <a:ext cx="10607040" cy="411480"/>
          </a:xfrm>
          <a:prstGeom prst="rect">
            <a:avLst/>
          </a:prstGeom>
          <a:noFill/>
        </p:spPr>
        <p:txBody>
          <a:bodyPr wrap="square" anchor="t" lIns="0" rIns="0" tIns="0" bIns="0">
            <a:spAutoFit/>
          </a:bodyPr>
          <a:lstStyle/>
          <a:p>
            <a:pPr algn="l"/>
            <a:r>
              <a:rPr sz="1800" b="0" i="0">
                <a:solidFill>
                  <a:srgbClr val="55657E"/>
                </a:solidFill>
                <a:latin typeface="Calibri"/>
              </a:rPr>
              <a:t>Recorrido semestre a semestre · validación del plan de estudios</a:t>
            </a:r>
          </a:p>
        </p:txBody>
      </p:sp>
      <p:pic>
        <p:nvPicPr>
          <p:cNvPr id="8" name="Picture 7" descr="c_ficha.png"/>
          <p:cNvPicPr>
            <a:picLocks noChangeAspect="1"/>
          </p:cNvPicPr>
          <p:nvPr/>
        </p:nvPicPr>
        <p:blipFill>
          <a:blip r:embed="rId3"/>
          <a:stretch>
            <a:fillRect/>
          </a:stretch>
        </p:blipFill>
        <p:spPr>
          <a:xfrm>
            <a:off x="731520" y="1591553"/>
            <a:ext cx="6309360" cy="4086373"/>
          </a:xfrm>
          <a:prstGeom prst="rect">
            <a:avLst/>
          </a:prstGeom>
        </p:spPr>
      </p:pic>
      <p:pic>
        <p:nvPicPr>
          <p:cNvPr id="9" name="Picture 8" descr="c_carga.png"/>
          <p:cNvPicPr>
            <a:picLocks noChangeAspect="1"/>
          </p:cNvPicPr>
          <p:nvPr/>
        </p:nvPicPr>
        <p:blipFill>
          <a:blip r:embed="rId4"/>
          <a:stretch>
            <a:fillRect/>
          </a:stretch>
        </p:blipFill>
        <p:spPr>
          <a:xfrm>
            <a:off x="7223760" y="1855568"/>
            <a:ext cx="4023360" cy="1500942"/>
          </a:xfrm>
          <a:prstGeom prst="rect">
            <a:avLst/>
          </a:prstGeom>
        </p:spPr>
      </p:pic>
      <p:sp>
        <p:nvSpPr>
          <p:cNvPr id="10" name="TextBox 9"/>
          <p:cNvSpPr txBox="1"/>
          <p:nvPr/>
        </p:nvSpPr>
        <p:spPr>
          <a:xfrm>
            <a:off x="7223760" y="3840480"/>
            <a:ext cx="4023360" cy="1463040"/>
          </a:xfrm>
          <a:prstGeom prst="rect">
            <a:avLst/>
          </a:prstGeom>
          <a:noFill/>
        </p:spPr>
        <p:txBody>
          <a:bodyPr wrap="square" anchor="t" lIns="0" rIns="0" tIns="0" bIns="0">
            <a:spAutoFit/>
          </a:bodyPr>
          <a:lstStyle/>
          <a:p>
            <a:pPr algn="l"/>
            <a:r>
              <a:rPr sz="1800" b="1" i="0">
                <a:solidFill>
                  <a:srgbClr val="0F766E"/>
                </a:solidFill>
                <a:latin typeface="Calibri"/>
              </a:rPr>
              <a:t>Al cargar una cohorte</a:t>
            </a:r>
          </a:p>
          <a:p>
            <a:pPr algn="l"/>
            <a:r>
              <a:rPr sz="1700" b="0" i="0">
                <a:solidFill>
                  <a:srgbClr val="0F1E36"/>
                </a:solidFill>
                <a:latin typeface="Calibri"/>
              </a:rPr>
              <a:t>reconoce el plan, valida cada código y advierte planes mezclados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32</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Conclusiones</a:t>
            </a:r>
          </a:p>
        </p:txBody>
      </p:sp>
      <p:sp>
        <p:nvSpPr>
          <p:cNvPr id="6" name="Oval 5"/>
          <p:cNvSpPr/>
          <p:nvPr/>
        </p:nvSpPr>
        <p:spPr>
          <a:xfrm>
            <a:off x="731520" y="1691640"/>
            <a:ext cx="777240" cy="777240"/>
          </a:xfrm>
          <a:prstGeom prst="ellipse">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Calibri"/>
              </a:rPr>
              <a:t>1</a:t>
            </a:r>
          </a:p>
        </p:txBody>
      </p:sp>
      <p:sp>
        <p:nvSpPr>
          <p:cNvPr id="7" name="TextBox 6"/>
          <p:cNvSpPr txBox="1"/>
          <p:nvPr/>
        </p:nvSpPr>
        <p:spPr>
          <a:xfrm>
            <a:off x="1783080" y="1463040"/>
            <a:ext cx="4160520" cy="1737360"/>
          </a:xfrm>
          <a:prstGeom prst="rect">
            <a:avLst/>
          </a:prstGeom>
          <a:noFill/>
        </p:spPr>
        <p:txBody>
          <a:bodyPr wrap="square" anchor="ctr" lIns="0" rIns="0" tIns="0" bIns="0">
            <a:spAutoFit/>
          </a:bodyPr>
          <a:lstStyle/>
          <a:p>
            <a:pPr algn="l"/>
            <a:r>
              <a:rPr sz="2300" b="1" i="0">
                <a:solidFill>
                  <a:srgbClr val="0F1E36"/>
                </a:solidFill>
                <a:latin typeface="Calibri"/>
              </a:rPr>
              <a:t>Random Forest es el más adecuado</a:t>
            </a:r>
          </a:p>
          <a:p>
            <a:pPr algn="l"/>
            <a:r>
              <a:rPr sz="1800" b="0" i="0">
                <a:solidFill>
                  <a:srgbClr val="55657E"/>
                </a:solidFill>
                <a:latin typeface="Calibri"/>
              </a:rPr>
              <a:t>AUC-PR 0,745: tres veces el azar</a:t>
            </a:r>
          </a:p>
        </p:txBody>
      </p:sp>
      <p:sp>
        <p:nvSpPr>
          <p:cNvPr id="8" name="Oval 7"/>
          <p:cNvSpPr/>
          <p:nvPr/>
        </p:nvSpPr>
        <p:spPr>
          <a:xfrm>
            <a:off x="6126480" y="1691640"/>
            <a:ext cx="777240" cy="7772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Calibri"/>
              </a:rPr>
              <a:t>2</a:t>
            </a:r>
          </a:p>
        </p:txBody>
      </p:sp>
      <p:sp>
        <p:nvSpPr>
          <p:cNvPr id="9" name="TextBox 8"/>
          <p:cNvSpPr txBox="1"/>
          <p:nvPr/>
        </p:nvSpPr>
        <p:spPr>
          <a:xfrm>
            <a:off x="7178040" y="1463040"/>
            <a:ext cx="4160520" cy="1737360"/>
          </a:xfrm>
          <a:prstGeom prst="rect">
            <a:avLst/>
          </a:prstGeom>
          <a:noFill/>
        </p:spPr>
        <p:txBody>
          <a:bodyPr wrap="square" anchor="ctr" lIns="0" rIns="0" tIns="0" bIns="0">
            <a:spAutoFit/>
          </a:bodyPr>
          <a:lstStyle/>
          <a:p>
            <a:pPr algn="l"/>
            <a:r>
              <a:rPr sz="2300" b="1" i="0">
                <a:solidFill>
                  <a:srgbClr val="0F1E36"/>
                </a:solidFill>
                <a:latin typeface="Calibri"/>
              </a:rPr>
              <a:t>El 1.er semestre concentra la señal</a:t>
            </a:r>
          </a:p>
          <a:p>
            <a:pPr algn="l"/>
            <a:r>
              <a:rPr sz="1800" b="0" i="0">
                <a:solidFill>
                  <a:srgbClr val="55657E"/>
                </a:solidFill>
                <a:latin typeface="Calibri"/>
              </a:rPr>
              <a:t>alerta a tiempo, cuando ocurre el abandono</a:t>
            </a:r>
          </a:p>
        </p:txBody>
      </p:sp>
      <p:sp>
        <p:nvSpPr>
          <p:cNvPr id="10" name="Oval 9"/>
          <p:cNvSpPr/>
          <p:nvPr/>
        </p:nvSpPr>
        <p:spPr>
          <a:xfrm>
            <a:off x="731520" y="3840480"/>
            <a:ext cx="777240" cy="77724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Calibri"/>
              </a:rPr>
              <a:t>3</a:t>
            </a:r>
          </a:p>
        </p:txBody>
      </p:sp>
      <p:sp>
        <p:nvSpPr>
          <p:cNvPr id="11" name="TextBox 10"/>
          <p:cNvSpPr txBox="1"/>
          <p:nvPr/>
        </p:nvSpPr>
        <p:spPr>
          <a:xfrm>
            <a:off x="1783080" y="3611880"/>
            <a:ext cx="4160520" cy="1737360"/>
          </a:xfrm>
          <a:prstGeom prst="rect">
            <a:avLst/>
          </a:prstGeom>
          <a:noFill/>
        </p:spPr>
        <p:txBody>
          <a:bodyPr wrap="square" anchor="ctr" lIns="0" rIns="0" tIns="0" bIns="0">
            <a:spAutoFit/>
          </a:bodyPr>
          <a:lstStyle/>
          <a:p>
            <a:pPr algn="l"/>
            <a:r>
              <a:rPr sz="2300" b="1" i="0">
                <a:solidFill>
                  <a:srgbClr val="0F1E36"/>
                </a:solidFill>
                <a:latin typeface="Calibri"/>
              </a:rPr>
              <a:t>Medir bien pesa más que el algoritmo</a:t>
            </a:r>
          </a:p>
          <a:p>
            <a:pPr algn="l"/>
            <a:r>
              <a:rPr sz="1800" b="0" i="0">
                <a:solidFill>
                  <a:srgbClr val="55657E"/>
                </a:solidFill>
                <a:latin typeface="Calibri"/>
              </a:rPr>
              <a:t>los sesgos inflaban hasta 15 puntos</a:t>
            </a:r>
          </a:p>
        </p:txBody>
      </p:sp>
      <p:sp>
        <p:nvSpPr>
          <p:cNvPr id="12" name="Oval 11"/>
          <p:cNvSpPr/>
          <p:nvPr/>
        </p:nvSpPr>
        <p:spPr>
          <a:xfrm>
            <a:off x="6126480" y="3840480"/>
            <a:ext cx="777240" cy="77724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a:solidFill>
                  <a:srgbClr val="FFFFFF"/>
                </a:solidFill>
                <a:latin typeface="Calibri"/>
              </a:rPr>
              <a:t>4</a:t>
            </a:r>
          </a:p>
        </p:txBody>
      </p:sp>
      <p:sp>
        <p:nvSpPr>
          <p:cNvPr id="13" name="TextBox 12"/>
          <p:cNvSpPr txBox="1"/>
          <p:nvPr/>
        </p:nvSpPr>
        <p:spPr>
          <a:xfrm>
            <a:off x="7178040" y="3611880"/>
            <a:ext cx="4160520" cy="1737360"/>
          </a:xfrm>
          <a:prstGeom prst="rect">
            <a:avLst/>
          </a:prstGeom>
          <a:noFill/>
        </p:spPr>
        <p:txBody>
          <a:bodyPr wrap="square" anchor="ctr" lIns="0" rIns="0" tIns="0" bIns="0">
            <a:spAutoFit/>
          </a:bodyPr>
          <a:lstStyle/>
          <a:p>
            <a:pPr algn="l"/>
            <a:r>
              <a:rPr sz="2300" b="1" i="0">
                <a:solidFill>
                  <a:srgbClr val="0F1E36"/>
                </a:solidFill>
                <a:latin typeface="Calibri"/>
              </a:rPr>
              <a:t>Un modelo honesto cabe en un producto</a:t>
            </a:r>
          </a:p>
          <a:p>
            <a:pPr algn="l"/>
            <a:r>
              <a:rPr sz="1800" b="0" i="0">
                <a:solidFill>
                  <a:srgbClr val="55657E"/>
                </a:solidFill>
                <a:latin typeface="Calibri"/>
              </a:rPr>
              <a:t>predice donde hay información; aplica el reglamento donde no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33</a:t>
            </a:r>
          </a:p>
        </p:txBody>
      </p:sp>
      <p:sp>
        <p:nvSpPr>
          <p:cNvPr id="4" name="Rectangle 3"/>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Límites y siguiente paso</a:t>
            </a:r>
          </a:p>
        </p:txBody>
      </p:sp>
      <p:sp>
        <p:nvSpPr>
          <p:cNvPr id="6" name="TextBox 5"/>
          <p:cNvSpPr txBox="1"/>
          <p:nvPr/>
        </p:nvSpPr>
        <p:spPr>
          <a:xfrm>
            <a:off x="731520" y="1554480"/>
            <a:ext cx="5760720" cy="2560320"/>
          </a:xfrm>
          <a:prstGeom prst="rect">
            <a:avLst/>
          </a:prstGeom>
          <a:noFill/>
        </p:spPr>
        <p:txBody>
          <a:bodyPr wrap="square" anchor="t" lIns="0" rIns="0" tIns="0" bIns="0">
            <a:spAutoFit/>
          </a:bodyPr>
          <a:lstStyle/>
          <a:p>
            <a:pPr algn="l">
              <a:spcAft>
                <a:spcPts val="1400"/>
              </a:spcAft>
            </a:pPr>
            <a:r>
              <a:rPr sz="2000" b="0" i="0">
                <a:solidFill>
                  <a:srgbClr val="0F1E36"/>
                </a:solidFill>
                <a:latin typeface="Calibri"/>
              </a:rPr>
              <a:t>▸  Una sola muestra de 80 estudiantes: estudio exploratorio</a:t>
            </a:r>
          </a:p>
          <a:p>
            <a:pPr algn="l">
              <a:spcAft>
                <a:spcPts val="1400"/>
              </a:spcAft>
            </a:pPr>
            <a:r>
              <a:rPr sz="2000" b="0" i="0">
                <a:solidFill>
                  <a:srgbClr val="0F1E36"/>
                </a:solidFill>
                <a:latin typeface="Calibri"/>
              </a:rPr>
              <a:t>▸  Validación con cohortes recientes, sin modificar el modelo</a:t>
            </a:r>
          </a:p>
          <a:p>
            <a:pPr algn="l">
              <a:spcAft>
                <a:spcPts val="1400"/>
              </a:spcAft>
            </a:pPr>
            <a:r>
              <a:rPr sz="2000" b="0" i="0">
                <a:solidFill>
                  <a:srgbClr val="0F1E36"/>
                </a:solidFill>
                <a:latin typeface="Calibri"/>
              </a:rPr>
              <a:t>▸  Extensión a Ingeniería Electrónica y Biología</a:t>
            </a:r>
          </a:p>
        </p:txBody>
      </p:sp>
      <p:pic>
        <p:nvPicPr>
          <p:cNvPr id="7" name="Picture 6" descr="f19_aprendizaje.png"/>
          <p:cNvPicPr>
            <a:picLocks noChangeAspect="1"/>
          </p:cNvPicPr>
          <p:nvPr/>
        </p:nvPicPr>
        <p:blipFill>
          <a:blip r:embed="rId3"/>
          <a:stretch>
            <a:fillRect/>
          </a:stretch>
        </p:blipFill>
        <p:spPr>
          <a:xfrm>
            <a:off x="6866312" y="1417320"/>
            <a:ext cx="4189614" cy="3291840"/>
          </a:xfrm>
          <a:prstGeom prst="rect">
            <a:avLst/>
          </a:prstGeom>
        </p:spPr>
      </p:pic>
      <p:sp>
        <p:nvSpPr>
          <p:cNvPr id="8" name="TextBox 7"/>
          <p:cNvSpPr txBox="1"/>
          <p:nvPr/>
        </p:nvSpPr>
        <p:spPr>
          <a:xfrm>
            <a:off x="6675120" y="4709160"/>
            <a:ext cx="4572000" cy="320040"/>
          </a:xfrm>
          <a:prstGeom prst="rect">
            <a:avLst/>
          </a:prstGeom>
          <a:noFill/>
        </p:spPr>
        <p:txBody>
          <a:bodyPr wrap="square" anchor="t" lIns="0" rIns="0" tIns="0" bIns="0">
            <a:spAutoFit/>
          </a:bodyPr>
          <a:lstStyle/>
          <a:p>
            <a:pPr algn="ctr"/>
            <a:r>
              <a:rPr sz="1400" b="0" i="0">
                <a:solidFill>
                  <a:srgbClr val="55657E"/>
                </a:solidFill>
                <a:latin typeface="Calibri"/>
              </a:rPr>
              <a:t>Curva de aprendizaje: aún sube (techo ≈ 0,84)</a:t>
            </a:r>
          </a:p>
        </p:txBody>
      </p:sp>
      <p:sp>
        <p:nvSpPr>
          <p:cNvPr id="9" name="TextBox 8"/>
          <p:cNvSpPr txBox="1"/>
          <p:nvPr/>
        </p:nvSpPr>
        <p:spPr>
          <a:xfrm>
            <a:off x="731520" y="4114800"/>
            <a:ext cx="5760720" cy="914400"/>
          </a:xfrm>
          <a:prstGeom prst="rect">
            <a:avLst/>
          </a:prstGeom>
          <a:noFill/>
        </p:spPr>
        <p:txBody>
          <a:bodyPr wrap="square" anchor="t" lIns="0" rIns="0" tIns="0" bIns="0">
            <a:spAutoFit/>
          </a:bodyPr>
          <a:lstStyle/>
          <a:p>
            <a:pPr algn="l"/>
            <a:r>
              <a:rPr sz="4000" b="1" i="0">
                <a:solidFill>
                  <a:srgbClr val="1F5FAE"/>
                </a:solidFill>
                <a:latin typeface="Calibri"/>
              </a:rPr>
              <a:t>¡Gracias!</a:t>
            </a:r>
          </a:p>
          <a:p>
            <a:pPr algn="l"/>
            <a:r>
              <a:rPr sz="1600" b="0" i="0">
                <a:solidFill>
                  <a:srgbClr val="55657E"/>
                </a:solidFill>
                <a:latin typeface="Calibri"/>
              </a:rPr>
              <a:t>joan.martinez@unillanos.edu.co</a:t>
            </a:r>
          </a:p>
        </p:txBody>
      </p:sp>
      <p:sp>
        <p:nvSpPr>
          <p:cNvPr id="10" name="TextBox 9"/>
          <p:cNvSpPr txBox="1"/>
          <p:nvPr/>
        </p:nvSpPr>
        <p:spPr>
          <a:xfrm>
            <a:off x="731520" y="5440680"/>
            <a:ext cx="9875520" cy="365760"/>
          </a:xfrm>
          <a:prstGeom prst="rect">
            <a:avLst/>
          </a:prstGeom>
          <a:noFill/>
        </p:spPr>
        <p:txBody>
          <a:bodyPr wrap="square" anchor="t" lIns="0" rIns="0" tIns="0" bIns="0">
            <a:spAutoFit/>
          </a:bodyPr>
          <a:lstStyle/>
          <a:p>
            <a:pPr algn="l"/>
            <a:r>
              <a:rPr sz="1400" b="0" i="0">
                <a:solidFill>
                  <a:srgbClr val="55657E"/>
                </a:solidFill>
                <a:latin typeface="Calibri"/>
              </a:rPr>
              <a:t>Proyecto DGI/Unillanos C07-02-2026-027 · Oficina de Sistemas, Universidad de los Llanos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356848" y="5861304"/>
            <a:ext cx="731520" cy="731520"/>
          </a:xfrm>
          <a:prstGeom prst="rect">
            <a:avLst/>
          </a:prstGeom>
        </p:spPr>
      </p:pic>
      <p:sp>
        <p:nvSpPr>
          <p:cNvPr id="3" name="TextBox 2"/>
          <p:cNvSpPr txBox="1"/>
          <p:nvPr/>
        </p:nvSpPr>
        <p:spPr>
          <a:xfrm>
            <a:off x="10789920" y="6053328"/>
            <a:ext cx="457200" cy="274320"/>
          </a:xfrm>
          <a:prstGeom prst="rect">
            <a:avLst/>
          </a:prstGeom>
          <a:noFill/>
        </p:spPr>
        <p:txBody>
          <a:bodyPr wrap="square" anchor="t" lIns="0" rIns="0" tIns="0" bIns="0">
            <a:spAutoFit/>
          </a:bodyPr>
          <a:lstStyle/>
          <a:p>
            <a:pPr algn="r"/>
            <a:r>
              <a:rPr sz="1000" b="0" i="0">
                <a:solidFill>
                  <a:srgbClr val="55657E"/>
                </a:solidFill>
                <a:latin typeface="Calibri"/>
              </a:rPr>
              <a:t>A</a:t>
            </a:r>
          </a:p>
        </p:txBody>
      </p:sp>
      <p:sp>
        <p:nvSpPr>
          <p:cNvPr id="4" name="TextBox 3"/>
          <p:cNvSpPr txBox="1"/>
          <p:nvPr/>
        </p:nvSpPr>
        <p:spPr>
          <a:xfrm>
            <a:off x="731520" y="118872"/>
            <a:ext cx="7315200" cy="274320"/>
          </a:xfrm>
          <a:prstGeom prst="rect">
            <a:avLst/>
          </a:prstGeom>
          <a:noFill/>
        </p:spPr>
        <p:txBody>
          <a:bodyPr wrap="square" anchor="t" lIns="0" rIns="0" tIns="0" bIns="0">
            <a:spAutoFit/>
          </a:bodyPr>
          <a:lstStyle/>
          <a:p>
            <a:pPr algn="l"/>
            <a:r>
              <a:rPr sz="1200" b="1" i="0">
                <a:solidFill>
                  <a:srgbClr val="1F5FAE"/>
                </a:solidFill>
                <a:latin typeface="Calibri"/>
              </a:rPr>
              <a:t>RESPALDO PARA PREGUNTAS</a:t>
            </a:r>
          </a:p>
        </p:txBody>
      </p:sp>
      <p:sp>
        <p:nvSpPr>
          <p:cNvPr id="5" name="Rectangle 4"/>
          <p:cNvSpPr/>
          <p:nvPr/>
        </p:nvSpPr>
        <p:spPr>
          <a:xfrm>
            <a:off x="566928" y="457200"/>
            <a:ext cx="50292" cy="42062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47472"/>
            <a:ext cx="10607040" cy="640080"/>
          </a:xfrm>
          <a:prstGeom prst="rect">
            <a:avLst/>
          </a:prstGeom>
          <a:noFill/>
        </p:spPr>
        <p:txBody>
          <a:bodyPr wrap="square" anchor="ctr" lIns="0" rIns="0" tIns="0" bIns="0">
            <a:spAutoFit/>
          </a:bodyPr>
          <a:lstStyle/>
          <a:p>
            <a:pPr algn="l"/>
            <a:r>
              <a:rPr sz="3000" b="1" i="0">
                <a:solidFill>
                  <a:srgbClr val="0F1E36"/>
                </a:solidFill>
                <a:latin typeface="Calibri"/>
              </a:rPr>
              <a:t>Anexo · respuestas preparadas</a:t>
            </a:r>
          </a:p>
        </p:txBody>
      </p:sp>
      <p:sp>
        <p:nvSpPr>
          <p:cNvPr id="7" name="TextBox 6"/>
          <p:cNvSpPr txBox="1"/>
          <p:nvPr/>
        </p:nvSpPr>
        <p:spPr>
          <a:xfrm>
            <a:off x="731520" y="1463040"/>
            <a:ext cx="3931920" cy="731520"/>
          </a:xfrm>
          <a:prstGeom prst="rect">
            <a:avLst/>
          </a:prstGeom>
          <a:noFill/>
        </p:spPr>
        <p:txBody>
          <a:bodyPr wrap="square" anchor="ctr" lIns="0" rIns="0" tIns="0" bIns="0">
            <a:spAutoFit/>
          </a:bodyPr>
          <a:lstStyle/>
          <a:p>
            <a:pPr algn="l"/>
            <a:r>
              <a:rPr sz="1900" b="1" i="0">
                <a:solidFill>
                  <a:srgbClr val="1F5FAE"/>
                </a:solidFill>
                <a:latin typeface="Calibri"/>
              </a:rPr>
              <a:t>¿Por qué el reglamento de 2022?</a:t>
            </a:r>
          </a:p>
        </p:txBody>
      </p:sp>
      <p:sp>
        <p:nvSpPr>
          <p:cNvPr id="8" name="TextBox 7"/>
          <p:cNvSpPr txBox="1"/>
          <p:nvPr/>
        </p:nvSpPr>
        <p:spPr>
          <a:xfrm>
            <a:off x="4754880" y="1463040"/>
            <a:ext cx="6492240" cy="731520"/>
          </a:xfrm>
          <a:prstGeom prst="rect">
            <a:avLst/>
          </a:prstGeom>
          <a:noFill/>
        </p:spPr>
        <p:txBody>
          <a:bodyPr wrap="square" anchor="ctr" lIns="0" rIns="0" tIns="0" bIns="0">
            <a:spAutoFit/>
          </a:bodyPr>
          <a:lstStyle/>
          <a:p>
            <a:pPr algn="l"/>
            <a:r>
              <a:rPr sz="1900" b="0" i="0">
                <a:solidFill>
                  <a:srgbClr val="0F1E36"/>
                </a:solidFill>
                <a:latin typeface="Calibri"/>
              </a:rPr>
              <a:t>Es la definición vigente (supuesto declarado).</a:t>
            </a:r>
          </a:p>
        </p:txBody>
      </p:sp>
      <p:sp>
        <p:nvSpPr>
          <p:cNvPr id="9" name="TextBox 8"/>
          <p:cNvSpPr txBox="1"/>
          <p:nvPr/>
        </p:nvSpPr>
        <p:spPr>
          <a:xfrm>
            <a:off x="731520" y="2304288"/>
            <a:ext cx="3931920" cy="731520"/>
          </a:xfrm>
          <a:prstGeom prst="rect">
            <a:avLst/>
          </a:prstGeom>
          <a:noFill/>
        </p:spPr>
        <p:txBody>
          <a:bodyPr wrap="square" anchor="ctr" lIns="0" rIns="0" tIns="0" bIns="0">
            <a:spAutoFit/>
          </a:bodyPr>
          <a:lstStyle/>
          <a:p>
            <a:pPr algn="l"/>
            <a:r>
              <a:rPr sz="1900" b="1" i="0">
                <a:solidFill>
                  <a:srgbClr val="1F5FAE"/>
                </a:solidFill>
                <a:latin typeface="Calibri"/>
              </a:rPr>
              <a:t>¿Muestra suficiente?</a:t>
            </a:r>
          </a:p>
        </p:txBody>
      </p:sp>
      <p:sp>
        <p:nvSpPr>
          <p:cNvPr id="10" name="TextBox 9"/>
          <p:cNvSpPr txBox="1"/>
          <p:nvPr/>
        </p:nvSpPr>
        <p:spPr>
          <a:xfrm>
            <a:off x="4754880" y="2304288"/>
            <a:ext cx="6492240" cy="731520"/>
          </a:xfrm>
          <a:prstGeom prst="rect">
            <a:avLst/>
          </a:prstGeom>
          <a:noFill/>
        </p:spPr>
        <p:txBody>
          <a:bodyPr wrap="square" anchor="ctr" lIns="0" rIns="0" tIns="0" bIns="0">
            <a:spAutoFit/>
          </a:bodyPr>
          <a:lstStyle/>
          <a:p>
            <a:pPr algn="l"/>
            <a:r>
              <a:rPr sz="1900" b="0" i="0">
                <a:solidFill>
                  <a:srgbClr val="0F1E36"/>
                </a:solidFill>
                <a:latin typeface="Calibri"/>
              </a:rPr>
              <a:t>Techo ≈ 0,84; duplicar datos ≈ +5 puntos.</a:t>
            </a:r>
          </a:p>
        </p:txBody>
      </p:sp>
      <p:sp>
        <p:nvSpPr>
          <p:cNvPr id="11" name="TextBox 10"/>
          <p:cNvSpPr txBox="1"/>
          <p:nvPr/>
        </p:nvSpPr>
        <p:spPr>
          <a:xfrm>
            <a:off x="731520" y="3145536"/>
            <a:ext cx="3931920" cy="731520"/>
          </a:xfrm>
          <a:prstGeom prst="rect">
            <a:avLst/>
          </a:prstGeom>
          <a:noFill/>
        </p:spPr>
        <p:txBody>
          <a:bodyPr wrap="square" anchor="ctr" lIns="0" rIns="0" tIns="0" bIns="0">
            <a:spAutoFit/>
          </a:bodyPr>
          <a:lstStyle/>
          <a:p>
            <a:pPr algn="l"/>
            <a:r>
              <a:rPr sz="1900" b="1" i="0">
                <a:solidFill>
                  <a:srgbClr val="1F5FAE"/>
                </a:solidFill>
                <a:latin typeface="Calibri"/>
              </a:rPr>
              <a:t>¿Redes neuronales?</a:t>
            </a:r>
          </a:p>
        </p:txBody>
      </p:sp>
      <p:sp>
        <p:nvSpPr>
          <p:cNvPr id="12" name="TextBox 11"/>
          <p:cNvSpPr txBox="1"/>
          <p:nvPr/>
        </p:nvSpPr>
        <p:spPr>
          <a:xfrm>
            <a:off x="4754880" y="3145536"/>
            <a:ext cx="6492240" cy="731520"/>
          </a:xfrm>
          <a:prstGeom prst="rect">
            <a:avLst/>
          </a:prstGeom>
          <a:noFill/>
        </p:spPr>
        <p:txBody>
          <a:bodyPr wrap="square" anchor="ctr" lIns="0" rIns="0" tIns="0" bIns="0">
            <a:spAutoFit/>
          </a:bodyPr>
          <a:lstStyle/>
          <a:p>
            <a:pPr algn="l"/>
            <a:r>
              <a:rPr sz="1900" b="0" i="0">
                <a:solidFill>
                  <a:srgbClr val="0F1E36"/>
                </a:solidFill>
                <a:latin typeface="Calibri"/>
              </a:rPr>
              <a:t>80 casos no bastan para entrenarlas.</a:t>
            </a:r>
          </a:p>
        </p:txBody>
      </p:sp>
      <p:sp>
        <p:nvSpPr>
          <p:cNvPr id="13" name="TextBox 12"/>
          <p:cNvSpPr txBox="1"/>
          <p:nvPr/>
        </p:nvSpPr>
        <p:spPr>
          <a:xfrm>
            <a:off x="731520" y="3986784"/>
            <a:ext cx="3931920" cy="731520"/>
          </a:xfrm>
          <a:prstGeom prst="rect">
            <a:avLst/>
          </a:prstGeom>
          <a:noFill/>
        </p:spPr>
        <p:txBody>
          <a:bodyPr wrap="square" anchor="ctr" lIns="0" rIns="0" tIns="0" bIns="0">
            <a:spAutoFit/>
          </a:bodyPr>
          <a:lstStyle/>
          <a:p>
            <a:pPr algn="l"/>
            <a:r>
              <a:rPr sz="1900" b="1" i="0">
                <a:solidFill>
                  <a:srgbClr val="1F5FAE"/>
                </a:solidFill>
                <a:latin typeface="Calibri"/>
              </a:rPr>
              <a:t>«Sin primer semestre»</a:t>
            </a:r>
          </a:p>
        </p:txBody>
      </p:sp>
      <p:sp>
        <p:nvSpPr>
          <p:cNvPr id="14" name="TextBox 13"/>
          <p:cNvSpPr txBox="1"/>
          <p:nvPr/>
        </p:nvSpPr>
        <p:spPr>
          <a:xfrm>
            <a:off x="4754880" y="3986784"/>
            <a:ext cx="6492240" cy="731520"/>
          </a:xfrm>
          <a:prstGeom prst="rect">
            <a:avLst/>
          </a:prstGeom>
          <a:noFill/>
        </p:spPr>
        <p:txBody>
          <a:bodyPr wrap="square" anchor="ctr" lIns="0" rIns="0" tIns="0" bIns="0">
            <a:spAutoFit/>
          </a:bodyPr>
          <a:lstStyle/>
          <a:p>
            <a:pPr algn="l"/>
            <a:r>
              <a:rPr sz="1900" b="0" i="0">
                <a:solidFill>
                  <a:srgbClr val="0F1E36"/>
                </a:solidFill>
                <a:latin typeface="Calibri"/>
              </a:rPr>
              <a:t>Ingreso por homologación; sin ellos, 0,756.</a:t>
            </a:r>
          </a:p>
        </p:txBody>
      </p:sp>
      <p:sp>
        <p:nvSpPr>
          <p:cNvPr id="15" name="TextBox 14"/>
          <p:cNvSpPr txBox="1"/>
          <p:nvPr/>
        </p:nvSpPr>
        <p:spPr>
          <a:xfrm>
            <a:off x="731520" y="4828032"/>
            <a:ext cx="3931920" cy="731520"/>
          </a:xfrm>
          <a:prstGeom prst="rect">
            <a:avLst/>
          </a:prstGeom>
          <a:noFill/>
        </p:spPr>
        <p:txBody>
          <a:bodyPr wrap="square" anchor="ctr" lIns="0" rIns="0" tIns="0" bIns="0">
            <a:spAutoFit/>
          </a:bodyPr>
          <a:lstStyle/>
          <a:p>
            <a:pPr algn="l"/>
            <a:r>
              <a:rPr sz="1900" b="1" i="0">
                <a:solidFill>
                  <a:srgbClr val="1F5FAE"/>
                </a:solidFill>
                <a:latin typeface="Calibri"/>
              </a:rPr>
              <a:t>¿Por qué no exactitud?</a:t>
            </a:r>
          </a:p>
        </p:txBody>
      </p:sp>
      <p:sp>
        <p:nvSpPr>
          <p:cNvPr id="16" name="TextBox 15"/>
          <p:cNvSpPr txBox="1"/>
          <p:nvPr/>
        </p:nvSpPr>
        <p:spPr>
          <a:xfrm>
            <a:off x="4754880" y="4828032"/>
            <a:ext cx="6492240" cy="731520"/>
          </a:xfrm>
          <a:prstGeom prst="rect">
            <a:avLst/>
          </a:prstGeom>
          <a:noFill/>
        </p:spPr>
        <p:txBody>
          <a:bodyPr wrap="square" anchor="ctr" lIns="0" rIns="0" tIns="0" bIns="0">
            <a:spAutoFit/>
          </a:bodyPr>
          <a:lstStyle/>
          <a:p>
            <a:pPr algn="l"/>
            <a:r>
              <a:rPr sz="1900" b="0" i="0">
                <a:solidFill>
                  <a:srgbClr val="0F1E36"/>
                </a:solidFill>
                <a:latin typeface="Calibri"/>
              </a:rPr>
              <a:t>Decir siempre «sin riesgo» daría 76 %.</a:t>
            </a:r>
          </a:p>
        </p:txBody>
      </p:sp>
    </p:spTree>
  </p:cSld>
  <p:clrMapOvr>
    <a:masterClrMapping/>
  </p:clrMapOvr>
</p:sld>
</file>

<file path=ppt/theme/theme1.xml><?xml version="1.0" encoding="utf-8"?>
<a:theme xmlns:a="http://schemas.openxmlformats.org/drawingml/2006/main" name="Custom Design">
  <a:themeElements>
    <a:clrScheme name="CICI 2026">
      <a:dk1>
        <a:sysClr val="windowText" lastClr="000000"/>
      </a:dk1>
      <a:lt1>
        <a:sysClr val="window" lastClr="FFFFFF"/>
      </a:lt1>
      <a:dk2>
        <a:srgbClr val="2F2F2F"/>
      </a:dk2>
      <a:lt2>
        <a:srgbClr val="EFF5FA"/>
      </a:lt2>
      <a:accent1>
        <a:srgbClr val="1E73BE"/>
      </a:accent1>
      <a:accent2>
        <a:srgbClr val="8DC63F"/>
      </a:accent2>
      <a:accent3>
        <a:srgbClr val="0B4C86"/>
      </a:accent3>
      <a:accent4>
        <a:srgbClr val="13B5E4"/>
      </a:accent4>
      <a:accent5>
        <a:srgbClr val="5A5A5A"/>
      </a:accent5>
      <a:accent6>
        <a:srgbClr val="2F2F2F"/>
      </a:accent6>
      <a:hlink>
        <a:srgbClr val="1E73BE"/>
      </a:hlink>
      <a:folHlink>
        <a:srgbClr val="0B4C86"/>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44</TotalTime>
  <Words>13</Words>
  <Application>Microsoft Macintosh PowerPoint</Application>
  <PresentationFormat>Widescreen</PresentationFormat>
  <Paragraphs>3</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Custom Design</vt:lpstr>
      <vt:lpstr>ID ##: Título del trabajo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 ##: Título artículo</dc:title>
  <dc:creator>Microsoft Office User</dc:creator>
  <cp:lastModifiedBy>Angel Cruz</cp:lastModifiedBy>
  <cp:revision>8</cp:revision>
  <dcterms:created xsi:type="dcterms:W3CDTF">2018-07-12T20:50:47Z</dcterms:created>
  <dcterms:modified xsi:type="dcterms:W3CDTF">2026-09-11T02:38:58Z</dcterms:modified>
</cp:coreProperties>
</file>