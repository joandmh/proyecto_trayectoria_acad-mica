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48" d="100"/>
          <a:sy n="48" d="100"/>
        </p:scale>
        <p:origin x="53" y="8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bar"/>
        <c:grouping val="clustered"/>
        <c:varyColors val="0"/>
        <c:ser>
          <c:idx val="0"/>
          <c:order val="0"/>
          <c:tx>
            <c:strRef>
              <c:f>Sheet1!$B$1</c:f>
              <c:strCache>
                <c:ptCount val="1"/>
                <c:pt idx="0">
                  <c:v>AUC-PR</c:v>
                </c:pt>
              </c:strCache>
            </c:strRef>
          </c:tx>
          <c:spPr>
            <a:solidFill>
              <a:srgbClr val="64748B"/>
            </a:solidFill>
            <a:effectLst/>
          </c:spPr>
          <c:invertIfNegative val="0"/>
          <c:dPt>
            <c:idx val="0"/>
            <c:invertIfNegative val="0"/>
            <c:bubble3D val="0"/>
            <c:spPr>
              <a:solidFill>
                <a:srgbClr val="64748B"/>
              </a:solidFill>
              <a:effectLst/>
            </c:spPr>
            <c:extLst>
              <c:ext xmlns:c16="http://schemas.microsoft.com/office/drawing/2014/chart" uri="{C3380CC4-5D6E-409C-BE32-E72D297353CC}">
                <c16:uniqueId val="{00000001-D923-484D-BB7C-F87E5C6D967D}"/>
              </c:ext>
            </c:extLst>
          </c:dPt>
          <c:dPt>
            <c:idx val="1"/>
            <c:invertIfNegative val="0"/>
            <c:bubble3D val="0"/>
            <c:spPr>
              <a:solidFill>
                <a:srgbClr val="3B6EA8"/>
              </a:solidFill>
              <a:effectLst/>
            </c:spPr>
            <c:extLst>
              <c:ext xmlns:c16="http://schemas.microsoft.com/office/drawing/2014/chart" uri="{C3380CC4-5D6E-409C-BE32-E72D297353CC}">
                <c16:uniqueId val="{00000003-D923-484D-BB7C-F87E5C6D967D}"/>
              </c:ext>
            </c:extLst>
          </c:dPt>
          <c:dPt>
            <c:idx val="2"/>
            <c:invertIfNegative val="0"/>
            <c:bubble3D val="0"/>
            <c:spPr>
              <a:solidFill>
                <a:srgbClr val="3B6EA8"/>
              </a:solidFill>
              <a:effectLst/>
            </c:spPr>
            <c:extLst>
              <c:ext xmlns:c16="http://schemas.microsoft.com/office/drawing/2014/chart" uri="{C3380CC4-5D6E-409C-BE32-E72D297353CC}">
                <c16:uniqueId val="{00000005-D923-484D-BB7C-F87E5C6D967D}"/>
              </c:ext>
            </c:extLst>
          </c:dPt>
          <c:dPt>
            <c:idx val="3"/>
            <c:invertIfNegative val="0"/>
            <c:bubble3D val="0"/>
            <c:spPr>
              <a:solidFill>
                <a:srgbClr val="3B6EA8"/>
              </a:solidFill>
              <a:effectLst/>
            </c:spPr>
            <c:extLst>
              <c:ext xmlns:c16="http://schemas.microsoft.com/office/drawing/2014/chart" uri="{C3380CC4-5D6E-409C-BE32-E72D297353CC}">
                <c16:uniqueId val="{00000007-D923-484D-BB7C-F87E5C6D967D}"/>
              </c:ext>
            </c:extLst>
          </c:dPt>
          <c:dPt>
            <c:idx val="4"/>
            <c:invertIfNegative val="0"/>
            <c:bubble3D val="0"/>
            <c:spPr>
              <a:solidFill>
                <a:srgbClr val="3B6EA8"/>
              </a:solidFill>
              <a:effectLst/>
            </c:spPr>
            <c:extLst>
              <c:ext xmlns:c16="http://schemas.microsoft.com/office/drawing/2014/chart" uri="{C3380CC4-5D6E-409C-BE32-E72D297353CC}">
                <c16:uniqueId val="{00000009-D923-484D-BB7C-F87E5C6D967D}"/>
              </c:ext>
            </c:extLst>
          </c:dPt>
          <c:dPt>
            <c:idx val="5"/>
            <c:invertIfNegative val="0"/>
            <c:bubble3D val="0"/>
            <c:spPr>
              <a:solidFill>
                <a:srgbClr val="38BDF8"/>
              </a:solidFill>
              <a:effectLst/>
            </c:spPr>
            <c:extLst>
              <c:ext xmlns:c16="http://schemas.microsoft.com/office/drawing/2014/chart" uri="{C3380CC4-5D6E-409C-BE32-E72D297353CC}">
                <c16:uniqueId val="{0000000B-D923-484D-BB7C-F87E5C6D967D}"/>
              </c:ext>
            </c:extLst>
          </c:dPt>
          <c:dLbls>
            <c:numFmt formatCode="0.000" sourceLinked="0"/>
            <c:spPr>
              <a:noFill/>
              <a:ln>
                <a:noFill/>
              </a:ln>
              <a:effectLst/>
            </c:spPr>
            <c:txPr>
              <a:bodyPr/>
              <a:lstStyle/>
              <a:p>
                <a:pPr>
                  <a:defRPr sz="1300" b="0" i="0" u="none" strike="noStrike">
                    <a:solidFill>
                      <a:srgbClr val="F1F5F9"/>
                    </a:solidFill>
                    <a:latin typeface="Arial"/>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Azar (línea base)</c:v>
                </c:pt>
                <c:pt idx="1">
                  <c:v>Regresión logística</c:v>
                </c:pt>
                <c:pt idx="2">
                  <c:v>Árbol de decisión</c:v>
                </c:pt>
                <c:pt idx="3">
                  <c:v>XGBoost</c:v>
                </c:pt>
                <c:pt idx="4">
                  <c:v>SVM (RBF)</c:v>
                </c:pt>
                <c:pt idx="5">
                  <c:v>Random Forest</c:v>
                </c:pt>
              </c:strCache>
            </c:strRef>
          </c:cat>
          <c:val>
            <c:numRef>
              <c:f>Sheet1!$B$2:$B$7</c:f>
              <c:numCache>
                <c:formatCode>General</c:formatCode>
                <c:ptCount val="6"/>
                <c:pt idx="0">
                  <c:v>0.23749999999999999</c:v>
                </c:pt>
                <c:pt idx="1">
                  <c:v>0.55000000000000004</c:v>
                </c:pt>
                <c:pt idx="2">
                  <c:v>0.61399999999999999</c:v>
                </c:pt>
                <c:pt idx="3">
                  <c:v>0.63</c:v>
                </c:pt>
                <c:pt idx="4">
                  <c:v>0.71399999999999997</c:v>
                </c:pt>
                <c:pt idx="5">
                  <c:v>0.745</c:v>
                </c:pt>
              </c:numCache>
            </c:numRef>
          </c:val>
          <c:extLst>
            <c:ext xmlns:c16="http://schemas.microsoft.com/office/drawing/2014/chart" uri="{C3380CC4-5D6E-409C-BE32-E72D297353CC}">
              <c16:uniqueId val="{0000000C-D923-484D-BB7C-F87E5C6D967D}"/>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F1F5F9"/>
                </a:solidFill>
                <a:latin typeface="Arial"/>
              </a:defRPr>
            </a:pPr>
            <a:endParaRPr lang="es-CO"/>
          </a:p>
        </c:txPr>
        <c:crossAx val="2094734552"/>
        <c:crosses val="autoZero"/>
        <c:auto val="1"/>
        <c:lblAlgn val="ctr"/>
        <c:lblOffset val="100"/>
        <c:noMultiLvlLbl val="1"/>
      </c:catAx>
      <c:valAx>
        <c:axId val="2094734552"/>
        <c:scaling>
          <c:orientation val="minMax"/>
          <c:max val="1"/>
          <c:min val="0"/>
        </c:scaling>
        <c:delete val="0"/>
        <c:axPos val="b"/>
        <c:majorGridlines>
          <c:spPr>
            <a:ln w="6350" cap="flat">
              <a:solidFill>
                <a:srgbClr val="27406A"/>
              </a:solidFill>
              <a:prstDash val="solid"/>
              <a:round/>
            </a:ln>
          </c:spPr>
        </c:majorGridlines>
        <c:numFmt formatCode="0.0" sourceLinked="0"/>
        <c:majorTickMark val="out"/>
        <c:minorTickMark val="none"/>
        <c:tickLblPos val="low"/>
        <c:spPr>
          <a:ln w="12700" cap="flat">
            <a:solidFill>
              <a:srgbClr val="888888"/>
            </a:solidFill>
            <a:prstDash val="solid"/>
            <a:round/>
          </a:ln>
        </c:spPr>
        <c:txPr>
          <a:bodyPr/>
          <a:lstStyle/>
          <a:p>
            <a:pPr>
              <a:defRPr sz="1100" b="0" i="0" u="none" strike="noStrike">
                <a:solidFill>
                  <a:srgbClr val="9FB0C8"/>
                </a:solidFill>
                <a:latin typeface="Arial"/>
              </a:defRPr>
            </a:pPr>
            <a:endParaRPr lang="es-CO"/>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107663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 0:30] Portada
Buenos días. Soy Joan David Martínez, estudiante de Ingeniería de Sistemas de la Universidad de los Llanos. Presento el trabajo 129, hecho con la profesora Diana Cardona y la profesora Sara Guerrero dentro del proyecto longitudinal de la Facultad. En quince minutos voy a contar tres cosas: qué publicamos, qué aprendimos al auditar nuestro propio modelo y qué software construimos con lo que quedó en pie.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 1:00] El problema del abandono
Partimos de un dato nacional: en Colombia la graduación acumulada tras quince semestres es del 45,1 por ciento. En nuestras cohortes 2017-2 y 2018-1 de Ingeniería de Sistemas, el 63 por ciento no registró graduación en la ventana observada. Y lo más importante: de quienes interrumpieron, el 64 por ciento lo hizo en los dos primeros periodos. [PAUSA] Esto define todo el diseño. Si el abandono ocurre en el primer año, una alerta que llega en tercer semestre llega tarde. La ventana para intervenir es el primer periodo, y por eso el modelo solo puede usar lo que se sabe al ingreso o al cierre del primer semestre.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 1:15] Pregunta, datos y método
La pregunta central del trabajo es comparativa: ¿qué algoritmo predice mejor el rendimiento académico? Seguimos CRISP-DM, y no de forma decorativa: tuvimos que volver atrás varias veces. Integramos seis fuentes institucionales: 8 503 registros de notas y 1 968 registros de estado. Ninguna fuente estaba pensada para analítica: el diccionario del sistema no coincidía con el contenido real. Corregimos la codificación, recuperamos 76 registros, completamos 541 estados a partir de la actividad registrada y descartamos 17 trámites posteriores a la graduación. Todo con reglas documentadas y sin tocar los originales. La población del paper son 90 estudiantes con actividad académica.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[2:45 · 1:15] Lo que publicamos
Estos son los resultados del resumen enviado, y los sostengo: están bien calculados y se reproducen exactamente desde el código. Para bajo rendimiento, Random Forest con umbral 0,29 alcanzó la mayor exhaustividad: 0,816, ocho de cada diez estudiantes en riesgo. Para graduación, XGBoost tuvo el mayor AUC, 0,853. En ambos modelos domina el promedio del primer semestre, con el 40,4 por ciento de la importancia. [PAUSA] Y un resultado negativo que también importa: ni el género, ni la educación de los padres, ni la repitencia escolar mostraron asociación significativa. Lo verificamos de nuevo: los valores p son 0,246, mayor que 0,6 y 0,215.</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[4:00 · 0:45] Asignaturas críticas
El tercer resultado es descriptivo: un índice que pondera la reprobación y la repitencia. Las cinco asignaturas más críticas son de los primeros semestres: Matemáticas II, Física I, Álgebra Lineal, Matemáticas I y Fundamentos de Programación. Hay un avance desde el envío: el programa cambió de plan de estudios en 2018. Con la resolución de equivalencias tradujimos cada curso a su nombre en el plan vigente, y el ranking se conserva: Cálculo integral, Física mecánica, Álgebra lineal, Cálculo diferencial y Algoritmia. La intervención apunta a los mismos cursos.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[4:45 · 1:30] Antes de desplegar, auditamos
Antes de convertir esto en software hicimos algo poco habitual: auditamos nuestro propio diseño. Encontramos tres problemas de validez, no de código. [PAUSA] Primero, la variable objetivo. Promedio de carrera menor que 3 incluye el primer semestre, que era nuestro predictor. Sin él, el modelo caía a 0,48: azar. La sustituimos por la definición del Reglamento Estudiantil: el artículo 19, pérdida de la calidad de estudiante. Segundo, la búsqueda de hiperparámetros fuera de la validación inflaba el resultado, y no por igual: a XGBoost cinco veces más que a Random Forest, lo que cambiaba el ganador. Tercero, elegir variables mirando toda la muestra inflaba el AUC-PR en 0,15. Conclusión: el diseño experimental pesaba más que el algoritmo.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[6:15 · 1:30] Resultado con el protocolo corregido
Repetimos la comparación con un protocolo estricto: validación cruzada anidada, cinco pliegues por diez repeticiones, AUC-PR como métrica porque la clase positiva es pequeña, prueba de Nadeau-Bengio y una regla de decisión fijada antes de ver los resultados. Sobre 80 estudiantes expuestos y 19 casos, la línea de azar es 0,24. [SEÑALAR GRÁFICO] Random Forest alcanza 0,745: tres veces el azar, con solo seis variables. Es la misma conclusión del paper, ahora con un protocolo más exigente. En graduación, Random Forest y SVM empatan estadísticamente, y la regla de parsimonia vuelve a elegir Random Forest. Aquí corrijo el paper con transparencia: bajo este protocolo el ganador de graduación no es XGBoost, y su AUC-ROC es 0,81.</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[7:45 · 1:15] Qué puede y qué no puede el modelo
Un modelo útil tiene que decir también lo que no puede hacer. En lugar de un único umbral usamos niveles. En el nivel confirmado, 12 de cada 13 alertas fueron casos reales. En el nivel de seguimiento se detecta el 79 por ciento de los casos, a cambio de alertar a la mitad de la cohorte. Cuántos estudiantes acompañar lo decide la universidad, no el modelo. [PAUSA] Tres advertencias medidas. El 42 por ciento de los casos ocurre en el primer semestre: ahí el modelo detecta, no anticipa. Calibrar las probabilidades no mejoró, así que mostramos niveles y no decimales. Y la predicción semestre a semestre no superó al azar, así que el seguimiento semestral usa las reglas del reglamento, que son exactas.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[9:00 · 1:00] Dos planes de estudio
Un sistema que solo funciona con las cohortes de entrenamiento no sirve. El programa tiene dos planes: el de 2011 con 167 créditos y el de 2018 con 165, y la Resolución 036 de 2017 define sus equivalencias. Las transcribimos y construimos una capa que traduce cada curso a su identidad vigente. Esto importa, por ejemplo, para contar la cuarta reprobación cuando alguien cambia de plan. Con los datos actuales no cambia ninguna cifra: lo comprueban 24 pruebas automáticas. ¿Y el modelo? Simulamos el primer semestre del plan nuevo: el ordenamiento se conserva, 0,749, pero el promedio sube en promedio una décima, así que los umbrales deberán revisarse con la primera cohorte real.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[10:00 · 1:00] TRAYECTA
Con lo que sobrevivió a la auditoría construimos TRAYECTA. La referencia es SPADIES, el sistema nacional del Ministerio, pero a escala de programa y con las reglas de nuestra universidad. Recibe el extracto del sistema académico, sin nombres. La capa de equivalencias lo normaliza, se calculan los indicadores del reglamento semestre a semestre y se aplican los dos modelos validados. Lo que la diferencia: cada número que muestra está ligado a su evidencia, y la propia aplicación tiene una pestaña con las limitaciones y con el resultado negativo.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[11:00 · 1:15] Demostración: panorama
[DEMO EN VIVO; si falla, usar esta captura] Lo que ven es una cohorte sintética. Para mostrar el software en público no usamos datos reales de estudiantes; los modelos sí son los entrenados con los datos reales. Arriba, los indicadores: cuántos estudiantes tienen alerta confirmada y cuántos de seguimiento. A la derecha, la situación normativa de la cohorte por semestre: carga restringida por el artículo 20, repitencia por el 21, pérdida de calidad por el 19. Abajo, la lista de priorización, que el programa de acompañamiento puede descargar.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[12:15 · 1:00] Demostración: ficha y carga
La ficha del estudiante es la vista tipo SPADIES: la trayectoria semestre a semestre, con el promedio del periodo, el acumulado, los créditos perdidos y las condiciones del reglamento marcadas en cada semestre. A la derecha, el perfil de ingreso comparado con su cohorte y lo que prevé el reglamento para su situación. A la derecha de esta lámina, la carga de una cohorte nueva: el sistema detecta el plan de estudios, valida los códigos contra el catálogo oficial y avisa si algún estudiante mezcla planes.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[13:15 · 1:00] Conclusiones
Cuatro conclusiones. Uno: Random Forest es el algoritmo más adecuado, tanto en el paper como bajo un protocolo anidado y pre-registrado: AUC-PR 0,745, tres veces el azar. Dos: el promedio del primer semestre concentra la señal, y eso habilita una alerta al cierre del primer periodo, justo cuando ocurre el abandono. Tres: en datos educativos pequeños, el diseño experimental mueve los resultados más que la elección del algoritmo; medimos sesgos de hasta 0,15. Cuatro: un modelo honesto cabe en un producto. TRAYECTA predice donde hay señal y aplica el reglamento donde no la hay.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[14:15 · 0:45] Límites y siguiente paso
Los límites, sin rodeos: no tenemos validación externa, todo viene de remuestreo sobre 80 casos, y por eso es un estudio exploratorio. Ya solicitamos cohortes nuevas a la Oficina de Sistemas para validar el modelo tal como está, sin reajustarlo. Después, extender a Electrónica y Biología. Agradecemos al proyecto DGI C07-02-2026-027. Muchas gracias; quedo atento a sus preguntas.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 —] Anexo para preguntas
Lámina de respaldo, no se presenta. Respuestas cortas. Reglamento: las cohortes cursaron bajo el Acuerdo 015 de 2003; aplicamos el artículo 19 vigente como definición operativa actual, que es la que regirá a las cohortes en las que se usará el modelo. Tamaño: la curva de aprendizaje sigue subiendo, el techo estimado es 0,84 y duplicar la muestra aporta cerca de 0,05. ¿Por qué no deep learning?: con 80 casos no hay un corpus de preentrenamiento que lo sostenga (lo analizamos en RC-044). Variable sin primer semestre: identifica a estudiantes que ingresaron por homologación; sin ellos el AUC-PR es 0,756. Saber 11 alto con riesgo: en los datos varios estudiantes de puntaje alto reprobaron todo un periodo, lo que sugiere abandono sin retiro formal; es una hipótesis, no una conclusión.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9/30/2026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‹Nº›</a:t>
            </a:fld>
            <a:endParaRPr lang="en-US" dirty="0"/>
          </a:p>
        </p:txBody>
      </p:sp>
    </p:spTree>
    <p:extLst>
      <p:ext uri="{BB962C8B-B14F-4D97-AF65-F5344CB8AC3E}">
        <p14:creationId xmlns:p14="http://schemas.microsoft.com/office/powerpoint/2010/main" val="4094832558"/>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9/30/2026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‹Nº›</a:t>
            </a:fld>
            <a:endParaRPr lang="en-US" dirty="0"/>
          </a:p>
        </p:txBody>
      </p:sp>
    </p:spTree>
    <p:extLst>
      <p:ext uri="{BB962C8B-B14F-4D97-AF65-F5344CB8AC3E}">
        <p14:creationId xmlns:p14="http://schemas.microsoft.com/office/powerpoint/2010/main" val="1083323307"/>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C764DE79-268F-4C1A-8933-263129D2AF90}" type="datetimeFigureOut">
              <a:rPr lang="en-US" dirty="0"/>
              <a:t>9/30/2026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‹Nº›</a:t>
            </a:fld>
            <a:endParaRPr lang="en-US" dirty="0"/>
          </a:p>
        </p:txBody>
      </p:sp>
    </p:spTree>
    <p:extLst>
      <p:ext uri="{BB962C8B-B14F-4D97-AF65-F5344CB8AC3E}">
        <p14:creationId xmlns:p14="http://schemas.microsoft.com/office/powerpoint/2010/main" val="3652914530"/>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9/30/2026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‹Nº›</a:t>
            </a:fld>
            <a:endParaRPr lang="en-US" dirty="0"/>
          </a:p>
        </p:txBody>
      </p:sp>
    </p:spTree>
    <p:extLst>
      <p:ext uri="{BB962C8B-B14F-4D97-AF65-F5344CB8AC3E}">
        <p14:creationId xmlns:p14="http://schemas.microsoft.com/office/powerpoint/2010/main" val="3993973038"/>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9/30/2026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‹Nº›</a:t>
            </a:fld>
            <a:endParaRPr lang="en-US" dirty="0"/>
          </a:p>
        </p:txBody>
      </p:sp>
    </p:spTree>
    <p:extLst>
      <p:ext uri="{BB962C8B-B14F-4D97-AF65-F5344CB8AC3E}">
        <p14:creationId xmlns:p14="http://schemas.microsoft.com/office/powerpoint/2010/main" val="1011999775"/>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9/30/2026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‹Nº›</a:t>
            </a:fld>
            <a:endParaRPr lang="en-US" dirty="0"/>
          </a:p>
        </p:txBody>
      </p:sp>
    </p:spTree>
    <p:extLst>
      <p:ext uri="{BB962C8B-B14F-4D97-AF65-F5344CB8AC3E}">
        <p14:creationId xmlns:p14="http://schemas.microsoft.com/office/powerpoint/2010/main" val="1377445869"/>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9/30/2026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‹Nº›</a:t>
            </a:fld>
            <a:endParaRPr lang="en-US" dirty="0"/>
          </a:p>
        </p:txBody>
      </p:sp>
    </p:spTree>
    <p:extLst>
      <p:ext uri="{BB962C8B-B14F-4D97-AF65-F5344CB8AC3E}">
        <p14:creationId xmlns:p14="http://schemas.microsoft.com/office/powerpoint/2010/main" val="641782013"/>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C764DE79-268F-4C1A-8933-263129D2AF90}" type="datetimeFigureOut">
              <a:rPr lang="en-US" dirty="0"/>
              <a:t>9/30/2026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‹Nº›</a:t>
            </a:fld>
            <a:endParaRPr lang="en-US" dirty="0"/>
          </a:p>
        </p:txBody>
      </p:sp>
    </p:spTree>
    <p:extLst>
      <p:ext uri="{BB962C8B-B14F-4D97-AF65-F5344CB8AC3E}">
        <p14:creationId xmlns:p14="http://schemas.microsoft.com/office/powerpoint/2010/main" val="742221931"/>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C764DE79-268F-4C1A-8933-263129D2AF90}" type="datetimeFigureOut">
              <a:rPr lang="en-US" dirty="0"/>
              <a:t>9/30/2026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‹Nº›</a:t>
            </a:fld>
            <a:endParaRPr lang="en-US" dirty="0"/>
          </a:p>
        </p:txBody>
      </p:sp>
    </p:spTree>
    <p:extLst>
      <p:ext uri="{BB962C8B-B14F-4D97-AF65-F5344CB8AC3E}">
        <p14:creationId xmlns:p14="http://schemas.microsoft.com/office/powerpoint/2010/main" val="1393701309"/>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9/30/2026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‹Nº›</a:t>
            </a:fld>
            <a:endParaRPr lang="en-US" dirty="0"/>
          </a:p>
        </p:txBody>
      </p:sp>
    </p:spTree>
    <p:extLst>
      <p:ext uri="{BB962C8B-B14F-4D97-AF65-F5344CB8AC3E}">
        <p14:creationId xmlns:p14="http://schemas.microsoft.com/office/powerpoint/2010/main" val="148534840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9/30/2026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‹Nº›</a:t>
            </a:fld>
            <a:endParaRPr lang="en-US" dirty="0"/>
          </a:p>
        </p:txBody>
      </p:sp>
    </p:spTree>
    <p:extLst>
      <p:ext uri="{BB962C8B-B14F-4D97-AF65-F5344CB8AC3E}">
        <p14:creationId xmlns:p14="http://schemas.microsoft.com/office/powerpoint/2010/main" val="942098257"/>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416432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9/30/2026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‹Nº›</a:t>
            </a:fld>
            <a:endParaRPr lang="en-US" dirty="0"/>
          </a:p>
        </p:txBody>
      </p:sp>
    </p:spTree>
    <p:extLst>
      <p:ext uri="{BB962C8B-B14F-4D97-AF65-F5344CB8AC3E}">
        <p14:creationId xmlns:p14="http://schemas.microsoft.com/office/powerpoint/2010/main" val="350569387"/>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3.png"/><Relationship Id="rId5" Type="http://schemas.openxmlformats.org/officeDocument/2006/relationships/image" Target="../media/image2.png"/><Relationship Id="rId10" Type="http://schemas.openxmlformats.org/officeDocument/2006/relationships/image" Target="../media/image7.png"/><Relationship Id="rId4" Type="http://schemas.microsoft.com/office/2007/relationships/hdphoto" Target="../media/hdphoto1.wdp"/><Relationship Id="rId9"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2.xml"/><Relationship Id="rId5" Type="http://schemas.openxmlformats.org/officeDocument/2006/relationships/chart" Target="../charts/chart1.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2.xml"/><Relationship Id="rId5" Type="http://schemas.openxmlformats.org/officeDocument/2006/relationships/image" Target="../media/image9.jp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11.jpg"/><Relationship Id="rId5" Type="http://schemas.openxmlformats.org/officeDocument/2006/relationships/image" Target="../media/image10.jp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extLst>
              <a:ext uri="{BEBA8EAE-BF5A-486C-A8C5-ECC9F3942E4B}">
                <a14:imgProps xmlns:a14="http://schemas.microsoft.com/office/drawing/2010/main">
                  <a14:imgLayer r:embed="rId4">
                    <a14:imgEffect>
                      <a14:saturation sat="101000"/>
                    </a14:imgEffect>
                  </a14:imgLayer>
                </a14:imgProps>
              </a:ext>
            </a:extLst>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914400" y="1691640"/>
            <a:ext cx="10360152" cy="1737360"/>
          </a:xfrm>
          <a:prstGeom prst="rect">
            <a:avLst/>
          </a:prstGeom>
          <a:noFill/>
          <a:ln/>
        </p:spPr>
        <p:txBody>
          <a:bodyPr wrap="square" lIns="0" tIns="0" rIns="0" bIns="0" rtlCol="0" anchor="ctr"/>
          <a:lstStyle/>
          <a:p>
            <a:pPr marL="0" indent="0" algn="ctr">
              <a:buNone/>
            </a:pPr>
            <a:r>
              <a:rPr lang="en-US" sz="3800" b="1" dirty="0">
                <a:solidFill>
                  <a:srgbClr val="38BDF8"/>
                </a:solidFill>
                <a:latin typeface="Calibri" pitchFamily="34" charset="0"/>
                <a:ea typeface="Calibri" pitchFamily="34" charset="-122"/>
                <a:cs typeface="Calibri" pitchFamily="34" charset="-120"/>
              </a:rPr>
              <a:t>ID 129: </a:t>
            </a:r>
            <a:r>
              <a:rPr lang="en-US" sz="3800" b="1" dirty="0">
                <a:solidFill>
                  <a:srgbClr val="F1F5F9"/>
                </a:solidFill>
                <a:latin typeface="Calibri" pitchFamily="34" charset="0"/>
                <a:ea typeface="Calibri" pitchFamily="34" charset="-122"/>
                <a:cs typeface="Calibri" pitchFamily="34" charset="-120"/>
              </a:rPr>
              <a:t>Aprendizaje automático para predicción del éxito académico en Ingeniería de Sistemas</a:t>
            </a:r>
            <a:endParaRPr lang="en-US" sz="3800" dirty="0"/>
          </a:p>
        </p:txBody>
      </p:sp>
      <p:sp>
        <p:nvSpPr>
          <p:cNvPr id="5" name="Text 2"/>
          <p:cNvSpPr txBox="1"/>
          <p:nvPr/>
        </p:nvSpPr>
        <p:spPr>
          <a:xfrm>
            <a:off x="914400" y="3739416"/>
            <a:ext cx="10360152" cy="365760"/>
          </a:xfrm>
          <a:prstGeom prst="rect">
            <a:avLst/>
          </a:prstGeom>
          <a:noFill/>
          <a:ln/>
        </p:spPr>
        <p:txBody>
          <a:bodyPr wrap="square" lIns="0" tIns="0" rIns="0" bIns="0" rtlCol="0" anchor="ctr"/>
          <a:lstStyle/>
          <a:p>
            <a:pPr marL="0" indent="0" algn="ctr">
              <a:buNone/>
            </a:pPr>
            <a:r>
              <a:rPr lang="en-US" sz="1700" dirty="0">
                <a:solidFill>
                  <a:srgbClr val="F1F5F9"/>
                </a:solidFill>
                <a:latin typeface="Calibri" pitchFamily="34" charset="0"/>
                <a:ea typeface="Calibri" pitchFamily="34" charset="-122"/>
                <a:cs typeface="Calibri" pitchFamily="34" charset="-120"/>
              </a:rPr>
              <a:t>Joan David Martínez Hernández  -  Diana Marcela Cardona Román  -  Sara Cristina Guerrero</a:t>
            </a:r>
            <a:endParaRPr lang="en-US" sz="1700" dirty="0"/>
          </a:p>
        </p:txBody>
      </p:sp>
      <p:sp>
        <p:nvSpPr>
          <p:cNvPr id="6" name="Text 3"/>
          <p:cNvSpPr txBox="1"/>
          <p:nvPr/>
        </p:nvSpPr>
        <p:spPr>
          <a:xfrm>
            <a:off x="914400" y="4754880"/>
            <a:ext cx="10360152" cy="320040"/>
          </a:xfrm>
          <a:prstGeom prst="rect">
            <a:avLst/>
          </a:prstGeom>
          <a:noFill/>
          <a:ln/>
        </p:spPr>
        <p:txBody>
          <a:bodyPr wrap="square" lIns="0" tIns="0" rIns="0" bIns="0" rtlCol="0" anchor="ctr"/>
          <a:lstStyle/>
          <a:p>
            <a:pPr marL="0" indent="0" algn="ctr">
              <a:buNone/>
            </a:pPr>
            <a:r>
              <a:rPr lang="en-US" sz="1350" dirty="0">
                <a:solidFill>
                  <a:srgbClr val="9FB0C8"/>
                </a:solidFill>
                <a:latin typeface="Calibri" pitchFamily="34" charset="0"/>
                <a:ea typeface="Calibri" pitchFamily="34" charset="-122"/>
                <a:cs typeface="Calibri" pitchFamily="34" charset="-120"/>
              </a:rPr>
              <a:t>Facultad de Ciencias Básicas e Ingeniería · Universidad de los Llanos · Villavicencio, Meta, Colombia</a:t>
            </a:r>
            <a:endParaRPr lang="en-US" sz="1350" dirty="0"/>
          </a:p>
        </p:txBody>
      </p:sp>
      <p:sp>
        <p:nvSpPr>
          <p:cNvPr id="7" name="Text 4"/>
          <p:cNvSpPr txBox="1"/>
          <p:nvPr/>
        </p:nvSpPr>
        <p:spPr>
          <a:xfrm>
            <a:off x="914400" y="5120640"/>
            <a:ext cx="10360152" cy="274320"/>
          </a:xfrm>
          <a:prstGeom prst="rect">
            <a:avLst/>
          </a:prstGeom>
          <a:noFill/>
          <a:ln/>
        </p:spPr>
        <p:txBody>
          <a:bodyPr wrap="square" lIns="0" tIns="0" rIns="0" bIns="0" rtlCol="0" anchor="ctr"/>
          <a:lstStyle/>
          <a:p>
            <a:pPr marL="0" indent="0" algn="ctr">
              <a:buNone/>
            </a:pPr>
            <a:r>
              <a:rPr lang="en-US" sz="1200" dirty="0">
                <a:solidFill>
                  <a:srgbClr val="9FB0C8"/>
                </a:solidFill>
                <a:latin typeface="Calibri" pitchFamily="34" charset="0"/>
                <a:ea typeface="Calibri" pitchFamily="34" charset="-122"/>
                <a:cs typeface="Calibri" pitchFamily="34" charset="-120"/>
              </a:rPr>
              <a:t>Proyecto DGI/Unillanos C07-02-2026-027</a:t>
            </a:r>
            <a:endParaRPr lang="en-US" sz="1200" dirty="0"/>
          </a:p>
        </p:txBody>
      </p:sp>
      <p:pic>
        <p:nvPicPr>
          <p:cNvPr id="8" name="Google Shape;86;p1">
            <a:extLst>
              <a:ext uri="{FF2B5EF4-FFF2-40B4-BE49-F238E27FC236}">
                <a16:creationId xmlns:a16="http://schemas.microsoft.com/office/drawing/2014/main" id="{E55F5EC4-9E7D-42B1-8031-DBD1D224693A}"/>
              </a:ext>
            </a:extLst>
          </p:cNvPr>
          <p:cNvPicPr preferRelativeResize="0"/>
          <p:nvPr/>
        </p:nvPicPr>
        <p:blipFill>
          <a:blip r:embed="rId5">
            <a:alphaModFix/>
          </a:blip>
          <a:stretch>
            <a:fillRect/>
          </a:stretch>
        </p:blipFill>
        <p:spPr>
          <a:xfrm>
            <a:off x="104555" y="5745251"/>
            <a:ext cx="2454442" cy="960219"/>
          </a:xfrm>
          <a:prstGeom prst="rect">
            <a:avLst/>
          </a:prstGeom>
          <a:noFill/>
          <a:ln>
            <a:noFill/>
          </a:ln>
        </p:spPr>
      </p:pic>
      <p:pic>
        <p:nvPicPr>
          <p:cNvPr id="9" name="Google Shape;82;p1">
            <a:extLst>
              <a:ext uri="{FF2B5EF4-FFF2-40B4-BE49-F238E27FC236}">
                <a16:creationId xmlns:a16="http://schemas.microsoft.com/office/drawing/2014/main" id="{5CD322C9-DAFB-4469-AC72-12313775B75E}"/>
              </a:ext>
            </a:extLst>
          </p:cNvPr>
          <p:cNvPicPr preferRelativeResize="0"/>
          <p:nvPr/>
        </p:nvPicPr>
        <p:blipFill>
          <a:blip r:embed="rId6">
            <a:alphaModFix/>
          </a:blip>
          <a:stretch>
            <a:fillRect/>
          </a:stretch>
        </p:blipFill>
        <p:spPr>
          <a:xfrm>
            <a:off x="6094476" y="5935610"/>
            <a:ext cx="576018" cy="611141"/>
          </a:xfrm>
          <a:prstGeom prst="rect">
            <a:avLst/>
          </a:prstGeom>
          <a:noFill/>
          <a:ln>
            <a:noFill/>
          </a:ln>
        </p:spPr>
      </p:pic>
      <p:pic>
        <p:nvPicPr>
          <p:cNvPr id="10" name="Google Shape;83;p1">
            <a:extLst>
              <a:ext uri="{FF2B5EF4-FFF2-40B4-BE49-F238E27FC236}">
                <a16:creationId xmlns:a16="http://schemas.microsoft.com/office/drawing/2014/main" id="{DEE4038E-9597-4B27-BFA0-F91AC573FEE1}"/>
              </a:ext>
            </a:extLst>
          </p:cNvPr>
          <p:cNvPicPr preferRelativeResize="0"/>
          <p:nvPr/>
        </p:nvPicPr>
        <p:blipFill>
          <a:blip r:embed="rId7">
            <a:alphaModFix/>
          </a:blip>
          <a:stretch>
            <a:fillRect/>
          </a:stretch>
        </p:blipFill>
        <p:spPr>
          <a:xfrm>
            <a:off x="6821873" y="5941412"/>
            <a:ext cx="2238375" cy="504825"/>
          </a:xfrm>
          <a:prstGeom prst="rect">
            <a:avLst/>
          </a:prstGeom>
          <a:noFill/>
          <a:ln>
            <a:noFill/>
          </a:ln>
        </p:spPr>
      </p:pic>
      <p:pic>
        <p:nvPicPr>
          <p:cNvPr id="11" name="Google Shape;84;p1">
            <a:extLst>
              <a:ext uri="{FF2B5EF4-FFF2-40B4-BE49-F238E27FC236}">
                <a16:creationId xmlns:a16="http://schemas.microsoft.com/office/drawing/2014/main" id="{725CD3DA-1BB0-4D33-A019-2FA822453B76}"/>
              </a:ext>
            </a:extLst>
          </p:cNvPr>
          <p:cNvPicPr preferRelativeResize="0"/>
          <p:nvPr/>
        </p:nvPicPr>
        <p:blipFill>
          <a:blip r:embed="rId8">
            <a:alphaModFix/>
          </a:blip>
          <a:stretch>
            <a:fillRect/>
          </a:stretch>
        </p:blipFill>
        <p:spPr>
          <a:xfrm>
            <a:off x="9195884" y="5935610"/>
            <a:ext cx="652810" cy="611141"/>
          </a:xfrm>
          <a:prstGeom prst="rect">
            <a:avLst/>
          </a:prstGeom>
          <a:noFill/>
          <a:ln>
            <a:noFill/>
          </a:ln>
        </p:spPr>
      </p:pic>
      <p:pic>
        <p:nvPicPr>
          <p:cNvPr id="12" name="Google Shape;85;p1">
            <a:extLst>
              <a:ext uri="{FF2B5EF4-FFF2-40B4-BE49-F238E27FC236}">
                <a16:creationId xmlns:a16="http://schemas.microsoft.com/office/drawing/2014/main" id="{1CFE4AAB-40F8-407A-AEA9-AB6FEC021522}"/>
              </a:ext>
            </a:extLst>
          </p:cNvPr>
          <p:cNvPicPr preferRelativeResize="0"/>
          <p:nvPr/>
        </p:nvPicPr>
        <p:blipFill>
          <a:blip r:embed="rId9">
            <a:alphaModFix/>
          </a:blip>
          <a:stretch>
            <a:fillRect/>
          </a:stretch>
        </p:blipFill>
        <p:spPr>
          <a:xfrm>
            <a:off x="9976624" y="5888253"/>
            <a:ext cx="1249244" cy="611141"/>
          </a:xfrm>
          <a:prstGeom prst="rect">
            <a:avLst/>
          </a:prstGeom>
          <a:noFill/>
          <a:ln>
            <a:noFill/>
          </a:ln>
        </p:spPr>
      </p:pic>
      <p:pic>
        <p:nvPicPr>
          <p:cNvPr id="13" name="Google Shape;79;p1" descr="logo_cici.png">
            <a:extLst>
              <a:ext uri="{FF2B5EF4-FFF2-40B4-BE49-F238E27FC236}">
                <a16:creationId xmlns:a16="http://schemas.microsoft.com/office/drawing/2014/main" id="{D029D689-AA42-47D5-A4F4-B02CB0D856E4}"/>
              </a:ext>
            </a:extLst>
          </p:cNvPr>
          <p:cNvPicPr preferRelativeResize="0"/>
          <p:nvPr/>
        </p:nvPicPr>
        <p:blipFill rotWithShape="1">
          <a:blip r:embed="rId10">
            <a:alphaModFix/>
          </a:blip>
          <a:srcRect/>
          <a:stretch/>
        </p:blipFill>
        <p:spPr>
          <a:xfrm>
            <a:off x="11353798" y="5858538"/>
            <a:ext cx="733647" cy="73364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tmp/claude-0/deck/logo.png"/>
          <p:cNvPicPr>
            <a:picLocks noChangeAspect="1"/>
          </p:cNvPicPr>
          <p:nvPr/>
        </p:nvPicPr>
        <p:blipFill>
          <a:blip r:embed="rId4"/>
          <a:stretch>
            <a:fillRect/>
          </a:stretch>
        </p:blipFill>
        <p:spPr>
          <a:xfrm>
            <a:off x="11356848" y="5870448"/>
            <a:ext cx="713232" cy="713232"/>
          </a:xfrm>
          <a:prstGeom prst="rect">
            <a:avLst/>
          </a:prstGeom>
        </p:spPr>
      </p:pic>
      <p:sp>
        <p:nvSpPr>
          <p:cNvPr id="3" name="Text 0"/>
          <p:cNvSpPr txBox="1"/>
          <p:nvPr/>
        </p:nvSpPr>
        <p:spPr>
          <a:xfrm>
            <a:off x="10835640" y="6053328"/>
            <a:ext cx="457200" cy="274320"/>
          </a:xfrm>
          <a:prstGeom prst="rect">
            <a:avLst/>
          </a:prstGeom>
          <a:noFill/>
          <a:ln/>
        </p:spPr>
        <p:txBody>
          <a:bodyPr wrap="square" lIns="0" tIns="0" rIns="0" bIns="0" rtlCol="0" anchor="ctr"/>
          <a:lstStyle/>
          <a:p>
            <a:pPr marL="0" indent="0" algn="r">
              <a:buNone/>
            </a:pPr>
            <a:r>
              <a:rPr lang="en-US" sz="1000" dirty="0">
                <a:solidFill>
                  <a:srgbClr val="9FB0C8"/>
                </a:solidFill>
                <a:latin typeface="Calibri" pitchFamily="34" charset="0"/>
                <a:ea typeface="Calibri" pitchFamily="34" charset="-122"/>
                <a:cs typeface="Calibri" pitchFamily="34" charset="-120"/>
              </a:rPr>
              <a:t>2</a:t>
            </a:r>
            <a:endParaRPr lang="en-US" sz="1000" dirty="0"/>
          </a:p>
        </p:txBody>
      </p:sp>
      <p:sp>
        <p:nvSpPr>
          <p:cNvPr id="4" name="Shape 1"/>
          <p:cNvSpPr/>
          <p:nvPr/>
        </p:nvSpPr>
        <p:spPr>
          <a:xfrm>
            <a:off x="566928" y="457200"/>
            <a:ext cx="50292" cy="420624"/>
          </a:xfrm>
          <a:prstGeom prst="rect">
            <a:avLst/>
          </a:prstGeom>
          <a:solidFill>
            <a:srgbClr val="38BDF8"/>
          </a:solidFill>
          <a:ln w="12700">
            <a:solidFill>
              <a:srgbClr val="38BDF8"/>
            </a:solidFill>
            <a:prstDash val="solid"/>
          </a:ln>
        </p:spPr>
      </p:sp>
      <p:sp>
        <p:nvSpPr>
          <p:cNvPr id="5" name="Text 2"/>
          <p:cNvSpPr txBox="1"/>
          <p:nvPr/>
        </p:nvSpPr>
        <p:spPr>
          <a:xfrm>
            <a:off x="731520" y="347472"/>
            <a:ext cx="10607040" cy="640080"/>
          </a:xfrm>
          <a:prstGeom prst="rect">
            <a:avLst/>
          </a:prstGeom>
          <a:noFill/>
          <a:ln/>
        </p:spPr>
        <p:txBody>
          <a:bodyPr wrap="square" lIns="0" tIns="0" rIns="0" bIns="0" rtlCol="0" anchor="ctr"/>
          <a:lstStyle/>
          <a:p>
            <a:pPr marL="0" indent="0">
              <a:buNone/>
            </a:pPr>
            <a:r>
              <a:rPr lang="en-US" sz="3000" b="1" dirty="0">
                <a:solidFill>
                  <a:srgbClr val="F1F5F9"/>
                </a:solidFill>
                <a:latin typeface="Calibri" pitchFamily="34" charset="0"/>
                <a:ea typeface="Calibri" pitchFamily="34" charset="-122"/>
                <a:cs typeface="Calibri" pitchFamily="34" charset="-120"/>
              </a:rPr>
              <a:t>El problema del abandono</a:t>
            </a:r>
            <a:endParaRPr lang="en-US" sz="3000" dirty="0"/>
          </a:p>
        </p:txBody>
      </p:sp>
      <p:sp>
        <p:nvSpPr>
          <p:cNvPr id="6" name="Text 3"/>
          <p:cNvSpPr txBox="1"/>
          <p:nvPr/>
        </p:nvSpPr>
        <p:spPr>
          <a:xfrm>
            <a:off x="731520" y="969264"/>
            <a:ext cx="10607040" cy="365760"/>
          </a:xfrm>
          <a:prstGeom prst="rect">
            <a:avLst/>
          </a:prstGeom>
          <a:noFill/>
          <a:ln/>
        </p:spPr>
        <p:txBody>
          <a:bodyPr wrap="square" lIns="0" tIns="0" rIns="0" bIns="0" rtlCol="0" anchor="ctr"/>
          <a:lstStyle/>
          <a:p>
            <a:pPr marL="0" indent="0">
              <a:buNone/>
            </a:pPr>
            <a:r>
              <a:rPr lang="en-US" sz="1400" dirty="0">
                <a:solidFill>
                  <a:srgbClr val="9FB0C8"/>
                </a:solidFill>
                <a:latin typeface="Calibri" pitchFamily="34" charset="0"/>
                <a:ea typeface="Calibri" pitchFamily="34" charset="-122"/>
                <a:cs typeface="Calibri" pitchFamily="34" charset="-120"/>
              </a:rPr>
              <a:t>Más de la mitad no se gradúa; en nuestro programa, el abandono es temprano</a:t>
            </a:r>
            <a:endParaRPr lang="en-US" sz="1400" dirty="0"/>
          </a:p>
        </p:txBody>
      </p:sp>
      <p:sp>
        <p:nvSpPr>
          <p:cNvPr id="7" name="Shape 4"/>
          <p:cNvSpPr/>
          <p:nvPr/>
        </p:nvSpPr>
        <p:spPr>
          <a:xfrm>
            <a:off x="731520" y="1691640"/>
            <a:ext cx="3291840" cy="1737360"/>
          </a:xfrm>
          <a:prstGeom prst="roundRect">
            <a:avLst>
              <a:gd name="adj" fmla="val 4211"/>
            </a:avLst>
          </a:prstGeom>
          <a:solidFill>
            <a:srgbClr val="132238"/>
          </a:solidFill>
          <a:ln w="9525">
            <a:solidFill>
              <a:srgbClr val="27406A"/>
            </a:solidFill>
            <a:prstDash val="solid"/>
          </a:ln>
        </p:spPr>
      </p:sp>
      <p:sp>
        <p:nvSpPr>
          <p:cNvPr id="8" name="Text 5"/>
          <p:cNvSpPr txBox="1"/>
          <p:nvPr/>
        </p:nvSpPr>
        <p:spPr>
          <a:xfrm>
            <a:off x="914400" y="1828800"/>
            <a:ext cx="2926080" cy="777240"/>
          </a:xfrm>
          <a:prstGeom prst="rect">
            <a:avLst/>
          </a:prstGeom>
          <a:noFill/>
          <a:ln/>
        </p:spPr>
        <p:txBody>
          <a:bodyPr wrap="square" lIns="0" tIns="0" rIns="0" bIns="0" rtlCol="0" anchor="ctr"/>
          <a:lstStyle/>
          <a:p>
            <a:pPr marL="0" indent="0" algn="ctr">
              <a:buNone/>
            </a:pPr>
            <a:r>
              <a:rPr lang="en-US" sz="4400" b="1" dirty="0">
                <a:solidFill>
                  <a:srgbClr val="FBBF24"/>
                </a:solidFill>
                <a:latin typeface="Calibri" pitchFamily="34" charset="0"/>
                <a:ea typeface="Calibri" pitchFamily="34" charset="-122"/>
                <a:cs typeface="Calibri" pitchFamily="34" charset="-120"/>
              </a:rPr>
              <a:t>45,1 %</a:t>
            </a:r>
            <a:endParaRPr lang="en-US" sz="4400" dirty="0"/>
          </a:p>
        </p:txBody>
      </p:sp>
      <p:sp>
        <p:nvSpPr>
          <p:cNvPr id="9" name="Text 6"/>
          <p:cNvSpPr txBox="1"/>
          <p:nvPr/>
        </p:nvSpPr>
        <p:spPr>
          <a:xfrm>
            <a:off x="914400" y="2606040"/>
            <a:ext cx="2926080" cy="320040"/>
          </a:xfrm>
          <a:prstGeom prst="rect">
            <a:avLst/>
          </a:prstGeom>
          <a:noFill/>
          <a:ln/>
        </p:spPr>
        <p:txBody>
          <a:bodyPr wrap="square" lIns="0" tIns="0" rIns="0" bIns="0" rtlCol="0" anchor="ctr"/>
          <a:lstStyle/>
          <a:p>
            <a:pPr marL="0" indent="0" algn="ctr">
              <a:buNone/>
            </a:pPr>
            <a:r>
              <a:rPr lang="en-US" sz="1500" b="1" dirty="0">
                <a:solidFill>
                  <a:srgbClr val="F1F5F9"/>
                </a:solidFill>
                <a:latin typeface="Calibri" pitchFamily="34" charset="0"/>
                <a:ea typeface="Calibri" pitchFamily="34" charset="-122"/>
                <a:cs typeface="Calibri" pitchFamily="34" charset="-120"/>
              </a:rPr>
              <a:t>Graduación nacional</a:t>
            </a:r>
            <a:endParaRPr lang="en-US" sz="1500" dirty="0"/>
          </a:p>
        </p:txBody>
      </p:sp>
      <p:sp>
        <p:nvSpPr>
          <p:cNvPr id="10" name="Text 7"/>
          <p:cNvSpPr txBox="1"/>
          <p:nvPr/>
        </p:nvSpPr>
        <p:spPr>
          <a:xfrm>
            <a:off x="914400" y="2926080"/>
            <a:ext cx="2926080" cy="411480"/>
          </a:xfrm>
          <a:prstGeom prst="rect">
            <a:avLst/>
          </a:prstGeom>
          <a:noFill/>
          <a:ln/>
        </p:spPr>
        <p:txBody>
          <a:bodyPr wrap="square" lIns="0" tIns="0" rIns="0" bIns="0" rtlCol="0" anchor="ctr"/>
          <a:lstStyle/>
          <a:p>
            <a:pPr marL="0" indent="0" algn="ctr">
              <a:buNone/>
            </a:pPr>
            <a:r>
              <a:rPr lang="en-US" sz="1150" dirty="0">
                <a:solidFill>
                  <a:srgbClr val="9FB0C8"/>
                </a:solidFill>
                <a:latin typeface="Calibri" pitchFamily="34" charset="0"/>
                <a:ea typeface="Calibri" pitchFamily="34" charset="-122"/>
                <a:cs typeface="Calibri" pitchFamily="34" charset="-120"/>
              </a:rPr>
              <a:t>acumulada tras 15 semestres (LEE, 2023)</a:t>
            </a:r>
            <a:endParaRPr lang="en-US" sz="1150" dirty="0"/>
          </a:p>
        </p:txBody>
      </p:sp>
      <p:sp>
        <p:nvSpPr>
          <p:cNvPr id="11" name="Shape 8"/>
          <p:cNvSpPr/>
          <p:nvPr/>
        </p:nvSpPr>
        <p:spPr>
          <a:xfrm>
            <a:off x="4297680" y="1691640"/>
            <a:ext cx="3291840" cy="1737360"/>
          </a:xfrm>
          <a:prstGeom prst="roundRect">
            <a:avLst>
              <a:gd name="adj" fmla="val 4211"/>
            </a:avLst>
          </a:prstGeom>
          <a:solidFill>
            <a:srgbClr val="132238"/>
          </a:solidFill>
          <a:ln w="9525">
            <a:solidFill>
              <a:srgbClr val="27406A"/>
            </a:solidFill>
            <a:prstDash val="solid"/>
          </a:ln>
        </p:spPr>
      </p:sp>
      <p:sp>
        <p:nvSpPr>
          <p:cNvPr id="12" name="Text 9"/>
          <p:cNvSpPr txBox="1"/>
          <p:nvPr/>
        </p:nvSpPr>
        <p:spPr>
          <a:xfrm>
            <a:off x="4480560" y="1828800"/>
            <a:ext cx="2926080" cy="777240"/>
          </a:xfrm>
          <a:prstGeom prst="rect">
            <a:avLst/>
          </a:prstGeom>
          <a:noFill/>
          <a:ln/>
        </p:spPr>
        <p:txBody>
          <a:bodyPr wrap="square" lIns="0" tIns="0" rIns="0" bIns="0" rtlCol="0" anchor="ctr"/>
          <a:lstStyle/>
          <a:p>
            <a:pPr marL="0" indent="0" algn="ctr">
              <a:buNone/>
            </a:pPr>
            <a:r>
              <a:rPr lang="en-US" sz="4400" b="1" dirty="0">
                <a:solidFill>
                  <a:srgbClr val="F87171"/>
                </a:solidFill>
                <a:latin typeface="Calibri" pitchFamily="34" charset="0"/>
                <a:ea typeface="Calibri" pitchFamily="34" charset="-122"/>
                <a:cs typeface="Calibri" pitchFamily="34" charset="-120"/>
              </a:rPr>
              <a:t>63 %</a:t>
            </a:r>
            <a:endParaRPr lang="en-US" sz="4400" dirty="0"/>
          </a:p>
        </p:txBody>
      </p:sp>
      <p:sp>
        <p:nvSpPr>
          <p:cNvPr id="13" name="Text 10"/>
          <p:cNvSpPr txBox="1"/>
          <p:nvPr/>
        </p:nvSpPr>
        <p:spPr>
          <a:xfrm>
            <a:off x="4480560" y="2606040"/>
            <a:ext cx="2926080" cy="320040"/>
          </a:xfrm>
          <a:prstGeom prst="rect">
            <a:avLst/>
          </a:prstGeom>
          <a:noFill/>
          <a:ln/>
        </p:spPr>
        <p:txBody>
          <a:bodyPr wrap="square" lIns="0" tIns="0" rIns="0" bIns="0" rtlCol="0" anchor="ctr"/>
          <a:lstStyle/>
          <a:p>
            <a:pPr marL="0" indent="0" algn="ctr">
              <a:buNone/>
            </a:pPr>
            <a:r>
              <a:rPr lang="en-US" sz="1500" b="1" dirty="0">
                <a:solidFill>
                  <a:srgbClr val="F1F5F9"/>
                </a:solidFill>
                <a:latin typeface="Calibri" pitchFamily="34" charset="0"/>
                <a:ea typeface="Calibri" pitchFamily="34" charset="-122"/>
                <a:cs typeface="Calibri" pitchFamily="34" charset="-120"/>
              </a:rPr>
              <a:t>Sin graduación</a:t>
            </a:r>
            <a:endParaRPr lang="en-US" sz="1500" dirty="0"/>
          </a:p>
        </p:txBody>
      </p:sp>
      <p:sp>
        <p:nvSpPr>
          <p:cNvPr id="14" name="Text 11"/>
          <p:cNvSpPr txBox="1"/>
          <p:nvPr/>
        </p:nvSpPr>
        <p:spPr>
          <a:xfrm>
            <a:off x="4480560" y="2926080"/>
            <a:ext cx="2926080" cy="411480"/>
          </a:xfrm>
          <a:prstGeom prst="rect">
            <a:avLst/>
          </a:prstGeom>
          <a:noFill/>
          <a:ln/>
        </p:spPr>
        <p:txBody>
          <a:bodyPr wrap="square" lIns="0" tIns="0" rIns="0" bIns="0" rtlCol="0" anchor="ctr"/>
          <a:lstStyle/>
          <a:p>
            <a:pPr marL="0" indent="0" algn="ctr">
              <a:buNone/>
            </a:pPr>
            <a:r>
              <a:rPr lang="en-US" sz="1150" dirty="0">
                <a:solidFill>
                  <a:srgbClr val="9FB0C8"/>
                </a:solidFill>
                <a:latin typeface="Calibri" pitchFamily="34" charset="0"/>
                <a:ea typeface="Calibri" pitchFamily="34" charset="-122"/>
                <a:cs typeface="Calibri" pitchFamily="34" charset="-120"/>
              </a:rPr>
              <a:t>cohortes 2017-2 y 2018-1, Ing. de Sistemas</a:t>
            </a:r>
            <a:endParaRPr lang="en-US" sz="1150" dirty="0"/>
          </a:p>
        </p:txBody>
      </p:sp>
      <p:sp>
        <p:nvSpPr>
          <p:cNvPr id="15" name="Shape 12"/>
          <p:cNvSpPr/>
          <p:nvPr/>
        </p:nvSpPr>
        <p:spPr>
          <a:xfrm>
            <a:off x="7863840" y="1691640"/>
            <a:ext cx="3291840" cy="1737360"/>
          </a:xfrm>
          <a:prstGeom prst="roundRect">
            <a:avLst>
              <a:gd name="adj" fmla="val 4211"/>
            </a:avLst>
          </a:prstGeom>
          <a:solidFill>
            <a:srgbClr val="132238"/>
          </a:solidFill>
          <a:ln w="9525">
            <a:solidFill>
              <a:srgbClr val="27406A"/>
            </a:solidFill>
            <a:prstDash val="solid"/>
          </a:ln>
        </p:spPr>
      </p:sp>
      <p:sp>
        <p:nvSpPr>
          <p:cNvPr id="16" name="Text 13"/>
          <p:cNvSpPr txBox="1"/>
          <p:nvPr/>
        </p:nvSpPr>
        <p:spPr>
          <a:xfrm>
            <a:off x="8046720" y="1828800"/>
            <a:ext cx="2926080" cy="777240"/>
          </a:xfrm>
          <a:prstGeom prst="rect">
            <a:avLst/>
          </a:prstGeom>
          <a:noFill/>
          <a:ln/>
        </p:spPr>
        <p:txBody>
          <a:bodyPr wrap="square" lIns="0" tIns="0" rIns="0" bIns="0" rtlCol="0" anchor="ctr"/>
          <a:lstStyle/>
          <a:p>
            <a:pPr marL="0" indent="0" algn="ctr">
              <a:buNone/>
            </a:pPr>
            <a:r>
              <a:rPr lang="en-US" sz="4400" b="1" dirty="0">
                <a:solidFill>
                  <a:srgbClr val="38BDF8"/>
                </a:solidFill>
                <a:latin typeface="Calibri" pitchFamily="34" charset="0"/>
                <a:ea typeface="Calibri" pitchFamily="34" charset="-122"/>
                <a:cs typeface="Calibri" pitchFamily="34" charset="-120"/>
              </a:rPr>
              <a:t>64 %</a:t>
            </a:r>
            <a:endParaRPr lang="en-US" sz="4400" dirty="0"/>
          </a:p>
        </p:txBody>
      </p:sp>
      <p:sp>
        <p:nvSpPr>
          <p:cNvPr id="17" name="Text 14"/>
          <p:cNvSpPr txBox="1"/>
          <p:nvPr/>
        </p:nvSpPr>
        <p:spPr>
          <a:xfrm>
            <a:off x="8046720" y="2606040"/>
            <a:ext cx="2926080" cy="320040"/>
          </a:xfrm>
          <a:prstGeom prst="rect">
            <a:avLst/>
          </a:prstGeom>
          <a:noFill/>
          <a:ln/>
        </p:spPr>
        <p:txBody>
          <a:bodyPr wrap="square" lIns="0" tIns="0" rIns="0" bIns="0" rtlCol="0" anchor="ctr"/>
          <a:lstStyle/>
          <a:p>
            <a:pPr marL="0" indent="0" algn="ctr">
              <a:buNone/>
            </a:pPr>
            <a:r>
              <a:rPr lang="en-US" sz="1500" b="1" dirty="0">
                <a:solidFill>
                  <a:srgbClr val="F1F5F9"/>
                </a:solidFill>
                <a:latin typeface="Calibri" pitchFamily="34" charset="0"/>
                <a:ea typeface="Calibri" pitchFamily="34" charset="-122"/>
                <a:cs typeface="Calibri" pitchFamily="34" charset="-120"/>
              </a:rPr>
              <a:t>Abandono temprano</a:t>
            </a:r>
            <a:endParaRPr lang="en-US" sz="1500" dirty="0"/>
          </a:p>
        </p:txBody>
      </p:sp>
      <p:sp>
        <p:nvSpPr>
          <p:cNvPr id="18" name="Text 15"/>
          <p:cNvSpPr txBox="1"/>
          <p:nvPr/>
        </p:nvSpPr>
        <p:spPr>
          <a:xfrm>
            <a:off x="8046720" y="2926080"/>
            <a:ext cx="2926080" cy="411480"/>
          </a:xfrm>
          <a:prstGeom prst="rect">
            <a:avLst/>
          </a:prstGeom>
          <a:noFill/>
          <a:ln/>
        </p:spPr>
        <p:txBody>
          <a:bodyPr wrap="square" lIns="0" tIns="0" rIns="0" bIns="0" rtlCol="0" anchor="ctr"/>
          <a:lstStyle/>
          <a:p>
            <a:pPr marL="0" indent="0" algn="ctr">
              <a:buNone/>
            </a:pPr>
            <a:r>
              <a:rPr lang="en-US" sz="1150" dirty="0">
                <a:solidFill>
                  <a:srgbClr val="9FB0C8"/>
                </a:solidFill>
                <a:latin typeface="Calibri" pitchFamily="34" charset="0"/>
                <a:ea typeface="Calibri" pitchFamily="34" charset="-122"/>
                <a:cs typeface="Calibri" pitchFamily="34" charset="-120"/>
              </a:rPr>
              <a:t>de quienes interrumpen, en ≤ 2 periodos</a:t>
            </a:r>
            <a:endParaRPr lang="en-US" sz="1150" dirty="0"/>
          </a:p>
        </p:txBody>
      </p:sp>
      <p:sp>
        <p:nvSpPr>
          <p:cNvPr id="19" name="Shape 16"/>
          <p:cNvSpPr/>
          <p:nvPr/>
        </p:nvSpPr>
        <p:spPr>
          <a:xfrm>
            <a:off x="731520" y="3886200"/>
            <a:ext cx="10424160" cy="960120"/>
          </a:xfrm>
          <a:prstGeom prst="roundRect">
            <a:avLst>
              <a:gd name="adj" fmla="val 7619"/>
            </a:avLst>
          </a:prstGeom>
          <a:solidFill>
            <a:srgbClr val="0F2A44"/>
          </a:solidFill>
          <a:ln w="9525">
            <a:solidFill>
              <a:srgbClr val="27406A"/>
            </a:solidFill>
            <a:prstDash val="solid"/>
          </a:ln>
        </p:spPr>
      </p:sp>
      <p:sp>
        <p:nvSpPr>
          <p:cNvPr id="20" name="Text 17"/>
          <p:cNvSpPr txBox="1"/>
          <p:nvPr/>
        </p:nvSpPr>
        <p:spPr>
          <a:xfrm>
            <a:off x="960120" y="3931920"/>
            <a:ext cx="9966960" cy="868680"/>
          </a:xfrm>
          <a:prstGeom prst="rect">
            <a:avLst/>
          </a:prstGeom>
          <a:noFill/>
          <a:ln/>
        </p:spPr>
        <p:txBody>
          <a:bodyPr wrap="square" lIns="0" tIns="0" rIns="0" bIns="0" rtlCol="0" anchor="ctr"/>
          <a:lstStyle/>
          <a:p>
            <a:pPr marL="0" indent="0">
              <a:buNone/>
            </a:pPr>
            <a:r>
              <a:rPr lang="en-US" sz="1450" b="1" dirty="0">
                <a:solidFill>
                  <a:srgbClr val="FBBF24"/>
                </a:solidFill>
                <a:latin typeface="Calibri" pitchFamily="34" charset="0"/>
                <a:ea typeface="Calibri" pitchFamily="34" charset="-122"/>
                <a:cs typeface="Calibri" pitchFamily="34" charset="-120"/>
              </a:rPr>
              <a:t>Consecuencia:  </a:t>
            </a:r>
            <a:r>
              <a:rPr lang="en-US" sz="1450" dirty="0">
                <a:solidFill>
                  <a:srgbClr val="F1F5F9"/>
                </a:solidFill>
                <a:latin typeface="Calibri" pitchFamily="34" charset="0"/>
                <a:ea typeface="Calibri" pitchFamily="34" charset="-122"/>
                <a:cs typeface="Calibri" pitchFamily="34" charset="-120"/>
              </a:rPr>
              <a:t>si el abandono ocurre en el primer año, una alerta en tercer semestre llega tarde. La ventana de intervención es el primer periodo: el modelo solo puede usar lo observable al ingreso o al cierre del 1.er semestre.</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tmp/claude-0/deck/logo.png"/>
          <p:cNvPicPr>
            <a:picLocks noChangeAspect="1"/>
          </p:cNvPicPr>
          <p:nvPr/>
        </p:nvPicPr>
        <p:blipFill>
          <a:blip r:embed="rId4"/>
          <a:stretch>
            <a:fillRect/>
          </a:stretch>
        </p:blipFill>
        <p:spPr>
          <a:xfrm>
            <a:off x="11356848" y="5870448"/>
            <a:ext cx="713232" cy="713232"/>
          </a:xfrm>
          <a:prstGeom prst="rect">
            <a:avLst/>
          </a:prstGeom>
        </p:spPr>
      </p:pic>
      <p:sp>
        <p:nvSpPr>
          <p:cNvPr id="3" name="Text 0"/>
          <p:cNvSpPr txBox="1"/>
          <p:nvPr/>
        </p:nvSpPr>
        <p:spPr>
          <a:xfrm>
            <a:off x="10835640" y="6053328"/>
            <a:ext cx="457200" cy="274320"/>
          </a:xfrm>
          <a:prstGeom prst="rect">
            <a:avLst/>
          </a:prstGeom>
          <a:noFill/>
          <a:ln/>
        </p:spPr>
        <p:txBody>
          <a:bodyPr wrap="square" lIns="0" tIns="0" rIns="0" bIns="0" rtlCol="0" anchor="ctr"/>
          <a:lstStyle/>
          <a:p>
            <a:pPr marL="0" indent="0" algn="r">
              <a:buNone/>
            </a:pPr>
            <a:r>
              <a:rPr lang="en-US" sz="1000" dirty="0">
                <a:solidFill>
                  <a:srgbClr val="9FB0C8"/>
                </a:solidFill>
                <a:latin typeface="Calibri" pitchFamily="34" charset="0"/>
                <a:ea typeface="Calibri" pitchFamily="34" charset="-122"/>
                <a:cs typeface="Calibri" pitchFamily="34" charset="-120"/>
              </a:rPr>
              <a:t>3</a:t>
            </a:r>
            <a:endParaRPr lang="en-US" sz="1000" dirty="0"/>
          </a:p>
        </p:txBody>
      </p:sp>
      <p:sp>
        <p:nvSpPr>
          <p:cNvPr id="4" name="Shape 1"/>
          <p:cNvSpPr/>
          <p:nvPr/>
        </p:nvSpPr>
        <p:spPr>
          <a:xfrm>
            <a:off x="566928" y="457200"/>
            <a:ext cx="50292" cy="420624"/>
          </a:xfrm>
          <a:prstGeom prst="rect">
            <a:avLst/>
          </a:prstGeom>
          <a:solidFill>
            <a:srgbClr val="38BDF8"/>
          </a:solidFill>
          <a:ln w="12700">
            <a:solidFill>
              <a:srgbClr val="38BDF8"/>
            </a:solidFill>
            <a:prstDash val="solid"/>
          </a:ln>
        </p:spPr>
      </p:sp>
      <p:sp>
        <p:nvSpPr>
          <p:cNvPr id="5" name="Text 2"/>
          <p:cNvSpPr txBox="1"/>
          <p:nvPr/>
        </p:nvSpPr>
        <p:spPr>
          <a:xfrm>
            <a:off x="731520" y="347472"/>
            <a:ext cx="10607040" cy="640080"/>
          </a:xfrm>
          <a:prstGeom prst="rect">
            <a:avLst/>
          </a:prstGeom>
          <a:noFill/>
          <a:ln/>
        </p:spPr>
        <p:txBody>
          <a:bodyPr wrap="square" lIns="0" tIns="0" rIns="0" bIns="0" rtlCol="0" anchor="ctr"/>
          <a:lstStyle/>
          <a:p>
            <a:pPr marL="0" indent="0">
              <a:buNone/>
            </a:pPr>
            <a:r>
              <a:rPr lang="en-US" sz="3000" b="1" dirty="0">
                <a:solidFill>
                  <a:srgbClr val="F1F5F9"/>
                </a:solidFill>
                <a:latin typeface="Calibri" pitchFamily="34" charset="0"/>
                <a:ea typeface="Calibri" pitchFamily="34" charset="-122"/>
                <a:cs typeface="Calibri" pitchFamily="34" charset="-120"/>
              </a:rPr>
              <a:t>Pregunta, datos y método</a:t>
            </a:r>
            <a:endParaRPr lang="en-US" sz="3000" dirty="0"/>
          </a:p>
        </p:txBody>
      </p:sp>
      <p:sp>
        <p:nvSpPr>
          <p:cNvPr id="6" name="Text 3"/>
          <p:cNvSpPr txBox="1"/>
          <p:nvPr/>
        </p:nvSpPr>
        <p:spPr>
          <a:xfrm>
            <a:off x="731520" y="969264"/>
            <a:ext cx="10607040" cy="365760"/>
          </a:xfrm>
          <a:prstGeom prst="rect">
            <a:avLst/>
          </a:prstGeom>
          <a:noFill/>
          <a:ln/>
        </p:spPr>
        <p:txBody>
          <a:bodyPr wrap="square" lIns="0" tIns="0" rIns="0" bIns="0" rtlCol="0" anchor="ctr"/>
          <a:lstStyle/>
          <a:p>
            <a:pPr marL="0" indent="0">
              <a:buNone/>
            </a:pPr>
            <a:r>
              <a:rPr lang="en-US" sz="1400" dirty="0">
                <a:solidFill>
                  <a:srgbClr val="9FB0C8"/>
                </a:solidFill>
                <a:latin typeface="Calibri" pitchFamily="34" charset="0"/>
                <a:ea typeface="Calibri" pitchFamily="34" charset="-122"/>
                <a:cs typeface="Calibri" pitchFamily="34" charset="-120"/>
              </a:rPr>
              <a:t>CRISP-DM iterativo: las inconsistencias obligaron a volver a fases anteriores</a:t>
            </a:r>
            <a:endParaRPr lang="en-US" sz="1400" dirty="0"/>
          </a:p>
        </p:txBody>
      </p:sp>
      <p:sp>
        <p:nvSpPr>
          <p:cNvPr id="7" name="Shape 4"/>
          <p:cNvSpPr/>
          <p:nvPr/>
        </p:nvSpPr>
        <p:spPr>
          <a:xfrm>
            <a:off x="731520" y="1554480"/>
            <a:ext cx="10424160" cy="960120"/>
          </a:xfrm>
          <a:prstGeom prst="roundRect">
            <a:avLst>
              <a:gd name="adj" fmla="val 7619"/>
            </a:avLst>
          </a:prstGeom>
          <a:solidFill>
            <a:srgbClr val="0F2A44"/>
          </a:solidFill>
          <a:ln w="9525">
            <a:solidFill>
              <a:srgbClr val="27406A"/>
            </a:solidFill>
            <a:prstDash val="solid"/>
          </a:ln>
        </p:spPr>
      </p:sp>
      <p:sp>
        <p:nvSpPr>
          <p:cNvPr id="8" name="Text 5"/>
          <p:cNvSpPr txBox="1"/>
          <p:nvPr/>
        </p:nvSpPr>
        <p:spPr>
          <a:xfrm>
            <a:off x="960120" y="1600200"/>
            <a:ext cx="9966960" cy="868680"/>
          </a:xfrm>
          <a:prstGeom prst="rect">
            <a:avLst/>
          </a:prstGeom>
          <a:noFill/>
          <a:ln/>
        </p:spPr>
        <p:txBody>
          <a:bodyPr wrap="square" lIns="0" tIns="0" rIns="0" bIns="0" rtlCol="0" anchor="ctr"/>
          <a:lstStyle/>
          <a:p>
            <a:pPr marL="0" indent="0">
              <a:buNone/>
            </a:pPr>
            <a:r>
              <a:rPr lang="en-US" sz="1700" b="1" dirty="0">
                <a:solidFill>
                  <a:srgbClr val="38BDF8"/>
                </a:solidFill>
                <a:latin typeface="Calibri" pitchFamily="34" charset="0"/>
                <a:ea typeface="Calibri" pitchFamily="34" charset="-122"/>
                <a:cs typeface="Calibri" pitchFamily="34" charset="-120"/>
              </a:rPr>
              <a:t>Pregunta central  </a:t>
            </a:r>
            <a:r>
              <a:rPr lang="en-US" sz="1700" dirty="0">
                <a:solidFill>
                  <a:srgbClr val="F1F5F9"/>
                </a:solidFill>
                <a:latin typeface="Calibri" pitchFamily="34" charset="0"/>
                <a:ea typeface="Calibri" pitchFamily="34" charset="-122"/>
                <a:cs typeface="Calibri" pitchFamily="34" charset="-120"/>
              </a:rPr>
              <a:t>¿Qué algoritmo de aprendizaje automático ofrece el mejor desempeño predictivo del rendimiento académico?</a:t>
            </a:r>
            <a:endParaRPr lang="en-US" sz="1700" dirty="0"/>
          </a:p>
        </p:txBody>
      </p:sp>
      <p:sp>
        <p:nvSpPr>
          <p:cNvPr id="9" name="Shape 6"/>
          <p:cNvSpPr/>
          <p:nvPr/>
        </p:nvSpPr>
        <p:spPr>
          <a:xfrm>
            <a:off x="731520" y="2743200"/>
            <a:ext cx="1600200" cy="960120"/>
          </a:xfrm>
          <a:prstGeom prst="roundRect">
            <a:avLst>
              <a:gd name="adj" fmla="val 7619"/>
            </a:avLst>
          </a:prstGeom>
          <a:solidFill>
            <a:srgbClr val="132238"/>
          </a:solidFill>
          <a:ln w="19050">
            <a:solidFill>
              <a:srgbClr val="38BDF8"/>
            </a:solidFill>
            <a:prstDash val="solid"/>
          </a:ln>
        </p:spPr>
      </p:sp>
      <p:sp>
        <p:nvSpPr>
          <p:cNvPr id="10" name="Text 7"/>
          <p:cNvSpPr txBox="1"/>
          <p:nvPr/>
        </p:nvSpPr>
        <p:spPr>
          <a:xfrm>
            <a:off x="731520" y="2788920"/>
            <a:ext cx="1600200" cy="868680"/>
          </a:xfrm>
          <a:prstGeom prst="rect">
            <a:avLst/>
          </a:prstGeom>
          <a:noFill/>
          <a:ln/>
        </p:spPr>
        <p:txBody>
          <a:bodyPr wrap="square" lIns="0" tIns="0" rIns="0" bIns="0" rtlCol="0" anchor="ctr"/>
          <a:lstStyle/>
          <a:p>
            <a:pPr marL="0" indent="0" algn="ctr">
              <a:buNone/>
            </a:pPr>
            <a:r>
              <a:rPr lang="en-US" sz="1100" b="1" dirty="0">
                <a:solidFill>
                  <a:srgbClr val="38BDF8"/>
                </a:solidFill>
                <a:latin typeface="Calibri" pitchFamily="34" charset="0"/>
                <a:ea typeface="Calibri" pitchFamily="34" charset="-122"/>
                <a:cs typeface="Calibri" pitchFamily="34" charset="-120"/>
              </a:rPr>
              <a:t>Fase 1</a:t>
            </a:r>
            <a:endParaRPr lang="en-US" sz="1100" dirty="0"/>
          </a:p>
          <a:p>
            <a:pPr marL="0" indent="0" algn="ctr">
              <a:buNone/>
            </a:pPr>
            <a:r>
              <a:rPr lang="en-US" sz="1500" b="1" dirty="0">
                <a:solidFill>
                  <a:srgbClr val="F1F5F9"/>
                </a:solidFill>
                <a:latin typeface="Calibri" pitchFamily="34" charset="0"/>
                <a:ea typeface="Calibri" pitchFamily="34" charset="-122"/>
                <a:cs typeface="Calibri" pitchFamily="34" charset="-120"/>
              </a:rPr>
              <a:t>Negocio</a:t>
            </a:r>
            <a:endParaRPr lang="en-US" sz="1100" dirty="0"/>
          </a:p>
          <a:p>
            <a:pPr marL="0" indent="0" algn="ctr">
              <a:buNone/>
            </a:pPr>
            <a:r>
              <a:rPr lang="en-US" sz="1100" dirty="0">
                <a:solidFill>
                  <a:srgbClr val="9FB0C8"/>
                </a:solidFill>
                <a:latin typeface="Calibri" pitchFamily="34" charset="0"/>
                <a:ea typeface="Calibri" pitchFamily="34" charset="-122"/>
                <a:cs typeface="Calibri" pitchFamily="34" charset="-120"/>
              </a:rPr>
              <a:t>4 preguntas</a:t>
            </a:r>
            <a:endParaRPr lang="en-US" sz="1100" dirty="0"/>
          </a:p>
        </p:txBody>
      </p:sp>
      <p:sp>
        <p:nvSpPr>
          <p:cNvPr id="11" name="Shape 8"/>
          <p:cNvSpPr/>
          <p:nvPr/>
        </p:nvSpPr>
        <p:spPr>
          <a:xfrm>
            <a:off x="2496312" y="2743200"/>
            <a:ext cx="1600200" cy="960120"/>
          </a:xfrm>
          <a:prstGeom prst="roundRect">
            <a:avLst>
              <a:gd name="adj" fmla="val 7619"/>
            </a:avLst>
          </a:prstGeom>
          <a:solidFill>
            <a:srgbClr val="132238"/>
          </a:solidFill>
          <a:ln w="19050">
            <a:solidFill>
              <a:srgbClr val="34D399"/>
            </a:solidFill>
            <a:prstDash val="solid"/>
          </a:ln>
        </p:spPr>
      </p:sp>
      <p:sp>
        <p:nvSpPr>
          <p:cNvPr id="12" name="Text 9"/>
          <p:cNvSpPr txBox="1"/>
          <p:nvPr/>
        </p:nvSpPr>
        <p:spPr>
          <a:xfrm>
            <a:off x="2496312" y="2788920"/>
            <a:ext cx="1600200" cy="868680"/>
          </a:xfrm>
          <a:prstGeom prst="rect">
            <a:avLst/>
          </a:prstGeom>
          <a:noFill/>
          <a:ln/>
        </p:spPr>
        <p:txBody>
          <a:bodyPr wrap="square" lIns="0" tIns="0" rIns="0" bIns="0" rtlCol="0" anchor="ctr"/>
          <a:lstStyle/>
          <a:p>
            <a:pPr marL="0" indent="0" algn="ctr">
              <a:buNone/>
            </a:pPr>
            <a:r>
              <a:rPr lang="en-US" sz="1100" b="1" dirty="0">
                <a:solidFill>
                  <a:srgbClr val="34D399"/>
                </a:solidFill>
                <a:latin typeface="Calibri" pitchFamily="34" charset="0"/>
                <a:ea typeface="Calibri" pitchFamily="34" charset="-122"/>
                <a:cs typeface="Calibri" pitchFamily="34" charset="-120"/>
              </a:rPr>
              <a:t>Fase 2</a:t>
            </a:r>
            <a:endParaRPr lang="en-US" sz="1100" dirty="0"/>
          </a:p>
          <a:p>
            <a:pPr marL="0" indent="0" algn="ctr">
              <a:buNone/>
            </a:pPr>
            <a:r>
              <a:rPr lang="en-US" sz="1500" b="1" dirty="0">
                <a:solidFill>
                  <a:srgbClr val="F1F5F9"/>
                </a:solidFill>
                <a:latin typeface="Calibri" pitchFamily="34" charset="0"/>
                <a:ea typeface="Calibri" pitchFamily="34" charset="-122"/>
                <a:cs typeface="Calibri" pitchFamily="34" charset="-120"/>
              </a:rPr>
              <a:t>Datos</a:t>
            </a:r>
            <a:endParaRPr lang="en-US" sz="1100" dirty="0"/>
          </a:p>
          <a:p>
            <a:pPr marL="0" indent="0" algn="ctr">
              <a:buNone/>
            </a:pPr>
            <a:r>
              <a:rPr lang="en-US" sz="1100" dirty="0">
                <a:solidFill>
                  <a:srgbClr val="9FB0C8"/>
                </a:solidFill>
                <a:latin typeface="Calibri" pitchFamily="34" charset="0"/>
                <a:ea typeface="Calibri" pitchFamily="34" charset="-122"/>
                <a:cs typeface="Calibri" pitchFamily="34" charset="-120"/>
              </a:rPr>
              <a:t>6 fuentes</a:t>
            </a:r>
            <a:endParaRPr lang="en-US" sz="1100" dirty="0"/>
          </a:p>
        </p:txBody>
      </p:sp>
      <p:sp>
        <p:nvSpPr>
          <p:cNvPr id="13" name="Shape 10"/>
          <p:cNvSpPr/>
          <p:nvPr/>
        </p:nvSpPr>
        <p:spPr>
          <a:xfrm>
            <a:off x="4261104" y="2743200"/>
            <a:ext cx="1600200" cy="960120"/>
          </a:xfrm>
          <a:prstGeom prst="roundRect">
            <a:avLst>
              <a:gd name="adj" fmla="val 7619"/>
            </a:avLst>
          </a:prstGeom>
          <a:solidFill>
            <a:srgbClr val="132238"/>
          </a:solidFill>
          <a:ln w="19050">
            <a:solidFill>
              <a:srgbClr val="FBBF24"/>
            </a:solidFill>
            <a:prstDash val="solid"/>
          </a:ln>
        </p:spPr>
      </p:sp>
      <p:sp>
        <p:nvSpPr>
          <p:cNvPr id="14" name="Text 11"/>
          <p:cNvSpPr txBox="1"/>
          <p:nvPr/>
        </p:nvSpPr>
        <p:spPr>
          <a:xfrm>
            <a:off x="4261104" y="2788920"/>
            <a:ext cx="1600200" cy="868680"/>
          </a:xfrm>
          <a:prstGeom prst="rect">
            <a:avLst/>
          </a:prstGeom>
          <a:noFill/>
          <a:ln/>
        </p:spPr>
        <p:txBody>
          <a:bodyPr wrap="square" lIns="0" tIns="0" rIns="0" bIns="0" rtlCol="0" anchor="ctr"/>
          <a:lstStyle/>
          <a:p>
            <a:pPr marL="0" indent="0" algn="ctr">
              <a:buNone/>
            </a:pPr>
            <a:r>
              <a:rPr lang="en-US" sz="1100" b="1" dirty="0">
                <a:solidFill>
                  <a:srgbClr val="FBBF24"/>
                </a:solidFill>
                <a:latin typeface="Calibri" pitchFamily="34" charset="0"/>
                <a:ea typeface="Calibri" pitchFamily="34" charset="-122"/>
                <a:cs typeface="Calibri" pitchFamily="34" charset="-120"/>
              </a:rPr>
              <a:t>Fase 3</a:t>
            </a:r>
            <a:endParaRPr lang="en-US" sz="1100" dirty="0"/>
          </a:p>
          <a:p>
            <a:pPr marL="0" indent="0" algn="ctr">
              <a:buNone/>
            </a:pPr>
            <a:r>
              <a:rPr lang="en-US" sz="1500" b="1" dirty="0">
                <a:solidFill>
                  <a:srgbClr val="F1F5F9"/>
                </a:solidFill>
                <a:latin typeface="Calibri" pitchFamily="34" charset="0"/>
                <a:ea typeface="Calibri" pitchFamily="34" charset="-122"/>
                <a:cs typeface="Calibri" pitchFamily="34" charset="-120"/>
              </a:rPr>
              <a:t>Preparación</a:t>
            </a:r>
            <a:endParaRPr lang="en-US" sz="1100" dirty="0"/>
          </a:p>
          <a:p>
            <a:pPr marL="0" indent="0" algn="ctr">
              <a:buNone/>
            </a:pPr>
            <a:r>
              <a:rPr lang="en-US" sz="1100" dirty="0">
                <a:solidFill>
                  <a:srgbClr val="9FB0C8"/>
                </a:solidFill>
                <a:latin typeface="Calibri" pitchFamily="34" charset="0"/>
                <a:ea typeface="Calibri" pitchFamily="34" charset="-122"/>
                <a:cs typeface="Calibri" pitchFamily="34" charset="-120"/>
              </a:rPr>
              <a:t>reglas trazables</a:t>
            </a:r>
            <a:endParaRPr lang="en-US" sz="1100" dirty="0"/>
          </a:p>
        </p:txBody>
      </p:sp>
      <p:sp>
        <p:nvSpPr>
          <p:cNvPr id="15" name="Shape 12"/>
          <p:cNvSpPr/>
          <p:nvPr/>
        </p:nvSpPr>
        <p:spPr>
          <a:xfrm>
            <a:off x="6025896" y="2743200"/>
            <a:ext cx="1600200" cy="960120"/>
          </a:xfrm>
          <a:prstGeom prst="roundRect">
            <a:avLst>
              <a:gd name="adj" fmla="val 7619"/>
            </a:avLst>
          </a:prstGeom>
          <a:solidFill>
            <a:srgbClr val="132238"/>
          </a:solidFill>
          <a:ln w="19050">
            <a:solidFill>
              <a:srgbClr val="F87171"/>
            </a:solidFill>
            <a:prstDash val="solid"/>
          </a:ln>
        </p:spPr>
      </p:sp>
      <p:sp>
        <p:nvSpPr>
          <p:cNvPr id="16" name="Text 13"/>
          <p:cNvSpPr txBox="1"/>
          <p:nvPr/>
        </p:nvSpPr>
        <p:spPr>
          <a:xfrm>
            <a:off x="6025896" y="2788920"/>
            <a:ext cx="1600200" cy="868680"/>
          </a:xfrm>
          <a:prstGeom prst="rect">
            <a:avLst/>
          </a:prstGeom>
          <a:noFill/>
          <a:ln/>
        </p:spPr>
        <p:txBody>
          <a:bodyPr wrap="square" lIns="0" tIns="0" rIns="0" bIns="0" rtlCol="0" anchor="ctr"/>
          <a:lstStyle/>
          <a:p>
            <a:pPr marL="0" indent="0" algn="ctr">
              <a:buNone/>
            </a:pPr>
            <a:r>
              <a:rPr lang="en-US" sz="1100" b="1" dirty="0">
                <a:solidFill>
                  <a:srgbClr val="F87171"/>
                </a:solidFill>
                <a:latin typeface="Calibri" pitchFamily="34" charset="0"/>
                <a:ea typeface="Calibri" pitchFamily="34" charset="-122"/>
                <a:cs typeface="Calibri" pitchFamily="34" charset="-120"/>
              </a:rPr>
              <a:t>Fase 4</a:t>
            </a:r>
            <a:endParaRPr lang="en-US" sz="1100" dirty="0"/>
          </a:p>
          <a:p>
            <a:pPr marL="0" indent="0" algn="ctr">
              <a:buNone/>
            </a:pPr>
            <a:r>
              <a:rPr lang="en-US" sz="1500" b="1" dirty="0">
                <a:solidFill>
                  <a:srgbClr val="F1F5F9"/>
                </a:solidFill>
                <a:latin typeface="Calibri" pitchFamily="34" charset="0"/>
                <a:ea typeface="Calibri" pitchFamily="34" charset="-122"/>
                <a:cs typeface="Calibri" pitchFamily="34" charset="-120"/>
              </a:rPr>
              <a:t>Modelado</a:t>
            </a:r>
            <a:endParaRPr lang="en-US" sz="1100" dirty="0"/>
          </a:p>
          <a:p>
            <a:pPr marL="0" indent="0" algn="ctr">
              <a:buNone/>
            </a:pPr>
            <a:r>
              <a:rPr lang="en-US" sz="1100" dirty="0">
                <a:solidFill>
                  <a:srgbClr val="9FB0C8"/>
                </a:solidFill>
                <a:latin typeface="Calibri" pitchFamily="34" charset="0"/>
                <a:ea typeface="Calibri" pitchFamily="34" charset="-122"/>
                <a:cs typeface="Calibri" pitchFamily="34" charset="-120"/>
              </a:rPr>
              <a:t>algoritmos</a:t>
            </a:r>
            <a:endParaRPr lang="en-US" sz="1100" dirty="0"/>
          </a:p>
        </p:txBody>
      </p:sp>
      <p:sp>
        <p:nvSpPr>
          <p:cNvPr id="17" name="Shape 14"/>
          <p:cNvSpPr/>
          <p:nvPr/>
        </p:nvSpPr>
        <p:spPr>
          <a:xfrm>
            <a:off x="7790688" y="2743200"/>
            <a:ext cx="1600200" cy="960120"/>
          </a:xfrm>
          <a:prstGeom prst="roundRect">
            <a:avLst>
              <a:gd name="adj" fmla="val 7619"/>
            </a:avLst>
          </a:prstGeom>
          <a:solidFill>
            <a:srgbClr val="132238"/>
          </a:solidFill>
          <a:ln w="19050">
            <a:solidFill>
              <a:srgbClr val="A78BFA"/>
            </a:solidFill>
            <a:prstDash val="solid"/>
          </a:ln>
        </p:spPr>
      </p:sp>
      <p:sp>
        <p:nvSpPr>
          <p:cNvPr id="18" name="Text 15"/>
          <p:cNvSpPr txBox="1"/>
          <p:nvPr/>
        </p:nvSpPr>
        <p:spPr>
          <a:xfrm>
            <a:off x="7790688" y="2788920"/>
            <a:ext cx="1600200" cy="868680"/>
          </a:xfrm>
          <a:prstGeom prst="rect">
            <a:avLst/>
          </a:prstGeom>
          <a:noFill/>
          <a:ln/>
        </p:spPr>
        <p:txBody>
          <a:bodyPr wrap="square" lIns="0" tIns="0" rIns="0" bIns="0" rtlCol="0" anchor="ctr"/>
          <a:lstStyle/>
          <a:p>
            <a:pPr marL="0" indent="0" algn="ctr">
              <a:buNone/>
            </a:pPr>
            <a:r>
              <a:rPr lang="en-US" sz="1100" b="1" dirty="0">
                <a:solidFill>
                  <a:srgbClr val="A78BFA"/>
                </a:solidFill>
                <a:latin typeface="Calibri" pitchFamily="34" charset="0"/>
                <a:ea typeface="Calibri" pitchFamily="34" charset="-122"/>
                <a:cs typeface="Calibri" pitchFamily="34" charset="-120"/>
              </a:rPr>
              <a:t>Fase 5</a:t>
            </a:r>
            <a:endParaRPr lang="en-US" sz="1100" dirty="0"/>
          </a:p>
          <a:p>
            <a:pPr marL="0" indent="0" algn="ctr">
              <a:buNone/>
            </a:pPr>
            <a:r>
              <a:rPr lang="en-US" sz="1500" b="1" dirty="0">
                <a:solidFill>
                  <a:srgbClr val="F1F5F9"/>
                </a:solidFill>
                <a:latin typeface="Calibri" pitchFamily="34" charset="0"/>
                <a:ea typeface="Calibri" pitchFamily="34" charset="-122"/>
                <a:cs typeface="Calibri" pitchFamily="34" charset="-120"/>
              </a:rPr>
              <a:t>Evaluación</a:t>
            </a:r>
            <a:endParaRPr lang="en-US" sz="1100" dirty="0"/>
          </a:p>
          <a:p>
            <a:pPr marL="0" indent="0" algn="ctr">
              <a:buNone/>
            </a:pPr>
            <a:r>
              <a:rPr lang="en-US" sz="1100" dirty="0">
                <a:solidFill>
                  <a:srgbClr val="9FB0C8"/>
                </a:solidFill>
                <a:latin typeface="Calibri" pitchFamily="34" charset="0"/>
                <a:ea typeface="Calibri" pitchFamily="34" charset="-122"/>
                <a:cs typeface="Calibri" pitchFamily="34" charset="-120"/>
              </a:rPr>
              <a:t>CV estratificada</a:t>
            </a:r>
            <a:endParaRPr lang="en-US" sz="1100" dirty="0"/>
          </a:p>
        </p:txBody>
      </p:sp>
      <p:sp>
        <p:nvSpPr>
          <p:cNvPr id="19" name="Shape 16"/>
          <p:cNvSpPr/>
          <p:nvPr/>
        </p:nvSpPr>
        <p:spPr>
          <a:xfrm>
            <a:off x="9555480" y="2743200"/>
            <a:ext cx="1600200" cy="960120"/>
          </a:xfrm>
          <a:prstGeom prst="roundRect">
            <a:avLst>
              <a:gd name="adj" fmla="val 7619"/>
            </a:avLst>
          </a:prstGeom>
          <a:solidFill>
            <a:srgbClr val="132238"/>
          </a:solidFill>
          <a:ln w="19050">
            <a:solidFill>
              <a:srgbClr val="2DD4BF"/>
            </a:solidFill>
            <a:prstDash val="solid"/>
          </a:ln>
        </p:spPr>
      </p:sp>
      <p:sp>
        <p:nvSpPr>
          <p:cNvPr id="20" name="Text 17"/>
          <p:cNvSpPr txBox="1"/>
          <p:nvPr/>
        </p:nvSpPr>
        <p:spPr>
          <a:xfrm>
            <a:off x="9555480" y="2788920"/>
            <a:ext cx="1600200" cy="868680"/>
          </a:xfrm>
          <a:prstGeom prst="rect">
            <a:avLst/>
          </a:prstGeom>
          <a:noFill/>
          <a:ln/>
        </p:spPr>
        <p:txBody>
          <a:bodyPr wrap="square" lIns="0" tIns="0" rIns="0" bIns="0" rtlCol="0" anchor="ctr"/>
          <a:lstStyle/>
          <a:p>
            <a:pPr marL="0" indent="0" algn="ctr">
              <a:buNone/>
            </a:pPr>
            <a:r>
              <a:rPr lang="en-US" sz="1100" b="1" dirty="0">
                <a:solidFill>
                  <a:srgbClr val="2DD4BF"/>
                </a:solidFill>
                <a:latin typeface="Calibri" pitchFamily="34" charset="0"/>
                <a:ea typeface="Calibri" pitchFamily="34" charset="-122"/>
                <a:cs typeface="Calibri" pitchFamily="34" charset="-120"/>
              </a:rPr>
              <a:t>Fase 6</a:t>
            </a:r>
            <a:endParaRPr lang="en-US" sz="1100" dirty="0"/>
          </a:p>
          <a:p>
            <a:pPr marL="0" indent="0" algn="ctr">
              <a:buNone/>
            </a:pPr>
            <a:r>
              <a:rPr lang="en-US" sz="1500" b="1" dirty="0">
                <a:solidFill>
                  <a:srgbClr val="F1F5F9"/>
                </a:solidFill>
                <a:latin typeface="Calibri" pitchFamily="34" charset="0"/>
                <a:ea typeface="Calibri" pitchFamily="34" charset="-122"/>
                <a:cs typeface="Calibri" pitchFamily="34" charset="-120"/>
              </a:rPr>
              <a:t>Despliegue</a:t>
            </a:r>
            <a:endParaRPr lang="en-US" sz="1100" dirty="0"/>
          </a:p>
          <a:p>
            <a:pPr marL="0" indent="0" algn="ctr">
              <a:buNone/>
            </a:pPr>
            <a:r>
              <a:rPr lang="en-US" sz="1100" dirty="0">
                <a:solidFill>
                  <a:srgbClr val="9FB0C8"/>
                </a:solidFill>
                <a:latin typeface="Calibri" pitchFamily="34" charset="0"/>
                <a:ea typeface="Calibri" pitchFamily="34" charset="-122"/>
                <a:cs typeface="Calibri" pitchFamily="34" charset="-120"/>
              </a:rPr>
              <a:t>aplicación</a:t>
            </a:r>
            <a:endParaRPr lang="en-US" sz="1100" dirty="0"/>
          </a:p>
        </p:txBody>
      </p:sp>
      <p:sp>
        <p:nvSpPr>
          <p:cNvPr id="21" name="Text 18"/>
          <p:cNvSpPr txBox="1"/>
          <p:nvPr/>
        </p:nvSpPr>
        <p:spPr>
          <a:xfrm>
            <a:off x="731520" y="3977640"/>
            <a:ext cx="1600200" cy="548640"/>
          </a:xfrm>
          <a:prstGeom prst="rect">
            <a:avLst/>
          </a:prstGeom>
          <a:noFill/>
          <a:ln/>
        </p:spPr>
        <p:txBody>
          <a:bodyPr wrap="square" lIns="0" tIns="0" rIns="0" bIns="0" rtlCol="0" anchor="ctr"/>
          <a:lstStyle/>
          <a:p>
            <a:pPr marL="0" indent="0" algn="ctr">
              <a:buNone/>
            </a:pPr>
            <a:r>
              <a:rPr lang="en-US" sz="2600" b="1" dirty="0">
                <a:solidFill>
                  <a:srgbClr val="FBBF24"/>
                </a:solidFill>
                <a:latin typeface="Calibri" pitchFamily="34" charset="0"/>
                <a:ea typeface="Calibri" pitchFamily="34" charset="-122"/>
                <a:cs typeface="Calibri" pitchFamily="34" charset="-120"/>
              </a:rPr>
              <a:t>8 503</a:t>
            </a:r>
            <a:endParaRPr lang="en-US" sz="2600" dirty="0"/>
          </a:p>
        </p:txBody>
      </p:sp>
      <p:sp>
        <p:nvSpPr>
          <p:cNvPr id="22" name="Text 19"/>
          <p:cNvSpPr txBox="1"/>
          <p:nvPr/>
        </p:nvSpPr>
        <p:spPr>
          <a:xfrm>
            <a:off x="731520" y="4526280"/>
            <a:ext cx="1600200" cy="365760"/>
          </a:xfrm>
          <a:prstGeom prst="rect">
            <a:avLst/>
          </a:prstGeom>
          <a:noFill/>
          <a:ln/>
        </p:spPr>
        <p:txBody>
          <a:bodyPr wrap="square" lIns="0" tIns="0" rIns="0" bIns="0" rtlCol="0" anchor="ctr"/>
          <a:lstStyle/>
          <a:p>
            <a:pPr marL="0" indent="0" algn="ctr">
              <a:buNone/>
            </a:pPr>
            <a:r>
              <a:rPr lang="en-US" sz="1200" dirty="0">
                <a:solidFill>
                  <a:srgbClr val="9FB0C8"/>
                </a:solidFill>
                <a:latin typeface="Calibri" pitchFamily="34" charset="0"/>
                <a:ea typeface="Calibri" pitchFamily="34" charset="-122"/>
                <a:cs typeface="Calibri" pitchFamily="34" charset="-120"/>
              </a:rPr>
              <a:t>registros de notas</a:t>
            </a:r>
            <a:endParaRPr lang="en-US" sz="1200" dirty="0"/>
          </a:p>
        </p:txBody>
      </p:sp>
      <p:sp>
        <p:nvSpPr>
          <p:cNvPr id="23" name="Text 20"/>
          <p:cNvSpPr txBox="1"/>
          <p:nvPr/>
        </p:nvSpPr>
        <p:spPr>
          <a:xfrm>
            <a:off x="2496312" y="3977640"/>
            <a:ext cx="1600200" cy="548640"/>
          </a:xfrm>
          <a:prstGeom prst="rect">
            <a:avLst/>
          </a:prstGeom>
          <a:noFill/>
          <a:ln/>
        </p:spPr>
        <p:txBody>
          <a:bodyPr wrap="square" lIns="0" tIns="0" rIns="0" bIns="0" rtlCol="0" anchor="ctr"/>
          <a:lstStyle/>
          <a:p>
            <a:pPr marL="0" indent="0" algn="ctr">
              <a:buNone/>
            </a:pPr>
            <a:r>
              <a:rPr lang="en-US" sz="2600" b="1" dirty="0">
                <a:solidFill>
                  <a:srgbClr val="FBBF24"/>
                </a:solidFill>
                <a:latin typeface="Calibri" pitchFamily="34" charset="0"/>
                <a:ea typeface="Calibri" pitchFamily="34" charset="-122"/>
                <a:cs typeface="Calibri" pitchFamily="34" charset="-120"/>
              </a:rPr>
              <a:t>1 968</a:t>
            </a:r>
            <a:endParaRPr lang="en-US" sz="2600" dirty="0"/>
          </a:p>
        </p:txBody>
      </p:sp>
      <p:sp>
        <p:nvSpPr>
          <p:cNvPr id="24" name="Text 21"/>
          <p:cNvSpPr txBox="1"/>
          <p:nvPr/>
        </p:nvSpPr>
        <p:spPr>
          <a:xfrm>
            <a:off x="2496312" y="4526280"/>
            <a:ext cx="1600200" cy="365760"/>
          </a:xfrm>
          <a:prstGeom prst="rect">
            <a:avLst/>
          </a:prstGeom>
          <a:noFill/>
          <a:ln/>
        </p:spPr>
        <p:txBody>
          <a:bodyPr wrap="square" lIns="0" tIns="0" rIns="0" bIns="0" rtlCol="0" anchor="ctr"/>
          <a:lstStyle/>
          <a:p>
            <a:pPr marL="0" indent="0" algn="ctr">
              <a:buNone/>
            </a:pPr>
            <a:r>
              <a:rPr lang="en-US" sz="1200" dirty="0">
                <a:solidFill>
                  <a:srgbClr val="9FB0C8"/>
                </a:solidFill>
                <a:latin typeface="Calibri" pitchFamily="34" charset="0"/>
                <a:ea typeface="Calibri" pitchFamily="34" charset="-122"/>
                <a:cs typeface="Calibri" pitchFamily="34" charset="-120"/>
              </a:rPr>
              <a:t>registros de estado</a:t>
            </a:r>
            <a:endParaRPr lang="en-US" sz="1200" dirty="0"/>
          </a:p>
        </p:txBody>
      </p:sp>
      <p:sp>
        <p:nvSpPr>
          <p:cNvPr id="25" name="Text 22"/>
          <p:cNvSpPr txBox="1"/>
          <p:nvPr/>
        </p:nvSpPr>
        <p:spPr>
          <a:xfrm>
            <a:off x="4261104" y="3977640"/>
            <a:ext cx="1600200" cy="548640"/>
          </a:xfrm>
          <a:prstGeom prst="rect">
            <a:avLst/>
          </a:prstGeom>
          <a:noFill/>
          <a:ln/>
        </p:spPr>
        <p:txBody>
          <a:bodyPr wrap="square" lIns="0" tIns="0" rIns="0" bIns="0" rtlCol="0" anchor="ctr"/>
          <a:lstStyle/>
          <a:p>
            <a:pPr marL="0" indent="0" algn="ctr">
              <a:buNone/>
            </a:pPr>
            <a:r>
              <a:rPr lang="en-US" sz="2600" b="1" dirty="0">
                <a:solidFill>
                  <a:srgbClr val="FBBF24"/>
                </a:solidFill>
                <a:latin typeface="Calibri" pitchFamily="34" charset="0"/>
                <a:ea typeface="Calibri" pitchFamily="34" charset="-122"/>
                <a:cs typeface="Calibri" pitchFamily="34" charset="-120"/>
              </a:rPr>
              <a:t>76</a:t>
            </a:r>
            <a:endParaRPr lang="en-US" sz="2600" dirty="0"/>
          </a:p>
        </p:txBody>
      </p:sp>
      <p:sp>
        <p:nvSpPr>
          <p:cNvPr id="26" name="Text 23"/>
          <p:cNvSpPr txBox="1"/>
          <p:nvPr/>
        </p:nvSpPr>
        <p:spPr>
          <a:xfrm>
            <a:off x="4261104" y="4526280"/>
            <a:ext cx="1600200" cy="365760"/>
          </a:xfrm>
          <a:prstGeom prst="rect">
            <a:avLst/>
          </a:prstGeom>
          <a:noFill/>
          <a:ln/>
        </p:spPr>
        <p:txBody>
          <a:bodyPr wrap="square" lIns="0" tIns="0" rIns="0" bIns="0" rtlCol="0" anchor="ctr"/>
          <a:lstStyle/>
          <a:p>
            <a:pPr marL="0" indent="0" algn="ctr">
              <a:buNone/>
            </a:pPr>
            <a:r>
              <a:rPr lang="en-US" sz="1200" dirty="0">
                <a:solidFill>
                  <a:srgbClr val="9FB0C8"/>
                </a:solidFill>
                <a:latin typeface="Calibri" pitchFamily="34" charset="0"/>
                <a:ea typeface="Calibri" pitchFamily="34" charset="-122"/>
                <a:cs typeface="Calibri" pitchFamily="34" charset="-120"/>
              </a:rPr>
              <a:t>registros recuperados</a:t>
            </a:r>
            <a:endParaRPr lang="en-US" sz="1200" dirty="0"/>
          </a:p>
        </p:txBody>
      </p:sp>
      <p:sp>
        <p:nvSpPr>
          <p:cNvPr id="27" name="Text 24"/>
          <p:cNvSpPr txBox="1"/>
          <p:nvPr/>
        </p:nvSpPr>
        <p:spPr>
          <a:xfrm>
            <a:off x="6025896" y="3977640"/>
            <a:ext cx="1600200" cy="548640"/>
          </a:xfrm>
          <a:prstGeom prst="rect">
            <a:avLst/>
          </a:prstGeom>
          <a:noFill/>
          <a:ln/>
        </p:spPr>
        <p:txBody>
          <a:bodyPr wrap="square" lIns="0" tIns="0" rIns="0" bIns="0" rtlCol="0" anchor="ctr"/>
          <a:lstStyle/>
          <a:p>
            <a:pPr marL="0" indent="0" algn="ctr">
              <a:buNone/>
            </a:pPr>
            <a:r>
              <a:rPr lang="en-US" sz="2600" b="1" dirty="0">
                <a:solidFill>
                  <a:srgbClr val="FBBF24"/>
                </a:solidFill>
                <a:latin typeface="Calibri" pitchFamily="34" charset="0"/>
                <a:ea typeface="Calibri" pitchFamily="34" charset="-122"/>
                <a:cs typeface="Calibri" pitchFamily="34" charset="-120"/>
              </a:rPr>
              <a:t>541</a:t>
            </a:r>
            <a:endParaRPr lang="en-US" sz="2600" dirty="0"/>
          </a:p>
        </p:txBody>
      </p:sp>
      <p:sp>
        <p:nvSpPr>
          <p:cNvPr id="28" name="Text 25"/>
          <p:cNvSpPr txBox="1"/>
          <p:nvPr/>
        </p:nvSpPr>
        <p:spPr>
          <a:xfrm>
            <a:off x="6025896" y="4526280"/>
            <a:ext cx="1600200" cy="365760"/>
          </a:xfrm>
          <a:prstGeom prst="rect">
            <a:avLst/>
          </a:prstGeom>
          <a:noFill/>
          <a:ln/>
        </p:spPr>
        <p:txBody>
          <a:bodyPr wrap="square" lIns="0" tIns="0" rIns="0" bIns="0" rtlCol="0" anchor="ctr"/>
          <a:lstStyle/>
          <a:p>
            <a:pPr marL="0" indent="0" algn="ctr">
              <a:buNone/>
            </a:pPr>
            <a:r>
              <a:rPr lang="en-US" sz="1200" dirty="0">
                <a:solidFill>
                  <a:srgbClr val="9FB0C8"/>
                </a:solidFill>
                <a:latin typeface="Calibri" pitchFamily="34" charset="0"/>
                <a:ea typeface="Calibri" pitchFamily="34" charset="-122"/>
                <a:cs typeface="Calibri" pitchFamily="34" charset="-120"/>
              </a:rPr>
              <a:t>estados completados</a:t>
            </a:r>
            <a:endParaRPr lang="en-US" sz="1200" dirty="0"/>
          </a:p>
        </p:txBody>
      </p:sp>
      <p:sp>
        <p:nvSpPr>
          <p:cNvPr id="29" name="Text 26"/>
          <p:cNvSpPr txBox="1"/>
          <p:nvPr/>
        </p:nvSpPr>
        <p:spPr>
          <a:xfrm>
            <a:off x="7790688" y="3977640"/>
            <a:ext cx="1600200" cy="548640"/>
          </a:xfrm>
          <a:prstGeom prst="rect">
            <a:avLst/>
          </a:prstGeom>
          <a:noFill/>
          <a:ln/>
        </p:spPr>
        <p:txBody>
          <a:bodyPr wrap="square" lIns="0" tIns="0" rIns="0" bIns="0" rtlCol="0" anchor="ctr"/>
          <a:lstStyle/>
          <a:p>
            <a:pPr marL="0" indent="0" algn="ctr">
              <a:buNone/>
            </a:pPr>
            <a:r>
              <a:rPr lang="en-US" sz="2600" b="1" dirty="0">
                <a:solidFill>
                  <a:srgbClr val="FBBF24"/>
                </a:solidFill>
                <a:latin typeface="Calibri" pitchFamily="34" charset="0"/>
                <a:ea typeface="Calibri" pitchFamily="34" charset="-122"/>
                <a:cs typeface="Calibri" pitchFamily="34" charset="-120"/>
              </a:rPr>
              <a:t>17</a:t>
            </a:r>
            <a:endParaRPr lang="en-US" sz="2600" dirty="0"/>
          </a:p>
        </p:txBody>
      </p:sp>
      <p:sp>
        <p:nvSpPr>
          <p:cNvPr id="30" name="Text 27"/>
          <p:cNvSpPr txBox="1"/>
          <p:nvPr/>
        </p:nvSpPr>
        <p:spPr>
          <a:xfrm>
            <a:off x="7790688" y="4526280"/>
            <a:ext cx="1600200" cy="365760"/>
          </a:xfrm>
          <a:prstGeom prst="rect">
            <a:avLst/>
          </a:prstGeom>
          <a:noFill/>
          <a:ln/>
        </p:spPr>
        <p:txBody>
          <a:bodyPr wrap="square" lIns="0" tIns="0" rIns="0" bIns="0" rtlCol="0" anchor="ctr"/>
          <a:lstStyle/>
          <a:p>
            <a:pPr marL="0" indent="0" algn="ctr">
              <a:buNone/>
            </a:pPr>
            <a:r>
              <a:rPr lang="en-US" sz="1200" dirty="0">
                <a:solidFill>
                  <a:srgbClr val="9FB0C8"/>
                </a:solidFill>
                <a:latin typeface="Calibri" pitchFamily="34" charset="0"/>
                <a:ea typeface="Calibri" pitchFamily="34" charset="-122"/>
                <a:cs typeface="Calibri" pitchFamily="34" charset="-120"/>
              </a:rPr>
              <a:t>trámites descartados</a:t>
            </a:r>
            <a:endParaRPr lang="en-US" sz="1200" dirty="0"/>
          </a:p>
        </p:txBody>
      </p:sp>
      <p:sp>
        <p:nvSpPr>
          <p:cNvPr id="31" name="Text 28"/>
          <p:cNvSpPr txBox="1"/>
          <p:nvPr/>
        </p:nvSpPr>
        <p:spPr>
          <a:xfrm>
            <a:off x="9555480" y="3977640"/>
            <a:ext cx="1600200" cy="548640"/>
          </a:xfrm>
          <a:prstGeom prst="rect">
            <a:avLst/>
          </a:prstGeom>
          <a:noFill/>
          <a:ln/>
        </p:spPr>
        <p:txBody>
          <a:bodyPr wrap="square" lIns="0" tIns="0" rIns="0" bIns="0" rtlCol="0" anchor="ctr"/>
          <a:lstStyle/>
          <a:p>
            <a:pPr marL="0" indent="0" algn="ctr">
              <a:buNone/>
            </a:pPr>
            <a:r>
              <a:rPr lang="en-US" sz="2600" b="1" dirty="0">
                <a:solidFill>
                  <a:srgbClr val="FBBF24"/>
                </a:solidFill>
                <a:latin typeface="Calibri" pitchFamily="34" charset="0"/>
                <a:ea typeface="Calibri" pitchFamily="34" charset="-122"/>
                <a:cs typeface="Calibri" pitchFamily="34" charset="-120"/>
              </a:rPr>
              <a:t>N = 90</a:t>
            </a:r>
            <a:endParaRPr lang="en-US" sz="2600" dirty="0"/>
          </a:p>
        </p:txBody>
      </p:sp>
      <p:sp>
        <p:nvSpPr>
          <p:cNvPr id="32" name="Text 29"/>
          <p:cNvSpPr txBox="1"/>
          <p:nvPr/>
        </p:nvSpPr>
        <p:spPr>
          <a:xfrm>
            <a:off x="9555480" y="4526280"/>
            <a:ext cx="1600200" cy="365760"/>
          </a:xfrm>
          <a:prstGeom prst="rect">
            <a:avLst/>
          </a:prstGeom>
          <a:noFill/>
          <a:ln/>
        </p:spPr>
        <p:txBody>
          <a:bodyPr wrap="square" lIns="0" tIns="0" rIns="0" bIns="0" rtlCol="0" anchor="ctr"/>
          <a:lstStyle/>
          <a:p>
            <a:pPr marL="0" indent="0" algn="ctr">
              <a:buNone/>
            </a:pPr>
            <a:r>
              <a:rPr lang="en-US" sz="1200" dirty="0">
                <a:solidFill>
                  <a:srgbClr val="9FB0C8"/>
                </a:solidFill>
                <a:latin typeface="Calibri" pitchFamily="34" charset="0"/>
                <a:ea typeface="Calibri" pitchFamily="34" charset="-122"/>
                <a:cs typeface="Calibri" pitchFamily="34" charset="-120"/>
              </a:rPr>
              <a:t>estudiantes con actividad</a:t>
            </a:r>
            <a:endParaRPr lang="en-US" sz="1200" dirty="0"/>
          </a:p>
        </p:txBody>
      </p:sp>
      <p:sp>
        <p:nvSpPr>
          <p:cNvPr id="33" name="Shape 30"/>
          <p:cNvSpPr/>
          <p:nvPr/>
        </p:nvSpPr>
        <p:spPr>
          <a:xfrm>
            <a:off x="731520" y="5166360"/>
            <a:ext cx="10424160" cy="685800"/>
          </a:xfrm>
          <a:prstGeom prst="roundRect">
            <a:avLst>
              <a:gd name="adj" fmla="val 10667"/>
            </a:avLst>
          </a:prstGeom>
          <a:solidFill>
            <a:srgbClr val="0F2A44"/>
          </a:solidFill>
          <a:ln w="9525">
            <a:solidFill>
              <a:srgbClr val="27406A"/>
            </a:solidFill>
            <a:prstDash val="solid"/>
          </a:ln>
        </p:spPr>
      </p:sp>
      <p:sp>
        <p:nvSpPr>
          <p:cNvPr id="34" name="Text 31"/>
          <p:cNvSpPr txBox="1"/>
          <p:nvPr/>
        </p:nvSpPr>
        <p:spPr>
          <a:xfrm>
            <a:off x="960120" y="5212080"/>
            <a:ext cx="9966960" cy="594360"/>
          </a:xfrm>
          <a:prstGeom prst="rect">
            <a:avLst/>
          </a:prstGeom>
          <a:noFill/>
          <a:ln/>
        </p:spPr>
        <p:txBody>
          <a:bodyPr wrap="square" lIns="0" tIns="0" rIns="0" bIns="0" rtlCol="0" anchor="ctr"/>
          <a:lstStyle/>
          <a:p>
            <a:pPr marL="0" indent="0">
              <a:buNone/>
            </a:pPr>
            <a:r>
              <a:rPr lang="en-US" sz="1450" b="1" dirty="0">
                <a:solidFill>
                  <a:srgbClr val="FBBF24"/>
                </a:solidFill>
                <a:latin typeface="Calibri" pitchFamily="34" charset="0"/>
                <a:ea typeface="Calibri" pitchFamily="34" charset="-122"/>
                <a:cs typeface="Calibri" pitchFamily="34" charset="-120"/>
              </a:rPr>
              <a:t>Dato clave:  </a:t>
            </a:r>
            <a:r>
              <a:rPr lang="en-US" sz="1450" dirty="0">
                <a:solidFill>
                  <a:srgbClr val="F1F5F9"/>
                </a:solidFill>
                <a:latin typeface="Calibri" pitchFamily="34" charset="0"/>
                <a:ea typeface="Calibri" pitchFamily="34" charset="-122"/>
                <a:cs typeface="Calibri" pitchFamily="34" charset="-120"/>
              </a:rPr>
              <a:t>ninguna fuente fue diseñada para analítica. La discrepancia entre la documentación del sistema y el contenido real, no el algoritmo, consumió la mayor parte del esfuerzo.</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tmp/claude-0/deck/logo.png"/>
          <p:cNvPicPr>
            <a:picLocks noChangeAspect="1"/>
          </p:cNvPicPr>
          <p:nvPr/>
        </p:nvPicPr>
        <p:blipFill>
          <a:blip r:embed="rId4"/>
          <a:stretch>
            <a:fillRect/>
          </a:stretch>
        </p:blipFill>
        <p:spPr>
          <a:xfrm>
            <a:off x="11356848" y="5870448"/>
            <a:ext cx="713232" cy="713232"/>
          </a:xfrm>
          <a:prstGeom prst="rect">
            <a:avLst/>
          </a:prstGeom>
        </p:spPr>
      </p:pic>
      <p:sp>
        <p:nvSpPr>
          <p:cNvPr id="3" name="Text 0"/>
          <p:cNvSpPr txBox="1"/>
          <p:nvPr/>
        </p:nvSpPr>
        <p:spPr>
          <a:xfrm>
            <a:off x="10835640" y="6053328"/>
            <a:ext cx="457200" cy="274320"/>
          </a:xfrm>
          <a:prstGeom prst="rect">
            <a:avLst/>
          </a:prstGeom>
          <a:noFill/>
          <a:ln/>
        </p:spPr>
        <p:txBody>
          <a:bodyPr wrap="square" lIns="0" tIns="0" rIns="0" bIns="0" rtlCol="0" anchor="ctr"/>
          <a:lstStyle/>
          <a:p>
            <a:pPr marL="0" indent="0" algn="r">
              <a:buNone/>
            </a:pPr>
            <a:r>
              <a:rPr lang="en-US" sz="1000" dirty="0">
                <a:solidFill>
                  <a:srgbClr val="9FB0C8"/>
                </a:solidFill>
                <a:latin typeface="Calibri" pitchFamily="34" charset="0"/>
                <a:ea typeface="Calibri" pitchFamily="34" charset="-122"/>
                <a:cs typeface="Calibri" pitchFamily="34" charset="-120"/>
              </a:rPr>
              <a:t>4</a:t>
            </a:r>
            <a:endParaRPr lang="en-US" sz="1000" dirty="0"/>
          </a:p>
        </p:txBody>
      </p:sp>
      <p:sp>
        <p:nvSpPr>
          <p:cNvPr id="4" name="Shape 1"/>
          <p:cNvSpPr/>
          <p:nvPr/>
        </p:nvSpPr>
        <p:spPr>
          <a:xfrm>
            <a:off x="566928" y="457200"/>
            <a:ext cx="50292" cy="420624"/>
          </a:xfrm>
          <a:prstGeom prst="rect">
            <a:avLst/>
          </a:prstGeom>
          <a:solidFill>
            <a:srgbClr val="38BDF8"/>
          </a:solidFill>
          <a:ln w="12700">
            <a:solidFill>
              <a:srgbClr val="38BDF8"/>
            </a:solidFill>
            <a:prstDash val="solid"/>
          </a:ln>
        </p:spPr>
      </p:sp>
      <p:sp>
        <p:nvSpPr>
          <p:cNvPr id="5" name="Text 2"/>
          <p:cNvSpPr txBox="1"/>
          <p:nvPr/>
        </p:nvSpPr>
        <p:spPr>
          <a:xfrm>
            <a:off x="731520" y="347472"/>
            <a:ext cx="10607040" cy="640080"/>
          </a:xfrm>
          <a:prstGeom prst="rect">
            <a:avLst/>
          </a:prstGeom>
          <a:noFill/>
          <a:ln/>
        </p:spPr>
        <p:txBody>
          <a:bodyPr wrap="square" lIns="0" tIns="0" rIns="0" bIns="0" rtlCol="0" anchor="ctr"/>
          <a:lstStyle/>
          <a:p>
            <a:pPr marL="0" indent="0">
              <a:buNone/>
            </a:pPr>
            <a:r>
              <a:rPr lang="en-US" sz="3000" b="1" dirty="0">
                <a:solidFill>
                  <a:srgbClr val="F1F5F9"/>
                </a:solidFill>
                <a:latin typeface="Calibri" pitchFamily="34" charset="0"/>
                <a:ea typeface="Calibri" pitchFamily="34" charset="-122"/>
                <a:cs typeface="Calibri" pitchFamily="34" charset="-120"/>
              </a:rPr>
              <a:t>Lo que publicamos</a:t>
            </a:r>
            <a:endParaRPr lang="en-US" sz="3000" dirty="0"/>
          </a:p>
        </p:txBody>
      </p:sp>
      <p:sp>
        <p:nvSpPr>
          <p:cNvPr id="6" name="Text 3"/>
          <p:cNvSpPr txBox="1"/>
          <p:nvPr/>
        </p:nvSpPr>
        <p:spPr>
          <a:xfrm>
            <a:off x="731520" y="969264"/>
            <a:ext cx="10607040" cy="365760"/>
          </a:xfrm>
          <a:prstGeom prst="rect">
            <a:avLst/>
          </a:prstGeom>
          <a:noFill/>
          <a:ln/>
        </p:spPr>
        <p:txBody>
          <a:bodyPr wrap="square" lIns="0" tIns="0" rIns="0" bIns="0" rtlCol="0" anchor="ctr"/>
          <a:lstStyle/>
          <a:p>
            <a:pPr marL="0" indent="0">
              <a:buNone/>
            </a:pPr>
            <a:r>
              <a:rPr lang="en-US" sz="1400" dirty="0">
                <a:solidFill>
                  <a:srgbClr val="9FB0C8"/>
                </a:solidFill>
                <a:latin typeface="Calibri" pitchFamily="34" charset="0"/>
                <a:ea typeface="Calibri" pitchFamily="34" charset="-122"/>
                <a:cs typeface="Calibri" pitchFamily="34" charset="-120"/>
              </a:rPr>
              <a:t>Resumen enviado al CICI · validación cruzada de cinco pliegues · N = 90</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31520" y="1554480"/>
          <a:ext cx="6766560" cy="2791968"/>
        </p:xfrm>
        <a:graphic>
          <a:graphicData uri="http://schemas.openxmlformats.org/drawingml/2006/table">
            <a:tbl>
              <a:tblPr/>
              <a:tblGrid>
                <a:gridCol w="201168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868680">
                  <a:extLst>
                    <a:ext uri="{9D8B030D-6E8A-4147-A177-3AD203B41FA5}">
                      <a16:colId xmlns:a16="http://schemas.microsoft.com/office/drawing/2014/main" val="20003"/>
                    </a:ext>
                  </a:extLst>
                </a:gridCol>
                <a:gridCol w="777240">
                  <a:extLst>
                    <a:ext uri="{9D8B030D-6E8A-4147-A177-3AD203B41FA5}">
                      <a16:colId xmlns:a16="http://schemas.microsoft.com/office/drawing/2014/main" val="20004"/>
                    </a:ext>
                  </a:extLst>
                </a:gridCol>
                <a:gridCol w="822960">
                  <a:extLst>
                    <a:ext uri="{9D8B030D-6E8A-4147-A177-3AD203B41FA5}">
                      <a16:colId xmlns:a16="http://schemas.microsoft.com/office/drawing/2014/main" val="20005"/>
                    </a:ext>
                  </a:extLst>
                </a:gridCol>
              </a:tblGrid>
              <a:tr h="384048">
                <a:tc>
                  <a:txBody>
                    <a:bodyPr/>
                    <a:lstStyle/>
                    <a:p>
                      <a:pPr marL="0" indent="0" algn="ctr">
                        <a:buNone/>
                      </a:pPr>
                      <a:r>
                        <a:rPr lang="en-US" sz="1200" b="1" dirty="0">
                          <a:solidFill>
                            <a:srgbClr val="9FB0C8"/>
                          </a:solidFill>
                          <a:latin typeface="Calibri" pitchFamily="34" charset="0"/>
                          <a:ea typeface="Calibri" pitchFamily="34" charset="-122"/>
                          <a:cs typeface="Calibri" pitchFamily="34" charset="-120"/>
                        </a:rPr>
                        <a:t>Objetivo</a:t>
                      </a:r>
                      <a:endParaRPr lang="en-US" sz="1200" dirty="0">
                        <a:latin typeface="Calibri" charset="0"/>
                        <a:ea typeface="Calibri" charset="0"/>
                        <a:cs typeface="Calibri" charset="0"/>
                      </a:endParaRPr>
                    </a:p>
                  </a:txBody>
                  <a:tcPr>
                    <a:lnL w="6350" cap="flat" cmpd="sng" algn="ctr">
                      <a:solidFill>
                        <a:srgbClr val="27406A"/>
                      </a:solidFill>
                      <a:prstDash val="solid"/>
                      <a:round/>
                      <a:headEnd type="none" w="med" len="med"/>
                      <a:tailEnd type="none" w="med" len="med"/>
                    </a:lnL>
                    <a:lnR w="6350" cap="flat" cmpd="sng" algn="ctr">
                      <a:solidFill>
                        <a:srgbClr val="27406A"/>
                      </a:solidFill>
                      <a:prstDash val="solid"/>
                      <a:round/>
                      <a:headEnd type="none" w="med" len="med"/>
                      <a:tailEnd type="none" w="med" len="med"/>
                    </a:lnR>
                    <a:lnT w="6350" cap="flat" cmpd="sng" algn="ctr">
                      <a:solidFill>
                        <a:srgbClr val="27406A"/>
                      </a:solidFill>
                      <a:prstDash val="solid"/>
                      <a:round/>
                      <a:headEnd type="none" w="med" len="med"/>
                      <a:tailEnd type="none" w="med" len="med"/>
                    </a:lnT>
                    <a:lnB w="6350" cap="flat" cmpd="sng" algn="ctr">
                      <a:solidFill>
                        <a:srgbClr val="27406A"/>
                      </a:solidFill>
                      <a:prstDash val="solid"/>
                      <a:round/>
                      <a:headEnd type="none" w="med" len="med"/>
                      <a:tailEnd type="none" w="med" len="med"/>
                    </a:lnB>
                    <a:solidFill>
                      <a:srgbClr val="0F2A44"/>
                    </a:solidFill>
                  </a:tcPr>
                </a:tc>
                <a:tc>
                  <a:txBody>
                    <a:bodyPr/>
                    <a:lstStyle/>
                    <a:p>
                      <a:pPr marL="0" indent="0" algn="ctr">
                        <a:buNone/>
                      </a:pPr>
                      <a:r>
                        <a:rPr lang="en-US" sz="1200" b="1" dirty="0">
                          <a:solidFill>
                            <a:srgbClr val="9FB0C8"/>
                          </a:solidFill>
                          <a:latin typeface="Calibri" pitchFamily="34" charset="0"/>
                          <a:ea typeface="Calibri" pitchFamily="34" charset="-122"/>
                          <a:cs typeface="Calibri" pitchFamily="34" charset="-120"/>
                        </a:rPr>
                        <a:t>Modelo</a:t>
                      </a:r>
                      <a:endParaRPr lang="en-US" sz="1200" dirty="0">
                        <a:latin typeface="Calibri" charset="0"/>
                        <a:ea typeface="Calibri" charset="0"/>
                        <a:cs typeface="Calibri" charset="0"/>
                      </a:endParaRPr>
                    </a:p>
                  </a:txBody>
                  <a:tcPr>
                    <a:lnL w="6350" cap="flat" cmpd="sng" algn="ctr">
                      <a:solidFill>
                        <a:srgbClr val="27406A"/>
                      </a:solidFill>
                      <a:prstDash val="solid"/>
                      <a:round/>
                      <a:headEnd type="none" w="med" len="med"/>
                      <a:tailEnd type="none" w="med" len="med"/>
                    </a:lnL>
                    <a:lnR w="6350" cap="flat" cmpd="sng" algn="ctr">
                      <a:solidFill>
                        <a:srgbClr val="27406A"/>
                      </a:solidFill>
                      <a:prstDash val="solid"/>
                      <a:round/>
                      <a:headEnd type="none" w="med" len="med"/>
                      <a:tailEnd type="none" w="med" len="med"/>
                    </a:lnR>
                    <a:lnT w="6350" cap="flat" cmpd="sng" algn="ctr">
                      <a:solidFill>
                        <a:srgbClr val="27406A"/>
                      </a:solidFill>
                      <a:prstDash val="solid"/>
                      <a:round/>
                      <a:headEnd type="none" w="med" len="med"/>
                      <a:tailEnd type="none" w="med" len="med"/>
                    </a:lnT>
                    <a:lnB w="6350" cap="flat" cmpd="sng" algn="ctr">
                      <a:solidFill>
                        <a:srgbClr val="27406A"/>
                      </a:solidFill>
                      <a:prstDash val="solid"/>
                      <a:round/>
                      <a:headEnd type="none" w="med" len="med"/>
                      <a:tailEnd type="none" w="med" len="med"/>
                    </a:lnB>
                    <a:solidFill>
                      <a:srgbClr val="0F2A44"/>
                    </a:solidFill>
                  </a:tcPr>
                </a:tc>
                <a:tc>
                  <a:txBody>
                    <a:bodyPr/>
                    <a:lstStyle/>
                    <a:p>
                      <a:pPr marL="0" indent="0" algn="ctr">
                        <a:buNone/>
                      </a:pPr>
                      <a:r>
                        <a:rPr lang="en-US" sz="1200" b="1" dirty="0">
                          <a:solidFill>
                            <a:srgbClr val="9FB0C8"/>
                          </a:solidFill>
                          <a:latin typeface="Calibri" pitchFamily="34" charset="0"/>
                          <a:ea typeface="Calibri" pitchFamily="34" charset="-122"/>
                          <a:cs typeface="Calibri" pitchFamily="34" charset="-120"/>
                        </a:rPr>
                        <a:t>Exhaust.</a:t>
                      </a:r>
                      <a:endParaRPr lang="en-US" sz="1200" dirty="0">
                        <a:latin typeface="Calibri" charset="0"/>
                        <a:ea typeface="Calibri" charset="0"/>
                        <a:cs typeface="Calibri" charset="0"/>
                      </a:endParaRPr>
                    </a:p>
                  </a:txBody>
                  <a:tcPr>
                    <a:lnL w="6350" cap="flat" cmpd="sng" algn="ctr">
                      <a:solidFill>
                        <a:srgbClr val="27406A"/>
                      </a:solidFill>
                      <a:prstDash val="solid"/>
                      <a:round/>
                      <a:headEnd type="none" w="med" len="med"/>
                      <a:tailEnd type="none" w="med" len="med"/>
                    </a:lnL>
                    <a:lnR w="6350" cap="flat" cmpd="sng" algn="ctr">
                      <a:solidFill>
                        <a:srgbClr val="27406A"/>
                      </a:solidFill>
                      <a:prstDash val="solid"/>
                      <a:round/>
                      <a:headEnd type="none" w="med" len="med"/>
                      <a:tailEnd type="none" w="med" len="med"/>
                    </a:lnR>
                    <a:lnT w="6350" cap="flat" cmpd="sng" algn="ctr">
                      <a:solidFill>
                        <a:srgbClr val="27406A"/>
                      </a:solidFill>
                      <a:prstDash val="solid"/>
                      <a:round/>
                      <a:headEnd type="none" w="med" len="med"/>
                      <a:tailEnd type="none" w="med" len="med"/>
                    </a:lnT>
                    <a:lnB w="6350" cap="flat" cmpd="sng" algn="ctr">
                      <a:solidFill>
                        <a:srgbClr val="27406A"/>
                      </a:solidFill>
                      <a:prstDash val="solid"/>
                      <a:round/>
                      <a:headEnd type="none" w="med" len="med"/>
                      <a:tailEnd type="none" w="med" len="med"/>
                    </a:lnB>
                    <a:solidFill>
                      <a:srgbClr val="0F2A44"/>
                    </a:solidFill>
                  </a:tcPr>
                </a:tc>
                <a:tc>
                  <a:txBody>
                    <a:bodyPr/>
                    <a:lstStyle/>
                    <a:p>
                      <a:pPr marL="0" indent="0" algn="ctr">
                        <a:buNone/>
                      </a:pPr>
                      <a:r>
                        <a:rPr lang="en-US" sz="1200" b="1" dirty="0">
                          <a:solidFill>
                            <a:srgbClr val="9FB0C8"/>
                          </a:solidFill>
                          <a:latin typeface="Calibri" pitchFamily="34" charset="0"/>
                          <a:ea typeface="Calibri" pitchFamily="34" charset="-122"/>
                          <a:cs typeface="Calibri" pitchFamily="34" charset="-120"/>
                        </a:rPr>
                        <a:t>Precisión</a:t>
                      </a:r>
                      <a:endParaRPr lang="en-US" sz="1200" dirty="0">
                        <a:latin typeface="Calibri" charset="0"/>
                        <a:ea typeface="Calibri" charset="0"/>
                        <a:cs typeface="Calibri" charset="0"/>
                      </a:endParaRPr>
                    </a:p>
                  </a:txBody>
                  <a:tcPr>
                    <a:lnL w="6350" cap="flat" cmpd="sng" algn="ctr">
                      <a:solidFill>
                        <a:srgbClr val="27406A"/>
                      </a:solidFill>
                      <a:prstDash val="solid"/>
                      <a:round/>
                      <a:headEnd type="none" w="med" len="med"/>
                      <a:tailEnd type="none" w="med" len="med"/>
                    </a:lnL>
                    <a:lnR w="6350" cap="flat" cmpd="sng" algn="ctr">
                      <a:solidFill>
                        <a:srgbClr val="27406A"/>
                      </a:solidFill>
                      <a:prstDash val="solid"/>
                      <a:round/>
                      <a:headEnd type="none" w="med" len="med"/>
                      <a:tailEnd type="none" w="med" len="med"/>
                    </a:lnR>
                    <a:lnT w="6350" cap="flat" cmpd="sng" algn="ctr">
                      <a:solidFill>
                        <a:srgbClr val="27406A"/>
                      </a:solidFill>
                      <a:prstDash val="solid"/>
                      <a:round/>
                      <a:headEnd type="none" w="med" len="med"/>
                      <a:tailEnd type="none" w="med" len="med"/>
                    </a:lnT>
                    <a:lnB w="6350" cap="flat" cmpd="sng" algn="ctr">
                      <a:solidFill>
                        <a:srgbClr val="27406A"/>
                      </a:solidFill>
                      <a:prstDash val="solid"/>
                      <a:round/>
                      <a:headEnd type="none" w="med" len="med"/>
                      <a:tailEnd type="none" w="med" len="med"/>
                    </a:lnB>
                    <a:solidFill>
                      <a:srgbClr val="0F2A44"/>
                    </a:solidFill>
                  </a:tcPr>
                </a:tc>
                <a:tc>
                  <a:txBody>
                    <a:bodyPr/>
                    <a:lstStyle/>
                    <a:p>
                      <a:pPr marL="0" indent="0" algn="ctr">
                        <a:buNone/>
                      </a:pPr>
                      <a:r>
                        <a:rPr lang="en-US" sz="1200" b="1" dirty="0">
                          <a:solidFill>
                            <a:srgbClr val="9FB0C8"/>
                          </a:solidFill>
                          <a:latin typeface="Calibri" pitchFamily="34" charset="0"/>
                          <a:ea typeface="Calibri" pitchFamily="34" charset="-122"/>
                          <a:cs typeface="Calibri" pitchFamily="34" charset="-120"/>
                        </a:rPr>
                        <a:t>AUC</a:t>
                      </a:r>
                      <a:endParaRPr lang="en-US" sz="1200" dirty="0">
                        <a:latin typeface="Calibri" charset="0"/>
                        <a:ea typeface="Calibri" charset="0"/>
                        <a:cs typeface="Calibri" charset="0"/>
                      </a:endParaRPr>
                    </a:p>
                  </a:txBody>
                  <a:tcPr>
                    <a:lnL w="6350" cap="flat" cmpd="sng" algn="ctr">
                      <a:solidFill>
                        <a:srgbClr val="27406A"/>
                      </a:solidFill>
                      <a:prstDash val="solid"/>
                      <a:round/>
                      <a:headEnd type="none" w="med" len="med"/>
                      <a:tailEnd type="none" w="med" len="med"/>
                    </a:lnL>
                    <a:lnR w="6350" cap="flat" cmpd="sng" algn="ctr">
                      <a:solidFill>
                        <a:srgbClr val="27406A"/>
                      </a:solidFill>
                      <a:prstDash val="solid"/>
                      <a:round/>
                      <a:headEnd type="none" w="med" len="med"/>
                      <a:tailEnd type="none" w="med" len="med"/>
                    </a:lnR>
                    <a:lnT w="6350" cap="flat" cmpd="sng" algn="ctr">
                      <a:solidFill>
                        <a:srgbClr val="27406A"/>
                      </a:solidFill>
                      <a:prstDash val="solid"/>
                      <a:round/>
                      <a:headEnd type="none" w="med" len="med"/>
                      <a:tailEnd type="none" w="med" len="med"/>
                    </a:lnT>
                    <a:lnB w="6350" cap="flat" cmpd="sng" algn="ctr">
                      <a:solidFill>
                        <a:srgbClr val="27406A"/>
                      </a:solidFill>
                      <a:prstDash val="solid"/>
                      <a:round/>
                      <a:headEnd type="none" w="med" len="med"/>
                      <a:tailEnd type="none" w="med" len="med"/>
                    </a:lnB>
                    <a:solidFill>
                      <a:srgbClr val="0F2A44"/>
                    </a:solidFill>
                  </a:tcPr>
                </a:tc>
                <a:tc>
                  <a:txBody>
                    <a:bodyPr/>
                    <a:lstStyle/>
                    <a:p>
                      <a:pPr marL="0" indent="0" algn="ctr">
                        <a:buNone/>
                      </a:pPr>
                      <a:r>
                        <a:rPr lang="en-US" sz="1200" b="1" dirty="0">
                          <a:solidFill>
                            <a:srgbClr val="9FB0C8"/>
                          </a:solidFill>
                          <a:latin typeface="Calibri" pitchFamily="34" charset="0"/>
                          <a:ea typeface="Calibri" pitchFamily="34" charset="-122"/>
                          <a:cs typeface="Calibri" pitchFamily="34" charset="-120"/>
                        </a:rPr>
                        <a:t>MCC</a:t>
                      </a:r>
                      <a:endParaRPr lang="en-US" sz="1200" dirty="0">
                        <a:latin typeface="Calibri" charset="0"/>
                        <a:ea typeface="Calibri" charset="0"/>
                        <a:cs typeface="Calibri" charset="0"/>
                      </a:endParaRPr>
                    </a:p>
                  </a:txBody>
                  <a:tcPr>
                    <a:lnL w="6350" cap="flat" cmpd="sng" algn="ctr">
                      <a:solidFill>
                        <a:srgbClr val="27406A"/>
                      </a:solidFill>
                      <a:prstDash val="solid"/>
                      <a:round/>
                      <a:headEnd type="none" w="med" len="med"/>
                      <a:tailEnd type="none" w="med" len="med"/>
                    </a:lnL>
                    <a:lnR w="6350" cap="flat" cmpd="sng" algn="ctr">
                      <a:solidFill>
                        <a:srgbClr val="27406A"/>
                      </a:solidFill>
                      <a:prstDash val="solid"/>
                      <a:round/>
                      <a:headEnd type="none" w="med" len="med"/>
                      <a:tailEnd type="none" w="med" len="med"/>
                    </a:lnR>
                    <a:lnT w="6350" cap="flat" cmpd="sng" algn="ctr">
                      <a:solidFill>
                        <a:srgbClr val="27406A"/>
                      </a:solidFill>
                      <a:prstDash val="solid"/>
                      <a:round/>
                      <a:headEnd type="none" w="med" len="med"/>
                      <a:tailEnd type="none" w="med" len="med"/>
                    </a:lnT>
                    <a:lnB w="6350" cap="flat" cmpd="sng" algn="ctr">
                      <a:solidFill>
                        <a:srgbClr val="27406A"/>
                      </a:solidFill>
                      <a:prstDash val="solid"/>
                      <a:round/>
                      <a:headEnd type="none" w="med" len="med"/>
                      <a:tailEnd type="none" w="med" len="med"/>
                    </a:lnB>
                    <a:solidFill>
                      <a:srgbClr val="0F2A44"/>
                    </a:solidFill>
                  </a:tcPr>
                </a:tc>
                <a:extLst>
                  <a:ext uri="{0D108BD9-81ED-4DB2-BD59-A6C34878D82A}">
                    <a16:rowId xmlns:a16="http://schemas.microsoft.com/office/drawing/2014/main" val="10000"/>
                  </a:ext>
                </a:extLst>
              </a:tr>
              <a:tr h="384048">
                <a:tc>
                  <a:txBody>
                    <a:bodyPr/>
                    <a:lstStyle/>
                    <a:p>
                      <a:pPr marL="0" indent="0" algn="l">
                        <a:buNone/>
                      </a:pPr>
                      <a:r>
                        <a:rPr lang="en-US" sz="1300" dirty="0">
                          <a:solidFill>
                            <a:srgbClr val="F1F5F9"/>
                          </a:solidFill>
                          <a:latin typeface="Calibri" pitchFamily="34" charset="0"/>
                          <a:ea typeface="Calibri" pitchFamily="34" charset="-122"/>
                          <a:cs typeface="Calibri" pitchFamily="34" charset="-120"/>
                        </a:rPr>
                        <a:t>Bajo rendimiento (u = 0,29)</a:t>
                      </a:r>
                      <a:endParaRPr lang="en-US" sz="1300" dirty="0">
                        <a:latin typeface="Calibri" charset="0"/>
                        <a:ea typeface="Calibri" charset="0"/>
                        <a:cs typeface="Calibri" charset="0"/>
                      </a:endParaRPr>
                    </a:p>
                  </a:txBody>
                  <a:tcPr>
                    <a:lnL w="6350" cap="flat" cmpd="sng" algn="ctr">
                      <a:solidFill>
                        <a:srgbClr val="27406A"/>
                      </a:solidFill>
                      <a:prstDash val="solid"/>
                      <a:round/>
                      <a:headEnd type="none" w="med" len="med"/>
                      <a:tailEnd type="none" w="med" len="med"/>
                    </a:lnL>
                    <a:lnR w="6350" cap="flat" cmpd="sng" algn="ctr">
                      <a:solidFill>
                        <a:srgbClr val="27406A"/>
                      </a:solidFill>
                      <a:prstDash val="solid"/>
                      <a:round/>
                      <a:headEnd type="none" w="med" len="med"/>
                      <a:tailEnd type="none" w="med" len="med"/>
                    </a:lnR>
                    <a:lnT w="6350" cap="flat" cmpd="sng" algn="ctr">
                      <a:solidFill>
                        <a:srgbClr val="27406A"/>
                      </a:solidFill>
                      <a:prstDash val="solid"/>
                      <a:round/>
                      <a:headEnd type="none" w="med" len="med"/>
                      <a:tailEnd type="none" w="med" len="med"/>
                    </a:lnT>
                    <a:lnB w="6350" cap="flat" cmpd="sng" algn="ctr">
                      <a:solidFill>
                        <a:srgbClr val="27406A"/>
                      </a:solidFill>
                      <a:prstDash val="solid"/>
                      <a:round/>
                      <a:headEnd type="none" w="med" len="med"/>
                      <a:tailEnd type="none" w="med" len="med"/>
                    </a:lnB>
                    <a:solidFill>
                      <a:srgbClr val="132238"/>
                    </a:solidFill>
                  </a:tcPr>
                </a:tc>
                <a:tc>
                  <a:txBody>
                    <a:bodyPr/>
                    <a:lstStyle/>
                    <a:p>
                      <a:pPr marL="0" indent="0" algn="l">
                        <a:buNone/>
                      </a:pPr>
                      <a:r>
                        <a:rPr lang="en-US" sz="1300" dirty="0">
                          <a:solidFill>
                            <a:srgbClr val="F1F5F9"/>
                          </a:solidFill>
                          <a:latin typeface="Calibri" pitchFamily="34" charset="0"/>
                          <a:ea typeface="Calibri" pitchFamily="34" charset="-122"/>
                          <a:cs typeface="Calibri" pitchFamily="34" charset="-120"/>
                        </a:rPr>
                        <a:t>Decision Tree</a:t>
                      </a:r>
                      <a:endParaRPr lang="en-US" sz="1300" dirty="0">
                        <a:latin typeface="Calibri" charset="0"/>
                        <a:ea typeface="Calibri" charset="0"/>
                        <a:cs typeface="Calibri" charset="0"/>
                      </a:endParaRPr>
                    </a:p>
                  </a:txBody>
                  <a:tcPr>
                    <a:lnL w="6350" cap="flat" cmpd="sng" algn="ctr">
                      <a:solidFill>
                        <a:srgbClr val="27406A"/>
                      </a:solidFill>
                      <a:prstDash val="solid"/>
                      <a:round/>
                      <a:headEnd type="none" w="med" len="med"/>
                      <a:tailEnd type="none" w="med" len="med"/>
                    </a:lnL>
                    <a:lnR w="6350" cap="flat" cmpd="sng" algn="ctr">
                      <a:solidFill>
                        <a:srgbClr val="27406A"/>
                      </a:solidFill>
                      <a:prstDash val="solid"/>
                      <a:round/>
                      <a:headEnd type="none" w="med" len="med"/>
                      <a:tailEnd type="none" w="med" len="med"/>
                    </a:lnR>
                    <a:lnT w="6350" cap="flat" cmpd="sng" algn="ctr">
                      <a:solidFill>
                        <a:srgbClr val="27406A"/>
                      </a:solidFill>
                      <a:prstDash val="solid"/>
                      <a:round/>
                      <a:headEnd type="none" w="med" len="med"/>
                      <a:tailEnd type="none" w="med" len="med"/>
                    </a:lnT>
                    <a:lnB w="6350" cap="flat" cmpd="sng" algn="ctr">
                      <a:solidFill>
                        <a:srgbClr val="27406A"/>
                      </a:solidFill>
                      <a:prstDash val="solid"/>
                      <a:round/>
                      <a:headEnd type="none" w="med" len="med"/>
                      <a:tailEnd type="none" w="med" len="med"/>
                    </a:lnB>
                    <a:solidFill>
                      <a:srgbClr val="132238"/>
                    </a:solidFill>
                  </a:tcPr>
                </a:tc>
                <a:tc>
                  <a:txBody>
                    <a:bodyPr/>
                    <a:lstStyle/>
                    <a:p>
                      <a:pPr marL="0" indent="0" algn="ctr">
                        <a:buNone/>
                      </a:pPr>
                      <a:r>
                        <a:rPr lang="en-US" sz="1300" dirty="0">
                          <a:solidFill>
                            <a:srgbClr val="F1F5F9"/>
                          </a:solidFill>
                          <a:latin typeface="Calibri" pitchFamily="34" charset="0"/>
                          <a:ea typeface="Calibri" pitchFamily="34" charset="-122"/>
                          <a:cs typeface="Calibri" pitchFamily="34" charset="-120"/>
                        </a:rPr>
                        <a:t>0,632</a:t>
                      </a:r>
                      <a:endParaRPr lang="en-US" sz="1300" dirty="0">
                        <a:latin typeface="Calibri" charset="0"/>
                        <a:ea typeface="Calibri" charset="0"/>
                        <a:cs typeface="Calibri" charset="0"/>
                      </a:endParaRPr>
                    </a:p>
                  </a:txBody>
                  <a:tcPr>
                    <a:lnL w="6350" cap="flat" cmpd="sng" algn="ctr">
                      <a:solidFill>
                        <a:srgbClr val="27406A"/>
                      </a:solidFill>
                      <a:prstDash val="solid"/>
                      <a:round/>
                      <a:headEnd type="none" w="med" len="med"/>
                      <a:tailEnd type="none" w="med" len="med"/>
                    </a:lnL>
                    <a:lnR w="6350" cap="flat" cmpd="sng" algn="ctr">
                      <a:solidFill>
                        <a:srgbClr val="27406A"/>
                      </a:solidFill>
                      <a:prstDash val="solid"/>
                      <a:round/>
                      <a:headEnd type="none" w="med" len="med"/>
                      <a:tailEnd type="none" w="med" len="med"/>
                    </a:lnR>
                    <a:lnT w="6350" cap="flat" cmpd="sng" algn="ctr">
                      <a:solidFill>
                        <a:srgbClr val="27406A"/>
                      </a:solidFill>
                      <a:prstDash val="solid"/>
                      <a:round/>
                      <a:headEnd type="none" w="med" len="med"/>
                      <a:tailEnd type="none" w="med" len="med"/>
                    </a:lnT>
                    <a:lnB w="6350" cap="flat" cmpd="sng" algn="ctr">
                      <a:solidFill>
                        <a:srgbClr val="27406A"/>
                      </a:solidFill>
                      <a:prstDash val="solid"/>
                      <a:round/>
                      <a:headEnd type="none" w="med" len="med"/>
                      <a:tailEnd type="none" w="med" len="med"/>
                    </a:lnB>
                    <a:solidFill>
                      <a:srgbClr val="132238"/>
                    </a:solidFill>
                  </a:tcPr>
                </a:tc>
                <a:tc>
                  <a:txBody>
                    <a:bodyPr/>
                    <a:lstStyle/>
                    <a:p>
                      <a:pPr marL="0" indent="0" algn="ctr">
                        <a:buNone/>
                      </a:pPr>
                      <a:r>
                        <a:rPr lang="en-US" sz="1300" dirty="0">
                          <a:solidFill>
                            <a:srgbClr val="F1F5F9"/>
                          </a:solidFill>
                          <a:latin typeface="Calibri" pitchFamily="34" charset="0"/>
                          <a:ea typeface="Calibri" pitchFamily="34" charset="-122"/>
                          <a:cs typeface="Calibri" pitchFamily="34" charset="-120"/>
                        </a:rPr>
                        <a:t>0,667</a:t>
                      </a:r>
                      <a:endParaRPr lang="en-US" sz="1300" dirty="0">
                        <a:latin typeface="Calibri" charset="0"/>
                        <a:ea typeface="Calibri" charset="0"/>
                        <a:cs typeface="Calibri" charset="0"/>
                      </a:endParaRPr>
                    </a:p>
                  </a:txBody>
                  <a:tcPr>
                    <a:lnL w="6350" cap="flat" cmpd="sng" algn="ctr">
                      <a:solidFill>
                        <a:srgbClr val="27406A"/>
                      </a:solidFill>
                      <a:prstDash val="solid"/>
                      <a:round/>
                      <a:headEnd type="none" w="med" len="med"/>
                      <a:tailEnd type="none" w="med" len="med"/>
                    </a:lnL>
                    <a:lnR w="6350" cap="flat" cmpd="sng" algn="ctr">
                      <a:solidFill>
                        <a:srgbClr val="27406A"/>
                      </a:solidFill>
                      <a:prstDash val="solid"/>
                      <a:round/>
                      <a:headEnd type="none" w="med" len="med"/>
                      <a:tailEnd type="none" w="med" len="med"/>
                    </a:lnR>
                    <a:lnT w="6350" cap="flat" cmpd="sng" algn="ctr">
                      <a:solidFill>
                        <a:srgbClr val="27406A"/>
                      </a:solidFill>
                      <a:prstDash val="solid"/>
                      <a:round/>
                      <a:headEnd type="none" w="med" len="med"/>
                      <a:tailEnd type="none" w="med" len="med"/>
                    </a:lnT>
                    <a:lnB w="6350" cap="flat" cmpd="sng" algn="ctr">
                      <a:solidFill>
                        <a:srgbClr val="27406A"/>
                      </a:solidFill>
                      <a:prstDash val="solid"/>
                      <a:round/>
                      <a:headEnd type="none" w="med" len="med"/>
                      <a:tailEnd type="none" w="med" len="med"/>
                    </a:lnB>
                    <a:solidFill>
                      <a:srgbClr val="132238"/>
                    </a:solidFill>
                  </a:tcPr>
                </a:tc>
                <a:tc>
                  <a:txBody>
                    <a:bodyPr/>
                    <a:lstStyle/>
                    <a:p>
                      <a:pPr marL="0" indent="0" algn="ctr">
                        <a:buNone/>
                      </a:pPr>
                      <a:r>
                        <a:rPr lang="en-US" sz="1300" dirty="0">
                          <a:solidFill>
                            <a:srgbClr val="F1F5F9"/>
                          </a:solidFill>
                          <a:latin typeface="Calibri" pitchFamily="34" charset="0"/>
                          <a:ea typeface="Calibri" pitchFamily="34" charset="-122"/>
                          <a:cs typeface="Calibri" pitchFamily="34" charset="-120"/>
                        </a:rPr>
                        <a:t>0,702</a:t>
                      </a:r>
                      <a:endParaRPr lang="en-US" sz="1300" dirty="0">
                        <a:latin typeface="Calibri" charset="0"/>
                        <a:ea typeface="Calibri" charset="0"/>
                        <a:cs typeface="Calibri" charset="0"/>
                      </a:endParaRPr>
                    </a:p>
                  </a:txBody>
                  <a:tcPr>
                    <a:lnL w="6350" cap="flat" cmpd="sng" algn="ctr">
                      <a:solidFill>
                        <a:srgbClr val="27406A"/>
                      </a:solidFill>
                      <a:prstDash val="solid"/>
                      <a:round/>
                      <a:headEnd type="none" w="med" len="med"/>
                      <a:tailEnd type="none" w="med" len="med"/>
                    </a:lnL>
                    <a:lnR w="6350" cap="flat" cmpd="sng" algn="ctr">
                      <a:solidFill>
                        <a:srgbClr val="27406A"/>
                      </a:solidFill>
                      <a:prstDash val="solid"/>
                      <a:round/>
                      <a:headEnd type="none" w="med" len="med"/>
                      <a:tailEnd type="none" w="med" len="med"/>
                    </a:lnR>
                    <a:lnT w="6350" cap="flat" cmpd="sng" algn="ctr">
                      <a:solidFill>
                        <a:srgbClr val="27406A"/>
                      </a:solidFill>
                      <a:prstDash val="solid"/>
                      <a:round/>
                      <a:headEnd type="none" w="med" len="med"/>
                      <a:tailEnd type="none" w="med" len="med"/>
                    </a:lnT>
                    <a:lnB w="6350" cap="flat" cmpd="sng" algn="ctr">
                      <a:solidFill>
                        <a:srgbClr val="27406A"/>
                      </a:solidFill>
                      <a:prstDash val="solid"/>
                      <a:round/>
                      <a:headEnd type="none" w="med" len="med"/>
                      <a:tailEnd type="none" w="med" len="med"/>
                    </a:lnB>
                    <a:solidFill>
                      <a:srgbClr val="132238"/>
                    </a:solidFill>
                  </a:tcPr>
                </a:tc>
                <a:tc>
                  <a:txBody>
                    <a:bodyPr/>
                    <a:lstStyle/>
                    <a:p>
                      <a:pPr marL="0" indent="0" algn="ctr">
                        <a:buNone/>
                      </a:pPr>
                      <a:r>
                        <a:rPr lang="en-US" sz="1300" dirty="0">
                          <a:solidFill>
                            <a:srgbClr val="F1F5F9"/>
                          </a:solidFill>
                          <a:latin typeface="Calibri" pitchFamily="34" charset="0"/>
                          <a:ea typeface="Calibri" pitchFamily="34" charset="-122"/>
                          <a:cs typeface="Calibri" pitchFamily="34" charset="-120"/>
                        </a:rPr>
                        <a:t>0,404</a:t>
                      </a:r>
                      <a:endParaRPr lang="en-US" sz="1300" dirty="0">
                        <a:latin typeface="Calibri" charset="0"/>
                        <a:ea typeface="Calibri" charset="0"/>
                        <a:cs typeface="Calibri" charset="0"/>
                      </a:endParaRPr>
                    </a:p>
                  </a:txBody>
                  <a:tcPr>
                    <a:lnL w="6350" cap="flat" cmpd="sng" algn="ctr">
                      <a:solidFill>
                        <a:srgbClr val="27406A"/>
                      </a:solidFill>
                      <a:prstDash val="solid"/>
                      <a:round/>
                      <a:headEnd type="none" w="med" len="med"/>
                      <a:tailEnd type="none" w="med" len="med"/>
                    </a:lnL>
                    <a:lnR w="6350" cap="flat" cmpd="sng" algn="ctr">
                      <a:solidFill>
                        <a:srgbClr val="27406A"/>
                      </a:solidFill>
                      <a:prstDash val="solid"/>
                      <a:round/>
                      <a:headEnd type="none" w="med" len="med"/>
                      <a:tailEnd type="none" w="med" len="med"/>
                    </a:lnR>
                    <a:lnT w="6350" cap="flat" cmpd="sng" algn="ctr">
                      <a:solidFill>
                        <a:srgbClr val="27406A"/>
                      </a:solidFill>
                      <a:prstDash val="solid"/>
                      <a:round/>
                      <a:headEnd type="none" w="med" len="med"/>
                      <a:tailEnd type="none" w="med" len="med"/>
                    </a:lnT>
                    <a:lnB w="6350" cap="flat" cmpd="sng" algn="ctr">
                      <a:solidFill>
                        <a:srgbClr val="27406A"/>
                      </a:solidFill>
                      <a:prstDash val="solid"/>
                      <a:round/>
                      <a:headEnd type="none" w="med" len="med"/>
                      <a:tailEnd type="none" w="med" len="med"/>
                    </a:lnB>
                    <a:solidFill>
                      <a:srgbClr val="132238"/>
                    </a:solidFill>
                  </a:tcPr>
                </a:tc>
                <a:extLst>
                  <a:ext uri="{0D108BD9-81ED-4DB2-BD59-A6C34878D82A}">
                    <a16:rowId xmlns:a16="http://schemas.microsoft.com/office/drawing/2014/main" val="10001"/>
                  </a:ext>
                </a:extLst>
              </a:tr>
              <a:tr h="384048">
                <a:tc>
                  <a:txBody>
                    <a:bodyPr/>
                    <a:lstStyle/>
                    <a:p>
                      <a:pPr marL="0" indent="0" algn="l">
                        <a:buNone/>
                      </a:pPr>
                      <a:endParaRPr lang="en-US" sz="1300" dirty="0">
                        <a:latin typeface="Calibri" charset="0"/>
                        <a:ea typeface="Calibri" charset="0"/>
                        <a:cs typeface="Calibri" charset="0"/>
                      </a:endParaRPr>
                    </a:p>
                  </a:txBody>
                  <a:tcPr>
                    <a:lnL w="6350" cap="flat" cmpd="sng" algn="ctr">
                      <a:solidFill>
                        <a:srgbClr val="27406A"/>
                      </a:solidFill>
                      <a:prstDash val="solid"/>
                      <a:round/>
                      <a:headEnd type="none" w="med" len="med"/>
                      <a:tailEnd type="none" w="med" len="med"/>
                    </a:lnL>
                    <a:lnR w="6350" cap="flat" cmpd="sng" algn="ctr">
                      <a:solidFill>
                        <a:srgbClr val="27406A"/>
                      </a:solidFill>
                      <a:prstDash val="solid"/>
                      <a:round/>
                      <a:headEnd type="none" w="med" len="med"/>
                      <a:tailEnd type="none" w="med" len="med"/>
                    </a:lnR>
                    <a:lnT w="6350" cap="flat" cmpd="sng" algn="ctr">
                      <a:solidFill>
                        <a:srgbClr val="27406A"/>
                      </a:solidFill>
                      <a:prstDash val="solid"/>
                      <a:round/>
                      <a:headEnd type="none" w="med" len="med"/>
                      <a:tailEnd type="none" w="med" len="med"/>
                    </a:lnT>
                    <a:lnB w="6350" cap="flat" cmpd="sng" algn="ctr">
                      <a:solidFill>
                        <a:srgbClr val="27406A"/>
                      </a:solidFill>
                      <a:prstDash val="solid"/>
                      <a:round/>
                      <a:headEnd type="none" w="med" len="med"/>
                      <a:tailEnd type="none" w="med" len="med"/>
                    </a:lnB>
                    <a:solidFill>
                      <a:srgbClr val="132238"/>
                    </a:solidFill>
                  </a:tcPr>
                </a:tc>
                <a:tc>
                  <a:txBody>
                    <a:bodyPr/>
                    <a:lstStyle/>
                    <a:p>
                      <a:pPr marL="0" indent="0" algn="l">
                        <a:buNone/>
                      </a:pPr>
                      <a:r>
                        <a:rPr lang="en-US" sz="1300" b="1" dirty="0">
                          <a:solidFill>
                            <a:srgbClr val="34D399"/>
                          </a:solidFill>
                          <a:latin typeface="Calibri" pitchFamily="34" charset="0"/>
                          <a:ea typeface="Calibri" pitchFamily="34" charset="-122"/>
                          <a:cs typeface="Calibri" pitchFamily="34" charset="-120"/>
                        </a:rPr>
                        <a:t>Random Forest ✓</a:t>
                      </a:r>
                      <a:endParaRPr lang="en-US" sz="1300" dirty="0">
                        <a:latin typeface="Calibri" charset="0"/>
                        <a:ea typeface="Calibri" charset="0"/>
                        <a:cs typeface="Calibri" charset="0"/>
                      </a:endParaRPr>
                    </a:p>
                  </a:txBody>
                  <a:tcPr>
                    <a:lnL w="6350" cap="flat" cmpd="sng" algn="ctr">
                      <a:solidFill>
                        <a:srgbClr val="27406A"/>
                      </a:solidFill>
                      <a:prstDash val="solid"/>
                      <a:round/>
                      <a:headEnd type="none" w="med" len="med"/>
                      <a:tailEnd type="none" w="med" len="med"/>
                    </a:lnL>
                    <a:lnR w="6350" cap="flat" cmpd="sng" algn="ctr">
                      <a:solidFill>
                        <a:srgbClr val="27406A"/>
                      </a:solidFill>
                      <a:prstDash val="solid"/>
                      <a:round/>
                      <a:headEnd type="none" w="med" len="med"/>
                      <a:tailEnd type="none" w="med" len="med"/>
                    </a:lnR>
                    <a:lnT w="6350" cap="flat" cmpd="sng" algn="ctr">
                      <a:solidFill>
                        <a:srgbClr val="27406A"/>
                      </a:solidFill>
                      <a:prstDash val="solid"/>
                      <a:round/>
                      <a:headEnd type="none" w="med" len="med"/>
                      <a:tailEnd type="none" w="med" len="med"/>
                    </a:lnT>
                    <a:lnB w="6350" cap="flat" cmpd="sng" algn="ctr">
                      <a:solidFill>
                        <a:srgbClr val="27406A"/>
                      </a:solidFill>
                      <a:prstDash val="solid"/>
                      <a:round/>
                      <a:headEnd type="none" w="med" len="med"/>
                      <a:tailEnd type="none" w="med" len="med"/>
                    </a:lnB>
                    <a:solidFill>
                      <a:srgbClr val="132238"/>
                    </a:solidFill>
                  </a:tcPr>
                </a:tc>
                <a:tc>
                  <a:txBody>
                    <a:bodyPr/>
                    <a:lstStyle/>
                    <a:p>
                      <a:pPr marL="0" indent="0" algn="ctr">
                        <a:buNone/>
                      </a:pPr>
                      <a:r>
                        <a:rPr lang="en-US" sz="1300" dirty="0">
                          <a:solidFill>
                            <a:srgbClr val="34D399"/>
                          </a:solidFill>
                          <a:latin typeface="Calibri" pitchFamily="34" charset="0"/>
                          <a:ea typeface="Calibri" pitchFamily="34" charset="-122"/>
                          <a:cs typeface="Calibri" pitchFamily="34" charset="-120"/>
                        </a:rPr>
                        <a:t>0,816</a:t>
                      </a:r>
                      <a:endParaRPr lang="en-US" sz="1300" dirty="0">
                        <a:latin typeface="Calibri" charset="0"/>
                        <a:ea typeface="Calibri" charset="0"/>
                        <a:cs typeface="Calibri" charset="0"/>
                      </a:endParaRPr>
                    </a:p>
                  </a:txBody>
                  <a:tcPr>
                    <a:lnL w="6350" cap="flat" cmpd="sng" algn="ctr">
                      <a:solidFill>
                        <a:srgbClr val="27406A"/>
                      </a:solidFill>
                      <a:prstDash val="solid"/>
                      <a:round/>
                      <a:headEnd type="none" w="med" len="med"/>
                      <a:tailEnd type="none" w="med" len="med"/>
                    </a:lnL>
                    <a:lnR w="6350" cap="flat" cmpd="sng" algn="ctr">
                      <a:solidFill>
                        <a:srgbClr val="27406A"/>
                      </a:solidFill>
                      <a:prstDash val="solid"/>
                      <a:round/>
                      <a:headEnd type="none" w="med" len="med"/>
                      <a:tailEnd type="none" w="med" len="med"/>
                    </a:lnR>
                    <a:lnT w="6350" cap="flat" cmpd="sng" algn="ctr">
                      <a:solidFill>
                        <a:srgbClr val="27406A"/>
                      </a:solidFill>
                      <a:prstDash val="solid"/>
                      <a:round/>
                      <a:headEnd type="none" w="med" len="med"/>
                      <a:tailEnd type="none" w="med" len="med"/>
                    </a:lnT>
                    <a:lnB w="6350" cap="flat" cmpd="sng" algn="ctr">
                      <a:solidFill>
                        <a:srgbClr val="27406A"/>
                      </a:solidFill>
                      <a:prstDash val="solid"/>
                      <a:round/>
                      <a:headEnd type="none" w="med" len="med"/>
                      <a:tailEnd type="none" w="med" len="med"/>
                    </a:lnB>
                    <a:solidFill>
                      <a:srgbClr val="132238"/>
                    </a:solidFill>
                  </a:tcPr>
                </a:tc>
                <a:tc>
                  <a:txBody>
                    <a:bodyPr/>
                    <a:lstStyle/>
                    <a:p>
                      <a:pPr marL="0" indent="0" algn="ctr">
                        <a:buNone/>
                      </a:pPr>
                      <a:r>
                        <a:rPr lang="en-US" sz="1300" dirty="0">
                          <a:solidFill>
                            <a:srgbClr val="34D399"/>
                          </a:solidFill>
                          <a:latin typeface="Calibri" pitchFamily="34" charset="0"/>
                          <a:ea typeface="Calibri" pitchFamily="34" charset="-122"/>
                          <a:cs typeface="Calibri" pitchFamily="34" charset="-120"/>
                        </a:rPr>
                        <a:t>0,484</a:t>
                      </a:r>
                      <a:endParaRPr lang="en-US" sz="1300" dirty="0">
                        <a:latin typeface="Calibri" charset="0"/>
                        <a:ea typeface="Calibri" charset="0"/>
                        <a:cs typeface="Calibri" charset="0"/>
                      </a:endParaRPr>
                    </a:p>
                  </a:txBody>
                  <a:tcPr>
                    <a:lnL w="6350" cap="flat" cmpd="sng" algn="ctr">
                      <a:solidFill>
                        <a:srgbClr val="27406A"/>
                      </a:solidFill>
                      <a:prstDash val="solid"/>
                      <a:round/>
                      <a:headEnd type="none" w="med" len="med"/>
                      <a:tailEnd type="none" w="med" len="med"/>
                    </a:lnL>
                    <a:lnR w="6350" cap="flat" cmpd="sng" algn="ctr">
                      <a:solidFill>
                        <a:srgbClr val="27406A"/>
                      </a:solidFill>
                      <a:prstDash val="solid"/>
                      <a:round/>
                      <a:headEnd type="none" w="med" len="med"/>
                      <a:tailEnd type="none" w="med" len="med"/>
                    </a:lnR>
                    <a:lnT w="6350" cap="flat" cmpd="sng" algn="ctr">
                      <a:solidFill>
                        <a:srgbClr val="27406A"/>
                      </a:solidFill>
                      <a:prstDash val="solid"/>
                      <a:round/>
                      <a:headEnd type="none" w="med" len="med"/>
                      <a:tailEnd type="none" w="med" len="med"/>
                    </a:lnT>
                    <a:lnB w="6350" cap="flat" cmpd="sng" algn="ctr">
                      <a:solidFill>
                        <a:srgbClr val="27406A"/>
                      </a:solidFill>
                      <a:prstDash val="solid"/>
                      <a:round/>
                      <a:headEnd type="none" w="med" len="med"/>
                      <a:tailEnd type="none" w="med" len="med"/>
                    </a:lnB>
                    <a:solidFill>
                      <a:srgbClr val="132238"/>
                    </a:solidFill>
                  </a:tcPr>
                </a:tc>
                <a:tc>
                  <a:txBody>
                    <a:bodyPr/>
                    <a:lstStyle/>
                    <a:p>
                      <a:pPr marL="0" indent="0" algn="ctr">
                        <a:buNone/>
                      </a:pPr>
                      <a:r>
                        <a:rPr lang="en-US" sz="1300" dirty="0">
                          <a:solidFill>
                            <a:srgbClr val="34D399"/>
                          </a:solidFill>
                          <a:latin typeface="Calibri" pitchFamily="34" charset="0"/>
                          <a:ea typeface="Calibri" pitchFamily="34" charset="-122"/>
                          <a:cs typeface="Calibri" pitchFamily="34" charset="-120"/>
                        </a:rPr>
                        <a:t>0,752</a:t>
                      </a:r>
                      <a:endParaRPr lang="en-US" sz="1300" dirty="0">
                        <a:latin typeface="Calibri" charset="0"/>
                        <a:ea typeface="Calibri" charset="0"/>
                        <a:cs typeface="Calibri" charset="0"/>
                      </a:endParaRPr>
                    </a:p>
                  </a:txBody>
                  <a:tcPr>
                    <a:lnL w="6350" cap="flat" cmpd="sng" algn="ctr">
                      <a:solidFill>
                        <a:srgbClr val="27406A"/>
                      </a:solidFill>
                      <a:prstDash val="solid"/>
                      <a:round/>
                      <a:headEnd type="none" w="med" len="med"/>
                      <a:tailEnd type="none" w="med" len="med"/>
                    </a:lnL>
                    <a:lnR w="6350" cap="flat" cmpd="sng" algn="ctr">
                      <a:solidFill>
                        <a:srgbClr val="27406A"/>
                      </a:solidFill>
                      <a:prstDash val="solid"/>
                      <a:round/>
                      <a:headEnd type="none" w="med" len="med"/>
                      <a:tailEnd type="none" w="med" len="med"/>
                    </a:lnR>
                    <a:lnT w="6350" cap="flat" cmpd="sng" algn="ctr">
                      <a:solidFill>
                        <a:srgbClr val="27406A"/>
                      </a:solidFill>
                      <a:prstDash val="solid"/>
                      <a:round/>
                      <a:headEnd type="none" w="med" len="med"/>
                      <a:tailEnd type="none" w="med" len="med"/>
                    </a:lnT>
                    <a:lnB w="6350" cap="flat" cmpd="sng" algn="ctr">
                      <a:solidFill>
                        <a:srgbClr val="27406A"/>
                      </a:solidFill>
                      <a:prstDash val="solid"/>
                      <a:round/>
                      <a:headEnd type="none" w="med" len="med"/>
                      <a:tailEnd type="none" w="med" len="med"/>
                    </a:lnB>
                    <a:solidFill>
                      <a:srgbClr val="132238"/>
                    </a:solidFill>
                  </a:tcPr>
                </a:tc>
                <a:tc>
                  <a:txBody>
                    <a:bodyPr/>
                    <a:lstStyle/>
                    <a:p>
                      <a:pPr marL="0" indent="0" algn="ctr">
                        <a:buNone/>
                      </a:pPr>
                      <a:r>
                        <a:rPr lang="en-US" sz="1300" dirty="0">
                          <a:solidFill>
                            <a:srgbClr val="34D399"/>
                          </a:solidFill>
                          <a:latin typeface="Calibri" pitchFamily="34" charset="0"/>
                          <a:ea typeface="Calibri" pitchFamily="34" charset="-122"/>
                          <a:cs typeface="Calibri" pitchFamily="34" charset="-120"/>
                        </a:rPr>
                        <a:t>0,197</a:t>
                      </a:r>
                      <a:endParaRPr lang="en-US" sz="1300" dirty="0">
                        <a:latin typeface="Calibri" charset="0"/>
                        <a:ea typeface="Calibri" charset="0"/>
                        <a:cs typeface="Calibri" charset="0"/>
                      </a:endParaRPr>
                    </a:p>
                  </a:txBody>
                  <a:tcPr>
                    <a:lnL w="6350" cap="flat" cmpd="sng" algn="ctr">
                      <a:solidFill>
                        <a:srgbClr val="27406A"/>
                      </a:solidFill>
                      <a:prstDash val="solid"/>
                      <a:round/>
                      <a:headEnd type="none" w="med" len="med"/>
                      <a:tailEnd type="none" w="med" len="med"/>
                    </a:lnL>
                    <a:lnR w="6350" cap="flat" cmpd="sng" algn="ctr">
                      <a:solidFill>
                        <a:srgbClr val="27406A"/>
                      </a:solidFill>
                      <a:prstDash val="solid"/>
                      <a:round/>
                      <a:headEnd type="none" w="med" len="med"/>
                      <a:tailEnd type="none" w="med" len="med"/>
                    </a:lnR>
                    <a:lnT w="6350" cap="flat" cmpd="sng" algn="ctr">
                      <a:solidFill>
                        <a:srgbClr val="27406A"/>
                      </a:solidFill>
                      <a:prstDash val="solid"/>
                      <a:round/>
                      <a:headEnd type="none" w="med" len="med"/>
                      <a:tailEnd type="none" w="med" len="med"/>
                    </a:lnT>
                    <a:lnB w="6350" cap="flat" cmpd="sng" algn="ctr">
                      <a:solidFill>
                        <a:srgbClr val="27406A"/>
                      </a:solidFill>
                      <a:prstDash val="solid"/>
                      <a:round/>
                      <a:headEnd type="none" w="med" len="med"/>
                      <a:tailEnd type="none" w="med" len="med"/>
                    </a:lnB>
                    <a:solidFill>
                      <a:srgbClr val="132238"/>
                    </a:solidFill>
                  </a:tcPr>
                </a:tc>
                <a:extLst>
                  <a:ext uri="{0D108BD9-81ED-4DB2-BD59-A6C34878D82A}">
                    <a16:rowId xmlns:a16="http://schemas.microsoft.com/office/drawing/2014/main" val="10002"/>
                  </a:ext>
                </a:extLst>
              </a:tr>
              <a:tr h="384048">
                <a:tc>
                  <a:txBody>
                    <a:bodyPr/>
                    <a:lstStyle/>
                    <a:p>
                      <a:pPr marL="0" indent="0" algn="l">
                        <a:buNone/>
                      </a:pPr>
                      <a:endParaRPr lang="en-US" sz="1300" dirty="0">
                        <a:latin typeface="Calibri" charset="0"/>
                        <a:ea typeface="Calibri" charset="0"/>
                        <a:cs typeface="Calibri" charset="0"/>
                      </a:endParaRPr>
                    </a:p>
                  </a:txBody>
                  <a:tcPr>
                    <a:lnL w="6350" cap="flat" cmpd="sng" algn="ctr">
                      <a:solidFill>
                        <a:srgbClr val="27406A"/>
                      </a:solidFill>
                      <a:prstDash val="solid"/>
                      <a:round/>
                      <a:headEnd type="none" w="med" len="med"/>
                      <a:tailEnd type="none" w="med" len="med"/>
                    </a:lnL>
                    <a:lnR w="6350" cap="flat" cmpd="sng" algn="ctr">
                      <a:solidFill>
                        <a:srgbClr val="27406A"/>
                      </a:solidFill>
                      <a:prstDash val="solid"/>
                      <a:round/>
                      <a:headEnd type="none" w="med" len="med"/>
                      <a:tailEnd type="none" w="med" len="med"/>
                    </a:lnR>
                    <a:lnT w="6350" cap="flat" cmpd="sng" algn="ctr">
                      <a:solidFill>
                        <a:srgbClr val="27406A"/>
                      </a:solidFill>
                      <a:prstDash val="solid"/>
                      <a:round/>
                      <a:headEnd type="none" w="med" len="med"/>
                      <a:tailEnd type="none" w="med" len="med"/>
                    </a:lnT>
                    <a:lnB w="6350" cap="flat" cmpd="sng" algn="ctr">
                      <a:solidFill>
                        <a:srgbClr val="27406A"/>
                      </a:solidFill>
                      <a:prstDash val="solid"/>
                      <a:round/>
                      <a:headEnd type="none" w="med" len="med"/>
                      <a:tailEnd type="none" w="med" len="med"/>
                    </a:lnB>
                    <a:solidFill>
                      <a:srgbClr val="132238"/>
                    </a:solidFill>
                  </a:tcPr>
                </a:tc>
                <a:tc>
                  <a:txBody>
                    <a:bodyPr/>
                    <a:lstStyle/>
                    <a:p>
                      <a:pPr marL="0" indent="0" algn="l">
                        <a:buNone/>
                      </a:pPr>
                      <a:r>
                        <a:rPr lang="en-US" sz="1300" dirty="0">
                          <a:solidFill>
                            <a:srgbClr val="F1F5F9"/>
                          </a:solidFill>
                          <a:latin typeface="Calibri" pitchFamily="34" charset="0"/>
                          <a:ea typeface="Calibri" pitchFamily="34" charset="-122"/>
                          <a:cs typeface="Calibri" pitchFamily="34" charset="-120"/>
                        </a:rPr>
                        <a:t>XGBoost</a:t>
                      </a:r>
                      <a:endParaRPr lang="en-US" sz="1300" dirty="0">
                        <a:latin typeface="Calibri" charset="0"/>
                        <a:ea typeface="Calibri" charset="0"/>
                        <a:cs typeface="Calibri" charset="0"/>
                      </a:endParaRPr>
                    </a:p>
                  </a:txBody>
                  <a:tcPr>
                    <a:lnL w="6350" cap="flat" cmpd="sng" algn="ctr">
                      <a:solidFill>
                        <a:srgbClr val="27406A"/>
                      </a:solidFill>
                      <a:prstDash val="solid"/>
                      <a:round/>
                      <a:headEnd type="none" w="med" len="med"/>
                      <a:tailEnd type="none" w="med" len="med"/>
                    </a:lnL>
                    <a:lnR w="6350" cap="flat" cmpd="sng" algn="ctr">
                      <a:solidFill>
                        <a:srgbClr val="27406A"/>
                      </a:solidFill>
                      <a:prstDash val="solid"/>
                      <a:round/>
                      <a:headEnd type="none" w="med" len="med"/>
                      <a:tailEnd type="none" w="med" len="med"/>
                    </a:lnR>
                    <a:lnT w="6350" cap="flat" cmpd="sng" algn="ctr">
                      <a:solidFill>
                        <a:srgbClr val="27406A"/>
                      </a:solidFill>
                      <a:prstDash val="solid"/>
                      <a:round/>
                      <a:headEnd type="none" w="med" len="med"/>
                      <a:tailEnd type="none" w="med" len="med"/>
                    </a:lnT>
                    <a:lnB w="6350" cap="flat" cmpd="sng" algn="ctr">
                      <a:solidFill>
                        <a:srgbClr val="27406A"/>
                      </a:solidFill>
                      <a:prstDash val="solid"/>
                      <a:round/>
                      <a:headEnd type="none" w="med" len="med"/>
                      <a:tailEnd type="none" w="med" len="med"/>
                    </a:lnB>
                    <a:solidFill>
                      <a:srgbClr val="132238"/>
                    </a:solidFill>
                  </a:tcPr>
                </a:tc>
                <a:tc>
                  <a:txBody>
                    <a:bodyPr/>
                    <a:lstStyle/>
                    <a:p>
                      <a:pPr marL="0" indent="0" algn="ctr">
                        <a:buNone/>
                      </a:pPr>
                      <a:r>
                        <a:rPr lang="en-US" sz="1300" dirty="0">
                          <a:solidFill>
                            <a:srgbClr val="F1F5F9"/>
                          </a:solidFill>
                          <a:latin typeface="Calibri" pitchFamily="34" charset="0"/>
                          <a:ea typeface="Calibri" pitchFamily="34" charset="-122"/>
                          <a:cs typeface="Calibri" pitchFamily="34" charset="-120"/>
                        </a:rPr>
                        <a:t>0,737</a:t>
                      </a:r>
                      <a:endParaRPr lang="en-US" sz="1300" dirty="0">
                        <a:latin typeface="Calibri" charset="0"/>
                        <a:ea typeface="Calibri" charset="0"/>
                        <a:cs typeface="Calibri" charset="0"/>
                      </a:endParaRPr>
                    </a:p>
                  </a:txBody>
                  <a:tcPr>
                    <a:lnL w="6350" cap="flat" cmpd="sng" algn="ctr">
                      <a:solidFill>
                        <a:srgbClr val="27406A"/>
                      </a:solidFill>
                      <a:prstDash val="solid"/>
                      <a:round/>
                      <a:headEnd type="none" w="med" len="med"/>
                      <a:tailEnd type="none" w="med" len="med"/>
                    </a:lnL>
                    <a:lnR w="6350" cap="flat" cmpd="sng" algn="ctr">
                      <a:solidFill>
                        <a:srgbClr val="27406A"/>
                      </a:solidFill>
                      <a:prstDash val="solid"/>
                      <a:round/>
                      <a:headEnd type="none" w="med" len="med"/>
                      <a:tailEnd type="none" w="med" len="med"/>
                    </a:lnR>
                    <a:lnT w="6350" cap="flat" cmpd="sng" algn="ctr">
                      <a:solidFill>
                        <a:srgbClr val="27406A"/>
                      </a:solidFill>
                      <a:prstDash val="solid"/>
                      <a:round/>
                      <a:headEnd type="none" w="med" len="med"/>
                      <a:tailEnd type="none" w="med" len="med"/>
                    </a:lnT>
                    <a:lnB w="6350" cap="flat" cmpd="sng" algn="ctr">
                      <a:solidFill>
                        <a:srgbClr val="27406A"/>
                      </a:solidFill>
                      <a:prstDash val="solid"/>
                      <a:round/>
                      <a:headEnd type="none" w="med" len="med"/>
                      <a:tailEnd type="none" w="med" len="med"/>
                    </a:lnB>
                    <a:solidFill>
                      <a:srgbClr val="132238"/>
                    </a:solidFill>
                  </a:tcPr>
                </a:tc>
                <a:tc>
                  <a:txBody>
                    <a:bodyPr/>
                    <a:lstStyle/>
                    <a:p>
                      <a:pPr marL="0" indent="0" algn="ctr">
                        <a:buNone/>
                      </a:pPr>
                      <a:r>
                        <a:rPr lang="en-US" sz="1300" dirty="0">
                          <a:solidFill>
                            <a:srgbClr val="F1F5F9"/>
                          </a:solidFill>
                          <a:latin typeface="Calibri" pitchFamily="34" charset="0"/>
                          <a:ea typeface="Calibri" pitchFamily="34" charset="-122"/>
                          <a:cs typeface="Calibri" pitchFamily="34" charset="-120"/>
                        </a:rPr>
                        <a:t>0,596</a:t>
                      </a:r>
                      <a:endParaRPr lang="en-US" sz="1300" dirty="0">
                        <a:latin typeface="Calibri" charset="0"/>
                        <a:ea typeface="Calibri" charset="0"/>
                        <a:cs typeface="Calibri" charset="0"/>
                      </a:endParaRPr>
                    </a:p>
                  </a:txBody>
                  <a:tcPr>
                    <a:lnL w="6350" cap="flat" cmpd="sng" algn="ctr">
                      <a:solidFill>
                        <a:srgbClr val="27406A"/>
                      </a:solidFill>
                      <a:prstDash val="solid"/>
                      <a:round/>
                      <a:headEnd type="none" w="med" len="med"/>
                      <a:tailEnd type="none" w="med" len="med"/>
                    </a:lnL>
                    <a:lnR w="6350" cap="flat" cmpd="sng" algn="ctr">
                      <a:solidFill>
                        <a:srgbClr val="27406A"/>
                      </a:solidFill>
                      <a:prstDash val="solid"/>
                      <a:round/>
                      <a:headEnd type="none" w="med" len="med"/>
                      <a:tailEnd type="none" w="med" len="med"/>
                    </a:lnR>
                    <a:lnT w="6350" cap="flat" cmpd="sng" algn="ctr">
                      <a:solidFill>
                        <a:srgbClr val="27406A"/>
                      </a:solidFill>
                      <a:prstDash val="solid"/>
                      <a:round/>
                      <a:headEnd type="none" w="med" len="med"/>
                      <a:tailEnd type="none" w="med" len="med"/>
                    </a:lnT>
                    <a:lnB w="6350" cap="flat" cmpd="sng" algn="ctr">
                      <a:solidFill>
                        <a:srgbClr val="27406A"/>
                      </a:solidFill>
                      <a:prstDash val="solid"/>
                      <a:round/>
                      <a:headEnd type="none" w="med" len="med"/>
                      <a:tailEnd type="none" w="med" len="med"/>
                    </a:lnB>
                    <a:solidFill>
                      <a:srgbClr val="132238"/>
                    </a:solidFill>
                  </a:tcPr>
                </a:tc>
                <a:tc>
                  <a:txBody>
                    <a:bodyPr/>
                    <a:lstStyle/>
                    <a:p>
                      <a:pPr marL="0" indent="0" algn="ctr">
                        <a:buNone/>
                      </a:pPr>
                      <a:r>
                        <a:rPr lang="en-US" sz="1300" dirty="0">
                          <a:solidFill>
                            <a:srgbClr val="F1F5F9"/>
                          </a:solidFill>
                          <a:latin typeface="Calibri" pitchFamily="34" charset="0"/>
                          <a:ea typeface="Calibri" pitchFamily="34" charset="-122"/>
                          <a:cs typeface="Calibri" pitchFamily="34" charset="-120"/>
                        </a:rPr>
                        <a:t>0,776</a:t>
                      </a:r>
                      <a:endParaRPr lang="en-US" sz="1300" dirty="0">
                        <a:latin typeface="Calibri" charset="0"/>
                        <a:ea typeface="Calibri" charset="0"/>
                        <a:cs typeface="Calibri" charset="0"/>
                      </a:endParaRPr>
                    </a:p>
                  </a:txBody>
                  <a:tcPr>
                    <a:lnL w="6350" cap="flat" cmpd="sng" algn="ctr">
                      <a:solidFill>
                        <a:srgbClr val="27406A"/>
                      </a:solidFill>
                      <a:prstDash val="solid"/>
                      <a:round/>
                      <a:headEnd type="none" w="med" len="med"/>
                      <a:tailEnd type="none" w="med" len="med"/>
                    </a:lnL>
                    <a:lnR w="6350" cap="flat" cmpd="sng" algn="ctr">
                      <a:solidFill>
                        <a:srgbClr val="27406A"/>
                      </a:solidFill>
                      <a:prstDash val="solid"/>
                      <a:round/>
                      <a:headEnd type="none" w="med" len="med"/>
                      <a:tailEnd type="none" w="med" len="med"/>
                    </a:lnR>
                    <a:lnT w="6350" cap="flat" cmpd="sng" algn="ctr">
                      <a:solidFill>
                        <a:srgbClr val="27406A"/>
                      </a:solidFill>
                      <a:prstDash val="solid"/>
                      <a:round/>
                      <a:headEnd type="none" w="med" len="med"/>
                      <a:tailEnd type="none" w="med" len="med"/>
                    </a:lnT>
                    <a:lnB w="6350" cap="flat" cmpd="sng" algn="ctr">
                      <a:solidFill>
                        <a:srgbClr val="27406A"/>
                      </a:solidFill>
                      <a:prstDash val="solid"/>
                      <a:round/>
                      <a:headEnd type="none" w="med" len="med"/>
                      <a:tailEnd type="none" w="med" len="med"/>
                    </a:lnB>
                    <a:solidFill>
                      <a:srgbClr val="132238"/>
                    </a:solidFill>
                  </a:tcPr>
                </a:tc>
                <a:tc>
                  <a:txBody>
                    <a:bodyPr/>
                    <a:lstStyle/>
                    <a:p>
                      <a:pPr marL="0" indent="0" algn="ctr">
                        <a:buNone/>
                      </a:pPr>
                      <a:r>
                        <a:rPr lang="en-US" sz="1300" dirty="0">
                          <a:solidFill>
                            <a:srgbClr val="F1F5F9"/>
                          </a:solidFill>
                          <a:latin typeface="Calibri" pitchFamily="34" charset="0"/>
                          <a:ea typeface="Calibri" pitchFamily="34" charset="-122"/>
                          <a:cs typeface="Calibri" pitchFamily="34" charset="-120"/>
                        </a:rPr>
                        <a:t>0,367</a:t>
                      </a:r>
                      <a:endParaRPr lang="en-US" sz="1300" dirty="0">
                        <a:latin typeface="Calibri" charset="0"/>
                        <a:ea typeface="Calibri" charset="0"/>
                        <a:cs typeface="Calibri" charset="0"/>
                      </a:endParaRPr>
                    </a:p>
                  </a:txBody>
                  <a:tcPr>
                    <a:lnL w="6350" cap="flat" cmpd="sng" algn="ctr">
                      <a:solidFill>
                        <a:srgbClr val="27406A"/>
                      </a:solidFill>
                      <a:prstDash val="solid"/>
                      <a:round/>
                      <a:headEnd type="none" w="med" len="med"/>
                      <a:tailEnd type="none" w="med" len="med"/>
                    </a:lnL>
                    <a:lnR w="6350" cap="flat" cmpd="sng" algn="ctr">
                      <a:solidFill>
                        <a:srgbClr val="27406A"/>
                      </a:solidFill>
                      <a:prstDash val="solid"/>
                      <a:round/>
                      <a:headEnd type="none" w="med" len="med"/>
                      <a:tailEnd type="none" w="med" len="med"/>
                    </a:lnR>
                    <a:lnT w="6350" cap="flat" cmpd="sng" algn="ctr">
                      <a:solidFill>
                        <a:srgbClr val="27406A"/>
                      </a:solidFill>
                      <a:prstDash val="solid"/>
                      <a:round/>
                      <a:headEnd type="none" w="med" len="med"/>
                      <a:tailEnd type="none" w="med" len="med"/>
                    </a:lnT>
                    <a:lnB w="6350" cap="flat" cmpd="sng" algn="ctr">
                      <a:solidFill>
                        <a:srgbClr val="27406A"/>
                      </a:solidFill>
                      <a:prstDash val="solid"/>
                      <a:round/>
                      <a:headEnd type="none" w="med" len="med"/>
                      <a:tailEnd type="none" w="med" len="med"/>
                    </a:lnB>
                    <a:solidFill>
                      <a:srgbClr val="132238"/>
                    </a:solidFill>
                  </a:tcPr>
                </a:tc>
                <a:extLst>
                  <a:ext uri="{0D108BD9-81ED-4DB2-BD59-A6C34878D82A}">
                    <a16:rowId xmlns:a16="http://schemas.microsoft.com/office/drawing/2014/main" val="10003"/>
                  </a:ext>
                </a:extLst>
              </a:tr>
              <a:tr h="384048">
                <a:tc>
                  <a:txBody>
                    <a:bodyPr/>
                    <a:lstStyle/>
                    <a:p>
                      <a:pPr marL="0" indent="0" algn="l">
                        <a:buNone/>
                      </a:pPr>
                      <a:r>
                        <a:rPr lang="en-US" sz="1300" dirty="0">
                          <a:solidFill>
                            <a:srgbClr val="F1F5F9"/>
                          </a:solidFill>
                          <a:latin typeface="Calibri" pitchFamily="34" charset="0"/>
                          <a:ea typeface="Calibri" pitchFamily="34" charset="-122"/>
                          <a:cs typeface="Calibri" pitchFamily="34" charset="-120"/>
                        </a:rPr>
                        <a:t>Graduación (u = 0,50)</a:t>
                      </a:r>
                      <a:endParaRPr lang="en-US" sz="1300" dirty="0">
                        <a:latin typeface="Calibri" charset="0"/>
                        <a:ea typeface="Calibri" charset="0"/>
                        <a:cs typeface="Calibri" charset="0"/>
                      </a:endParaRPr>
                    </a:p>
                  </a:txBody>
                  <a:tcPr>
                    <a:lnL w="6350" cap="flat" cmpd="sng" algn="ctr">
                      <a:solidFill>
                        <a:srgbClr val="27406A"/>
                      </a:solidFill>
                      <a:prstDash val="solid"/>
                      <a:round/>
                      <a:headEnd type="none" w="med" len="med"/>
                      <a:tailEnd type="none" w="med" len="med"/>
                    </a:lnL>
                    <a:lnR w="6350" cap="flat" cmpd="sng" algn="ctr">
                      <a:solidFill>
                        <a:srgbClr val="27406A"/>
                      </a:solidFill>
                      <a:prstDash val="solid"/>
                      <a:round/>
                      <a:headEnd type="none" w="med" len="med"/>
                      <a:tailEnd type="none" w="med" len="med"/>
                    </a:lnR>
                    <a:lnT w="6350" cap="flat" cmpd="sng" algn="ctr">
                      <a:solidFill>
                        <a:srgbClr val="27406A"/>
                      </a:solidFill>
                      <a:prstDash val="solid"/>
                      <a:round/>
                      <a:headEnd type="none" w="med" len="med"/>
                      <a:tailEnd type="none" w="med" len="med"/>
                    </a:lnT>
                    <a:lnB w="6350" cap="flat" cmpd="sng" algn="ctr">
                      <a:solidFill>
                        <a:srgbClr val="27406A"/>
                      </a:solidFill>
                      <a:prstDash val="solid"/>
                      <a:round/>
                      <a:headEnd type="none" w="med" len="med"/>
                      <a:tailEnd type="none" w="med" len="med"/>
                    </a:lnB>
                    <a:solidFill>
                      <a:srgbClr val="132238"/>
                    </a:solidFill>
                  </a:tcPr>
                </a:tc>
                <a:tc>
                  <a:txBody>
                    <a:bodyPr/>
                    <a:lstStyle/>
                    <a:p>
                      <a:pPr marL="0" indent="0" algn="l">
                        <a:buNone/>
                      </a:pPr>
                      <a:r>
                        <a:rPr lang="en-US" sz="1300" dirty="0">
                          <a:solidFill>
                            <a:srgbClr val="F1F5F9"/>
                          </a:solidFill>
                          <a:latin typeface="Calibri" pitchFamily="34" charset="0"/>
                          <a:ea typeface="Calibri" pitchFamily="34" charset="-122"/>
                          <a:cs typeface="Calibri" pitchFamily="34" charset="-120"/>
                        </a:rPr>
                        <a:t>Decision Tree</a:t>
                      </a:r>
                      <a:endParaRPr lang="en-US" sz="1300" dirty="0">
                        <a:latin typeface="Calibri" charset="0"/>
                        <a:ea typeface="Calibri" charset="0"/>
                        <a:cs typeface="Calibri" charset="0"/>
                      </a:endParaRPr>
                    </a:p>
                  </a:txBody>
                  <a:tcPr>
                    <a:lnL w="6350" cap="flat" cmpd="sng" algn="ctr">
                      <a:solidFill>
                        <a:srgbClr val="27406A"/>
                      </a:solidFill>
                      <a:prstDash val="solid"/>
                      <a:round/>
                      <a:headEnd type="none" w="med" len="med"/>
                      <a:tailEnd type="none" w="med" len="med"/>
                    </a:lnL>
                    <a:lnR w="6350" cap="flat" cmpd="sng" algn="ctr">
                      <a:solidFill>
                        <a:srgbClr val="27406A"/>
                      </a:solidFill>
                      <a:prstDash val="solid"/>
                      <a:round/>
                      <a:headEnd type="none" w="med" len="med"/>
                      <a:tailEnd type="none" w="med" len="med"/>
                    </a:lnR>
                    <a:lnT w="6350" cap="flat" cmpd="sng" algn="ctr">
                      <a:solidFill>
                        <a:srgbClr val="27406A"/>
                      </a:solidFill>
                      <a:prstDash val="solid"/>
                      <a:round/>
                      <a:headEnd type="none" w="med" len="med"/>
                      <a:tailEnd type="none" w="med" len="med"/>
                    </a:lnT>
                    <a:lnB w="6350" cap="flat" cmpd="sng" algn="ctr">
                      <a:solidFill>
                        <a:srgbClr val="27406A"/>
                      </a:solidFill>
                      <a:prstDash val="solid"/>
                      <a:round/>
                      <a:headEnd type="none" w="med" len="med"/>
                      <a:tailEnd type="none" w="med" len="med"/>
                    </a:lnB>
                    <a:solidFill>
                      <a:srgbClr val="132238"/>
                    </a:solidFill>
                  </a:tcPr>
                </a:tc>
                <a:tc>
                  <a:txBody>
                    <a:bodyPr/>
                    <a:lstStyle/>
                    <a:p>
                      <a:pPr marL="0" indent="0" algn="ctr">
                        <a:buNone/>
                      </a:pPr>
                      <a:r>
                        <a:rPr lang="en-US" sz="1300" dirty="0">
                          <a:solidFill>
                            <a:srgbClr val="F1F5F9"/>
                          </a:solidFill>
                          <a:latin typeface="Calibri" pitchFamily="34" charset="0"/>
                          <a:ea typeface="Calibri" pitchFamily="34" charset="-122"/>
                          <a:cs typeface="Calibri" pitchFamily="34" charset="-120"/>
                        </a:rPr>
                        <a:t>0,686</a:t>
                      </a:r>
                      <a:endParaRPr lang="en-US" sz="1300" dirty="0">
                        <a:latin typeface="Calibri" charset="0"/>
                        <a:ea typeface="Calibri" charset="0"/>
                        <a:cs typeface="Calibri" charset="0"/>
                      </a:endParaRPr>
                    </a:p>
                  </a:txBody>
                  <a:tcPr>
                    <a:lnL w="6350" cap="flat" cmpd="sng" algn="ctr">
                      <a:solidFill>
                        <a:srgbClr val="27406A"/>
                      </a:solidFill>
                      <a:prstDash val="solid"/>
                      <a:round/>
                      <a:headEnd type="none" w="med" len="med"/>
                      <a:tailEnd type="none" w="med" len="med"/>
                    </a:lnL>
                    <a:lnR w="6350" cap="flat" cmpd="sng" algn="ctr">
                      <a:solidFill>
                        <a:srgbClr val="27406A"/>
                      </a:solidFill>
                      <a:prstDash val="solid"/>
                      <a:round/>
                      <a:headEnd type="none" w="med" len="med"/>
                      <a:tailEnd type="none" w="med" len="med"/>
                    </a:lnR>
                    <a:lnT w="6350" cap="flat" cmpd="sng" algn="ctr">
                      <a:solidFill>
                        <a:srgbClr val="27406A"/>
                      </a:solidFill>
                      <a:prstDash val="solid"/>
                      <a:round/>
                      <a:headEnd type="none" w="med" len="med"/>
                      <a:tailEnd type="none" w="med" len="med"/>
                    </a:lnT>
                    <a:lnB w="6350" cap="flat" cmpd="sng" algn="ctr">
                      <a:solidFill>
                        <a:srgbClr val="27406A"/>
                      </a:solidFill>
                      <a:prstDash val="solid"/>
                      <a:round/>
                      <a:headEnd type="none" w="med" len="med"/>
                      <a:tailEnd type="none" w="med" len="med"/>
                    </a:lnB>
                    <a:solidFill>
                      <a:srgbClr val="132238"/>
                    </a:solidFill>
                  </a:tcPr>
                </a:tc>
                <a:tc>
                  <a:txBody>
                    <a:bodyPr/>
                    <a:lstStyle/>
                    <a:p>
                      <a:pPr marL="0" indent="0" algn="ctr">
                        <a:buNone/>
                      </a:pPr>
                      <a:r>
                        <a:rPr lang="en-US" sz="1300" dirty="0">
                          <a:solidFill>
                            <a:srgbClr val="F1F5F9"/>
                          </a:solidFill>
                          <a:latin typeface="Calibri" pitchFamily="34" charset="0"/>
                          <a:ea typeface="Calibri" pitchFamily="34" charset="-122"/>
                          <a:cs typeface="Calibri" pitchFamily="34" charset="-120"/>
                        </a:rPr>
                        <a:t>0,686</a:t>
                      </a:r>
                      <a:endParaRPr lang="en-US" sz="1300" dirty="0">
                        <a:latin typeface="Calibri" charset="0"/>
                        <a:ea typeface="Calibri" charset="0"/>
                        <a:cs typeface="Calibri" charset="0"/>
                      </a:endParaRPr>
                    </a:p>
                  </a:txBody>
                  <a:tcPr>
                    <a:lnL w="6350" cap="flat" cmpd="sng" algn="ctr">
                      <a:solidFill>
                        <a:srgbClr val="27406A"/>
                      </a:solidFill>
                      <a:prstDash val="solid"/>
                      <a:round/>
                      <a:headEnd type="none" w="med" len="med"/>
                      <a:tailEnd type="none" w="med" len="med"/>
                    </a:lnL>
                    <a:lnR w="6350" cap="flat" cmpd="sng" algn="ctr">
                      <a:solidFill>
                        <a:srgbClr val="27406A"/>
                      </a:solidFill>
                      <a:prstDash val="solid"/>
                      <a:round/>
                      <a:headEnd type="none" w="med" len="med"/>
                      <a:tailEnd type="none" w="med" len="med"/>
                    </a:lnR>
                    <a:lnT w="6350" cap="flat" cmpd="sng" algn="ctr">
                      <a:solidFill>
                        <a:srgbClr val="27406A"/>
                      </a:solidFill>
                      <a:prstDash val="solid"/>
                      <a:round/>
                      <a:headEnd type="none" w="med" len="med"/>
                      <a:tailEnd type="none" w="med" len="med"/>
                    </a:lnT>
                    <a:lnB w="6350" cap="flat" cmpd="sng" algn="ctr">
                      <a:solidFill>
                        <a:srgbClr val="27406A"/>
                      </a:solidFill>
                      <a:prstDash val="solid"/>
                      <a:round/>
                      <a:headEnd type="none" w="med" len="med"/>
                      <a:tailEnd type="none" w="med" len="med"/>
                    </a:lnB>
                    <a:solidFill>
                      <a:srgbClr val="132238"/>
                    </a:solidFill>
                  </a:tcPr>
                </a:tc>
                <a:tc>
                  <a:txBody>
                    <a:bodyPr/>
                    <a:lstStyle/>
                    <a:p>
                      <a:pPr marL="0" indent="0" algn="ctr">
                        <a:buNone/>
                      </a:pPr>
                      <a:r>
                        <a:rPr lang="en-US" sz="1300" dirty="0">
                          <a:solidFill>
                            <a:srgbClr val="F1F5F9"/>
                          </a:solidFill>
                          <a:latin typeface="Calibri" pitchFamily="34" charset="0"/>
                          <a:ea typeface="Calibri" pitchFamily="34" charset="-122"/>
                          <a:cs typeface="Calibri" pitchFamily="34" charset="-120"/>
                        </a:rPr>
                        <a:t>0,728</a:t>
                      </a:r>
                      <a:endParaRPr lang="en-US" sz="1300" dirty="0">
                        <a:latin typeface="Calibri" charset="0"/>
                        <a:ea typeface="Calibri" charset="0"/>
                        <a:cs typeface="Calibri" charset="0"/>
                      </a:endParaRPr>
                    </a:p>
                  </a:txBody>
                  <a:tcPr>
                    <a:lnL w="6350" cap="flat" cmpd="sng" algn="ctr">
                      <a:solidFill>
                        <a:srgbClr val="27406A"/>
                      </a:solidFill>
                      <a:prstDash val="solid"/>
                      <a:round/>
                      <a:headEnd type="none" w="med" len="med"/>
                      <a:tailEnd type="none" w="med" len="med"/>
                    </a:lnL>
                    <a:lnR w="6350" cap="flat" cmpd="sng" algn="ctr">
                      <a:solidFill>
                        <a:srgbClr val="27406A"/>
                      </a:solidFill>
                      <a:prstDash val="solid"/>
                      <a:round/>
                      <a:headEnd type="none" w="med" len="med"/>
                      <a:tailEnd type="none" w="med" len="med"/>
                    </a:lnR>
                    <a:lnT w="6350" cap="flat" cmpd="sng" algn="ctr">
                      <a:solidFill>
                        <a:srgbClr val="27406A"/>
                      </a:solidFill>
                      <a:prstDash val="solid"/>
                      <a:round/>
                      <a:headEnd type="none" w="med" len="med"/>
                      <a:tailEnd type="none" w="med" len="med"/>
                    </a:lnT>
                    <a:lnB w="6350" cap="flat" cmpd="sng" algn="ctr">
                      <a:solidFill>
                        <a:srgbClr val="27406A"/>
                      </a:solidFill>
                      <a:prstDash val="solid"/>
                      <a:round/>
                      <a:headEnd type="none" w="med" len="med"/>
                      <a:tailEnd type="none" w="med" len="med"/>
                    </a:lnB>
                    <a:solidFill>
                      <a:srgbClr val="132238"/>
                    </a:solidFill>
                  </a:tcPr>
                </a:tc>
                <a:tc>
                  <a:txBody>
                    <a:bodyPr/>
                    <a:lstStyle/>
                    <a:p>
                      <a:pPr marL="0" indent="0" algn="ctr">
                        <a:buNone/>
                      </a:pPr>
                      <a:r>
                        <a:rPr lang="en-US" sz="1300" dirty="0">
                          <a:solidFill>
                            <a:srgbClr val="F1F5F9"/>
                          </a:solidFill>
                          <a:latin typeface="Calibri" pitchFamily="34" charset="0"/>
                          <a:ea typeface="Calibri" pitchFamily="34" charset="-122"/>
                          <a:cs typeface="Calibri" pitchFamily="34" charset="-120"/>
                        </a:rPr>
                        <a:t>0,486</a:t>
                      </a:r>
                      <a:endParaRPr lang="en-US" sz="1300" dirty="0">
                        <a:latin typeface="Calibri" charset="0"/>
                        <a:ea typeface="Calibri" charset="0"/>
                        <a:cs typeface="Calibri" charset="0"/>
                      </a:endParaRPr>
                    </a:p>
                  </a:txBody>
                  <a:tcPr>
                    <a:lnL w="6350" cap="flat" cmpd="sng" algn="ctr">
                      <a:solidFill>
                        <a:srgbClr val="27406A"/>
                      </a:solidFill>
                      <a:prstDash val="solid"/>
                      <a:round/>
                      <a:headEnd type="none" w="med" len="med"/>
                      <a:tailEnd type="none" w="med" len="med"/>
                    </a:lnL>
                    <a:lnR w="6350" cap="flat" cmpd="sng" algn="ctr">
                      <a:solidFill>
                        <a:srgbClr val="27406A"/>
                      </a:solidFill>
                      <a:prstDash val="solid"/>
                      <a:round/>
                      <a:headEnd type="none" w="med" len="med"/>
                      <a:tailEnd type="none" w="med" len="med"/>
                    </a:lnR>
                    <a:lnT w="6350" cap="flat" cmpd="sng" algn="ctr">
                      <a:solidFill>
                        <a:srgbClr val="27406A"/>
                      </a:solidFill>
                      <a:prstDash val="solid"/>
                      <a:round/>
                      <a:headEnd type="none" w="med" len="med"/>
                      <a:tailEnd type="none" w="med" len="med"/>
                    </a:lnT>
                    <a:lnB w="6350" cap="flat" cmpd="sng" algn="ctr">
                      <a:solidFill>
                        <a:srgbClr val="27406A"/>
                      </a:solidFill>
                      <a:prstDash val="solid"/>
                      <a:round/>
                      <a:headEnd type="none" w="med" len="med"/>
                      <a:tailEnd type="none" w="med" len="med"/>
                    </a:lnB>
                    <a:solidFill>
                      <a:srgbClr val="132238"/>
                    </a:solidFill>
                  </a:tcPr>
                </a:tc>
                <a:extLst>
                  <a:ext uri="{0D108BD9-81ED-4DB2-BD59-A6C34878D82A}">
                    <a16:rowId xmlns:a16="http://schemas.microsoft.com/office/drawing/2014/main" val="10004"/>
                  </a:ext>
                </a:extLst>
              </a:tr>
              <a:tr h="384048">
                <a:tc>
                  <a:txBody>
                    <a:bodyPr/>
                    <a:lstStyle/>
                    <a:p>
                      <a:pPr marL="0" indent="0" algn="l">
                        <a:buNone/>
                      </a:pPr>
                      <a:endParaRPr lang="en-US" sz="1300" dirty="0">
                        <a:latin typeface="Calibri" charset="0"/>
                        <a:ea typeface="Calibri" charset="0"/>
                        <a:cs typeface="Calibri" charset="0"/>
                      </a:endParaRPr>
                    </a:p>
                  </a:txBody>
                  <a:tcPr>
                    <a:lnL w="6350" cap="flat" cmpd="sng" algn="ctr">
                      <a:solidFill>
                        <a:srgbClr val="27406A"/>
                      </a:solidFill>
                      <a:prstDash val="solid"/>
                      <a:round/>
                      <a:headEnd type="none" w="med" len="med"/>
                      <a:tailEnd type="none" w="med" len="med"/>
                    </a:lnL>
                    <a:lnR w="6350" cap="flat" cmpd="sng" algn="ctr">
                      <a:solidFill>
                        <a:srgbClr val="27406A"/>
                      </a:solidFill>
                      <a:prstDash val="solid"/>
                      <a:round/>
                      <a:headEnd type="none" w="med" len="med"/>
                      <a:tailEnd type="none" w="med" len="med"/>
                    </a:lnR>
                    <a:lnT w="6350" cap="flat" cmpd="sng" algn="ctr">
                      <a:solidFill>
                        <a:srgbClr val="27406A"/>
                      </a:solidFill>
                      <a:prstDash val="solid"/>
                      <a:round/>
                      <a:headEnd type="none" w="med" len="med"/>
                      <a:tailEnd type="none" w="med" len="med"/>
                    </a:lnT>
                    <a:lnB w="6350" cap="flat" cmpd="sng" algn="ctr">
                      <a:solidFill>
                        <a:srgbClr val="27406A"/>
                      </a:solidFill>
                      <a:prstDash val="solid"/>
                      <a:round/>
                      <a:headEnd type="none" w="med" len="med"/>
                      <a:tailEnd type="none" w="med" len="med"/>
                    </a:lnB>
                    <a:solidFill>
                      <a:srgbClr val="132238"/>
                    </a:solidFill>
                  </a:tcPr>
                </a:tc>
                <a:tc>
                  <a:txBody>
                    <a:bodyPr/>
                    <a:lstStyle/>
                    <a:p>
                      <a:pPr marL="0" indent="0" algn="l">
                        <a:buNone/>
                      </a:pPr>
                      <a:r>
                        <a:rPr lang="en-US" sz="1300" dirty="0">
                          <a:solidFill>
                            <a:srgbClr val="F1F5F9"/>
                          </a:solidFill>
                          <a:latin typeface="Calibri" pitchFamily="34" charset="0"/>
                          <a:ea typeface="Calibri" pitchFamily="34" charset="-122"/>
                          <a:cs typeface="Calibri" pitchFamily="34" charset="-120"/>
                        </a:rPr>
                        <a:t>Random Forest</a:t>
                      </a:r>
                      <a:endParaRPr lang="en-US" sz="1300" dirty="0">
                        <a:latin typeface="Calibri" charset="0"/>
                        <a:ea typeface="Calibri" charset="0"/>
                        <a:cs typeface="Calibri" charset="0"/>
                      </a:endParaRPr>
                    </a:p>
                  </a:txBody>
                  <a:tcPr>
                    <a:lnL w="6350" cap="flat" cmpd="sng" algn="ctr">
                      <a:solidFill>
                        <a:srgbClr val="27406A"/>
                      </a:solidFill>
                      <a:prstDash val="solid"/>
                      <a:round/>
                      <a:headEnd type="none" w="med" len="med"/>
                      <a:tailEnd type="none" w="med" len="med"/>
                    </a:lnL>
                    <a:lnR w="6350" cap="flat" cmpd="sng" algn="ctr">
                      <a:solidFill>
                        <a:srgbClr val="27406A"/>
                      </a:solidFill>
                      <a:prstDash val="solid"/>
                      <a:round/>
                      <a:headEnd type="none" w="med" len="med"/>
                      <a:tailEnd type="none" w="med" len="med"/>
                    </a:lnR>
                    <a:lnT w="6350" cap="flat" cmpd="sng" algn="ctr">
                      <a:solidFill>
                        <a:srgbClr val="27406A"/>
                      </a:solidFill>
                      <a:prstDash val="solid"/>
                      <a:round/>
                      <a:headEnd type="none" w="med" len="med"/>
                      <a:tailEnd type="none" w="med" len="med"/>
                    </a:lnT>
                    <a:lnB w="6350" cap="flat" cmpd="sng" algn="ctr">
                      <a:solidFill>
                        <a:srgbClr val="27406A"/>
                      </a:solidFill>
                      <a:prstDash val="solid"/>
                      <a:round/>
                      <a:headEnd type="none" w="med" len="med"/>
                      <a:tailEnd type="none" w="med" len="med"/>
                    </a:lnB>
                    <a:solidFill>
                      <a:srgbClr val="132238"/>
                    </a:solidFill>
                  </a:tcPr>
                </a:tc>
                <a:tc>
                  <a:txBody>
                    <a:bodyPr/>
                    <a:lstStyle/>
                    <a:p>
                      <a:pPr marL="0" indent="0" algn="ctr">
                        <a:buNone/>
                      </a:pPr>
                      <a:r>
                        <a:rPr lang="en-US" sz="1300" dirty="0">
                          <a:solidFill>
                            <a:srgbClr val="F1F5F9"/>
                          </a:solidFill>
                          <a:latin typeface="Calibri" pitchFamily="34" charset="0"/>
                          <a:ea typeface="Calibri" pitchFamily="34" charset="-122"/>
                          <a:cs typeface="Calibri" pitchFamily="34" charset="-120"/>
                        </a:rPr>
                        <a:t>0,657</a:t>
                      </a:r>
                      <a:endParaRPr lang="en-US" sz="1300" dirty="0">
                        <a:latin typeface="Calibri" charset="0"/>
                        <a:ea typeface="Calibri" charset="0"/>
                        <a:cs typeface="Calibri" charset="0"/>
                      </a:endParaRPr>
                    </a:p>
                  </a:txBody>
                  <a:tcPr>
                    <a:lnL w="6350" cap="flat" cmpd="sng" algn="ctr">
                      <a:solidFill>
                        <a:srgbClr val="27406A"/>
                      </a:solidFill>
                      <a:prstDash val="solid"/>
                      <a:round/>
                      <a:headEnd type="none" w="med" len="med"/>
                      <a:tailEnd type="none" w="med" len="med"/>
                    </a:lnL>
                    <a:lnR w="6350" cap="flat" cmpd="sng" algn="ctr">
                      <a:solidFill>
                        <a:srgbClr val="27406A"/>
                      </a:solidFill>
                      <a:prstDash val="solid"/>
                      <a:round/>
                      <a:headEnd type="none" w="med" len="med"/>
                      <a:tailEnd type="none" w="med" len="med"/>
                    </a:lnR>
                    <a:lnT w="6350" cap="flat" cmpd="sng" algn="ctr">
                      <a:solidFill>
                        <a:srgbClr val="27406A"/>
                      </a:solidFill>
                      <a:prstDash val="solid"/>
                      <a:round/>
                      <a:headEnd type="none" w="med" len="med"/>
                      <a:tailEnd type="none" w="med" len="med"/>
                    </a:lnT>
                    <a:lnB w="6350" cap="flat" cmpd="sng" algn="ctr">
                      <a:solidFill>
                        <a:srgbClr val="27406A"/>
                      </a:solidFill>
                      <a:prstDash val="solid"/>
                      <a:round/>
                      <a:headEnd type="none" w="med" len="med"/>
                      <a:tailEnd type="none" w="med" len="med"/>
                    </a:lnB>
                    <a:solidFill>
                      <a:srgbClr val="132238"/>
                    </a:solidFill>
                  </a:tcPr>
                </a:tc>
                <a:tc>
                  <a:txBody>
                    <a:bodyPr/>
                    <a:lstStyle/>
                    <a:p>
                      <a:pPr marL="0" indent="0" algn="ctr">
                        <a:buNone/>
                      </a:pPr>
                      <a:r>
                        <a:rPr lang="en-US" sz="1300" dirty="0">
                          <a:solidFill>
                            <a:srgbClr val="F1F5F9"/>
                          </a:solidFill>
                          <a:latin typeface="Calibri" pitchFamily="34" charset="0"/>
                          <a:ea typeface="Calibri" pitchFamily="34" charset="-122"/>
                          <a:cs typeface="Calibri" pitchFamily="34" charset="-120"/>
                        </a:rPr>
                        <a:t>0,821</a:t>
                      </a:r>
                      <a:endParaRPr lang="en-US" sz="1300" dirty="0">
                        <a:latin typeface="Calibri" charset="0"/>
                        <a:ea typeface="Calibri" charset="0"/>
                        <a:cs typeface="Calibri" charset="0"/>
                      </a:endParaRPr>
                    </a:p>
                  </a:txBody>
                  <a:tcPr>
                    <a:lnL w="6350" cap="flat" cmpd="sng" algn="ctr">
                      <a:solidFill>
                        <a:srgbClr val="27406A"/>
                      </a:solidFill>
                      <a:prstDash val="solid"/>
                      <a:round/>
                      <a:headEnd type="none" w="med" len="med"/>
                      <a:tailEnd type="none" w="med" len="med"/>
                    </a:lnL>
                    <a:lnR w="6350" cap="flat" cmpd="sng" algn="ctr">
                      <a:solidFill>
                        <a:srgbClr val="27406A"/>
                      </a:solidFill>
                      <a:prstDash val="solid"/>
                      <a:round/>
                      <a:headEnd type="none" w="med" len="med"/>
                      <a:tailEnd type="none" w="med" len="med"/>
                    </a:lnR>
                    <a:lnT w="6350" cap="flat" cmpd="sng" algn="ctr">
                      <a:solidFill>
                        <a:srgbClr val="27406A"/>
                      </a:solidFill>
                      <a:prstDash val="solid"/>
                      <a:round/>
                      <a:headEnd type="none" w="med" len="med"/>
                      <a:tailEnd type="none" w="med" len="med"/>
                    </a:lnT>
                    <a:lnB w="6350" cap="flat" cmpd="sng" algn="ctr">
                      <a:solidFill>
                        <a:srgbClr val="27406A"/>
                      </a:solidFill>
                      <a:prstDash val="solid"/>
                      <a:round/>
                      <a:headEnd type="none" w="med" len="med"/>
                      <a:tailEnd type="none" w="med" len="med"/>
                    </a:lnB>
                    <a:solidFill>
                      <a:srgbClr val="132238"/>
                    </a:solidFill>
                  </a:tcPr>
                </a:tc>
                <a:tc>
                  <a:txBody>
                    <a:bodyPr/>
                    <a:lstStyle/>
                    <a:p>
                      <a:pPr marL="0" indent="0" algn="ctr">
                        <a:buNone/>
                      </a:pPr>
                      <a:r>
                        <a:rPr lang="en-US" sz="1300" dirty="0">
                          <a:solidFill>
                            <a:srgbClr val="F1F5F9"/>
                          </a:solidFill>
                          <a:latin typeface="Calibri" pitchFamily="34" charset="0"/>
                          <a:ea typeface="Calibri" pitchFamily="34" charset="-122"/>
                          <a:cs typeface="Calibri" pitchFamily="34" charset="-120"/>
                        </a:rPr>
                        <a:t>0,844</a:t>
                      </a:r>
                      <a:endParaRPr lang="en-US" sz="1300" dirty="0">
                        <a:latin typeface="Calibri" charset="0"/>
                        <a:ea typeface="Calibri" charset="0"/>
                        <a:cs typeface="Calibri" charset="0"/>
                      </a:endParaRPr>
                    </a:p>
                  </a:txBody>
                  <a:tcPr>
                    <a:lnL w="6350" cap="flat" cmpd="sng" algn="ctr">
                      <a:solidFill>
                        <a:srgbClr val="27406A"/>
                      </a:solidFill>
                      <a:prstDash val="solid"/>
                      <a:round/>
                      <a:headEnd type="none" w="med" len="med"/>
                      <a:tailEnd type="none" w="med" len="med"/>
                    </a:lnL>
                    <a:lnR w="6350" cap="flat" cmpd="sng" algn="ctr">
                      <a:solidFill>
                        <a:srgbClr val="27406A"/>
                      </a:solidFill>
                      <a:prstDash val="solid"/>
                      <a:round/>
                      <a:headEnd type="none" w="med" len="med"/>
                      <a:tailEnd type="none" w="med" len="med"/>
                    </a:lnR>
                    <a:lnT w="6350" cap="flat" cmpd="sng" algn="ctr">
                      <a:solidFill>
                        <a:srgbClr val="27406A"/>
                      </a:solidFill>
                      <a:prstDash val="solid"/>
                      <a:round/>
                      <a:headEnd type="none" w="med" len="med"/>
                      <a:tailEnd type="none" w="med" len="med"/>
                    </a:lnT>
                    <a:lnB w="6350" cap="flat" cmpd="sng" algn="ctr">
                      <a:solidFill>
                        <a:srgbClr val="27406A"/>
                      </a:solidFill>
                      <a:prstDash val="solid"/>
                      <a:round/>
                      <a:headEnd type="none" w="med" len="med"/>
                      <a:tailEnd type="none" w="med" len="med"/>
                    </a:lnB>
                    <a:solidFill>
                      <a:srgbClr val="132238"/>
                    </a:solidFill>
                  </a:tcPr>
                </a:tc>
                <a:tc>
                  <a:txBody>
                    <a:bodyPr/>
                    <a:lstStyle/>
                    <a:p>
                      <a:pPr marL="0" indent="0" algn="ctr">
                        <a:buNone/>
                      </a:pPr>
                      <a:r>
                        <a:rPr lang="en-US" sz="1300" dirty="0">
                          <a:solidFill>
                            <a:srgbClr val="F1F5F9"/>
                          </a:solidFill>
                          <a:latin typeface="Calibri" pitchFamily="34" charset="0"/>
                          <a:ea typeface="Calibri" pitchFamily="34" charset="-122"/>
                          <a:cs typeface="Calibri" pitchFamily="34" charset="-120"/>
                        </a:rPr>
                        <a:t>0,596</a:t>
                      </a:r>
                      <a:endParaRPr lang="en-US" sz="1300" dirty="0">
                        <a:latin typeface="Calibri" charset="0"/>
                        <a:ea typeface="Calibri" charset="0"/>
                        <a:cs typeface="Calibri" charset="0"/>
                      </a:endParaRPr>
                    </a:p>
                  </a:txBody>
                  <a:tcPr>
                    <a:lnL w="6350" cap="flat" cmpd="sng" algn="ctr">
                      <a:solidFill>
                        <a:srgbClr val="27406A"/>
                      </a:solidFill>
                      <a:prstDash val="solid"/>
                      <a:round/>
                      <a:headEnd type="none" w="med" len="med"/>
                      <a:tailEnd type="none" w="med" len="med"/>
                    </a:lnL>
                    <a:lnR w="6350" cap="flat" cmpd="sng" algn="ctr">
                      <a:solidFill>
                        <a:srgbClr val="27406A"/>
                      </a:solidFill>
                      <a:prstDash val="solid"/>
                      <a:round/>
                      <a:headEnd type="none" w="med" len="med"/>
                      <a:tailEnd type="none" w="med" len="med"/>
                    </a:lnR>
                    <a:lnT w="6350" cap="flat" cmpd="sng" algn="ctr">
                      <a:solidFill>
                        <a:srgbClr val="27406A"/>
                      </a:solidFill>
                      <a:prstDash val="solid"/>
                      <a:round/>
                      <a:headEnd type="none" w="med" len="med"/>
                      <a:tailEnd type="none" w="med" len="med"/>
                    </a:lnT>
                    <a:lnB w="6350" cap="flat" cmpd="sng" algn="ctr">
                      <a:solidFill>
                        <a:srgbClr val="27406A"/>
                      </a:solidFill>
                      <a:prstDash val="solid"/>
                      <a:round/>
                      <a:headEnd type="none" w="med" len="med"/>
                      <a:tailEnd type="none" w="med" len="med"/>
                    </a:lnB>
                    <a:solidFill>
                      <a:srgbClr val="132238"/>
                    </a:solidFill>
                  </a:tcPr>
                </a:tc>
                <a:extLst>
                  <a:ext uri="{0D108BD9-81ED-4DB2-BD59-A6C34878D82A}">
                    <a16:rowId xmlns:a16="http://schemas.microsoft.com/office/drawing/2014/main" val="10005"/>
                  </a:ext>
                </a:extLst>
              </a:tr>
              <a:tr h="384048">
                <a:tc>
                  <a:txBody>
                    <a:bodyPr/>
                    <a:lstStyle/>
                    <a:p>
                      <a:pPr marL="0" indent="0" algn="l">
                        <a:buNone/>
                      </a:pPr>
                      <a:endParaRPr lang="en-US" sz="1300" dirty="0">
                        <a:latin typeface="Calibri" charset="0"/>
                        <a:ea typeface="Calibri" charset="0"/>
                        <a:cs typeface="Calibri" charset="0"/>
                      </a:endParaRPr>
                    </a:p>
                  </a:txBody>
                  <a:tcPr>
                    <a:lnL w="6350" cap="flat" cmpd="sng" algn="ctr">
                      <a:solidFill>
                        <a:srgbClr val="27406A"/>
                      </a:solidFill>
                      <a:prstDash val="solid"/>
                      <a:round/>
                      <a:headEnd type="none" w="med" len="med"/>
                      <a:tailEnd type="none" w="med" len="med"/>
                    </a:lnL>
                    <a:lnR w="6350" cap="flat" cmpd="sng" algn="ctr">
                      <a:solidFill>
                        <a:srgbClr val="27406A"/>
                      </a:solidFill>
                      <a:prstDash val="solid"/>
                      <a:round/>
                      <a:headEnd type="none" w="med" len="med"/>
                      <a:tailEnd type="none" w="med" len="med"/>
                    </a:lnR>
                    <a:lnT w="6350" cap="flat" cmpd="sng" algn="ctr">
                      <a:solidFill>
                        <a:srgbClr val="27406A"/>
                      </a:solidFill>
                      <a:prstDash val="solid"/>
                      <a:round/>
                      <a:headEnd type="none" w="med" len="med"/>
                      <a:tailEnd type="none" w="med" len="med"/>
                    </a:lnT>
                    <a:lnB w="6350" cap="flat" cmpd="sng" algn="ctr">
                      <a:solidFill>
                        <a:srgbClr val="27406A"/>
                      </a:solidFill>
                      <a:prstDash val="solid"/>
                      <a:round/>
                      <a:headEnd type="none" w="med" len="med"/>
                      <a:tailEnd type="none" w="med" len="med"/>
                    </a:lnB>
                    <a:solidFill>
                      <a:srgbClr val="132238"/>
                    </a:solidFill>
                  </a:tcPr>
                </a:tc>
                <a:tc>
                  <a:txBody>
                    <a:bodyPr/>
                    <a:lstStyle/>
                    <a:p>
                      <a:pPr marL="0" indent="0" algn="l">
                        <a:buNone/>
                      </a:pPr>
                      <a:r>
                        <a:rPr lang="en-US" sz="1300" b="1" dirty="0">
                          <a:solidFill>
                            <a:srgbClr val="34D399"/>
                          </a:solidFill>
                          <a:latin typeface="Calibri" pitchFamily="34" charset="0"/>
                          <a:ea typeface="Calibri" pitchFamily="34" charset="-122"/>
                          <a:cs typeface="Calibri" pitchFamily="34" charset="-120"/>
                        </a:rPr>
                        <a:t>XGBoost ✓</a:t>
                      </a:r>
                      <a:endParaRPr lang="en-US" sz="1300" dirty="0">
                        <a:latin typeface="Calibri" charset="0"/>
                        <a:ea typeface="Calibri" charset="0"/>
                        <a:cs typeface="Calibri" charset="0"/>
                      </a:endParaRPr>
                    </a:p>
                  </a:txBody>
                  <a:tcPr>
                    <a:lnL w="6350" cap="flat" cmpd="sng" algn="ctr">
                      <a:solidFill>
                        <a:srgbClr val="27406A"/>
                      </a:solidFill>
                      <a:prstDash val="solid"/>
                      <a:round/>
                      <a:headEnd type="none" w="med" len="med"/>
                      <a:tailEnd type="none" w="med" len="med"/>
                    </a:lnL>
                    <a:lnR w="6350" cap="flat" cmpd="sng" algn="ctr">
                      <a:solidFill>
                        <a:srgbClr val="27406A"/>
                      </a:solidFill>
                      <a:prstDash val="solid"/>
                      <a:round/>
                      <a:headEnd type="none" w="med" len="med"/>
                      <a:tailEnd type="none" w="med" len="med"/>
                    </a:lnR>
                    <a:lnT w="6350" cap="flat" cmpd="sng" algn="ctr">
                      <a:solidFill>
                        <a:srgbClr val="27406A"/>
                      </a:solidFill>
                      <a:prstDash val="solid"/>
                      <a:round/>
                      <a:headEnd type="none" w="med" len="med"/>
                      <a:tailEnd type="none" w="med" len="med"/>
                    </a:lnT>
                    <a:lnB w="6350" cap="flat" cmpd="sng" algn="ctr">
                      <a:solidFill>
                        <a:srgbClr val="27406A"/>
                      </a:solidFill>
                      <a:prstDash val="solid"/>
                      <a:round/>
                      <a:headEnd type="none" w="med" len="med"/>
                      <a:tailEnd type="none" w="med" len="med"/>
                    </a:lnB>
                    <a:solidFill>
                      <a:srgbClr val="132238"/>
                    </a:solidFill>
                  </a:tcPr>
                </a:tc>
                <a:tc>
                  <a:txBody>
                    <a:bodyPr/>
                    <a:lstStyle/>
                    <a:p>
                      <a:pPr marL="0" indent="0" algn="ctr">
                        <a:buNone/>
                      </a:pPr>
                      <a:r>
                        <a:rPr lang="en-US" sz="1300" dirty="0">
                          <a:solidFill>
                            <a:srgbClr val="34D399"/>
                          </a:solidFill>
                          <a:latin typeface="Calibri" pitchFamily="34" charset="0"/>
                          <a:ea typeface="Calibri" pitchFamily="34" charset="-122"/>
                          <a:cs typeface="Calibri" pitchFamily="34" charset="-120"/>
                        </a:rPr>
                        <a:t>0,600</a:t>
                      </a:r>
                      <a:endParaRPr lang="en-US" sz="1300" dirty="0">
                        <a:latin typeface="Calibri" charset="0"/>
                        <a:ea typeface="Calibri" charset="0"/>
                        <a:cs typeface="Calibri" charset="0"/>
                      </a:endParaRPr>
                    </a:p>
                  </a:txBody>
                  <a:tcPr>
                    <a:lnL w="6350" cap="flat" cmpd="sng" algn="ctr">
                      <a:solidFill>
                        <a:srgbClr val="27406A"/>
                      </a:solidFill>
                      <a:prstDash val="solid"/>
                      <a:round/>
                      <a:headEnd type="none" w="med" len="med"/>
                      <a:tailEnd type="none" w="med" len="med"/>
                    </a:lnL>
                    <a:lnR w="6350" cap="flat" cmpd="sng" algn="ctr">
                      <a:solidFill>
                        <a:srgbClr val="27406A"/>
                      </a:solidFill>
                      <a:prstDash val="solid"/>
                      <a:round/>
                      <a:headEnd type="none" w="med" len="med"/>
                      <a:tailEnd type="none" w="med" len="med"/>
                    </a:lnR>
                    <a:lnT w="6350" cap="flat" cmpd="sng" algn="ctr">
                      <a:solidFill>
                        <a:srgbClr val="27406A"/>
                      </a:solidFill>
                      <a:prstDash val="solid"/>
                      <a:round/>
                      <a:headEnd type="none" w="med" len="med"/>
                      <a:tailEnd type="none" w="med" len="med"/>
                    </a:lnT>
                    <a:lnB w="6350" cap="flat" cmpd="sng" algn="ctr">
                      <a:solidFill>
                        <a:srgbClr val="27406A"/>
                      </a:solidFill>
                      <a:prstDash val="solid"/>
                      <a:round/>
                      <a:headEnd type="none" w="med" len="med"/>
                      <a:tailEnd type="none" w="med" len="med"/>
                    </a:lnB>
                    <a:solidFill>
                      <a:srgbClr val="132238"/>
                    </a:solidFill>
                  </a:tcPr>
                </a:tc>
                <a:tc>
                  <a:txBody>
                    <a:bodyPr/>
                    <a:lstStyle/>
                    <a:p>
                      <a:pPr marL="0" indent="0" algn="ctr">
                        <a:buNone/>
                      </a:pPr>
                      <a:r>
                        <a:rPr lang="en-US" sz="1300" dirty="0">
                          <a:solidFill>
                            <a:srgbClr val="34D399"/>
                          </a:solidFill>
                          <a:latin typeface="Calibri" pitchFamily="34" charset="0"/>
                          <a:ea typeface="Calibri" pitchFamily="34" charset="-122"/>
                          <a:cs typeface="Calibri" pitchFamily="34" charset="-120"/>
                        </a:rPr>
                        <a:t>0,808</a:t>
                      </a:r>
                      <a:endParaRPr lang="en-US" sz="1300" dirty="0">
                        <a:latin typeface="Calibri" charset="0"/>
                        <a:ea typeface="Calibri" charset="0"/>
                        <a:cs typeface="Calibri" charset="0"/>
                      </a:endParaRPr>
                    </a:p>
                  </a:txBody>
                  <a:tcPr>
                    <a:lnL w="6350" cap="flat" cmpd="sng" algn="ctr">
                      <a:solidFill>
                        <a:srgbClr val="27406A"/>
                      </a:solidFill>
                      <a:prstDash val="solid"/>
                      <a:round/>
                      <a:headEnd type="none" w="med" len="med"/>
                      <a:tailEnd type="none" w="med" len="med"/>
                    </a:lnL>
                    <a:lnR w="6350" cap="flat" cmpd="sng" algn="ctr">
                      <a:solidFill>
                        <a:srgbClr val="27406A"/>
                      </a:solidFill>
                      <a:prstDash val="solid"/>
                      <a:round/>
                      <a:headEnd type="none" w="med" len="med"/>
                      <a:tailEnd type="none" w="med" len="med"/>
                    </a:lnR>
                    <a:lnT w="6350" cap="flat" cmpd="sng" algn="ctr">
                      <a:solidFill>
                        <a:srgbClr val="27406A"/>
                      </a:solidFill>
                      <a:prstDash val="solid"/>
                      <a:round/>
                      <a:headEnd type="none" w="med" len="med"/>
                      <a:tailEnd type="none" w="med" len="med"/>
                    </a:lnT>
                    <a:lnB w="6350" cap="flat" cmpd="sng" algn="ctr">
                      <a:solidFill>
                        <a:srgbClr val="27406A"/>
                      </a:solidFill>
                      <a:prstDash val="solid"/>
                      <a:round/>
                      <a:headEnd type="none" w="med" len="med"/>
                      <a:tailEnd type="none" w="med" len="med"/>
                    </a:lnB>
                    <a:solidFill>
                      <a:srgbClr val="132238"/>
                    </a:solidFill>
                  </a:tcPr>
                </a:tc>
                <a:tc>
                  <a:txBody>
                    <a:bodyPr/>
                    <a:lstStyle/>
                    <a:p>
                      <a:pPr marL="0" indent="0" algn="ctr">
                        <a:buNone/>
                      </a:pPr>
                      <a:r>
                        <a:rPr lang="en-US" sz="1300" dirty="0">
                          <a:solidFill>
                            <a:srgbClr val="34D399"/>
                          </a:solidFill>
                          <a:latin typeface="Calibri" pitchFamily="34" charset="0"/>
                          <a:ea typeface="Calibri" pitchFamily="34" charset="-122"/>
                          <a:cs typeface="Calibri" pitchFamily="34" charset="-120"/>
                        </a:rPr>
                        <a:t>0,853</a:t>
                      </a:r>
                      <a:endParaRPr lang="en-US" sz="1300" dirty="0">
                        <a:latin typeface="Calibri" charset="0"/>
                        <a:ea typeface="Calibri" charset="0"/>
                        <a:cs typeface="Calibri" charset="0"/>
                      </a:endParaRPr>
                    </a:p>
                  </a:txBody>
                  <a:tcPr>
                    <a:lnL w="6350" cap="flat" cmpd="sng" algn="ctr">
                      <a:solidFill>
                        <a:srgbClr val="27406A"/>
                      </a:solidFill>
                      <a:prstDash val="solid"/>
                      <a:round/>
                      <a:headEnd type="none" w="med" len="med"/>
                      <a:tailEnd type="none" w="med" len="med"/>
                    </a:lnL>
                    <a:lnR w="6350" cap="flat" cmpd="sng" algn="ctr">
                      <a:solidFill>
                        <a:srgbClr val="27406A"/>
                      </a:solidFill>
                      <a:prstDash val="solid"/>
                      <a:round/>
                      <a:headEnd type="none" w="med" len="med"/>
                      <a:tailEnd type="none" w="med" len="med"/>
                    </a:lnR>
                    <a:lnT w="6350" cap="flat" cmpd="sng" algn="ctr">
                      <a:solidFill>
                        <a:srgbClr val="27406A"/>
                      </a:solidFill>
                      <a:prstDash val="solid"/>
                      <a:round/>
                      <a:headEnd type="none" w="med" len="med"/>
                      <a:tailEnd type="none" w="med" len="med"/>
                    </a:lnT>
                    <a:lnB w="6350" cap="flat" cmpd="sng" algn="ctr">
                      <a:solidFill>
                        <a:srgbClr val="27406A"/>
                      </a:solidFill>
                      <a:prstDash val="solid"/>
                      <a:round/>
                      <a:headEnd type="none" w="med" len="med"/>
                      <a:tailEnd type="none" w="med" len="med"/>
                    </a:lnB>
                    <a:solidFill>
                      <a:srgbClr val="132238"/>
                    </a:solidFill>
                  </a:tcPr>
                </a:tc>
                <a:tc>
                  <a:txBody>
                    <a:bodyPr/>
                    <a:lstStyle/>
                    <a:p>
                      <a:pPr marL="0" indent="0" algn="ctr">
                        <a:buNone/>
                      </a:pPr>
                      <a:r>
                        <a:rPr lang="en-US" sz="1300" dirty="0">
                          <a:solidFill>
                            <a:srgbClr val="34D399"/>
                          </a:solidFill>
                          <a:latin typeface="Calibri" pitchFamily="34" charset="0"/>
                          <a:ea typeface="Calibri" pitchFamily="34" charset="-122"/>
                          <a:cs typeface="Calibri" pitchFamily="34" charset="-120"/>
                        </a:rPr>
                        <a:t>0,548</a:t>
                      </a:r>
                      <a:endParaRPr lang="en-US" sz="1300" dirty="0">
                        <a:latin typeface="Calibri" charset="0"/>
                        <a:ea typeface="Calibri" charset="0"/>
                        <a:cs typeface="Calibri" charset="0"/>
                      </a:endParaRPr>
                    </a:p>
                  </a:txBody>
                  <a:tcPr>
                    <a:lnL w="6350" cap="flat" cmpd="sng" algn="ctr">
                      <a:solidFill>
                        <a:srgbClr val="27406A"/>
                      </a:solidFill>
                      <a:prstDash val="solid"/>
                      <a:round/>
                      <a:headEnd type="none" w="med" len="med"/>
                      <a:tailEnd type="none" w="med" len="med"/>
                    </a:lnL>
                    <a:lnR w="6350" cap="flat" cmpd="sng" algn="ctr">
                      <a:solidFill>
                        <a:srgbClr val="27406A"/>
                      </a:solidFill>
                      <a:prstDash val="solid"/>
                      <a:round/>
                      <a:headEnd type="none" w="med" len="med"/>
                      <a:tailEnd type="none" w="med" len="med"/>
                    </a:lnR>
                    <a:lnT w="6350" cap="flat" cmpd="sng" algn="ctr">
                      <a:solidFill>
                        <a:srgbClr val="27406A"/>
                      </a:solidFill>
                      <a:prstDash val="solid"/>
                      <a:round/>
                      <a:headEnd type="none" w="med" len="med"/>
                      <a:tailEnd type="none" w="med" len="med"/>
                    </a:lnT>
                    <a:lnB w="6350" cap="flat" cmpd="sng" algn="ctr">
                      <a:solidFill>
                        <a:srgbClr val="27406A"/>
                      </a:solidFill>
                      <a:prstDash val="solid"/>
                      <a:round/>
                      <a:headEnd type="none" w="med" len="med"/>
                      <a:tailEnd type="none" w="med" len="med"/>
                    </a:lnB>
                    <a:solidFill>
                      <a:srgbClr val="132238"/>
                    </a:solidFill>
                  </a:tcPr>
                </a:tc>
                <a:extLst>
                  <a:ext uri="{0D108BD9-81ED-4DB2-BD59-A6C34878D82A}">
                    <a16:rowId xmlns:a16="http://schemas.microsoft.com/office/drawing/2014/main" val="10006"/>
                  </a:ext>
                </a:extLst>
              </a:tr>
            </a:tbl>
          </a:graphicData>
        </a:graphic>
      </p:graphicFrame>
      <p:sp>
        <p:nvSpPr>
          <p:cNvPr id="8" name="Shape 4"/>
          <p:cNvSpPr/>
          <p:nvPr/>
        </p:nvSpPr>
        <p:spPr>
          <a:xfrm>
            <a:off x="7818120" y="1554480"/>
            <a:ext cx="3337560" cy="2697480"/>
          </a:xfrm>
          <a:prstGeom prst="roundRect">
            <a:avLst>
              <a:gd name="adj" fmla="val 2712"/>
            </a:avLst>
          </a:prstGeom>
          <a:solidFill>
            <a:srgbClr val="132238"/>
          </a:solidFill>
          <a:ln w="9525">
            <a:solidFill>
              <a:srgbClr val="27406A"/>
            </a:solidFill>
            <a:prstDash val="solid"/>
          </a:ln>
        </p:spPr>
      </p:sp>
      <p:sp>
        <p:nvSpPr>
          <p:cNvPr id="9" name="Text 5"/>
          <p:cNvSpPr txBox="1"/>
          <p:nvPr/>
        </p:nvSpPr>
        <p:spPr>
          <a:xfrm>
            <a:off x="7955280" y="1691640"/>
            <a:ext cx="3063240" cy="822960"/>
          </a:xfrm>
          <a:prstGeom prst="rect">
            <a:avLst/>
          </a:prstGeom>
          <a:noFill/>
          <a:ln/>
        </p:spPr>
        <p:txBody>
          <a:bodyPr wrap="square" lIns="0" tIns="0" rIns="0" bIns="0" rtlCol="0" anchor="ctr"/>
          <a:lstStyle/>
          <a:p>
            <a:pPr marL="0" indent="0" algn="ctr">
              <a:buNone/>
            </a:pPr>
            <a:r>
              <a:rPr lang="en-US" sz="5000" b="1" dirty="0">
                <a:solidFill>
                  <a:srgbClr val="38BDF8"/>
                </a:solidFill>
                <a:latin typeface="Calibri" pitchFamily="34" charset="0"/>
                <a:ea typeface="Calibri" pitchFamily="34" charset="-122"/>
                <a:cs typeface="Calibri" pitchFamily="34" charset="-120"/>
              </a:rPr>
              <a:t>40,4 %</a:t>
            </a:r>
            <a:endParaRPr lang="en-US" sz="5000" dirty="0"/>
          </a:p>
        </p:txBody>
      </p:sp>
      <p:sp>
        <p:nvSpPr>
          <p:cNvPr id="10" name="Text 6"/>
          <p:cNvSpPr txBox="1"/>
          <p:nvPr/>
        </p:nvSpPr>
        <p:spPr>
          <a:xfrm>
            <a:off x="8001000" y="2560320"/>
            <a:ext cx="2971800" cy="1554480"/>
          </a:xfrm>
          <a:prstGeom prst="rect">
            <a:avLst/>
          </a:prstGeom>
          <a:noFill/>
          <a:ln/>
        </p:spPr>
        <p:txBody>
          <a:bodyPr wrap="square" lIns="0" tIns="0" rIns="0" bIns="0" rtlCol="0" anchor="ctr"/>
          <a:lstStyle/>
          <a:p>
            <a:pPr marL="0" indent="0" algn="ctr">
              <a:buNone/>
            </a:pPr>
            <a:r>
              <a:rPr lang="en-US" sz="1350" dirty="0">
                <a:solidFill>
                  <a:srgbClr val="F1F5F9"/>
                </a:solidFill>
                <a:latin typeface="Calibri" pitchFamily="34" charset="0"/>
                <a:ea typeface="Calibri" pitchFamily="34" charset="-122"/>
                <a:cs typeface="Calibri" pitchFamily="34" charset="-120"/>
              </a:rPr>
              <a:t>de la importancia en el modelo de bajo rendimiento la concentra el promedio del 1.er semestre (19,7 % en graduación)</a:t>
            </a:r>
            <a:endParaRPr lang="en-US" sz="1350" dirty="0"/>
          </a:p>
        </p:txBody>
      </p:sp>
      <p:sp>
        <p:nvSpPr>
          <p:cNvPr id="11" name="Text 7"/>
          <p:cNvSpPr txBox="1"/>
          <p:nvPr/>
        </p:nvSpPr>
        <p:spPr>
          <a:xfrm>
            <a:off x="731520" y="4480560"/>
            <a:ext cx="10424160" cy="320040"/>
          </a:xfrm>
          <a:prstGeom prst="rect">
            <a:avLst/>
          </a:prstGeom>
          <a:noFill/>
          <a:ln/>
        </p:spPr>
        <p:txBody>
          <a:bodyPr wrap="square" lIns="0" tIns="0" rIns="0" bIns="0" rtlCol="0" anchor="ctr"/>
          <a:lstStyle/>
          <a:p>
            <a:pPr marL="0" indent="0">
              <a:buNone/>
            </a:pPr>
            <a:r>
              <a:rPr lang="en-US" sz="1350" dirty="0">
                <a:solidFill>
                  <a:srgbClr val="9FB0C8"/>
                </a:solidFill>
                <a:latin typeface="Calibri" pitchFamily="34" charset="0"/>
                <a:ea typeface="Calibri" pitchFamily="34" charset="-122"/>
                <a:cs typeface="Calibri" pitchFamily="34" charset="-120"/>
              </a:rPr>
              <a:t>Sin asociación significativa (resultados negativos, condicionados por el tamaño de los subgrupos):</a:t>
            </a:r>
            <a:endParaRPr lang="en-US" sz="1350" dirty="0"/>
          </a:p>
        </p:txBody>
      </p:sp>
      <p:sp>
        <p:nvSpPr>
          <p:cNvPr id="12" name="Shape 8"/>
          <p:cNvSpPr/>
          <p:nvPr/>
        </p:nvSpPr>
        <p:spPr>
          <a:xfrm>
            <a:off x="731520" y="4892040"/>
            <a:ext cx="3246120" cy="868680"/>
          </a:xfrm>
          <a:prstGeom prst="roundRect">
            <a:avLst>
              <a:gd name="adj" fmla="val 8421"/>
            </a:avLst>
          </a:prstGeom>
          <a:solidFill>
            <a:srgbClr val="132238"/>
          </a:solidFill>
          <a:ln w="9525">
            <a:solidFill>
              <a:srgbClr val="27406A"/>
            </a:solidFill>
            <a:prstDash val="solid"/>
          </a:ln>
        </p:spPr>
      </p:sp>
      <p:sp>
        <p:nvSpPr>
          <p:cNvPr id="13" name="Text 9"/>
          <p:cNvSpPr txBox="1"/>
          <p:nvPr/>
        </p:nvSpPr>
        <p:spPr>
          <a:xfrm>
            <a:off x="868680" y="4937760"/>
            <a:ext cx="2971800" cy="777240"/>
          </a:xfrm>
          <a:prstGeom prst="rect">
            <a:avLst/>
          </a:prstGeom>
          <a:noFill/>
          <a:ln/>
        </p:spPr>
        <p:txBody>
          <a:bodyPr wrap="square" lIns="0" tIns="0" rIns="0" bIns="0" rtlCol="0" anchor="ctr"/>
          <a:lstStyle/>
          <a:p>
            <a:pPr marL="0" indent="0" algn="ctr">
              <a:buNone/>
            </a:pPr>
            <a:r>
              <a:rPr lang="en-US" sz="1450" b="1" dirty="0">
                <a:solidFill>
                  <a:srgbClr val="F1F5F9"/>
                </a:solidFill>
                <a:latin typeface="Calibri" pitchFamily="34" charset="0"/>
                <a:ea typeface="Calibri" pitchFamily="34" charset="-122"/>
                <a:cs typeface="Calibri" pitchFamily="34" charset="-120"/>
              </a:rPr>
              <a:t>Género</a:t>
            </a:r>
            <a:endParaRPr lang="en-US" sz="1450" dirty="0"/>
          </a:p>
          <a:p>
            <a:pPr marL="0" indent="0" algn="ctr">
              <a:buNone/>
            </a:pPr>
            <a:r>
              <a:rPr lang="en-US" sz="1450" dirty="0">
                <a:solidFill>
                  <a:srgbClr val="FBBF24"/>
                </a:solidFill>
                <a:latin typeface="Calibri" pitchFamily="34" charset="0"/>
                <a:ea typeface="Calibri" pitchFamily="34" charset="-122"/>
                <a:cs typeface="Calibri" pitchFamily="34" charset="-120"/>
              </a:rPr>
              <a:t>Mann-Whitney p = 0,246</a:t>
            </a:r>
            <a:endParaRPr lang="en-US" sz="1450" dirty="0"/>
          </a:p>
        </p:txBody>
      </p:sp>
      <p:sp>
        <p:nvSpPr>
          <p:cNvPr id="14" name="Shape 10"/>
          <p:cNvSpPr/>
          <p:nvPr/>
        </p:nvSpPr>
        <p:spPr>
          <a:xfrm>
            <a:off x="4251960" y="4892040"/>
            <a:ext cx="3246120" cy="868680"/>
          </a:xfrm>
          <a:prstGeom prst="roundRect">
            <a:avLst>
              <a:gd name="adj" fmla="val 8421"/>
            </a:avLst>
          </a:prstGeom>
          <a:solidFill>
            <a:srgbClr val="132238"/>
          </a:solidFill>
          <a:ln w="9525">
            <a:solidFill>
              <a:srgbClr val="27406A"/>
            </a:solidFill>
            <a:prstDash val="solid"/>
          </a:ln>
        </p:spPr>
      </p:sp>
      <p:sp>
        <p:nvSpPr>
          <p:cNvPr id="15" name="Text 11"/>
          <p:cNvSpPr txBox="1"/>
          <p:nvPr/>
        </p:nvSpPr>
        <p:spPr>
          <a:xfrm>
            <a:off x="4389120" y="4937760"/>
            <a:ext cx="2971800" cy="777240"/>
          </a:xfrm>
          <a:prstGeom prst="rect">
            <a:avLst/>
          </a:prstGeom>
          <a:noFill/>
          <a:ln/>
        </p:spPr>
        <p:txBody>
          <a:bodyPr wrap="square" lIns="0" tIns="0" rIns="0" bIns="0" rtlCol="0" anchor="ctr"/>
          <a:lstStyle/>
          <a:p>
            <a:pPr marL="0" indent="0" algn="ctr">
              <a:buNone/>
            </a:pPr>
            <a:r>
              <a:rPr lang="en-US" sz="1450" b="1" dirty="0">
                <a:solidFill>
                  <a:srgbClr val="F1F5F9"/>
                </a:solidFill>
                <a:latin typeface="Calibri" pitchFamily="34" charset="0"/>
                <a:ea typeface="Calibri" pitchFamily="34" charset="-122"/>
                <a:cs typeface="Calibri" pitchFamily="34" charset="-120"/>
              </a:rPr>
              <a:t>Educación de los padres</a:t>
            </a:r>
            <a:endParaRPr lang="en-US" sz="1450" dirty="0"/>
          </a:p>
          <a:p>
            <a:pPr marL="0" indent="0" algn="ctr">
              <a:buNone/>
            </a:pPr>
            <a:r>
              <a:rPr lang="en-US" sz="1450" dirty="0">
                <a:solidFill>
                  <a:srgbClr val="FBBF24"/>
                </a:solidFill>
                <a:latin typeface="Calibri" pitchFamily="34" charset="0"/>
                <a:ea typeface="Calibri" pitchFamily="34" charset="-122"/>
                <a:cs typeface="Calibri" pitchFamily="34" charset="-120"/>
              </a:rPr>
              <a:t>Spearman p &gt; 0,6</a:t>
            </a:r>
            <a:endParaRPr lang="en-US" sz="1450" dirty="0"/>
          </a:p>
        </p:txBody>
      </p:sp>
      <p:sp>
        <p:nvSpPr>
          <p:cNvPr id="16" name="Shape 12"/>
          <p:cNvSpPr/>
          <p:nvPr/>
        </p:nvSpPr>
        <p:spPr>
          <a:xfrm>
            <a:off x="7772400" y="4892040"/>
            <a:ext cx="3246120" cy="868680"/>
          </a:xfrm>
          <a:prstGeom prst="roundRect">
            <a:avLst>
              <a:gd name="adj" fmla="val 8421"/>
            </a:avLst>
          </a:prstGeom>
          <a:solidFill>
            <a:srgbClr val="132238"/>
          </a:solidFill>
          <a:ln w="9525">
            <a:solidFill>
              <a:srgbClr val="27406A"/>
            </a:solidFill>
            <a:prstDash val="solid"/>
          </a:ln>
        </p:spPr>
      </p:sp>
      <p:sp>
        <p:nvSpPr>
          <p:cNvPr id="17" name="Text 13"/>
          <p:cNvSpPr txBox="1"/>
          <p:nvPr/>
        </p:nvSpPr>
        <p:spPr>
          <a:xfrm>
            <a:off x="7909560" y="4937760"/>
            <a:ext cx="2971800" cy="777240"/>
          </a:xfrm>
          <a:prstGeom prst="rect">
            <a:avLst/>
          </a:prstGeom>
          <a:noFill/>
          <a:ln/>
        </p:spPr>
        <p:txBody>
          <a:bodyPr wrap="square" lIns="0" tIns="0" rIns="0" bIns="0" rtlCol="0" anchor="ctr"/>
          <a:lstStyle/>
          <a:p>
            <a:pPr marL="0" indent="0" algn="ctr">
              <a:buNone/>
            </a:pPr>
            <a:r>
              <a:rPr lang="en-US" sz="1450" b="1" dirty="0">
                <a:solidFill>
                  <a:srgbClr val="F1F5F9"/>
                </a:solidFill>
                <a:latin typeface="Calibri" pitchFamily="34" charset="0"/>
                <a:ea typeface="Calibri" pitchFamily="34" charset="-122"/>
                <a:cs typeface="Calibri" pitchFamily="34" charset="-120"/>
              </a:rPr>
              <a:t>Repitencia escolar</a:t>
            </a:r>
            <a:endParaRPr lang="en-US" sz="1450" dirty="0"/>
          </a:p>
          <a:p>
            <a:pPr marL="0" indent="0" algn="ctr">
              <a:buNone/>
            </a:pPr>
            <a:r>
              <a:rPr lang="en-US" sz="1450" dirty="0">
                <a:solidFill>
                  <a:srgbClr val="FBBF24"/>
                </a:solidFill>
                <a:latin typeface="Calibri" pitchFamily="34" charset="0"/>
                <a:ea typeface="Calibri" pitchFamily="34" charset="-122"/>
                <a:cs typeface="Calibri" pitchFamily="34" charset="-120"/>
              </a:rPr>
              <a:t>χ² p = 0,215</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tmp/claude-0/deck/logo.png"/>
          <p:cNvPicPr>
            <a:picLocks noChangeAspect="1"/>
          </p:cNvPicPr>
          <p:nvPr/>
        </p:nvPicPr>
        <p:blipFill>
          <a:blip r:embed="rId4"/>
          <a:stretch>
            <a:fillRect/>
          </a:stretch>
        </p:blipFill>
        <p:spPr>
          <a:xfrm>
            <a:off x="11356848" y="5870448"/>
            <a:ext cx="713232" cy="713232"/>
          </a:xfrm>
          <a:prstGeom prst="rect">
            <a:avLst/>
          </a:prstGeom>
        </p:spPr>
      </p:pic>
      <p:sp>
        <p:nvSpPr>
          <p:cNvPr id="3" name="Text 0"/>
          <p:cNvSpPr txBox="1"/>
          <p:nvPr/>
        </p:nvSpPr>
        <p:spPr>
          <a:xfrm>
            <a:off x="10835640" y="6053328"/>
            <a:ext cx="457200" cy="274320"/>
          </a:xfrm>
          <a:prstGeom prst="rect">
            <a:avLst/>
          </a:prstGeom>
          <a:noFill/>
          <a:ln/>
        </p:spPr>
        <p:txBody>
          <a:bodyPr wrap="square" lIns="0" tIns="0" rIns="0" bIns="0" rtlCol="0" anchor="ctr"/>
          <a:lstStyle/>
          <a:p>
            <a:pPr marL="0" indent="0" algn="r">
              <a:buNone/>
            </a:pPr>
            <a:r>
              <a:rPr lang="en-US" sz="1000" dirty="0">
                <a:solidFill>
                  <a:srgbClr val="9FB0C8"/>
                </a:solidFill>
                <a:latin typeface="Calibri" pitchFamily="34" charset="0"/>
                <a:ea typeface="Calibri" pitchFamily="34" charset="-122"/>
                <a:cs typeface="Calibri" pitchFamily="34" charset="-120"/>
              </a:rPr>
              <a:t>5</a:t>
            </a:r>
            <a:endParaRPr lang="en-US" sz="1000" dirty="0"/>
          </a:p>
        </p:txBody>
      </p:sp>
      <p:sp>
        <p:nvSpPr>
          <p:cNvPr id="4" name="Shape 1"/>
          <p:cNvSpPr/>
          <p:nvPr/>
        </p:nvSpPr>
        <p:spPr>
          <a:xfrm>
            <a:off x="566928" y="457200"/>
            <a:ext cx="50292" cy="420624"/>
          </a:xfrm>
          <a:prstGeom prst="rect">
            <a:avLst/>
          </a:prstGeom>
          <a:solidFill>
            <a:srgbClr val="38BDF8"/>
          </a:solidFill>
          <a:ln w="12700">
            <a:solidFill>
              <a:srgbClr val="38BDF8"/>
            </a:solidFill>
            <a:prstDash val="solid"/>
          </a:ln>
        </p:spPr>
      </p:sp>
      <p:sp>
        <p:nvSpPr>
          <p:cNvPr id="5" name="Text 2"/>
          <p:cNvSpPr txBox="1"/>
          <p:nvPr/>
        </p:nvSpPr>
        <p:spPr>
          <a:xfrm>
            <a:off x="731520" y="347472"/>
            <a:ext cx="10607040" cy="640080"/>
          </a:xfrm>
          <a:prstGeom prst="rect">
            <a:avLst/>
          </a:prstGeom>
          <a:noFill/>
          <a:ln/>
        </p:spPr>
        <p:txBody>
          <a:bodyPr wrap="square" lIns="0" tIns="0" rIns="0" bIns="0" rtlCol="0" anchor="ctr"/>
          <a:lstStyle/>
          <a:p>
            <a:pPr marL="0" indent="0">
              <a:buNone/>
            </a:pPr>
            <a:r>
              <a:rPr lang="en-US" sz="3000" b="1" dirty="0">
                <a:solidFill>
                  <a:srgbClr val="F1F5F9"/>
                </a:solidFill>
                <a:latin typeface="Calibri" pitchFamily="34" charset="0"/>
                <a:ea typeface="Calibri" pitchFamily="34" charset="-122"/>
                <a:cs typeface="Calibri" pitchFamily="34" charset="-120"/>
              </a:rPr>
              <a:t>Asignaturas críticas</a:t>
            </a:r>
            <a:endParaRPr lang="en-US" sz="3000" dirty="0"/>
          </a:p>
        </p:txBody>
      </p:sp>
      <p:sp>
        <p:nvSpPr>
          <p:cNvPr id="6" name="Text 3"/>
          <p:cNvSpPr txBox="1"/>
          <p:nvPr/>
        </p:nvSpPr>
        <p:spPr>
          <a:xfrm>
            <a:off x="731520" y="969264"/>
            <a:ext cx="10607040" cy="365760"/>
          </a:xfrm>
          <a:prstGeom prst="rect">
            <a:avLst/>
          </a:prstGeom>
          <a:noFill/>
          <a:ln/>
        </p:spPr>
        <p:txBody>
          <a:bodyPr wrap="square" lIns="0" tIns="0" rIns="0" bIns="0" rtlCol="0" anchor="ctr"/>
          <a:lstStyle/>
          <a:p>
            <a:pPr marL="0" indent="0">
              <a:buNone/>
            </a:pPr>
            <a:r>
              <a:rPr lang="en-US" sz="1400" dirty="0">
                <a:solidFill>
                  <a:srgbClr val="9FB0C8"/>
                </a:solidFill>
                <a:latin typeface="Calibri" pitchFamily="34" charset="0"/>
                <a:ea typeface="Calibri" pitchFamily="34" charset="-122"/>
                <a:cs typeface="Calibri" pitchFamily="34" charset="-120"/>
              </a:rPr>
              <a:t>Índice = 0,70 × tasa de reprobación + 0,30 × repitencia media (descriptivo, no predictivo)</a:t>
            </a:r>
            <a:endParaRPr lang="en-US" sz="1400" dirty="0"/>
          </a:p>
        </p:txBody>
      </p:sp>
      <p:sp>
        <p:nvSpPr>
          <p:cNvPr id="7" name="Text 4"/>
          <p:cNvSpPr txBox="1"/>
          <p:nvPr/>
        </p:nvSpPr>
        <p:spPr>
          <a:xfrm>
            <a:off x="731520" y="1481328"/>
            <a:ext cx="3108960" cy="320040"/>
          </a:xfrm>
          <a:prstGeom prst="rect">
            <a:avLst/>
          </a:prstGeom>
          <a:noFill/>
          <a:ln/>
        </p:spPr>
        <p:txBody>
          <a:bodyPr wrap="square" lIns="0" tIns="0" rIns="0" bIns="0" rtlCol="0" anchor="ctr"/>
          <a:lstStyle/>
          <a:p>
            <a:pPr marL="0" indent="0">
              <a:buNone/>
            </a:pPr>
            <a:r>
              <a:rPr lang="en-US" sz="1300" b="1" dirty="0">
                <a:solidFill>
                  <a:srgbClr val="9FB0C8"/>
                </a:solidFill>
                <a:latin typeface="Calibri" pitchFamily="34" charset="0"/>
                <a:ea typeface="Calibri" pitchFamily="34" charset="-122"/>
                <a:cs typeface="Calibri" pitchFamily="34" charset="-120"/>
              </a:rPr>
              <a:t>Plan 2011 (paper)</a:t>
            </a:r>
            <a:endParaRPr lang="en-US" sz="1300" dirty="0"/>
          </a:p>
        </p:txBody>
      </p:sp>
      <p:sp>
        <p:nvSpPr>
          <p:cNvPr id="8" name="Text 5"/>
          <p:cNvSpPr txBox="1"/>
          <p:nvPr/>
        </p:nvSpPr>
        <p:spPr>
          <a:xfrm>
            <a:off x="3977640" y="1481328"/>
            <a:ext cx="3840480" cy="320040"/>
          </a:xfrm>
          <a:prstGeom prst="rect">
            <a:avLst/>
          </a:prstGeom>
          <a:noFill/>
          <a:ln/>
        </p:spPr>
        <p:txBody>
          <a:bodyPr wrap="square" lIns="0" tIns="0" rIns="0" bIns="0" rtlCol="0" anchor="ctr"/>
          <a:lstStyle/>
          <a:p>
            <a:pPr marL="0" indent="0">
              <a:buNone/>
            </a:pPr>
            <a:r>
              <a:rPr lang="en-US" sz="1300" b="1" dirty="0">
                <a:solidFill>
                  <a:srgbClr val="9FB0C8"/>
                </a:solidFill>
                <a:latin typeface="Calibri" pitchFamily="34" charset="0"/>
                <a:ea typeface="Calibri" pitchFamily="34" charset="-122"/>
                <a:cs typeface="Calibri" pitchFamily="34" charset="-120"/>
              </a:rPr>
              <a:t>Índice</a:t>
            </a:r>
            <a:endParaRPr lang="en-US" sz="1300" dirty="0"/>
          </a:p>
        </p:txBody>
      </p:sp>
      <p:sp>
        <p:nvSpPr>
          <p:cNvPr id="9" name="Text 6"/>
          <p:cNvSpPr txBox="1"/>
          <p:nvPr/>
        </p:nvSpPr>
        <p:spPr>
          <a:xfrm>
            <a:off x="8001000" y="1481328"/>
            <a:ext cx="3200400" cy="320040"/>
          </a:xfrm>
          <a:prstGeom prst="rect">
            <a:avLst/>
          </a:prstGeom>
          <a:noFill/>
          <a:ln/>
        </p:spPr>
        <p:txBody>
          <a:bodyPr wrap="square" lIns="0" tIns="0" rIns="0" bIns="0" rtlCol="0" anchor="ctr"/>
          <a:lstStyle/>
          <a:p>
            <a:pPr marL="0" indent="0">
              <a:buNone/>
            </a:pPr>
            <a:r>
              <a:rPr lang="en-US" sz="1300" b="1" dirty="0">
                <a:solidFill>
                  <a:srgbClr val="9FB0C8"/>
                </a:solidFill>
                <a:latin typeface="Calibri" pitchFamily="34" charset="0"/>
                <a:ea typeface="Calibri" pitchFamily="34" charset="-122"/>
                <a:cs typeface="Calibri" pitchFamily="34" charset="-120"/>
              </a:rPr>
              <a:t>Equivale en el plan 2018 (Res. 036 de 2017)</a:t>
            </a:r>
            <a:endParaRPr lang="en-US" sz="1300" dirty="0"/>
          </a:p>
        </p:txBody>
      </p:sp>
      <p:sp>
        <p:nvSpPr>
          <p:cNvPr id="10" name="Text 7"/>
          <p:cNvSpPr txBox="1"/>
          <p:nvPr/>
        </p:nvSpPr>
        <p:spPr>
          <a:xfrm>
            <a:off x="731520" y="1874520"/>
            <a:ext cx="3154680" cy="502920"/>
          </a:xfrm>
          <a:prstGeom prst="rect">
            <a:avLst/>
          </a:prstGeom>
          <a:noFill/>
          <a:ln/>
        </p:spPr>
        <p:txBody>
          <a:bodyPr wrap="square" lIns="0" tIns="0" rIns="0" bIns="0" rtlCol="0" anchor="ctr"/>
          <a:lstStyle/>
          <a:p>
            <a:pPr marL="0" indent="0">
              <a:buNone/>
            </a:pPr>
            <a:r>
              <a:rPr lang="en-US" sz="1600" b="1" dirty="0">
                <a:solidFill>
                  <a:srgbClr val="F1F5F9"/>
                </a:solidFill>
                <a:latin typeface="Calibri" pitchFamily="34" charset="0"/>
                <a:ea typeface="Calibri" pitchFamily="34" charset="-122"/>
                <a:cs typeface="Calibri" pitchFamily="34" charset="-120"/>
              </a:rPr>
              <a:t>1.  Matemáticas II</a:t>
            </a:r>
            <a:endParaRPr lang="en-US" sz="1600" dirty="0"/>
          </a:p>
        </p:txBody>
      </p:sp>
      <p:sp>
        <p:nvSpPr>
          <p:cNvPr id="11" name="Shape 8"/>
          <p:cNvSpPr/>
          <p:nvPr/>
        </p:nvSpPr>
        <p:spPr>
          <a:xfrm>
            <a:off x="3977640" y="1984248"/>
            <a:ext cx="3291840" cy="292608"/>
          </a:xfrm>
          <a:prstGeom prst="roundRect">
            <a:avLst>
              <a:gd name="adj" fmla="val 25000"/>
            </a:avLst>
          </a:prstGeom>
          <a:solidFill>
            <a:srgbClr val="1E3352"/>
          </a:solidFill>
          <a:ln w="12700">
            <a:solidFill>
              <a:srgbClr val="1E3352"/>
            </a:solidFill>
            <a:prstDash val="solid"/>
          </a:ln>
        </p:spPr>
      </p:sp>
      <p:sp>
        <p:nvSpPr>
          <p:cNvPr id="12" name="Shape 9"/>
          <p:cNvSpPr/>
          <p:nvPr/>
        </p:nvSpPr>
        <p:spPr>
          <a:xfrm>
            <a:off x="3977640" y="1984248"/>
            <a:ext cx="3235879" cy="292608"/>
          </a:xfrm>
          <a:prstGeom prst="roundRect">
            <a:avLst>
              <a:gd name="adj" fmla="val 25000"/>
            </a:avLst>
          </a:prstGeom>
          <a:solidFill>
            <a:srgbClr val="F87171"/>
          </a:solidFill>
          <a:ln w="12700">
            <a:solidFill>
              <a:srgbClr val="F87171"/>
            </a:solidFill>
            <a:prstDash val="solid"/>
          </a:ln>
        </p:spPr>
      </p:sp>
      <p:sp>
        <p:nvSpPr>
          <p:cNvPr id="13" name="Text 10"/>
          <p:cNvSpPr txBox="1"/>
          <p:nvPr/>
        </p:nvSpPr>
        <p:spPr>
          <a:xfrm>
            <a:off x="7269480" y="1874520"/>
            <a:ext cx="685800" cy="502920"/>
          </a:xfrm>
          <a:prstGeom prst="rect">
            <a:avLst/>
          </a:prstGeom>
          <a:noFill/>
          <a:ln/>
        </p:spPr>
        <p:txBody>
          <a:bodyPr wrap="square" lIns="0" tIns="0" rIns="0" bIns="0" rtlCol="0" anchor="ctr"/>
          <a:lstStyle/>
          <a:p>
            <a:pPr marL="0" indent="0" algn="r">
              <a:buNone/>
            </a:pPr>
            <a:r>
              <a:rPr lang="en-US" sz="1300" dirty="0">
                <a:solidFill>
                  <a:srgbClr val="F1F5F9"/>
                </a:solidFill>
                <a:latin typeface="Calibri" pitchFamily="34" charset="0"/>
                <a:ea typeface="Calibri" pitchFamily="34" charset="-122"/>
                <a:cs typeface="Calibri" pitchFamily="34" charset="-120"/>
              </a:rPr>
              <a:t>0,983</a:t>
            </a:r>
            <a:endParaRPr lang="en-US" sz="1300" dirty="0"/>
          </a:p>
        </p:txBody>
      </p:sp>
      <p:sp>
        <p:nvSpPr>
          <p:cNvPr id="14" name="Text 11"/>
          <p:cNvSpPr txBox="1"/>
          <p:nvPr/>
        </p:nvSpPr>
        <p:spPr>
          <a:xfrm>
            <a:off x="8092440" y="1874520"/>
            <a:ext cx="3108960" cy="502920"/>
          </a:xfrm>
          <a:prstGeom prst="rect">
            <a:avLst/>
          </a:prstGeom>
          <a:noFill/>
          <a:ln/>
        </p:spPr>
        <p:txBody>
          <a:bodyPr wrap="square" lIns="0" tIns="0" rIns="0" bIns="0" rtlCol="0" anchor="ctr"/>
          <a:lstStyle/>
          <a:p>
            <a:pPr marL="0" indent="0">
              <a:buNone/>
            </a:pPr>
            <a:r>
              <a:rPr lang="en-US" sz="1550" dirty="0">
                <a:solidFill>
                  <a:srgbClr val="38BDF8"/>
                </a:solidFill>
                <a:latin typeface="Calibri" pitchFamily="34" charset="0"/>
                <a:ea typeface="Calibri" pitchFamily="34" charset="-122"/>
                <a:cs typeface="Calibri" pitchFamily="34" charset="-120"/>
              </a:rPr>
              <a:t>≡  Cálculo integral</a:t>
            </a:r>
            <a:endParaRPr lang="en-US" sz="1550" dirty="0"/>
          </a:p>
        </p:txBody>
      </p:sp>
      <p:sp>
        <p:nvSpPr>
          <p:cNvPr id="15" name="Text 12"/>
          <p:cNvSpPr txBox="1"/>
          <p:nvPr/>
        </p:nvSpPr>
        <p:spPr>
          <a:xfrm>
            <a:off x="731520" y="2587752"/>
            <a:ext cx="3154680" cy="502920"/>
          </a:xfrm>
          <a:prstGeom prst="rect">
            <a:avLst/>
          </a:prstGeom>
          <a:noFill/>
          <a:ln/>
        </p:spPr>
        <p:txBody>
          <a:bodyPr wrap="square" lIns="0" tIns="0" rIns="0" bIns="0" rtlCol="0" anchor="ctr"/>
          <a:lstStyle/>
          <a:p>
            <a:pPr marL="0" indent="0">
              <a:buNone/>
            </a:pPr>
            <a:r>
              <a:rPr lang="en-US" sz="1600" b="1" dirty="0">
                <a:solidFill>
                  <a:srgbClr val="F1F5F9"/>
                </a:solidFill>
                <a:latin typeface="Calibri" pitchFamily="34" charset="0"/>
                <a:ea typeface="Calibri" pitchFamily="34" charset="-122"/>
                <a:cs typeface="Calibri" pitchFamily="34" charset="-120"/>
              </a:rPr>
              <a:t>2.  Física I</a:t>
            </a:r>
            <a:endParaRPr lang="en-US" sz="1600" dirty="0"/>
          </a:p>
        </p:txBody>
      </p:sp>
      <p:sp>
        <p:nvSpPr>
          <p:cNvPr id="16" name="Shape 13"/>
          <p:cNvSpPr/>
          <p:nvPr/>
        </p:nvSpPr>
        <p:spPr>
          <a:xfrm>
            <a:off x="3977640" y="2697480"/>
            <a:ext cx="3291840" cy="292608"/>
          </a:xfrm>
          <a:prstGeom prst="roundRect">
            <a:avLst>
              <a:gd name="adj" fmla="val 25000"/>
            </a:avLst>
          </a:prstGeom>
          <a:solidFill>
            <a:srgbClr val="1E3352"/>
          </a:solidFill>
          <a:ln w="12700">
            <a:solidFill>
              <a:srgbClr val="1E3352"/>
            </a:solidFill>
            <a:prstDash val="solid"/>
          </a:ln>
        </p:spPr>
      </p:sp>
      <p:sp>
        <p:nvSpPr>
          <p:cNvPr id="17" name="Shape 14"/>
          <p:cNvSpPr/>
          <p:nvPr/>
        </p:nvSpPr>
        <p:spPr>
          <a:xfrm>
            <a:off x="3977640" y="2697480"/>
            <a:ext cx="3021909" cy="292608"/>
          </a:xfrm>
          <a:prstGeom prst="roundRect">
            <a:avLst>
              <a:gd name="adj" fmla="val 25000"/>
            </a:avLst>
          </a:prstGeom>
          <a:solidFill>
            <a:srgbClr val="F87171"/>
          </a:solidFill>
          <a:ln w="12700">
            <a:solidFill>
              <a:srgbClr val="F87171"/>
            </a:solidFill>
            <a:prstDash val="solid"/>
          </a:ln>
        </p:spPr>
      </p:sp>
      <p:sp>
        <p:nvSpPr>
          <p:cNvPr id="18" name="Text 15"/>
          <p:cNvSpPr txBox="1"/>
          <p:nvPr/>
        </p:nvSpPr>
        <p:spPr>
          <a:xfrm>
            <a:off x="7269480" y="2587752"/>
            <a:ext cx="685800" cy="502920"/>
          </a:xfrm>
          <a:prstGeom prst="rect">
            <a:avLst/>
          </a:prstGeom>
          <a:noFill/>
          <a:ln/>
        </p:spPr>
        <p:txBody>
          <a:bodyPr wrap="square" lIns="0" tIns="0" rIns="0" bIns="0" rtlCol="0" anchor="ctr"/>
          <a:lstStyle/>
          <a:p>
            <a:pPr marL="0" indent="0" algn="r">
              <a:buNone/>
            </a:pPr>
            <a:r>
              <a:rPr lang="en-US" sz="1300" dirty="0">
                <a:solidFill>
                  <a:srgbClr val="F1F5F9"/>
                </a:solidFill>
                <a:latin typeface="Calibri" pitchFamily="34" charset="0"/>
                <a:ea typeface="Calibri" pitchFamily="34" charset="-122"/>
                <a:cs typeface="Calibri" pitchFamily="34" charset="-120"/>
              </a:rPr>
              <a:t>0,918</a:t>
            </a:r>
            <a:endParaRPr lang="en-US" sz="1300" dirty="0"/>
          </a:p>
        </p:txBody>
      </p:sp>
      <p:sp>
        <p:nvSpPr>
          <p:cNvPr id="19" name="Text 16"/>
          <p:cNvSpPr txBox="1"/>
          <p:nvPr/>
        </p:nvSpPr>
        <p:spPr>
          <a:xfrm>
            <a:off x="8092440" y="2587752"/>
            <a:ext cx="3108960" cy="502920"/>
          </a:xfrm>
          <a:prstGeom prst="rect">
            <a:avLst/>
          </a:prstGeom>
          <a:noFill/>
          <a:ln/>
        </p:spPr>
        <p:txBody>
          <a:bodyPr wrap="square" lIns="0" tIns="0" rIns="0" bIns="0" rtlCol="0" anchor="ctr"/>
          <a:lstStyle/>
          <a:p>
            <a:pPr marL="0" indent="0">
              <a:buNone/>
            </a:pPr>
            <a:r>
              <a:rPr lang="en-US" sz="1550" dirty="0">
                <a:solidFill>
                  <a:srgbClr val="38BDF8"/>
                </a:solidFill>
                <a:latin typeface="Calibri" pitchFamily="34" charset="0"/>
                <a:ea typeface="Calibri" pitchFamily="34" charset="-122"/>
                <a:cs typeface="Calibri" pitchFamily="34" charset="-120"/>
              </a:rPr>
              <a:t>≡  Física mecánica</a:t>
            </a:r>
            <a:endParaRPr lang="en-US" sz="1550" dirty="0"/>
          </a:p>
        </p:txBody>
      </p:sp>
      <p:sp>
        <p:nvSpPr>
          <p:cNvPr id="20" name="Text 17"/>
          <p:cNvSpPr txBox="1"/>
          <p:nvPr/>
        </p:nvSpPr>
        <p:spPr>
          <a:xfrm>
            <a:off x="731520" y="3300984"/>
            <a:ext cx="3154680" cy="502920"/>
          </a:xfrm>
          <a:prstGeom prst="rect">
            <a:avLst/>
          </a:prstGeom>
          <a:noFill/>
          <a:ln/>
        </p:spPr>
        <p:txBody>
          <a:bodyPr wrap="square" lIns="0" tIns="0" rIns="0" bIns="0" rtlCol="0" anchor="ctr"/>
          <a:lstStyle/>
          <a:p>
            <a:pPr marL="0" indent="0">
              <a:buNone/>
            </a:pPr>
            <a:r>
              <a:rPr lang="en-US" sz="1600" b="1" dirty="0">
                <a:solidFill>
                  <a:srgbClr val="F1F5F9"/>
                </a:solidFill>
                <a:latin typeface="Calibri" pitchFamily="34" charset="0"/>
                <a:ea typeface="Calibri" pitchFamily="34" charset="-122"/>
                <a:cs typeface="Calibri" pitchFamily="34" charset="-120"/>
              </a:rPr>
              <a:t>3.  Álgebra Lineal</a:t>
            </a:r>
            <a:endParaRPr lang="en-US" sz="1600" dirty="0"/>
          </a:p>
        </p:txBody>
      </p:sp>
      <p:sp>
        <p:nvSpPr>
          <p:cNvPr id="21" name="Shape 18"/>
          <p:cNvSpPr/>
          <p:nvPr/>
        </p:nvSpPr>
        <p:spPr>
          <a:xfrm>
            <a:off x="3977640" y="3410712"/>
            <a:ext cx="3291840" cy="292608"/>
          </a:xfrm>
          <a:prstGeom prst="roundRect">
            <a:avLst>
              <a:gd name="adj" fmla="val 25000"/>
            </a:avLst>
          </a:prstGeom>
          <a:solidFill>
            <a:srgbClr val="1E3352"/>
          </a:solidFill>
          <a:ln w="12700">
            <a:solidFill>
              <a:srgbClr val="1E3352"/>
            </a:solidFill>
            <a:prstDash val="solid"/>
          </a:ln>
        </p:spPr>
      </p:sp>
      <p:sp>
        <p:nvSpPr>
          <p:cNvPr id="22" name="Shape 19"/>
          <p:cNvSpPr/>
          <p:nvPr/>
        </p:nvSpPr>
        <p:spPr>
          <a:xfrm>
            <a:off x="3977640" y="3410712"/>
            <a:ext cx="2748686" cy="292608"/>
          </a:xfrm>
          <a:prstGeom prst="roundRect">
            <a:avLst>
              <a:gd name="adj" fmla="val 25000"/>
            </a:avLst>
          </a:prstGeom>
          <a:solidFill>
            <a:srgbClr val="F87171"/>
          </a:solidFill>
          <a:ln w="12700">
            <a:solidFill>
              <a:srgbClr val="F87171"/>
            </a:solidFill>
            <a:prstDash val="solid"/>
          </a:ln>
        </p:spPr>
      </p:sp>
      <p:sp>
        <p:nvSpPr>
          <p:cNvPr id="23" name="Text 20"/>
          <p:cNvSpPr txBox="1"/>
          <p:nvPr/>
        </p:nvSpPr>
        <p:spPr>
          <a:xfrm>
            <a:off x="7269480" y="3300984"/>
            <a:ext cx="685800" cy="502920"/>
          </a:xfrm>
          <a:prstGeom prst="rect">
            <a:avLst/>
          </a:prstGeom>
          <a:noFill/>
          <a:ln/>
        </p:spPr>
        <p:txBody>
          <a:bodyPr wrap="square" lIns="0" tIns="0" rIns="0" bIns="0" rtlCol="0" anchor="ctr"/>
          <a:lstStyle/>
          <a:p>
            <a:pPr marL="0" indent="0" algn="r">
              <a:buNone/>
            </a:pPr>
            <a:r>
              <a:rPr lang="en-US" sz="1300" dirty="0">
                <a:solidFill>
                  <a:srgbClr val="F1F5F9"/>
                </a:solidFill>
                <a:latin typeface="Calibri" pitchFamily="34" charset="0"/>
                <a:ea typeface="Calibri" pitchFamily="34" charset="-122"/>
                <a:cs typeface="Calibri" pitchFamily="34" charset="-120"/>
              </a:rPr>
              <a:t>0,835</a:t>
            </a:r>
            <a:endParaRPr lang="en-US" sz="1300" dirty="0"/>
          </a:p>
        </p:txBody>
      </p:sp>
      <p:sp>
        <p:nvSpPr>
          <p:cNvPr id="24" name="Text 21"/>
          <p:cNvSpPr txBox="1"/>
          <p:nvPr/>
        </p:nvSpPr>
        <p:spPr>
          <a:xfrm>
            <a:off x="8092440" y="3300984"/>
            <a:ext cx="3108960" cy="502920"/>
          </a:xfrm>
          <a:prstGeom prst="rect">
            <a:avLst/>
          </a:prstGeom>
          <a:noFill/>
          <a:ln/>
        </p:spPr>
        <p:txBody>
          <a:bodyPr wrap="square" lIns="0" tIns="0" rIns="0" bIns="0" rtlCol="0" anchor="ctr"/>
          <a:lstStyle/>
          <a:p>
            <a:pPr marL="0" indent="0">
              <a:buNone/>
            </a:pPr>
            <a:r>
              <a:rPr lang="en-US" sz="1550" dirty="0">
                <a:solidFill>
                  <a:srgbClr val="38BDF8"/>
                </a:solidFill>
                <a:latin typeface="Calibri" pitchFamily="34" charset="0"/>
                <a:ea typeface="Calibri" pitchFamily="34" charset="-122"/>
                <a:cs typeface="Calibri" pitchFamily="34" charset="-120"/>
              </a:rPr>
              <a:t>≡  Álgebra lineal</a:t>
            </a:r>
            <a:endParaRPr lang="en-US" sz="1550" dirty="0"/>
          </a:p>
        </p:txBody>
      </p:sp>
      <p:sp>
        <p:nvSpPr>
          <p:cNvPr id="25" name="Text 22"/>
          <p:cNvSpPr txBox="1"/>
          <p:nvPr/>
        </p:nvSpPr>
        <p:spPr>
          <a:xfrm>
            <a:off x="731520" y="4014216"/>
            <a:ext cx="3154680" cy="502920"/>
          </a:xfrm>
          <a:prstGeom prst="rect">
            <a:avLst/>
          </a:prstGeom>
          <a:noFill/>
          <a:ln/>
        </p:spPr>
        <p:txBody>
          <a:bodyPr wrap="square" lIns="0" tIns="0" rIns="0" bIns="0" rtlCol="0" anchor="ctr"/>
          <a:lstStyle/>
          <a:p>
            <a:pPr marL="0" indent="0">
              <a:buNone/>
            </a:pPr>
            <a:r>
              <a:rPr lang="en-US" sz="1600" b="1" dirty="0">
                <a:solidFill>
                  <a:srgbClr val="F1F5F9"/>
                </a:solidFill>
                <a:latin typeface="Calibri" pitchFamily="34" charset="0"/>
                <a:ea typeface="Calibri" pitchFamily="34" charset="-122"/>
                <a:cs typeface="Calibri" pitchFamily="34" charset="-120"/>
              </a:rPr>
              <a:t>4.  Matemáticas I</a:t>
            </a:r>
            <a:endParaRPr lang="en-US" sz="1600" dirty="0"/>
          </a:p>
        </p:txBody>
      </p:sp>
      <p:sp>
        <p:nvSpPr>
          <p:cNvPr id="26" name="Shape 23"/>
          <p:cNvSpPr/>
          <p:nvPr/>
        </p:nvSpPr>
        <p:spPr>
          <a:xfrm>
            <a:off x="3977640" y="4123944"/>
            <a:ext cx="3291840" cy="292608"/>
          </a:xfrm>
          <a:prstGeom prst="roundRect">
            <a:avLst>
              <a:gd name="adj" fmla="val 25000"/>
            </a:avLst>
          </a:prstGeom>
          <a:solidFill>
            <a:srgbClr val="1E3352"/>
          </a:solidFill>
          <a:ln w="12700">
            <a:solidFill>
              <a:srgbClr val="1E3352"/>
            </a:solidFill>
            <a:prstDash val="solid"/>
          </a:ln>
        </p:spPr>
      </p:sp>
      <p:sp>
        <p:nvSpPr>
          <p:cNvPr id="27" name="Shape 24"/>
          <p:cNvSpPr/>
          <p:nvPr/>
        </p:nvSpPr>
        <p:spPr>
          <a:xfrm>
            <a:off x="3977640" y="4123944"/>
            <a:ext cx="2050816" cy="292608"/>
          </a:xfrm>
          <a:prstGeom prst="roundRect">
            <a:avLst>
              <a:gd name="adj" fmla="val 25000"/>
            </a:avLst>
          </a:prstGeom>
          <a:solidFill>
            <a:srgbClr val="FBBF24"/>
          </a:solidFill>
          <a:ln w="12700">
            <a:solidFill>
              <a:srgbClr val="FBBF24"/>
            </a:solidFill>
            <a:prstDash val="solid"/>
          </a:ln>
        </p:spPr>
      </p:sp>
      <p:sp>
        <p:nvSpPr>
          <p:cNvPr id="28" name="Text 25"/>
          <p:cNvSpPr txBox="1"/>
          <p:nvPr/>
        </p:nvSpPr>
        <p:spPr>
          <a:xfrm>
            <a:off x="7269480" y="4014216"/>
            <a:ext cx="685800" cy="502920"/>
          </a:xfrm>
          <a:prstGeom prst="rect">
            <a:avLst/>
          </a:prstGeom>
          <a:noFill/>
          <a:ln/>
        </p:spPr>
        <p:txBody>
          <a:bodyPr wrap="square" lIns="0" tIns="0" rIns="0" bIns="0" rtlCol="0" anchor="ctr"/>
          <a:lstStyle/>
          <a:p>
            <a:pPr marL="0" indent="0" algn="r">
              <a:buNone/>
            </a:pPr>
            <a:r>
              <a:rPr lang="en-US" sz="1300" dirty="0">
                <a:solidFill>
                  <a:srgbClr val="F1F5F9"/>
                </a:solidFill>
                <a:latin typeface="Calibri" pitchFamily="34" charset="0"/>
                <a:ea typeface="Calibri" pitchFamily="34" charset="-122"/>
                <a:cs typeface="Calibri" pitchFamily="34" charset="-120"/>
              </a:rPr>
              <a:t>0,623</a:t>
            </a:r>
            <a:endParaRPr lang="en-US" sz="1300" dirty="0"/>
          </a:p>
        </p:txBody>
      </p:sp>
      <p:sp>
        <p:nvSpPr>
          <p:cNvPr id="29" name="Text 26"/>
          <p:cNvSpPr txBox="1"/>
          <p:nvPr/>
        </p:nvSpPr>
        <p:spPr>
          <a:xfrm>
            <a:off x="8092440" y="4014216"/>
            <a:ext cx="3108960" cy="502920"/>
          </a:xfrm>
          <a:prstGeom prst="rect">
            <a:avLst/>
          </a:prstGeom>
          <a:noFill/>
          <a:ln/>
        </p:spPr>
        <p:txBody>
          <a:bodyPr wrap="square" lIns="0" tIns="0" rIns="0" bIns="0" rtlCol="0" anchor="ctr"/>
          <a:lstStyle/>
          <a:p>
            <a:pPr marL="0" indent="0">
              <a:buNone/>
            </a:pPr>
            <a:r>
              <a:rPr lang="en-US" sz="1550" dirty="0">
                <a:solidFill>
                  <a:srgbClr val="38BDF8"/>
                </a:solidFill>
                <a:latin typeface="Calibri" pitchFamily="34" charset="0"/>
                <a:ea typeface="Calibri" pitchFamily="34" charset="-122"/>
                <a:cs typeface="Calibri" pitchFamily="34" charset="-120"/>
              </a:rPr>
              <a:t>≡  Cálculo diferencial</a:t>
            </a:r>
            <a:endParaRPr lang="en-US" sz="1550" dirty="0"/>
          </a:p>
        </p:txBody>
      </p:sp>
      <p:sp>
        <p:nvSpPr>
          <p:cNvPr id="30" name="Text 27"/>
          <p:cNvSpPr txBox="1"/>
          <p:nvPr/>
        </p:nvSpPr>
        <p:spPr>
          <a:xfrm>
            <a:off x="731520" y="4727448"/>
            <a:ext cx="3154680" cy="502920"/>
          </a:xfrm>
          <a:prstGeom prst="rect">
            <a:avLst/>
          </a:prstGeom>
          <a:noFill/>
          <a:ln/>
        </p:spPr>
        <p:txBody>
          <a:bodyPr wrap="square" lIns="0" tIns="0" rIns="0" bIns="0" rtlCol="0" anchor="ctr"/>
          <a:lstStyle/>
          <a:p>
            <a:pPr marL="0" indent="0">
              <a:buNone/>
            </a:pPr>
            <a:r>
              <a:rPr lang="en-US" sz="1600" b="1" dirty="0">
                <a:solidFill>
                  <a:srgbClr val="F1F5F9"/>
                </a:solidFill>
                <a:latin typeface="Calibri" pitchFamily="34" charset="0"/>
                <a:ea typeface="Calibri" pitchFamily="34" charset="-122"/>
                <a:cs typeface="Calibri" pitchFamily="34" charset="-120"/>
              </a:rPr>
              <a:t>5.  Fundamentos de Programación</a:t>
            </a:r>
            <a:endParaRPr lang="en-US" sz="1600" dirty="0"/>
          </a:p>
        </p:txBody>
      </p:sp>
      <p:sp>
        <p:nvSpPr>
          <p:cNvPr id="31" name="Shape 28"/>
          <p:cNvSpPr/>
          <p:nvPr/>
        </p:nvSpPr>
        <p:spPr>
          <a:xfrm>
            <a:off x="3977640" y="4837176"/>
            <a:ext cx="3291840" cy="292608"/>
          </a:xfrm>
          <a:prstGeom prst="roundRect">
            <a:avLst>
              <a:gd name="adj" fmla="val 25000"/>
            </a:avLst>
          </a:prstGeom>
          <a:solidFill>
            <a:srgbClr val="1E3352"/>
          </a:solidFill>
          <a:ln w="12700">
            <a:solidFill>
              <a:srgbClr val="1E3352"/>
            </a:solidFill>
            <a:prstDash val="solid"/>
          </a:ln>
        </p:spPr>
      </p:sp>
      <p:sp>
        <p:nvSpPr>
          <p:cNvPr id="32" name="Shape 29"/>
          <p:cNvSpPr/>
          <p:nvPr/>
        </p:nvSpPr>
        <p:spPr>
          <a:xfrm>
            <a:off x="3977640" y="4837176"/>
            <a:ext cx="1757843" cy="292608"/>
          </a:xfrm>
          <a:prstGeom prst="roundRect">
            <a:avLst>
              <a:gd name="adj" fmla="val 25000"/>
            </a:avLst>
          </a:prstGeom>
          <a:solidFill>
            <a:srgbClr val="FBBF24"/>
          </a:solidFill>
          <a:ln w="12700">
            <a:solidFill>
              <a:srgbClr val="FBBF24"/>
            </a:solidFill>
            <a:prstDash val="solid"/>
          </a:ln>
        </p:spPr>
      </p:sp>
      <p:sp>
        <p:nvSpPr>
          <p:cNvPr id="33" name="Text 30"/>
          <p:cNvSpPr txBox="1"/>
          <p:nvPr/>
        </p:nvSpPr>
        <p:spPr>
          <a:xfrm>
            <a:off x="7269480" y="4727448"/>
            <a:ext cx="685800" cy="502920"/>
          </a:xfrm>
          <a:prstGeom prst="rect">
            <a:avLst/>
          </a:prstGeom>
          <a:noFill/>
          <a:ln/>
        </p:spPr>
        <p:txBody>
          <a:bodyPr wrap="square" lIns="0" tIns="0" rIns="0" bIns="0" rtlCol="0" anchor="ctr"/>
          <a:lstStyle/>
          <a:p>
            <a:pPr marL="0" indent="0" algn="r">
              <a:buNone/>
            </a:pPr>
            <a:r>
              <a:rPr lang="en-US" sz="1300" dirty="0">
                <a:solidFill>
                  <a:srgbClr val="F1F5F9"/>
                </a:solidFill>
                <a:latin typeface="Calibri" pitchFamily="34" charset="0"/>
                <a:ea typeface="Calibri" pitchFamily="34" charset="-122"/>
                <a:cs typeface="Calibri" pitchFamily="34" charset="-120"/>
              </a:rPr>
              <a:t>0,534</a:t>
            </a:r>
            <a:endParaRPr lang="en-US" sz="1300" dirty="0"/>
          </a:p>
        </p:txBody>
      </p:sp>
      <p:sp>
        <p:nvSpPr>
          <p:cNvPr id="34" name="Text 31"/>
          <p:cNvSpPr txBox="1"/>
          <p:nvPr/>
        </p:nvSpPr>
        <p:spPr>
          <a:xfrm>
            <a:off x="8092440" y="4727448"/>
            <a:ext cx="3108960" cy="502920"/>
          </a:xfrm>
          <a:prstGeom prst="rect">
            <a:avLst/>
          </a:prstGeom>
          <a:noFill/>
          <a:ln/>
        </p:spPr>
        <p:txBody>
          <a:bodyPr wrap="square" lIns="0" tIns="0" rIns="0" bIns="0" rtlCol="0" anchor="ctr"/>
          <a:lstStyle/>
          <a:p>
            <a:pPr marL="0" indent="0">
              <a:buNone/>
            </a:pPr>
            <a:r>
              <a:rPr lang="en-US" sz="1550" dirty="0">
                <a:solidFill>
                  <a:srgbClr val="38BDF8"/>
                </a:solidFill>
                <a:latin typeface="Calibri" pitchFamily="34" charset="0"/>
                <a:ea typeface="Calibri" pitchFamily="34" charset="-122"/>
                <a:cs typeface="Calibri" pitchFamily="34" charset="-120"/>
              </a:rPr>
              <a:t>≡  Algoritmia y programación</a:t>
            </a:r>
            <a:endParaRPr lang="en-US" sz="1550" dirty="0"/>
          </a:p>
        </p:txBody>
      </p:sp>
      <p:sp>
        <p:nvSpPr>
          <p:cNvPr id="35" name="Shape 32"/>
          <p:cNvSpPr/>
          <p:nvPr/>
        </p:nvSpPr>
        <p:spPr>
          <a:xfrm>
            <a:off x="731520" y="5532120"/>
            <a:ext cx="10424160" cy="548640"/>
          </a:xfrm>
          <a:prstGeom prst="roundRect">
            <a:avLst>
              <a:gd name="adj" fmla="val 13333"/>
            </a:avLst>
          </a:prstGeom>
          <a:solidFill>
            <a:srgbClr val="0F2A44"/>
          </a:solidFill>
          <a:ln w="9525">
            <a:solidFill>
              <a:srgbClr val="27406A"/>
            </a:solidFill>
            <a:prstDash val="solid"/>
          </a:ln>
        </p:spPr>
      </p:sp>
      <p:sp>
        <p:nvSpPr>
          <p:cNvPr id="36" name="Text 33"/>
          <p:cNvSpPr txBox="1"/>
          <p:nvPr/>
        </p:nvSpPr>
        <p:spPr>
          <a:xfrm>
            <a:off x="960120" y="5577840"/>
            <a:ext cx="9966960" cy="457200"/>
          </a:xfrm>
          <a:prstGeom prst="rect">
            <a:avLst/>
          </a:prstGeom>
          <a:noFill/>
          <a:ln/>
        </p:spPr>
        <p:txBody>
          <a:bodyPr wrap="square" lIns="0" tIns="0" rIns="0" bIns="0" rtlCol="0" anchor="ctr"/>
          <a:lstStyle/>
          <a:p>
            <a:pPr marL="0" indent="0">
              <a:buNone/>
            </a:pPr>
            <a:r>
              <a:rPr lang="en-US" sz="1450" b="1" dirty="0">
                <a:solidFill>
                  <a:srgbClr val="34D399"/>
                </a:solidFill>
                <a:latin typeface="Calibri" pitchFamily="34" charset="0"/>
                <a:ea typeface="Calibri" pitchFamily="34" charset="-122"/>
                <a:cs typeface="Calibri" pitchFamily="34" charset="-120"/>
              </a:rPr>
              <a:t>Avance:  </a:t>
            </a:r>
            <a:r>
              <a:rPr lang="en-US" sz="1450" dirty="0">
                <a:solidFill>
                  <a:srgbClr val="F1F5F9"/>
                </a:solidFill>
                <a:latin typeface="Calibri" pitchFamily="34" charset="0"/>
                <a:ea typeface="Calibri" pitchFamily="34" charset="-122"/>
                <a:cs typeface="Calibri" pitchFamily="34" charset="-120"/>
              </a:rPr>
              <a:t>traducido al plan vigente, el top 5 se conserva: la intervención apunta a los mismos cursos y al primer año.</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tmp/claude-0/deck/logo.png"/>
          <p:cNvPicPr>
            <a:picLocks noChangeAspect="1"/>
          </p:cNvPicPr>
          <p:nvPr/>
        </p:nvPicPr>
        <p:blipFill>
          <a:blip r:embed="rId4"/>
          <a:stretch>
            <a:fillRect/>
          </a:stretch>
        </p:blipFill>
        <p:spPr>
          <a:xfrm>
            <a:off x="11356848" y="5870448"/>
            <a:ext cx="713232" cy="713232"/>
          </a:xfrm>
          <a:prstGeom prst="rect">
            <a:avLst/>
          </a:prstGeom>
        </p:spPr>
      </p:pic>
      <p:sp>
        <p:nvSpPr>
          <p:cNvPr id="3" name="Text 0"/>
          <p:cNvSpPr txBox="1"/>
          <p:nvPr/>
        </p:nvSpPr>
        <p:spPr>
          <a:xfrm>
            <a:off x="10835640" y="6053328"/>
            <a:ext cx="457200" cy="274320"/>
          </a:xfrm>
          <a:prstGeom prst="rect">
            <a:avLst/>
          </a:prstGeom>
          <a:noFill/>
          <a:ln/>
        </p:spPr>
        <p:txBody>
          <a:bodyPr wrap="square" lIns="0" tIns="0" rIns="0" bIns="0" rtlCol="0" anchor="ctr"/>
          <a:lstStyle/>
          <a:p>
            <a:pPr marL="0" indent="0" algn="r">
              <a:buNone/>
            </a:pPr>
            <a:r>
              <a:rPr lang="en-US" sz="1000" dirty="0">
                <a:solidFill>
                  <a:srgbClr val="9FB0C8"/>
                </a:solidFill>
                <a:latin typeface="Calibri" pitchFamily="34" charset="0"/>
                <a:ea typeface="Calibri" pitchFamily="34" charset="-122"/>
                <a:cs typeface="Calibri" pitchFamily="34" charset="-120"/>
              </a:rPr>
              <a:t>6</a:t>
            </a:r>
            <a:endParaRPr lang="en-US" sz="1000" dirty="0"/>
          </a:p>
        </p:txBody>
      </p:sp>
      <p:sp>
        <p:nvSpPr>
          <p:cNvPr id="4" name="Shape 1"/>
          <p:cNvSpPr/>
          <p:nvPr/>
        </p:nvSpPr>
        <p:spPr>
          <a:xfrm>
            <a:off x="566928" y="457200"/>
            <a:ext cx="50292" cy="420624"/>
          </a:xfrm>
          <a:prstGeom prst="rect">
            <a:avLst/>
          </a:prstGeom>
          <a:solidFill>
            <a:srgbClr val="38BDF8"/>
          </a:solidFill>
          <a:ln w="12700">
            <a:solidFill>
              <a:srgbClr val="38BDF8"/>
            </a:solidFill>
            <a:prstDash val="solid"/>
          </a:ln>
        </p:spPr>
      </p:sp>
      <p:sp>
        <p:nvSpPr>
          <p:cNvPr id="5" name="Text 2"/>
          <p:cNvSpPr txBox="1"/>
          <p:nvPr/>
        </p:nvSpPr>
        <p:spPr>
          <a:xfrm>
            <a:off x="731520" y="347472"/>
            <a:ext cx="10607040" cy="640080"/>
          </a:xfrm>
          <a:prstGeom prst="rect">
            <a:avLst/>
          </a:prstGeom>
          <a:noFill/>
          <a:ln/>
        </p:spPr>
        <p:txBody>
          <a:bodyPr wrap="square" lIns="0" tIns="0" rIns="0" bIns="0" rtlCol="0" anchor="ctr"/>
          <a:lstStyle/>
          <a:p>
            <a:pPr marL="0" indent="0">
              <a:buNone/>
            </a:pPr>
            <a:r>
              <a:rPr lang="en-US" sz="3000" b="1" dirty="0">
                <a:solidFill>
                  <a:srgbClr val="F1F5F9"/>
                </a:solidFill>
                <a:latin typeface="Calibri" pitchFamily="34" charset="0"/>
                <a:ea typeface="Calibri" pitchFamily="34" charset="-122"/>
                <a:cs typeface="Calibri" pitchFamily="34" charset="-120"/>
              </a:rPr>
              <a:t>Antes de desplegar, auditamos</a:t>
            </a:r>
            <a:endParaRPr lang="en-US" sz="3000" dirty="0"/>
          </a:p>
        </p:txBody>
      </p:sp>
      <p:sp>
        <p:nvSpPr>
          <p:cNvPr id="6" name="Text 3"/>
          <p:cNvSpPr txBox="1"/>
          <p:nvPr/>
        </p:nvSpPr>
        <p:spPr>
          <a:xfrm>
            <a:off x="731520" y="969264"/>
            <a:ext cx="10607040" cy="365760"/>
          </a:xfrm>
          <a:prstGeom prst="rect">
            <a:avLst/>
          </a:prstGeom>
          <a:noFill/>
          <a:ln/>
        </p:spPr>
        <p:txBody>
          <a:bodyPr wrap="square" lIns="0" tIns="0" rIns="0" bIns="0" rtlCol="0" anchor="ctr"/>
          <a:lstStyle/>
          <a:p>
            <a:pPr marL="0" indent="0">
              <a:buNone/>
            </a:pPr>
            <a:r>
              <a:rPr lang="en-US" sz="1400" dirty="0">
                <a:solidFill>
                  <a:srgbClr val="9FB0C8"/>
                </a:solidFill>
                <a:latin typeface="Calibri" pitchFamily="34" charset="0"/>
                <a:ea typeface="Calibri" pitchFamily="34" charset="-122"/>
                <a:cs typeface="Calibri" pitchFamily="34" charset="-120"/>
              </a:rPr>
              <a:t>Tres problemas de validez (no de código), cada uno medido con los datos propios</a:t>
            </a:r>
            <a:endParaRPr lang="en-US" sz="1400" dirty="0"/>
          </a:p>
        </p:txBody>
      </p:sp>
      <p:sp>
        <p:nvSpPr>
          <p:cNvPr id="7" name="Shape 4"/>
          <p:cNvSpPr/>
          <p:nvPr/>
        </p:nvSpPr>
        <p:spPr>
          <a:xfrm>
            <a:off x="731520" y="1554480"/>
            <a:ext cx="3246120" cy="3429000"/>
          </a:xfrm>
          <a:prstGeom prst="roundRect">
            <a:avLst>
              <a:gd name="adj" fmla="val 2254"/>
            </a:avLst>
          </a:prstGeom>
          <a:solidFill>
            <a:srgbClr val="132238"/>
          </a:solidFill>
          <a:ln w="9525">
            <a:solidFill>
              <a:srgbClr val="27406A"/>
            </a:solidFill>
            <a:prstDash val="solid"/>
          </a:ln>
        </p:spPr>
      </p:sp>
      <p:sp>
        <p:nvSpPr>
          <p:cNvPr id="8" name="Text 5"/>
          <p:cNvSpPr txBox="1"/>
          <p:nvPr/>
        </p:nvSpPr>
        <p:spPr>
          <a:xfrm>
            <a:off x="932688" y="1691640"/>
            <a:ext cx="2834640" cy="411480"/>
          </a:xfrm>
          <a:prstGeom prst="rect">
            <a:avLst/>
          </a:prstGeom>
          <a:noFill/>
          <a:ln/>
        </p:spPr>
        <p:txBody>
          <a:bodyPr wrap="square" lIns="0" tIns="0" rIns="0" bIns="0" rtlCol="0" anchor="ctr"/>
          <a:lstStyle/>
          <a:p>
            <a:pPr marL="0" indent="0">
              <a:buNone/>
            </a:pPr>
            <a:r>
              <a:rPr lang="en-US" sz="1800" b="1" dirty="0">
                <a:solidFill>
                  <a:srgbClr val="F87171"/>
                </a:solidFill>
                <a:latin typeface="Calibri" pitchFamily="34" charset="0"/>
                <a:ea typeface="Calibri" pitchFamily="34" charset="-122"/>
                <a:cs typeface="Calibri" pitchFamily="34" charset="-120"/>
              </a:rPr>
              <a:t>1 · Variable objetivo</a:t>
            </a:r>
            <a:endParaRPr lang="en-US" sz="1800" dirty="0"/>
          </a:p>
        </p:txBody>
      </p:sp>
      <p:sp>
        <p:nvSpPr>
          <p:cNvPr id="9" name="Text 6"/>
          <p:cNvSpPr txBox="1"/>
          <p:nvPr/>
        </p:nvSpPr>
        <p:spPr>
          <a:xfrm>
            <a:off x="932688" y="2148840"/>
            <a:ext cx="2834640" cy="822960"/>
          </a:xfrm>
          <a:prstGeom prst="rect">
            <a:avLst/>
          </a:prstGeom>
          <a:noFill/>
          <a:ln/>
        </p:spPr>
        <p:txBody>
          <a:bodyPr wrap="square" lIns="0" tIns="0" rIns="0" bIns="0" rtlCol="0" anchor="t"/>
          <a:lstStyle/>
          <a:p>
            <a:pPr marL="0" indent="0">
              <a:buNone/>
            </a:pPr>
            <a:r>
              <a:rPr lang="en-US" sz="1400" dirty="0">
                <a:solidFill>
                  <a:srgbClr val="F1F5F9"/>
                </a:solidFill>
                <a:latin typeface="Calibri" pitchFamily="34" charset="0"/>
                <a:ea typeface="Calibri" pitchFamily="34" charset="-122"/>
                <a:cs typeface="Calibri" pitchFamily="34" charset="-120"/>
              </a:rPr>
              <a:t>Promedio de carrera &lt; 3,0 incluía el 1.er semestre, el propio predictor.</a:t>
            </a:r>
            <a:endParaRPr lang="en-US" sz="1400" dirty="0"/>
          </a:p>
        </p:txBody>
      </p:sp>
      <p:sp>
        <p:nvSpPr>
          <p:cNvPr id="10" name="Text 7"/>
          <p:cNvSpPr txBox="1"/>
          <p:nvPr/>
        </p:nvSpPr>
        <p:spPr>
          <a:xfrm>
            <a:off x="932688" y="3017520"/>
            <a:ext cx="2834640" cy="685800"/>
          </a:xfrm>
          <a:prstGeom prst="rect">
            <a:avLst/>
          </a:prstGeom>
          <a:noFill/>
          <a:ln/>
        </p:spPr>
        <p:txBody>
          <a:bodyPr wrap="square" lIns="0" tIns="0" rIns="0" bIns="0" rtlCol="0" anchor="ctr"/>
          <a:lstStyle/>
          <a:p>
            <a:pPr marL="0" indent="0">
              <a:buNone/>
            </a:pPr>
            <a:r>
              <a:rPr lang="en-US" sz="1800" b="1" dirty="0">
                <a:solidFill>
                  <a:srgbClr val="FBBF24"/>
                </a:solidFill>
                <a:latin typeface="Calibri" pitchFamily="34" charset="0"/>
                <a:ea typeface="Calibri" pitchFamily="34" charset="-122"/>
                <a:cs typeface="Calibri" pitchFamily="34" charset="-120"/>
              </a:rPr>
              <a:t>Sin él: AUC 0,48 (azar)</a:t>
            </a:r>
            <a:endParaRPr lang="en-US" sz="1800" dirty="0"/>
          </a:p>
        </p:txBody>
      </p:sp>
      <p:sp>
        <p:nvSpPr>
          <p:cNvPr id="11" name="Text 8"/>
          <p:cNvSpPr txBox="1"/>
          <p:nvPr/>
        </p:nvSpPr>
        <p:spPr>
          <a:xfrm>
            <a:off x="932688" y="3794760"/>
            <a:ext cx="2834640" cy="1051560"/>
          </a:xfrm>
          <a:prstGeom prst="rect">
            <a:avLst/>
          </a:prstGeom>
          <a:noFill/>
          <a:ln/>
        </p:spPr>
        <p:txBody>
          <a:bodyPr wrap="square" lIns="0" tIns="0" rIns="0" bIns="0" rtlCol="0" anchor="t"/>
          <a:lstStyle/>
          <a:p>
            <a:pPr marL="0" indent="0">
              <a:buNone/>
            </a:pPr>
            <a:r>
              <a:rPr lang="en-US" sz="1300" dirty="0">
                <a:solidFill>
                  <a:srgbClr val="9FB0C8"/>
                </a:solidFill>
                <a:latin typeface="Calibri" pitchFamily="34" charset="0"/>
                <a:ea typeface="Calibri" pitchFamily="34" charset="-122"/>
                <a:cs typeface="Calibri" pitchFamily="34" charset="-120"/>
              </a:rPr>
              <a:t>Nueva variable: art. 19 del Reglamento Estudiantil (pérdida de la calidad de estudiante)</a:t>
            </a:r>
            <a:endParaRPr lang="en-US" sz="1300" dirty="0"/>
          </a:p>
        </p:txBody>
      </p:sp>
      <p:sp>
        <p:nvSpPr>
          <p:cNvPr id="12" name="Shape 9"/>
          <p:cNvSpPr/>
          <p:nvPr/>
        </p:nvSpPr>
        <p:spPr>
          <a:xfrm>
            <a:off x="4251960" y="1554480"/>
            <a:ext cx="3246120" cy="3429000"/>
          </a:xfrm>
          <a:prstGeom prst="roundRect">
            <a:avLst>
              <a:gd name="adj" fmla="val 2254"/>
            </a:avLst>
          </a:prstGeom>
          <a:solidFill>
            <a:srgbClr val="132238"/>
          </a:solidFill>
          <a:ln w="9525">
            <a:solidFill>
              <a:srgbClr val="27406A"/>
            </a:solidFill>
            <a:prstDash val="solid"/>
          </a:ln>
        </p:spPr>
      </p:sp>
      <p:sp>
        <p:nvSpPr>
          <p:cNvPr id="13" name="Text 10"/>
          <p:cNvSpPr txBox="1"/>
          <p:nvPr/>
        </p:nvSpPr>
        <p:spPr>
          <a:xfrm>
            <a:off x="4453128" y="1691640"/>
            <a:ext cx="2834640" cy="411480"/>
          </a:xfrm>
          <a:prstGeom prst="rect">
            <a:avLst/>
          </a:prstGeom>
          <a:noFill/>
          <a:ln/>
        </p:spPr>
        <p:txBody>
          <a:bodyPr wrap="square" lIns="0" tIns="0" rIns="0" bIns="0" rtlCol="0" anchor="ctr"/>
          <a:lstStyle/>
          <a:p>
            <a:pPr marL="0" indent="0">
              <a:buNone/>
            </a:pPr>
            <a:r>
              <a:rPr lang="en-US" sz="1800" b="1" dirty="0">
                <a:solidFill>
                  <a:srgbClr val="FBBF24"/>
                </a:solidFill>
                <a:latin typeface="Calibri" pitchFamily="34" charset="0"/>
                <a:ea typeface="Calibri" pitchFamily="34" charset="-122"/>
                <a:cs typeface="Calibri" pitchFamily="34" charset="-120"/>
              </a:rPr>
              <a:t>2 · Hiperparámetros</a:t>
            </a:r>
            <a:endParaRPr lang="en-US" sz="1800" dirty="0"/>
          </a:p>
        </p:txBody>
      </p:sp>
      <p:sp>
        <p:nvSpPr>
          <p:cNvPr id="14" name="Text 11"/>
          <p:cNvSpPr txBox="1"/>
          <p:nvPr/>
        </p:nvSpPr>
        <p:spPr>
          <a:xfrm>
            <a:off x="4453128" y="2148840"/>
            <a:ext cx="2834640" cy="822960"/>
          </a:xfrm>
          <a:prstGeom prst="rect">
            <a:avLst/>
          </a:prstGeom>
          <a:noFill/>
          <a:ln/>
        </p:spPr>
        <p:txBody>
          <a:bodyPr wrap="square" lIns="0" tIns="0" rIns="0" bIns="0" rtlCol="0" anchor="t"/>
          <a:lstStyle/>
          <a:p>
            <a:pPr marL="0" indent="0">
              <a:buNone/>
            </a:pPr>
            <a:r>
              <a:rPr lang="en-US" sz="1400" dirty="0">
                <a:solidFill>
                  <a:srgbClr val="F1F5F9"/>
                </a:solidFill>
                <a:latin typeface="Calibri" pitchFamily="34" charset="0"/>
                <a:ea typeface="Calibri" pitchFamily="34" charset="-122"/>
                <a:cs typeface="Calibri" pitchFamily="34" charset="-120"/>
              </a:rPr>
              <a:t>La búsqueda en malla se hacía fuera de la validación.</a:t>
            </a:r>
            <a:endParaRPr lang="en-US" sz="1400" dirty="0"/>
          </a:p>
        </p:txBody>
      </p:sp>
      <p:sp>
        <p:nvSpPr>
          <p:cNvPr id="15" name="Text 12"/>
          <p:cNvSpPr txBox="1"/>
          <p:nvPr/>
        </p:nvSpPr>
        <p:spPr>
          <a:xfrm>
            <a:off x="4453128" y="3017520"/>
            <a:ext cx="2834640" cy="685800"/>
          </a:xfrm>
          <a:prstGeom prst="rect">
            <a:avLst/>
          </a:prstGeom>
          <a:noFill/>
          <a:ln/>
        </p:spPr>
        <p:txBody>
          <a:bodyPr wrap="square" lIns="0" tIns="0" rIns="0" bIns="0" rtlCol="0" anchor="ctr"/>
          <a:lstStyle/>
          <a:p>
            <a:pPr marL="0" indent="0">
              <a:buNone/>
            </a:pPr>
            <a:r>
              <a:rPr lang="en-US" sz="1800" b="1" dirty="0">
                <a:solidFill>
                  <a:srgbClr val="FBBF24"/>
                </a:solidFill>
                <a:latin typeface="Calibri" pitchFamily="34" charset="0"/>
                <a:ea typeface="Calibri" pitchFamily="34" charset="-122"/>
                <a:cs typeface="Calibri" pitchFamily="34" charset="-120"/>
              </a:rPr>
              <a:t>Sesgo +0,046 en XGBoost vs +0,008 en RF</a:t>
            </a:r>
            <a:endParaRPr lang="en-US" sz="1800" dirty="0"/>
          </a:p>
        </p:txBody>
      </p:sp>
      <p:sp>
        <p:nvSpPr>
          <p:cNvPr id="16" name="Text 13"/>
          <p:cNvSpPr txBox="1"/>
          <p:nvPr/>
        </p:nvSpPr>
        <p:spPr>
          <a:xfrm>
            <a:off x="4453128" y="3794760"/>
            <a:ext cx="2834640" cy="1051560"/>
          </a:xfrm>
          <a:prstGeom prst="rect">
            <a:avLst/>
          </a:prstGeom>
          <a:noFill/>
          <a:ln/>
        </p:spPr>
        <p:txBody>
          <a:bodyPr wrap="square" lIns="0" tIns="0" rIns="0" bIns="0" rtlCol="0" anchor="t"/>
          <a:lstStyle/>
          <a:p>
            <a:pPr marL="0" indent="0">
              <a:buNone/>
            </a:pPr>
            <a:r>
              <a:rPr lang="en-US" sz="1300" dirty="0">
                <a:solidFill>
                  <a:srgbClr val="9FB0C8"/>
                </a:solidFill>
                <a:latin typeface="Calibri" pitchFamily="34" charset="0"/>
                <a:ea typeface="Calibri" pitchFamily="34" charset="-122"/>
                <a:cs typeface="Calibri" pitchFamily="34" charset="-120"/>
              </a:rPr>
              <a:t>El sesgo no era uniforme: cambiaba el ganador. → validación anidada</a:t>
            </a:r>
            <a:endParaRPr lang="en-US" sz="1300" dirty="0"/>
          </a:p>
        </p:txBody>
      </p:sp>
      <p:sp>
        <p:nvSpPr>
          <p:cNvPr id="17" name="Shape 14"/>
          <p:cNvSpPr/>
          <p:nvPr/>
        </p:nvSpPr>
        <p:spPr>
          <a:xfrm>
            <a:off x="7772400" y="1554480"/>
            <a:ext cx="3246120" cy="3429000"/>
          </a:xfrm>
          <a:prstGeom prst="roundRect">
            <a:avLst>
              <a:gd name="adj" fmla="val 2254"/>
            </a:avLst>
          </a:prstGeom>
          <a:solidFill>
            <a:srgbClr val="132238"/>
          </a:solidFill>
          <a:ln w="9525">
            <a:solidFill>
              <a:srgbClr val="27406A"/>
            </a:solidFill>
            <a:prstDash val="solid"/>
          </a:ln>
        </p:spPr>
      </p:sp>
      <p:sp>
        <p:nvSpPr>
          <p:cNvPr id="18" name="Text 15"/>
          <p:cNvSpPr txBox="1"/>
          <p:nvPr/>
        </p:nvSpPr>
        <p:spPr>
          <a:xfrm>
            <a:off x="7973568" y="1691640"/>
            <a:ext cx="2834640" cy="411480"/>
          </a:xfrm>
          <a:prstGeom prst="rect">
            <a:avLst/>
          </a:prstGeom>
          <a:noFill/>
          <a:ln/>
        </p:spPr>
        <p:txBody>
          <a:bodyPr wrap="square" lIns="0" tIns="0" rIns="0" bIns="0" rtlCol="0" anchor="ctr"/>
          <a:lstStyle/>
          <a:p>
            <a:pPr marL="0" indent="0">
              <a:buNone/>
            </a:pPr>
            <a:r>
              <a:rPr lang="en-US" sz="1800" b="1" dirty="0">
                <a:solidFill>
                  <a:srgbClr val="A78BFA"/>
                </a:solidFill>
                <a:latin typeface="Calibri" pitchFamily="34" charset="0"/>
                <a:ea typeface="Calibri" pitchFamily="34" charset="-122"/>
                <a:cs typeface="Calibri" pitchFamily="34" charset="-120"/>
              </a:rPr>
              <a:t>3 · Selección de variables</a:t>
            </a:r>
            <a:endParaRPr lang="en-US" sz="1800" dirty="0"/>
          </a:p>
        </p:txBody>
      </p:sp>
      <p:sp>
        <p:nvSpPr>
          <p:cNvPr id="19" name="Text 16"/>
          <p:cNvSpPr txBox="1"/>
          <p:nvPr/>
        </p:nvSpPr>
        <p:spPr>
          <a:xfrm>
            <a:off x="7973568" y="2148840"/>
            <a:ext cx="2834640" cy="822960"/>
          </a:xfrm>
          <a:prstGeom prst="rect">
            <a:avLst/>
          </a:prstGeom>
          <a:noFill/>
          <a:ln/>
        </p:spPr>
        <p:txBody>
          <a:bodyPr wrap="square" lIns="0" tIns="0" rIns="0" bIns="0" rtlCol="0" anchor="t"/>
          <a:lstStyle/>
          <a:p>
            <a:pPr marL="0" indent="0">
              <a:buNone/>
            </a:pPr>
            <a:r>
              <a:rPr lang="en-US" sz="1400" dirty="0">
                <a:solidFill>
                  <a:srgbClr val="F1F5F9"/>
                </a:solidFill>
                <a:latin typeface="Calibri" pitchFamily="34" charset="0"/>
                <a:ea typeface="Calibri" pitchFamily="34" charset="-122"/>
                <a:cs typeface="Calibri" pitchFamily="34" charset="-120"/>
              </a:rPr>
              <a:t>Elegir el «top 5» mirando toda la muestra.</a:t>
            </a:r>
            <a:endParaRPr lang="en-US" sz="1400" dirty="0"/>
          </a:p>
        </p:txBody>
      </p:sp>
      <p:sp>
        <p:nvSpPr>
          <p:cNvPr id="20" name="Text 17"/>
          <p:cNvSpPr txBox="1"/>
          <p:nvPr/>
        </p:nvSpPr>
        <p:spPr>
          <a:xfrm>
            <a:off x="7973568" y="3017520"/>
            <a:ext cx="2834640" cy="685800"/>
          </a:xfrm>
          <a:prstGeom prst="rect">
            <a:avLst/>
          </a:prstGeom>
          <a:noFill/>
          <a:ln/>
        </p:spPr>
        <p:txBody>
          <a:bodyPr wrap="square" lIns="0" tIns="0" rIns="0" bIns="0" rtlCol="0" anchor="ctr"/>
          <a:lstStyle/>
          <a:p>
            <a:pPr marL="0" indent="0">
              <a:buNone/>
            </a:pPr>
            <a:r>
              <a:rPr lang="en-US" sz="1800" b="1" dirty="0">
                <a:solidFill>
                  <a:srgbClr val="FBBF24"/>
                </a:solidFill>
                <a:latin typeface="Calibri" pitchFamily="34" charset="0"/>
                <a:ea typeface="Calibri" pitchFamily="34" charset="-122"/>
                <a:cs typeface="Calibri" pitchFamily="34" charset="-120"/>
              </a:rPr>
              <a:t>Sesgo +0,150 de AUC-PR</a:t>
            </a:r>
            <a:endParaRPr lang="en-US" sz="1800" dirty="0"/>
          </a:p>
        </p:txBody>
      </p:sp>
      <p:sp>
        <p:nvSpPr>
          <p:cNvPr id="21" name="Text 18"/>
          <p:cNvSpPr txBox="1"/>
          <p:nvPr/>
        </p:nvSpPr>
        <p:spPr>
          <a:xfrm>
            <a:off x="7973568" y="3794760"/>
            <a:ext cx="2834640" cy="1051560"/>
          </a:xfrm>
          <a:prstGeom prst="rect">
            <a:avLst/>
          </a:prstGeom>
          <a:noFill/>
          <a:ln/>
        </p:spPr>
        <p:txBody>
          <a:bodyPr wrap="square" lIns="0" tIns="0" rIns="0" bIns="0" rtlCol="0" anchor="t"/>
          <a:lstStyle/>
          <a:p>
            <a:pPr marL="0" indent="0">
              <a:buNone/>
            </a:pPr>
            <a:r>
              <a:rPr lang="en-US" sz="1300" dirty="0">
                <a:solidFill>
                  <a:srgbClr val="9FB0C8"/>
                </a:solidFill>
                <a:latin typeface="Calibri" pitchFamily="34" charset="0"/>
                <a:ea typeface="Calibri" pitchFamily="34" charset="-122"/>
                <a:cs typeface="Calibri" pitchFamily="34" charset="-120"/>
              </a:rPr>
              <a:t>Cinco veces el umbral de relevancia. → selección dentro del pliegue: 6 variables (S3)</a:t>
            </a:r>
            <a:endParaRPr lang="en-US" sz="1300" dirty="0"/>
          </a:p>
        </p:txBody>
      </p:sp>
      <p:sp>
        <p:nvSpPr>
          <p:cNvPr id="22" name="Shape 19"/>
          <p:cNvSpPr/>
          <p:nvPr/>
        </p:nvSpPr>
        <p:spPr>
          <a:xfrm>
            <a:off x="731520" y="5212080"/>
            <a:ext cx="10424160" cy="731520"/>
          </a:xfrm>
          <a:prstGeom prst="roundRect">
            <a:avLst>
              <a:gd name="adj" fmla="val 10000"/>
            </a:avLst>
          </a:prstGeom>
          <a:solidFill>
            <a:srgbClr val="0F2A44"/>
          </a:solidFill>
          <a:ln w="9525">
            <a:solidFill>
              <a:srgbClr val="27406A"/>
            </a:solidFill>
            <a:prstDash val="solid"/>
          </a:ln>
        </p:spPr>
      </p:sp>
      <p:sp>
        <p:nvSpPr>
          <p:cNvPr id="23" name="Text 20"/>
          <p:cNvSpPr txBox="1"/>
          <p:nvPr/>
        </p:nvSpPr>
        <p:spPr>
          <a:xfrm>
            <a:off x="960120" y="5257800"/>
            <a:ext cx="9966960" cy="640080"/>
          </a:xfrm>
          <a:prstGeom prst="rect">
            <a:avLst/>
          </a:prstGeom>
          <a:noFill/>
          <a:ln/>
        </p:spPr>
        <p:txBody>
          <a:bodyPr wrap="square" lIns="0" tIns="0" rIns="0" bIns="0" rtlCol="0" anchor="ctr"/>
          <a:lstStyle/>
          <a:p>
            <a:pPr marL="0" indent="0">
              <a:buNone/>
            </a:pPr>
            <a:r>
              <a:rPr lang="en-US" sz="1450" b="1" dirty="0">
                <a:solidFill>
                  <a:srgbClr val="38BDF8"/>
                </a:solidFill>
                <a:latin typeface="Calibri" pitchFamily="34" charset="0"/>
                <a:ea typeface="Calibri" pitchFamily="34" charset="-122"/>
                <a:cs typeface="Calibri" pitchFamily="34" charset="-120"/>
              </a:rPr>
              <a:t>Lección:  </a:t>
            </a:r>
            <a:r>
              <a:rPr lang="en-US" sz="1450" dirty="0">
                <a:solidFill>
                  <a:srgbClr val="F1F5F9"/>
                </a:solidFill>
                <a:latin typeface="Calibri" pitchFamily="34" charset="0"/>
                <a:ea typeface="Calibri" pitchFamily="34" charset="-122"/>
                <a:cs typeface="Calibri" pitchFamily="34" charset="-120"/>
              </a:rPr>
              <a:t>en datos educativos pequeños, el diseño experimental mueve el resultado más que la elección del algoritmo. 21 problemas documentados en una bitácora reproducible.</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tmp/claude-0/deck/logo.png"/>
          <p:cNvPicPr>
            <a:picLocks noChangeAspect="1"/>
          </p:cNvPicPr>
          <p:nvPr/>
        </p:nvPicPr>
        <p:blipFill>
          <a:blip r:embed="rId4"/>
          <a:stretch>
            <a:fillRect/>
          </a:stretch>
        </p:blipFill>
        <p:spPr>
          <a:xfrm>
            <a:off x="11356848" y="5870448"/>
            <a:ext cx="713232" cy="713232"/>
          </a:xfrm>
          <a:prstGeom prst="rect">
            <a:avLst/>
          </a:prstGeom>
        </p:spPr>
      </p:pic>
      <p:sp>
        <p:nvSpPr>
          <p:cNvPr id="3" name="Text 0"/>
          <p:cNvSpPr txBox="1"/>
          <p:nvPr/>
        </p:nvSpPr>
        <p:spPr>
          <a:xfrm>
            <a:off x="10835640" y="6053328"/>
            <a:ext cx="457200" cy="274320"/>
          </a:xfrm>
          <a:prstGeom prst="rect">
            <a:avLst/>
          </a:prstGeom>
          <a:noFill/>
          <a:ln/>
        </p:spPr>
        <p:txBody>
          <a:bodyPr wrap="square" lIns="0" tIns="0" rIns="0" bIns="0" rtlCol="0" anchor="ctr"/>
          <a:lstStyle/>
          <a:p>
            <a:pPr marL="0" indent="0" algn="r">
              <a:buNone/>
            </a:pPr>
            <a:r>
              <a:rPr lang="en-US" sz="1000" dirty="0">
                <a:solidFill>
                  <a:srgbClr val="9FB0C8"/>
                </a:solidFill>
                <a:latin typeface="Calibri" pitchFamily="34" charset="0"/>
                <a:ea typeface="Calibri" pitchFamily="34" charset="-122"/>
                <a:cs typeface="Calibri" pitchFamily="34" charset="-120"/>
              </a:rPr>
              <a:t>7</a:t>
            </a:r>
            <a:endParaRPr lang="en-US" sz="1000" dirty="0"/>
          </a:p>
        </p:txBody>
      </p:sp>
      <p:sp>
        <p:nvSpPr>
          <p:cNvPr id="4" name="Shape 1"/>
          <p:cNvSpPr/>
          <p:nvPr/>
        </p:nvSpPr>
        <p:spPr>
          <a:xfrm>
            <a:off x="566928" y="457200"/>
            <a:ext cx="50292" cy="420624"/>
          </a:xfrm>
          <a:prstGeom prst="rect">
            <a:avLst/>
          </a:prstGeom>
          <a:solidFill>
            <a:srgbClr val="38BDF8"/>
          </a:solidFill>
          <a:ln w="12700">
            <a:solidFill>
              <a:srgbClr val="38BDF8"/>
            </a:solidFill>
            <a:prstDash val="solid"/>
          </a:ln>
        </p:spPr>
      </p:sp>
      <p:sp>
        <p:nvSpPr>
          <p:cNvPr id="5" name="Text 2"/>
          <p:cNvSpPr txBox="1"/>
          <p:nvPr/>
        </p:nvSpPr>
        <p:spPr>
          <a:xfrm>
            <a:off x="731520" y="347472"/>
            <a:ext cx="10607040" cy="640080"/>
          </a:xfrm>
          <a:prstGeom prst="rect">
            <a:avLst/>
          </a:prstGeom>
          <a:noFill/>
          <a:ln/>
        </p:spPr>
        <p:txBody>
          <a:bodyPr wrap="square" lIns="0" tIns="0" rIns="0" bIns="0" rtlCol="0" anchor="ctr"/>
          <a:lstStyle/>
          <a:p>
            <a:pPr marL="0" indent="0">
              <a:buNone/>
            </a:pPr>
            <a:r>
              <a:rPr lang="en-US" sz="3000" b="1" dirty="0">
                <a:solidFill>
                  <a:srgbClr val="F1F5F9"/>
                </a:solidFill>
                <a:latin typeface="Calibri" pitchFamily="34" charset="0"/>
                <a:ea typeface="Calibri" pitchFamily="34" charset="-122"/>
                <a:cs typeface="Calibri" pitchFamily="34" charset="-120"/>
              </a:rPr>
              <a:t>Resultado con el protocolo corregido</a:t>
            </a:r>
            <a:endParaRPr lang="en-US" sz="3000" dirty="0"/>
          </a:p>
        </p:txBody>
      </p:sp>
      <p:sp>
        <p:nvSpPr>
          <p:cNvPr id="6" name="Text 3"/>
          <p:cNvSpPr txBox="1"/>
          <p:nvPr/>
        </p:nvSpPr>
        <p:spPr>
          <a:xfrm>
            <a:off x="731520" y="969264"/>
            <a:ext cx="10607040" cy="365760"/>
          </a:xfrm>
          <a:prstGeom prst="rect">
            <a:avLst/>
          </a:prstGeom>
          <a:noFill/>
          <a:ln/>
        </p:spPr>
        <p:txBody>
          <a:bodyPr wrap="square" lIns="0" tIns="0" rIns="0" bIns="0" rtlCol="0" anchor="ctr"/>
          <a:lstStyle/>
          <a:p>
            <a:pPr marL="0" indent="0">
              <a:buNone/>
            </a:pPr>
            <a:r>
              <a:rPr lang="en-US" sz="1400" dirty="0">
                <a:solidFill>
                  <a:srgbClr val="9FB0C8"/>
                </a:solidFill>
                <a:latin typeface="Calibri" pitchFamily="34" charset="0"/>
                <a:ea typeface="Calibri" pitchFamily="34" charset="-122"/>
                <a:cs typeface="Calibri" pitchFamily="34" charset="-120"/>
              </a:rPr>
              <a:t>Art. 19 · n = 80 expuestos, 19 casos · CV anidada 5 × 10 · AUC-PR · t de Nadeau-Bengio</a:t>
            </a:r>
            <a:endParaRPr lang="en-US" sz="1400" dirty="0"/>
          </a:p>
        </p:txBody>
      </p:sp>
      <p:graphicFrame>
        <p:nvGraphicFramePr>
          <p:cNvPr id="7" name="Chart 0"/>
          <p:cNvGraphicFramePr/>
          <p:nvPr/>
        </p:nvGraphicFramePr>
        <p:xfrm>
          <a:off x="731520" y="1463040"/>
          <a:ext cx="6675120" cy="3977640"/>
        </p:xfrm>
        <a:graphic>
          <a:graphicData uri="http://schemas.openxmlformats.org/drawingml/2006/chart">
            <c:chart xmlns:c="http://schemas.openxmlformats.org/drawingml/2006/chart" xmlns:r="http://schemas.openxmlformats.org/officeDocument/2006/relationships" r:id="rId5"/>
          </a:graphicData>
        </a:graphic>
      </p:graphicFrame>
      <p:sp>
        <p:nvSpPr>
          <p:cNvPr id="8" name="Shape 4"/>
          <p:cNvSpPr/>
          <p:nvPr/>
        </p:nvSpPr>
        <p:spPr>
          <a:xfrm>
            <a:off x="7772400" y="1463040"/>
            <a:ext cx="3383280" cy="2148840"/>
          </a:xfrm>
          <a:prstGeom prst="roundRect">
            <a:avLst>
              <a:gd name="adj" fmla="val 3404"/>
            </a:avLst>
          </a:prstGeom>
          <a:solidFill>
            <a:srgbClr val="132238"/>
          </a:solidFill>
          <a:ln w="9525">
            <a:solidFill>
              <a:srgbClr val="27406A"/>
            </a:solidFill>
            <a:prstDash val="solid"/>
          </a:ln>
        </p:spPr>
      </p:sp>
      <p:sp>
        <p:nvSpPr>
          <p:cNvPr id="9" name="Text 5"/>
          <p:cNvSpPr txBox="1"/>
          <p:nvPr/>
        </p:nvSpPr>
        <p:spPr>
          <a:xfrm>
            <a:off x="7863840" y="1554480"/>
            <a:ext cx="3200400" cy="777240"/>
          </a:xfrm>
          <a:prstGeom prst="rect">
            <a:avLst/>
          </a:prstGeom>
          <a:noFill/>
          <a:ln/>
        </p:spPr>
        <p:txBody>
          <a:bodyPr wrap="square" lIns="0" tIns="0" rIns="0" bIns="0" rtlCol="0" anchor="ctr"/>
          <a:lstStyle/>
          <a:p>
            <a:pPr marL="0" indent="0" algn="ctr">
              <a:buNone/>
            </a:pPr>
            <a:r>
              <a:rPr lang="en-US" sz="5000" b="1" dirty="0">
                <a:solidFill>
                  <a:srgbClr val="38BDF8"/>
                </a:solidFill>
                <a:latin typeface="Calibri" pitchFamily="34" charset="0"/>
                <a:ea typeface="Calibri" pitchFamily="34" charset="-122"/>
                <a:cs typeface="Calibri" pitchFamily="34" charset="-120"/>
              </a:rPr>
              <a:t>0,745</a:t>
            </a:r>
            <a:endParaRPr lang="en-US" sz="5000" dirty="0"/>
          </a:p>
        </p:txBody>
      </p:sp>
      <p:sp>
        <p:nvSpPr>
          <p:cNvPr id="10" name="Text 6"/>
          <p:cNvSpPr txBox="1"/>
          <p:nvPr/>
        </p:nvSpPr>
        <p:spPr>
          <a:xfrm>
            <a:off x="7909560" y="2377440"/>
            <a:ext cx="3108960" cy="1097280"/>
          </a:xfrm>
          <a:prstGeom prst="rect">
            <a:avLst/>
          </a:prstGeom>
          <a:noFill/>
          <a:ln/>
        </p:spPr>
        <p:txBody>
          <a:bodyPr wrap="square" lIns="0" tIns="0" rIns="0" bIns="0" rtlCol="0" anchor="ctr"/>
          <a:lstStyle/>
          <a:p>
            <a:pPr marL="0" indent="0" algn="ctr">
              <a:buNone/>
            </a:pPr>
            <a:r>
              <a:rPr lang="en-US" sz="1400" b="1" dirty="0">
                <a:solidFill>
                  <a:srgbClr val="F1F5F9"/>
                </a:solidFill>
                <a:latin typeface="Calibri" pitchFamily="34" charset="0"/>
                <a:ea typeface="Calibri" pitchFamily="34" charset="-122"/>
                <a:cs typeface="Calibri" pitchFamily="34" charset="-120"/>
              </a:rPr>
              <a:t>AUC-PR de Random Forest</a:t>
            </a:r>
            <a:endParaRPr lang="en-US" sz="1400" dirty="0"/>
          </a:p>
          <a:p>
            <a:pPr marL="0" indent="0" algn="ctr">
              <a:buNone/>
            </a:pPr>
            <a:r>
              <a:rPr lang="en-US" sz="1400" dirty="0">
                <a:solidFill>
                  <a:srgbClr val="9FB0C8"/>
                </a:solidFill>
                <a:latin typeface="Calibri" pitchFamily="34" charset="0"/>
                <a:ea typeface="Calibri" pitchFamily="34" charset="-122"/>
                <a:cs typeface="Calibri" pitchFamily="34" charset="-120"/>
              </a:rPr>
              <a:t>3,1 × el azar · ± 0,025 · solo 6 variables</a:t>
            </a:r>
            <a:endParaRPr lang="en-US" sz="1400" dirty="0"/>
          </a:p>
        </p:txBody>
      </p:sp>
      <p:sp>
        <p:nvSpPr>
          <p:cNvPr id="11" name="Shape 7"/>
          <p:cNvSpPr/>
          <p:nvPr/>
        </p:nvSpPr>
        <p:spPr>
          <a:xfrm>
            <a:off x="7772400" y="3794760"/>
            <a:ext cx="3383280" cy="1645920"/>
          </a:xfrm>
          <a:prstGeom prst="roundRect">
            <a:avLst>
              <a:gd name="adj" fmla="val 4444"/>
            </a:avLst>
          </a:prstGeom>
          <a:solidFill>
            <a:srgbClr val="132238"/>
          </a:solidFill>
          <a:ln w="9525">
            <a:solidFill>
              <a:srgbClr val="27406A"/>
            </a:solidFill>
            <a:prstDash val="solid"/>
          </a:ln>
        </p:spPr>
      </p:sp>
      <p:sp>
        <p:nvSpPr>
          <p:cNvPr id="12" name="Text 8"/>
          <p:cNvSpPr txBox="1"/>
          <p:nvPr/>
        </p:nvSpPr>
        <p:spPr>
          <a:xfrm>
            <a:off x="7909560" y="3840480"/>
            <a:ext cx="3108960" cy="1554480"/>
          </a:xfrm>
          <a:prstGeom prst="rect">
            <a:avLst/>
          </a:prstGeom>
          <a:noFill/>
          <a:ln/>
        </p:spPr>
        <p:txBody>
          <a:bodyPr wrap="square" lIns="0" tIns="0" rIns="0" bIns="0" rtlCol="0" anchor="ctr"/>
          <a:lstStyle/>
          <a:p>
            <a:pPr marL="0" indent="0" algn="ctr">
              <a:buNone/>
            </a:pPr>
            <a:r>
              <a:rPr lang="en-US" sz="1350" b="1" dirty="0">
                <a:solidFill>
                  <a:srgbClr val="34D399"/>
                </a:solidFill>
                <a:latin typeface="Calibri" pitchFamily="34" charset="0"/>
                <a:ea typeface="Calibri" pitchFamily="34" charset="-122"/>
                <a:cs typeface="Calibri" pitchFamily="34" charset="-120"/>
              </a:rPr>
              <a:t>Graduación (n = 90)</a:t>
            </a:r>
            <a:endParaRPr lang="en-US" sz="1350" dirty="0"/>
          </a:p>
          <a:p>
            <a:pPr marL="0" indent="0" algn="ctr">
              <a:buNone/>
            </a:pPr>
            <a:r>
              <a:rPr lang="en-US" sz="1350" dirty="0">
                <a:solidFill>
                  <a:srgbClr val="F1F5F9"/>
                </a:solidFill>
                <a:latin typeface="Calibri" pitchFamily="34" charset="0"/>
                <a:ea typeface="Calibri" pitchFamily="34" charset="-122"/>
                <a:cs typeface="Calibri" pitchFamily="34" charset="-120"/>
              </a:rPr>
              <a:t>RF 0,705 ≈ SVM 0,725 (p = 0,39)</a:t>
            </a:r>
            <a:endParaRPr lang="en-US" sz="1350" dirty="0"/>
          </a:p>
          <a:p>
            <a:pPr marL="0" indent="0" algn="ctr">
              <a:buNone/>
            </a:pPr>
            <a:r>
              <a:rPr lang="en-US" sz="1350" dirty="0">
                <a:solidFill>
                  <a:srgbClr val="9FB0C8"/>
                </a:solidFill>
                <a:latin typeface="Calibri" pitchFamily="34" charset="0"/>
                <a:ea typeface="Calibri" pitchFamily="34" charset="-122"/>
                <a:cs typeface="Calibri" pitchFamily="34" charset="-120"/>
              </a:rPr>
              <a:t>azar 0,389 · la parsimonia elige RF</a:t>
            </a:r>
            <a:endParaRPr lang="en-US" sz="1350" dirty="0"/>
          </a:p>
          <a:p>
            <a:pPr marL="0" indent="0" algn="ctr">
              <a:buNone/>
            </a:pPr>
            <a:r>
              <a:rPr lang="en-US" sz="1350" dirty="0">
                <a:solidFill>
                  <a:srgbClr val="FBBF24"/>
                </a:solidFill>
                <a:latin typeface="Calibri" pitchFamily="34" charset="0"/>
                <a:ea typeface="Calibri" pitchFamily="34" charset="-122"/>
                <a:cs typeface="Calibri" pitchFamily="34" charset="-120"/>
              </a:rPr>
              <a:t>AUC-ROC 0,81 (paper: XGB 0,853)</a:t>
            </a:r>
            <a:endParaRPr lang="en-US" sz="1350" dirty="0"/>
          </a:p>
        </p:txBody>
      </p:sp>
      <p:sp>
        <p:nvSpPr>
          <p:cNvPr id="13" name="Shape 9"/>
          <p:cNvSpPr/>
          <p:nvPr/>
        </p:nvSpPr>
        <p:spPr>
          <a:xfrm>
            <a:off x="731520" y="5559552"/>
            <a:ext cx="10424160" cy="502920"/>
          </a:xfrm>
          <a:prstGeom prst="roundRect">
            <a:avLst>
              <a:gd name="adj" fmla="val 14545"/>
            </a:avLst>
          </a:prstGeom>
          <a:solidFill>
            <a:srgbClr val="0F2A44"/>
          </a:solidFill>
          <a:ln w="9525">
            <a:solidFill>
              <a:srgbClr val="27406A"/>
            </a:solidFill>
            <a:prstDash val="solid"/>
          </a:ln>
        </p:spPr>
      </p:sp>
      <p:sp>
        <p:nvSpPr>
          <p:cNvPr id="14" name="Text 10"/>
          <p:cNvSpPr txBox="1"/>
          <p:nvPr/>
        </p:nvSpPr>
        <p:spPr>
          <a:xfrm>
            <a:off x="960120" y="5605272"/>
            <a:ext cx="9966960" cy="411480"/>
          </a:xfrm>
          <a:prstGeom prst="rect">
            <a:avLst/>
          </a:prstGeom>
          <a:noFill/>
          <a:ln/>
        </p:spPr>
        <p:txBody>
          <a:bodyPr wrap="square" lIns="0" tIns="0" rIns="0" bIns="0" rtlCol="0" anchor="ctr"/>
          <a:lstStyle/>
          <a:p>
            <a:pPr marL="0" indent="0">
              <a:buNone/>
            </a:pPr>
            <a:r>
              <a:rPr lang="en-US" sz="1450" b="1" dirty="0">
                <a:solidFill>
                  <a:srgbClr val="34D399"/>
                </a:solidFill>
                <a:latin typeface="Calibri" pitchFamily="34" charset="0"/>
                <a:ea typeface="Calibri" pitchFamily="34" charset="-122"/>
                <a:cs typeface="Calibri" pitchFamily="34" charset="-120"/>
              </a:rPr>
              <a:t>Respuesta a la pregunta:  </a:t>
            </a:r>
            <a:r>
              <a:rPr lang="en-US" sz="1450" dirty="0">
                <a:solidFill>
                  <a:srgbClr val="F1F5F9"/>
                </a:solidFill>
                <a:latin typeface="Calibri" pitchFamily="34" charset="0"/>
                <a:ea typeface="Calibri" pitchFamily="34" charset="-122"/>
                <a:cs typeface="Calibri" pitchFamily="34" charset="-120"/>
              </a:rPr>
              <a:t>Random Forest se confirma, ahora por una regla fijada antes de ver los resultados.</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tmp/claude-0/deck/logo.png"/>
          <p:cNvPicPr>
            <a:picLocks noChangeAspect="1"/>
          </p:cNvPicPr>
          <p:nvPr/>
        </p:nvPicPr>
        <p:blipFill>
          <a:blip r:embed="rId4"/>
          <a:stretch>
            <a:fillRect/>
          </a:stretch>
        </p:blipFill>
        <p:spPr>
          <a:xfrm>
            <a:off x="11356848" y="5870448"/>
            <a:ext cx="713232" cy="713232"/>
          </a:xfrm>
          <a:prstGeom prst="rect">
            <a:avLst/>
          </a:prstGeom>
        </p:spPr>
      </p:pic>
      <p:sp>
        <p:nvSpPr>
          <p:cNvPr id="3" name="Text 0"/>
          <p:cNvSpPr txBox="1"/>
          <p:nvPr/>
        </p:nvSpPr>
        <p:spPr>
          <a:xfrm>
            <a:off x="10835640" y="6053328"/>
            <a:ext cx="457200" cy="274320"/>
          </a:xfrm>
          <a:prstGeom prst="rect">
            <a:avLst/>
          </a:prstGeom>
          <a:noFill/>
          <a:ln/>
        </p:spPr>
        <p:txBody>
          <a:bodyPr wrap="square" lIns="0" tIns="0" rIns="0" bIns="0" rtlCol="0" anchor="ctr"/>
          <a:lstStyle/>
          <a:p>
            <a:pPr marL="0" indent="0" algn="r">
              <a:buNone/>
            </a:pPr>
            <a:r>
              <a:rPr lang="en-US" sz="1000" dirty="0">
                <a:solidFill>
                  <a:srgbClr val="9FB0C8"/>
                </a:solidFill>
                <a:latin typeface="Calibri" pitchFamily="34" charset="0"/>
                <a:ea typeface="Calibri" pitchFamily="34" charset="-122"/>
                <a:cs typeface="Calibri" pitchFamily="34" charset="-120"/>
              </a:rPr>
              <a:t>8</a:t>
            </a:r>
            <a:endParaRPr lang="en-US" sz="1000" dirty="0"/>
          </a:p>
        </p:txBody>
      </p:sp>
      <p:sp>
        <p:nvSpPr>
          <p:cNvPr id="4" name="Shape 1"/>
          <p:cNvSpPr/>
          <p:nvPr/>
        </p:nvSpPr>
        <p:spPr>
          <a:xfrm>
            <a:off x="566928" y="457200"/>
            <a:ext cx="50292" cy="420624"/>
          </a:xfrm>
          <a:prstGeom prst="rect">
            <a:avLst/>
          </a:prstGeom>
          <a:solidFill>
            <a:srgbClr val="38BDF8"/>
          </a:solidFill>
          <a:ln w="12700">
            <a:solidFill>
              <a:srgbClr val="38BDF8"/>
            </a:solidFill>
            <a:prstDash val="solid"/>
          </a:ln>
        </p:spPr>
      </p:sp>
      <p:sp>
        <p:nvSpPr>
          <p:cNvPr id="5" name="Text 2"/>
          <p:cNvSpPr txBox="1"/>
          <p:nvPr/>
        </p:nvSpPr>
        <p:spPr>
          <a:xfrm>
            <a:off x="731520" y="347472"/>
            <a:ext cx="10607040" cy="640080"/>
          </a:xfrm>
          <a:prstGeom prst="rect">
            <a:avLst/>
          </a:prstGeom>
          <a:noFill/>
          <a:ln/>
        </p:spPr>
        <p:txBody>
          <a:bodyPr wrap="square" lIns="0" tIns="0" rIns="0" bIns="0" rtlCol="0" anchor="ctr"/>
          <a:lstStyle/>
          <a:p>
            <a:pPr marL="0" indent="0">
              <a:buNone/>
            </a:pPr>
            <a:r>
              <a:rPr lang="en-US" sz="3000" b="1" dirty="0">
                <a:solidFill>
                  <a:srgbClr val="F1F5F9"/>
                </a:solidFill>
                <a:latin typeface="Calibri" pitchFamily="34" charset="0"/>
                <a:ea typeface="Calibri" pitchFamily="34" charset="-122"/>
                <a:cs typeface="Calibri" pitchFamily="34" charset="-120"/>
              </a:rPr>
              <a:t>Qué puede y qué no puede el modelo</a:t>
            </a:r>
            <a:endParaRPr lang="en-US" sz="3000" dirty="0"/>
          </a:p>
        </p:txBody>
      </p:sp>
      <p:sp>
        <p:nvSpPr>
          <p:cNvPr id="6" name="Text 3"/>
          <p:cNvSpPr txBox="1"/>
          <p:nvPr/>
        </p:nvSpPr>
        <p:spPr>
          <a:xfrm>
            <a:off x="731520" y="969264"/>
            <a:ext cx="10607040" cy="365760"/>
          </a:xfrm>
          <a:prstGeom prst="rect">
            <a:avLst/>
          </a:prstGeom>
          <a:noFill/>
          <a:ln/>
        </p:spPr>
        <p:txBody>
          <a:bodyPr wrap="square" lIns="0" tIns="0" rIns="0" bIns="0" rtlCol="0" anchor="ctr"/>
          <a:lstStyle/>
          <a:p>
            <a:pPr marL="0" indent="0">
              <a:buNone/>
            </a:pPr>
            <a:r>
              <a:rPr lang="en-US" sz="1400" dirty="0">
                <a:solidFill>
                  <a:srgbClr val="9FB0C8"/>
                </a:solidFill>
                <a:latin typeface="Calibri" pitchFamily="34" charset="0"/>
                <a:ea typeface="Calibri" pitchFamily="34" charset="-122"/>
                <a:cs typeface="Calibri" pitchFamily="34" charset="-120"/>
              </a:rPr>
              <a:t>Niveles de alerta en lugar de un único umbral; límites medidos, no supuestos</a:t>
            </a:r>
            <a:endParaRPr lang="en-US" sz="1400" dirty="0"/>
          </a:p>
        </p:txBody>
      </p:sp>
      <p:sp>
        <p:nvSpPr>
          <p:cNvPr id="7" name="Shape 4"/>
          <p:cNvSpPr/>
          <p:nvPr/>
        </p:nvSpPr>
        <p:spPr>
          <a:xfrm>
            <a:off x="731520" y="1508760"/>
            <a:ext cx="5029200" cy="1828800"/>
          </a:xfrm>
          <a:prstGeom prst="roundRect">
            <a:avLst>
              <a:gd name="adj" fmla="val 4000"/>
            </a:avLst>
          </a:prstGeom>
          <a:solidFill>
            <a:srgbClr val="132238"/>
          </a:solidFill>
          <a:ln w="9525">
            <a:solidFill>
              <a:srgbClr val="27406A"/>
            </a:solidFill>
            <a:prstDash val="solid"/>
          </a:ln>
        </p:spPr>
      </p:sp>
      <p:sp>
        <p:nvSpPr>
          <p:cNvPr id="8" name="Text 5"/>
          <p:cNvSpPr txBox="1"/>
          <p:nvPr/>
        </p:nvSpPr>
        <p:spPr>
          <a:xfrm>
            <a:off x="914400" y="1600200"/>
            <a:ext cx="2194560" cy="365760"/>
          </a:xfrm>
          <a:prstGeom prst="rect">
            <a:avLst/>
          </a:prstGeom>
          <a:noFill/>
          <a:ln/>
        </p:spPr>
        <p:txBody>
          <a:bodyPr wrap="square" lIns="0" tIns="0" rIns="0" bIns="0" rtlCol="0" anchor="ctr"/>
          <a:lstStyle/>
          <a:p>
            <a:pPr marL="0" indent="0">
              <a:buNone/>
            </a:pPr>
            <a:r>
              <a:rPr lang="en-US" sz="1500" b="1" dirty="0">
                <a:solidFill>
                  <a:srgbClr val="F87171"/>
                </a:solidFill>
                <a:latin typeface="Calibri" pitchFamily="34" charset="0"/>
                <a:ea typeface="Calibri" pitchFamily="34" charset="-122"/>
                <a:cs typeface="Calibri" pitchFamily="34" charset="-120"/>
              </a:rPr>
              <a:t>CONFIRMADO</a:t>
            </a:r>
            <a:endParaRPr lang="en-US" sz="1500" dirty="0"/>
          </a:p>
        </p:txBody>
      </p:sp>
      <p:sp>
        <p:nvSpPr>
          <p:cNvPr id="9" name="Text 6"/>
          <p:cNvSpPr txBox="1"/>
          <p:nvPr/>
        </p:nvSpPr>
        <p:spPr>
          <a:xfrm>
            <a:off x="914400" y="1965960"/>
            <a:ext cx="2194560" cy="685800"/>
          </a:xfrm>
          <a:prstGeom prst="rect">
            <a:avLst/>
          </a:prstGeom>
          <a:noFill/>
          <a:ln/>
        </p:spPr>
        <p:txBody>
          <a:bodyPr wrap="square" lIns="0" tIns="0" rIns="0" bIns="0" rtlCol="0" anchor="ctr"/>
          <a:lstStyle/>
          <a:p>
            <a:pPr marL="0" indent="0">
              <a:buNone/>
            </a:pPr>
            <a:r>
              <a:rPr lang="en-US" sz="3600" b="1" dirty="0">
                <a:solidFill>
                  <a:srgbClr val="F1F5F9"/>
                </a:solidFill>
                <a:latin typeface="Calibri" pitchFamily="34" charset="0"/>
                <a:ea typeface="Calibri" pitchFamily="34" charset="-122"/>
                <a:cs typeface="Calibri" pitchFamily="34" charset="-120"/>
              </a:rPr>
              <a:t>12 de 13</a:t>
            </a:r>
            <a:endParaRPr lang="en-US" sz="3600" dirty="0"/>
          </a:p>
        </p:txBody>
      </p:sp>
      <p:sp>
        <p:nvSpPr>
          <p:cNvPr id="10" name="Text 7"/>
          <p:cNvSpPr txBox="1"/>
          <p:nvPr/>
        </p:nvSpPr>
        <p:spPr>
          <a:xfrm>
            <a:off x="914400" y="2651760"/>
            <a:ext cx="2194560" cy="548640"/>
          </a:xfrm>
          <a:prstGeom prst="rect">
            <a:avLst/>
          </a:prstGeom>
          <a:noFill/>
          <a:ln/>
        </p:spPr>
        <p:txBody>
          <a:bodyPr wrap="square" lIns="0" tIns="0" rIns="0" bIns="0" rtlCol="0" anchor="ctr"/>
          <a:lstStyle/>
          <a:p>
            <a:pPr marL="0" indent="0">
              <a:buNone/>
            </a:pPr>
            <a:r>
              <a:rPr lang="en-US" sz="1200" dirty="0">
                <a:solidFill>
                  <a:srgbClr val="9FB0C8"/>
                </a:solidFill>
                <a:latin typeface="Calibri" pitchFamily="34" charset="0"/>
                <a:ea typeface="Calibri" pitchFamily="34" charset="-122"/>
                <a:cs typeface="Calibri" pitchFamily="34" charset="-120"/>
              </a:rPr>
              <a:t>alertas fueron casos reales (umbral 0,63)</a:t>
            </a:r>
            <a:endParaRPr lang="en-US" sz="1200" dirty="0"/>
          </a:p>
        </p:txBody>
      </p:sp>
      <p:sp>
        <p:nvSpPr>
          <p:cNvPr id="11" name="Text 8"/>
          <p:cNvSpPr txBox="1"/>
          <p:nvPr/>
        </p:nvSpPr>
        <p:spPr>
          <a:xfrm>
            <a:off x="3337560" y="1600200"/>
            <a:ext cx="2286000" cy="365760"/>
          </a:xfrm>
          <a:prstGeom prst="rect">
            <a:avLst/>
          </a:prstGeom>
          <a:noFill/>
          <a:ln/>
        </p:spPr>
        <p:txBody>
          <a:bodyPr wrap="square" lIns="0" tIns="0" rIns="0" bIns="0" rtlCol="0" anchor="ctr"/>
          <a:lstStyle/>
          <a:p>
            <a:pPr marL="0" indent="0">
              <a:buNone/>
            </a:pPr>
            <a:r>
              <a:rPr lang="en-US" sz="1500" b="1" dirty="0">
                <a:solidFill>
                  <a:srgbClr val="FBBF24"/>
                </a:solidFill>
                <a:latin typeface="Calibri" pitchFamily="34" charset="0"/>
                <a:ea typeface="Calibri" pitchFamily="34" charset="-122"/>
                <a:cs typeface="Calibri" pitchFamily="34" charset="-120"/>
              </a:rPr>
              <a:t>SEGUIMIENTO</a:t>
            </a:r>
            <a:endParaRPr lang="en-US" sz="1500" dirty="0"/>
          </a:p>
        </p:txBody>
      </p:sp>
      <p:sp>
        <p:nvSpPr>
          <p:cNvPr id="12" name="Text 9"/>
          <p:cNvSpPr txBox="1"/>
          <p:nvPr/>
        </p:nvSpPr>
        <p:spPr>
          <a:xfrm>
            <a:off x="3337560" y="1965960"/>
            <a:ext cx="2286000" cy="685800"/>
          </a:xfrm>
          <a:prstGeom prst="rect">
            <a:avLst/>
          </a:prstGeom>
          <a:noFill/>
          <a:ln/>
        </p:spPr>
        <p:txBody>
          <a:bodyPr wrap="square" lIns="0" tIns="0" rIns="0" bIns="0" rtlCol="0" anchor="ctr"/>
          <a:lstStyle/>
          <a:p>
            <a:pPr marL="0" indent="0">
              <a:buNone/>
            </a:pPr>
            <a:r>
              <a:rPr lang="en-US" sz="3600" b="1" dirty="0">
                <a:solidFill>
                  <a:srgbClr val="F1F5F9"/>
                </a:solidFill>
                <a:latin typeface="Calibri" pitchFamily="34" charset="0"/>
                <a:ea typeface="Calibri" pitchFamily="34" charset="-122"/>
                <a:cs typeface="Calibri" pitchFamily="34" charset="-120"/>
              </a:rPr>
              <a:t>79 %</a:t>
            </a:r>
            <a:endParaRPr lang="en-US" sz="3600" dirty="0"/>
          </a:p>
        </p:txBody>
      </p:sp>
      <p:sp>
        <p:nvSpPr>
          <p:cNvPr id="13" name="Text 10"/>
          <p:cNvSpPr txBox="1"/>
          <p:nvPr/>
        </p:nvSpPr>
        <p:spPr>
          <a:xfrm>
            <a:off x="3337560" y="2651760"/>
            <a:ext cx="2286000" cy="548640"/>
          </a:xfrm>
          <a:prstGeom prst="rect">
            <a:avLst/>
          </a:prstGeom>
          <a:noFill/>
          <a:ln/>
        </p:spPr>
        <p:txBody>
          <a:bodyPr wrap="square" lIns="0" tIns="0" rIns="0" bIns="0" rtlCol="0" anchor="ctr"/>
          <a:lstStyle/>
          <a:p>
            <a:pPr marL="0" indent="0">
              <a:buNone/>
            </a:pPr>
            <a:r>
              <a:rPr lang="en-US" sz="1200" dirty="0">
                <a:solidFill>
                  <a:srgbClr val="9FB0C8"/>
                </a:solidFill>
                <a:latin typeface="Calibri" pitchFamily="34" charset="0"/>
                <a:ea typeface="Calibri" pitchFamily="34" charset="-122"/>
                <a:cs typeface="Calibri" pitchFamily="34" charset="-120"/>
              </a:rPr>
              <a:t>de los casos detectados, alertando al 49 % (umbral 0,13)</a:t>
            </a:r>
            <a:endParaRPr lang="en-US" sz="1200" dirty="0"/>
          </a:p>
        </p:txBody>
      </p:sp>
      <p:sp>
        <p:nvSpPr>
          <p:cNvPr id="14" name="Text 11"/>
          <p:cNvSpPr txBox="1"/>
          <p:nvPr/>
        </p:nvSpPr>
        <p:spPr>
          <a:xfrm>
            <a:off x="731520" y="3474720"/>
            <a:ext cx="5029200" cy="548640"/>
          </a:xfrm>
          <a:prstGeom prst="rect">
            <a:avLst/>
          </a:prstGeom>
          <a:noFill/>
          <a:ln/>
        </p:spPr>
        <p:txBody>
          <a:bodyPr wrap="square" lIns="0" tIns="0" rIns="0" bIns="0" rtlCol="0" anchor="ctr"/>
          <a:lstStyle/>
          <a:p>
            <a:pPr marL="0" indent="0">
              <a:buNone/>
            </a:pPr>
            <a:r>
              <a:rPr lang="en-US" sz="1400" i="1" dirty="0">
                <a:solidFill>
                  <a:srgbClr val="38BDF8"/>
                </a:solidFill>
                <a:latin typeface="Calibri" pitchFamily="34" charset="0"/>
                <a:ea typeface="Calibri" pitchFamily="34" charset="-122"/>
                <a:cs typeface="Calibri" pitchFamily="34" charset="-120"/>
              </a:rPr>
              <a:t>Cuántos estudiantes acompañar lo decide la Universidad (art. 23), no el modelo.</a:t>
            </a:r>
            <a:endParaRPr lang="en-US" sz="1400" dirty="0"/>
          </a:p>
        </p:txBody>
      </p:sp>
      <p:sp>
        <p:nvSpPr>
          <p:cNvPr id="15" name="Shape 12"/>
          <p:cNvSpPr/>
          <p:nvPr/>
        </p:nvSpPr>
        <p:spPr>
          <a:xfrm>
            <a:off x="6080760" y="1508760"/>
            <a:ext cx="5074920" cy="1033272"/>
          </a:xfrm>
          <a:prstGeom prst="roundRect">
            <a:avLst>
              <a:gd name="adj" fmla="val 7080"/>
            </a:avLst>
          </a:prstGeom>
          <a:solidFill>
            <a:srgbClr val="132238"/>
          </a:solidFill>
          <a:ln w="9525">
            <a:solidFill>
              <a:srgbClr val="27406A"/>
            </a:solidFill>
            <a:prstDash val="solid"/>
          </a:ln>
        </p:spPr>
      </p:sp>
      <p:sp>
        <p:nvSpPr>
          <p:cNvPr id="16" name="Shape 13"/>
          <p:cNvSpPr/>
          <p:nvPr/>
        </p:nvSpPr>
        <p:spPr>
          <a:xfrm>
            <a:off x="6263640" y="1801368"/>
            <a:ext cx="438912" cy="438912"/>
          </a:xfrm>
          <a:prstGeom prst="ellipse">
            <a:avLst/>
          </a:prstGeom>
          <a:solidFill>
            <a:srgbClr val="FBBF24"/>
          </a:solidFill>
          <a:ln w="12700">
            <a:solidFill>
              <a:srgbClr val="FBBF24"/>
            </a:solidFill>
            <a:prstDash val="solid"/>
          </a:ln>
        </p:spPr>
      </p:sp>
      <p:sp>
        <p:nvSpPr>
          <p:cNvPr id="17" name="Text 14"/>
          <p:cNvSpPr txBox="1"/>
          <p:nvPr/>
        </p:nvSpPr>
        <p:spPr>
          <a:xfrm>
            <a:off x="6263640" y="1801368"/>
            <a:ext cx="438912" cy="438912"/>
          </a:xfrm>
          <a:prstGeom prst="rect">
            <a:avLst/>
          </a:prstGeom>
          <a:noFill/>
          <a:ln/>
        </p:spPr>
        <p:txBody>
          <a:bodyPr wrap="square" lIns="0" tIns="0" rIns="0" bIns="0" rtlCol="0" anchor="ctr"/>
          <a:lstStyle/>
          <a:p>
            <a:pPr marL="0" indent="0" algn="ctr">
              <a:buNone/>
            </a:pPr>
            <a:r>
              <a:rPr lang="en-US" sz="1800" b="1" dirty="0">
                <a:solidFill>
                  <a:srgbClr val="0B1628"/>
                </a:solidFill>
                <a:latin typeface="Calibri" pitchFamily="34" charset="0"/>
                <a:ea typeface="Calibri" pitchFamily="34" charset="-122"/>
                <a:cs typeface="Calibri" pitchFamily="34" charset="-120"/>
              </a:rPr>
              <a:t>!</a:t>
            </a:r>
            <a:endParaRPr lang="en-US" sz="1800" dirty="0"/>
          </a:p>
        </p:txBody>
      </p:sp>
      <p:sp>
        <p:nvSpPr>
          <p:cNvPr id="18" name="Text 15"/>
          <p:cNvSpPr txBox="1"/>
          <p:nvPr/>
        </p:nvSpPr>
        <p:spPr>
          <a:xfrm>
            <a:off x="6858000" y="1554480"/>
            <a:ext cx="4160520" cy="941832"/>
          </a:xfrm>
          <a:prstGeom prst="rect">
            <a:avLst/>
          </a:prstGeom>
          <a:noFill/>
          <a:ln/>
        </p:spPr>
        <p:txBody>
          <a:bodyPr wrap="square" lIns="0" tIns="0" rIns="0" bIns="0" rtlCol="0" anchor="ctr"/>
          <a:lstStyle/>
          <a:p>
            <a:pPr marL="0" indent="0">
              <a:buNone/>
            </a:pPr>
            <a:r>
              <a:rPr lang="en-US" sz="1300" b="1" dirty="0">
                <a:solidFill>
                  <a:srgbClr val="F1F5F9"/>
                </a:solidFill>
                <a:latin typeface="Calibri" pitchFamily="34" charset="0"/>
                <a:ea typeface="Calibri" pitchFamily="34" charset="-122"/>
                <a:cs typeface="Calibri" pitchFamily="34" charset="-120"/>
              </a:rPr>
              <a:t>42 % de los casos ocurre en el 1.er semestre</a:t>
            </a:r>
            <a:endParaRPr lang="en-US" sz="1300" dirty="0"/>
          </a:p>
          <a:p>
            <a:pPr marL="0" indent="0">
              <a:buNone/>
            </a:pPr>
            <a:r>
              <a:rPr lang="en-US" sz="1300" dirty="0">
                <a:solidFill>
                  <a:srgbClr val="9FB0C8"/>
                </a:solidFill>
                <a:latin typeface="Calibri" pitchFamily="34" charset="0"/>
                <a:ea typeface="Calibri" pitchFamily="34" charset="-122"/>
                <a:cs typeface="Calibri" pitchFamily="34" charset="-120"/>
              </a:rPr>
              <a:t>el modelo los detecta, no los anticipa. Solo predictivo: AUC-PR 0,473 con el mismo lift (3,1×).</a:t>
            </a:r>
            <a:endParaRPr lang="en-US" sz="1300" dirty="0"/>
          </a:p>
        </p:txBody>
      </p:sp>
      <p:sp>
        <p:nvSpPr>
          <p:cNvPr id="19" name="Shape 16"/>
          <p:cNvSpPr/>
          <p:nvPr/>
        </p:nvSpPr>
        <p:spPr>
          <a:xfrm>
            <a:off x="6080760" y="2670048"/>
            <a:ext cx="5074920" cy="1033272"/>
          </a:xfrm>
          <a:prstGeom prst="roundRect">
            <a:avLst>
              <a:gd name="adj" fmla="val 7080"/>
            </a:avLst>
          </a:prstGeom>
          <a:solidFill>
            <a:srgbClr val="132238"/>
          </a:solidFill>
          <a:ln w="9525">
            <a:solidFill>
              <a:srgbClr val="27406A"/>
            </a:solidFill>
            <a:prstDash val="solid"/>
          </a:ln>
        </p:spPr>
      </p:sp>
      <p:sp>
        <p:nvSpPr>
          <p:cNvPr id="20" name="Shape 17"/>
          <p:cNvSpPr/>
          <p:nvPr/>
        </p:nvSpPr>
        <p:spPr>
          <a:xfrm>
            <a:off x="6263640" y="2962656"/>
            <a:ext cx="438912" cy="438912"/>
          </a:xfrm>
          <a:prstGeom prst="ellipse">
            <a:avLst/>
          </a:prstGeom>
          <a:solidFill>
            <a:srgbClr val="A78BFA"/>
          </a:solidFill>
          <a:ln w="12700">
            <a:solidFill>
              <a:srgbClr val="A78BFA"/>
            </a:solidFill>
            <a:prstDash val="solid"/>
          </a:ln>
        </p:spPr>
      </p:sp>
      <p:sp>
        <p:nvSpPr>
          <p:cNvPr id="21" name="Text 18"/>
          <p:cNvSpPr txBox="1"/>
          <p:nvPr/>
        </p:nvSpPr>
        <p:spPr>
          <a:xfrm>
            <a:off x="6263640" y="2962656"/>
            <a:ext cx="438912" cy="438912"/>
          </a:xfrm>
          <a:prstGeom prst="rect">
            <a:avLst/>
          </a:prstGeom>
          <a:noFill/>
          <a:ln/>
        </p:spPr>
        <p:txBody>
          <a:bodyPr wrap="square" lIns="0" tIns="0" rIns="0" bIns="0" rtlCol="0" anchor="ctr"/>
          <a:lstStyle/>
          <a:p>
            <a:pPr marL="0" indent="0" algn="ctr">
              <a:buNone/>
            </a:pPr>
            <a:r>
              <a:rPr lang="en-US" sz="1800" b="1" dirty="0">
                <a:solidFill>
                  <a:srgbClr val="0B1628"/>
                </a:solidFill>
                <a:latin typeface="Calibri" pitchFamily="34" charset="0"/>
                <a:ea typeface="Calibri" pitchFamily="34" charset="-122"/>
                <a:cs typeface="Calibri" pitchFamily="34" charset="-120"/>
              </a:rPr>
              <a:t>!</a:t>
            </a:r>
            <a:endParaRPr lang="en-US" sz="1800" dirty="0"/>
          </a:p>
        </p:txBody>
      </p:sp>
      <p:sp>
        <p:nvSpPr>
          <p:cNvPr id="22" name="Text 19"/>
          <p:cNvSpPr txBox="1"/>
          <p:nvPr/>
        </p:nvSpPr>
        <p:spPr>
          <a:xfrm>
            <a:off x="6858000" y="2715768"/>
            <a:ext cx="4160520" cy="941832"/>
          </a:xfrm>
          <a:prstGeom prst="rect">
            <a:avLst/>
          </a:prstGeom>
          <a:noFill/>
          <a:ln/>
        </p:spPr>
        <p:txBody>
          <a:bodyPr wrap="square" lIns="0" tIns="0" rIns="0" bIns="0" rtlCol="0" anchor="ctr"/>
          <a:lstStyle/>
          <a:p>
            <a:pPr marL="0" indent="0">
              <a:buNone/>
            </a:pPr>
            <a:r>
              <a:rPr lang="en-US" sz="1300" b="1" dirty="0">
                <a:solidFill>
                  <a:srgbClr val="F1F5F9"/>
                </a:solidFill>
                <a:latin typeface="Calibri" pitchFamily="34" charset="0"/>
                <a:ea typeface="Calibri" pitchFamily="34" charset="-122"/>
                <a:cs typeface="Calibri" pitchFamily="34" charset="-120"/>
              </a:rPr>
              <a:t>Calibrar no mejora</a:t>
            </a:r>
            <a:endParaRPr lang="en-US" sz="1300" dirty="0"/>
          </a:p>
          <a:p>
            <a:pPr marL="0" indent="0">
              <a:buNone/>
            </a:pPr>
            <a:r>
              <a:rPr lang="en-US" sz="1300" dirty="0">
                <a:solidFill>
                  <a:srgbClr val="9FB0C8"/>
                </a:solidFill>
                <a:latin typeface="Calibri" pitchFamily="34" charset="0"/>
                <a:ea typeface="Calibri" pitchFamily="34" charset="-122"/>
                <a:cs typeface="Calibri" pitchFamily="34" charset="-120"/>
              </a:rPr>
              <a:t>Platt e isotónica empeoran el AUC-PR sin bajar el Brier (0,111): se muestran niveles, no decimales.</a:t>
            </a:r>
            <a:endParaRPr lang="en-US" sz="1300" dirty="0"/>
          </a:p>
        </p:txBody>
      </p:sp>
      <p:sp>
        <p:nvSpPr>
          <p:cNvPr id="23" name="Shape 20"/>
          <p:cNvSpPr/>
          <p:nvPr/>
        </p:nvSpPr>
        <p:spPr>
          <a:xfrm>
            <a:off x="6080760" y="3831336"/>
            <a:ext cx="5074920" cy="1033272"/>
          </a:xfrm>
          <a:prstGeom prst="roundRect">
            <a:avLst>
              <a:gd name="adj" fmla="val 7080"/>
            </a:avLst>
          </a:prstGeom>
          <a:solidFill>
            <a:srgbClr val="132238"/>
          </a:solidFill>
          <a:ln w="9525">
            <a:solidFill>
              <a:srgbClr val="27406A"/>
            </a:solidFill>
            <a:prstDash val="solid"/>
          </a:ln>
        </p:spPr>
      </p:sp>
      <p:sp>
        <p:nvSpPr>
          <p:cNvPr id="24" name="Shape 21"/>
          <p:cNvSpPr/>
          <p:nvPr/>
        </p:nvSpPr>
        <p:spPr>
          <a:xfrm>
            <a:off x="6263640" y="4123944"/>
            <a:ext cx="438912" cy="438912"/>
          </a:xfrm>
          <a:prstGeom prst="ellipse">
            <a:avLst/>
          </a:prstGeom>
          <a:solidFill>
            <a:srgbClr val="F87171"/>
          </a:solidFill>
          <a:ln w="12700">
            <a:solidFill>
              <a:srgbClr val="F87171"/>
            </a:solidFill>
            <a:prstDash val="solid"/>
          </a:ln>
        </p:spPr>
      </p:sp>
      <p:sp>
        <p:nvSpPr>
          <p:cNvPr id="25" name="Text 22"/>
          <p:cNvSpPr txBox="1"/>
          <p:nvPr/>
        </p:nvSpPr>
        <p:spPr>
          <a:xfrm>
            <a:off x="6263640" y="4123944"/>
            <a:ext cx="438912" cy="438912"/>
          </a:xfrm>
          <a:prstGeom prst="rect">
            <a:avLst/>
          </a:prstGeom>
          <a:noFill/>
          <a:ln/>
        </p:spPr>
        <p:txBody>
          <a:bodyPr wrap="square" lIns="0" tIns="0" rIns="0" bIns="0" rtlCol="0" anchor="ctr"/>
          <a:lstStyle/>
          <a:p>
            <a:pPr marL="0" indent="0" algn="ctr">
              <a:buNone/>
            </a:pPr>
            <a:r>
              <a:rPr lang="en-US" sz="1800" b="1" dirty="0">
                <a:solidFill>
                  <a:srgbClr val="0B1628"/>
                </a:solidFill>
                <a:latin typeface="Calibri" pitchFamily="34" charset="0"/>
                <a:ea typeface="Calibri" pitchFamily="34" charset="-122"/>
                <a:cs typeface="Calibri" pitchFamily="34" charset="-120"/>
              </a:rPr>
              <a:t>!</a:t>
            </a:r>
            <a:endParaRPr lang="en-US" sz="1800" dirty="0"/>
          </a:p>
        </p:txBody>
      </p:sp>
      <p:sp>
        <p:nvSpPr>
          <p:cNvPr id="26" name="Text 23"/>
          <p:cNvSpPr txBox="1"/>
          <p:nvPr/>
        </p:nvSpPr>
        <p:spPr>
          <a:xfrm>
            <a:off x="6858000" y="3877056"/>
            <a:ext cx="4160520" cy="941832"/>
          </a:xfrm>
          <a:prstGeom prst="rect">
            <a:avLst/>
          </a:prstGeom>
          <a:noFill/>
          <a:ln/>
        </p:spPr>
        <p:txBody>
          <a:bodyPr wrap="square" lIns="0" tIns="0" rIns="0" bIns="0" rtlCol="0" anchor="ctr"/>
          <a:lstStyle/>
          <a:p>
            <a:pPr marL="0" indent="0">
              <a:buNone/>
            </a:pPr>
            <a:r>
              <a:rPr lang="en-US" sz="1300" b="1" dirty="0">
                <a:solidFill>
                  <a:srgbClr val="F1F5F9"/>
                </a:solidFill>
                <a:latin typeface="Calibri" pitchFamily="34" charset="0"/>
                <a:ea typeface="Calibri" pitchFamily="34" charset="-122"/>
                <a:cs typeface="Calibri" pitchFamily="34" charset="-120"/>
              </a:rPr>
              <a:t>Semestre a semestre: sin señal</a:t>
            </a:r>
            <a:endParaRPr lang="en-US" sz="1300" dirty="0"/>
          </a:p>
          <a:p>
            <a:pPr marL="0" indent="0">
              <a:buNone/>
            </a:pPr>
            <a:r>
              <a:rPr lang="en-US" sz="1300" dirty="0">
                <a:solidFill>
                  <a:srgbClr val="9FB0C8"/>
                </a:solidFill>
                <a:latin typeface="Calibri" pitchFamily="34" charset="0"/>
                <a:ea typeface="Calibri" pitchFamily="34" charset="-122"/>
                <a:cs typeface="Calibri" pitchFamily="34" charset="-120"/>
              </a:rPr>
              <a:t>predecir el art. 20 por cortes no supera al azar (lift ≈ 1). El seguimiento usa las reglas del reglamento.</a:t>
            </a:r>
            <a:endParaRPr lang="en-US" sz="1300" dirty="0"/>
          </a:p>
        </p:txBody>
      </p:sp>
      <p:sp>
        <p:nvSpPr>
          <p:cNvPr id="27" name="Shape 24"/>
          <p:cNvSpPr/>
          <p:nvPr/>
        </p:nvSpPr>
        <p:spPr>
          <a:xfrm>
            <a:off x="731520" y="5120640"/>
            <a:ext cx="10424160" cy="685800"/>
          </a:xfrm>
          <a:prstGeom prst="roundRect">
            <a:avLst>
              <a:gd name="adj" fmla="val 10667"/>
            </a:avLst>
          </a:prstGeom>
          <a:solidFill>
            <a:srgbClr val="0F2A44"/>
          </a:solidFill>
          <a:ln w="9525">
            <a:solidFill>
              <a:srgbClr val="27406A"/>
            </a:solidFill>
            <a:prstDash val="solid"/>
          </a:ln>
        </p:spPr>
      </p:sp>
      <p:sp>
        <p:nvSpPr>
          <p:cNvPr id="28" name="Text 25"/>
          <p:cNvSpPr txBox="1"/>
          <p:nvPr/>
        </p:nvSpPr>
        <p:spPr>
          <a:xfrm>
            <a:off x="960120" y="5166360"/>
            <a:ext cx="9966960" cy="594360"/>
          </a:xfrm>
          <a:prstGeom prst="rect">
            <a:avLst/>
          </a:prstGeom>
          <a:noFill/>
          <a:ln/>
        </p:spPr>
        <p:txBody>
          <a:bodyPr wrap="square" lIns="0" tIns="0" rIns="0" bIns="0" rtlCol="0" anchor="ctr"/>
          <a:lstStyle/>
          <a:p>
            <a:pPr marL="0" indent="0">
              <a:buNone/>
            </a:pPr>
            <a:r>
              <a:rPr lang="en-US" sz="1450" b="1" dirty="0">
                <a:solidFill>
                  <a:srgbClr val="34D399"/>
                </a:solidFill>
                <a:latin typeface="Calibri" pitchFamily="34" charset="0"/>
                <a:ea typeface="Calibri" pitchFamily="34" charset="-122"/>
                <a:cs typeface="Calibri" pitchFamily="34" charset="-120"/>
              </a:rPr>
              <a:t>Diseño:  </a:t>
            </a:r>
            <a:r>
              <a:rPr lang="en-US" sz="1450" dirty="0">
                <a:solidFill>
                  <a:srgbClr val="F1F5F9"/>
                </a:solidFill>
                <a:latin typeface="Calibri" pitchFamily="34" charset="0"/>
                <a:ea typeface="Calibri" pitchFamily="34" charset="-122"/>
                <a:cs typeface="Calibri" pitchFamily="34" charset="-120"/>
              </a:rPr>
              <a:t>predecir donde hay señal (cierre del 1.er semestre) y aplicar el reglamento donde no la hay (seguimiento semestral).</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tmp/claude-0/deck/logo.png"/>
          <p:cNvPicPr>
            <a:picLocks noChangeAspect="1"/>
          </p:cNvPicPr>
          <p:nvPr/>
        </p:nvPicPr>
        <p:blipFill>
          <a:blip r:embed="rId4"/>
          <a:stretch>
            <a:fillRect/>
          </a:stretch>
        </p:blipFill>
        <p:spPr>
          <a:xfrm>
            <a:off x="11356848" y="5870448"/>
            <a:ext cx="713232" cy="713232"/>
          </a:xfrm>
          <a:prstGeom prst="rect">
            <a:avLst/>
          </a:prstGeom>
        </p:spPr>
      </p:pic>
      <p:sp>
        <p:nvSpPr>
          <p:cNvPr id="3" name="Text 0"/>
          <p:cNvSpPr txBox="1"/>
          <p:nvPr/>
        </p:nvSpPr>
        <p:spPr>
          <a:xfrm>
            <a:off x="10835640" y="6053328"/>
            <a:ext cx="457200" cy="274320"/>
          </a:xfrm>
          <a:prstGeom prst="rect">
            <a:avLst/>
          </a:prstGeom>
          <a:noFill/>
          <a:ln/>
        </p:spPr>
        <p:txBody>
          <a:bodyPr wrap="square" lIns="0" tIns="0" rIns="0" bIns="0" rtlCol="0" anchor="ctr"/>
          <a:lstStyle/>
          <a:p>
            <a:pPr marL="0" indent="0" algn="r">
              <a:buNone/>
            </a:pPr>
            <a:r>
              <a:rPr lang="en-US" sz="1000" dirty="0">
                <a:solidFill>
                  <a:srgbClr val="9FB0C8"/>
                </a:solidFill>
                <a:latin typeface="Calibri" pitchFamily="34" charset="0"/>
                <a:ea typeface="Calibri" pitchFamily="34" charset="-122"/>
                <a:cs typeface="Calibri" pitchFamily="34" charset="-120"/>
              </a:rPr>
              <a:t>9</a:t>
            </a:r>
            <a:endParaRPr lang="en-US" sz="1000" dirty="0"/>
          </a:p>
        </p:txBody>
      </p:sp>
      <p:sp>
        <p:nvSpPr>
          <p:cNvPr id="4" name="Shape 1"/>
          <p:cNvSpPr/>
          <p:nvPr/>
        </p:nvSpPr>
        <p:spPr>
          <a:xfrm>
            <a:off x="566928" y="457200"/>
            <a:ext cx="50292" cy="420624"/>
          </a:xfrm>
          <a:prstGeom prst="rect">
            <a:avLst/>
          </a:prstGeom>
          <a:solidFill>
            <a:srgbClr val="38BDF8"/>
          </a:solidFill>
          <a:ln w="12700">
            <a:solidFill>
              <a:srgbClr val="38BDF8"/>
            </a:solidFill>
            <a:prstDash val="solid"/>
          </a:ln>
        </p:spPr>
      </p:sp>
      <p:sp>
        <p:nvSpPr>
          <p:cNvPr id="5" name="Text 2"/>
          <p:cNvSpPr txBox="1"/>
          <p:nvPr/>
        </p:nvSpPr>
        <p:spPr>
          <a:xfrm>
            <a:off x="731520" y="347472"/>
            <a:ext cx="10607040" cy="640080"/>
          </a:xfrm>
          <a:prstGeom prst="rect">
            <a:avLst/>
          </a:prstGeom>
          <a:noFill/>
          <a:ln/>
        </p:spPr>
        <p:txBody>
          <a:bodyPr wrap="square" lIns="0" tIns="0" rIns="0" bIns="0" rtlCol="0" anchor="ctr"/>
          <a:lstStyle/>
          <a:p>
            <a:pPr marL="0" indent="0">
              <a:buNone/>
            </a:pPr>
            <a:r>
              <a:rPr lang="en-US" sz="3000" b="1" dirty="0">
                <a:solidFill>
                  <a:srgbClr val="F1F5F9"/>
                </a:solidFill>
                <a:latin typeface="Calibri" pitchFamily="34" charset="0"/>
                <a:ea typeface="Calibri" pitchFamily="34" charset="-122"/>
                <a:cs typeface="Calibri" pitchFamily="34" charset="-120"/>
              </a:rPr>
              <a:t>Dos planes de estudio, un solo sistema</a:t>
            </a:r>
            <a:endParaRPr lang="en-US" sz="3000" dirty="0"/>
          </a:p>
        </p:txBody>
      </p:sp>
      <p:sp>
        <p:nvSpPr>
          <p:cNvPr id="6" name="Text 3"/>
          <p:cNvSpPr txBox="1"/>
          <p:nvPr/>
        </p:nvSpPr>
        <p:spPr>
          <a:xfrm>
            <a:off x="731520" y="969264"/>
            <a:ext cx="10607040" cy="365760"/>
          </a:xfrm>
          <a:prstGeom prst="rect">
            <a:avLst/>
          </a:prstGeom>
          <a:noFill/>
          <a:ln/>
        </p:spPr>
        <p:txBody>
          <a:bodyPr wrap="square" lIns="0" tIns="0" rIns="0" bIns="0" rtlCol="0" anchor="ctr"/>
          <a:lstStyle/>
          <a:p>
            <a:pPr marL="0" indent="0">
              <a:buNone/>
            </a:pPr>
            <a:r>
              <a:rPr lang="en-US" sz="1400" dirty="0">
                <a:solidFill>
                  <a:srgbClr val="9FB0C8"/>
                </a:solidFill>
                <a:latin typeface="Calibri" pitchFamily="34" charset="0"/>
                <a:ea typeface="Calibri" pitchFamily="34" charset="-122"/>
                <a:cs typeface="Calibri" pitchFamily="34" charset="-120"/>
              </a:rPr>
              <a:t>Acuerdo 008 de 2011 · Acuerdo 001 de 2017 · Resolución Académica 036 de 2017</a:t>
            </a:r>
            <a:endParaRPr lang="en-US" sz="1400" dirty="0"/>
          </a:p>
        </p:txBody>
      </p:sp>
      <p:sp>
        <p:nvSpPr>
          <p:cNvPr id="7" name="Shape 4"/>
          <p:cNvSpPr/>
          <p:nvPr/>
        </p:nvSpPr>
        <p:spPr>
          <a:xfrm>
            <a:off x="731520" y="1554480"/>
            <a:ext cx="2377440" cy="1737360"/>
          </a:xfrm>
          <a:prstGeom prst="roundRect">
            <a:avLst>
              <a:gd name="adj" fmla="val 4211"/>
            </a:avLst>
          </a:prstGeom>
          <a:solidFill>
            <a:srgbClr val="132238"/>
          </a:solidFill>
          <a:ln w="9525">
            <a:solidFill>
              <a:srgbClr val="27406A"/>
            </a:solidFill>
            <a:prstDash val="solid"/>
          </a:ln>
        </p:spPr>
      </p:sp>
      <p:sp>
        <p:nvSpPr>
          <p:cNvPr id="8" name="Text 5"/>
          <p:cNvSpPr txBox="1"/>
          <p:nvPr/>
        </p:nvSpPr>
        <p:spPr>
          <a:xfrm>
            <a:off x="914400" y="1691640"/>
            <a:ext cx="2011680" cy="777240"/>
          </a:xfrm>
          <a:prstGeom prst="rect">
            <a:avLst/>
          </a:prstGeom>
          <a:noFill/>
          <a:ln/>
        </p:spPr>
        <p:txBody>
          <a:bodyPr wrap="square" lIns="0" tIns="0" rIns="0" bIns="0" rtlCol="0" anchor="ctr"/>
          <a:lstStyle/>
          <a:p>
            <a:pPr marL="0" indent="0" algn="ctr">
              <a:buNone/>
            </a:pPr>
            <a:r>
              <a:rPr lang="en-US" sz="4400" b="1" dirty="0">
                <a:solidFill>
                  <a:srgbClr val="FBBF24"/>
                </a:solidFill>
                <a:latin typeface="Calibri" pitchFamily="34" charset="0"/>
                <a:ea typeface="Calibri" pitchFamily="34" charset="-122"/>
                <a:cs typeface="Calibri" pitchFamily="34" charset="-120"/>
              </a:rPr>
              <a:t>167</a:t>
            </a:r>
            <a:endParaRPr lang="en-US" sz="4400" dirty="0"/>
          </a:p>
        </p:txBody>
      </p:sp>
      <p:sp>
        <p:nvSpPr>
          <p:cNvPr id="9" name="Text 6"/>
          <p:cNvSpPr txBox="1"/>
          <p:nvPr/>
        </p:nvSpPr>
        <p:spPr>
          <a:xfrm>
            <a:off x="914400" y="2468880"/>
            <a:ext cx="2011680" cy="320040"/>
          </a:xfrm>
          <a:prstGeom prst="rect">
            <a:avLst/>
          </a:prstGeom>
          <a:noFill/>
          <a:ln/>
        </p:spPr>
        <p:txBody>
          <a:bodyPr wrap="square" lIns="0" tIns="0" rIns="0" bIns="0" rtlCol="0" anchor="ctr"/>
          <a:lstStyle/>
          <a:p>
            <a:pPr marL="0" indent="0" algn="ctr">
              <a:buNone/>
            </a:pPr>
            <a:r>
              <a:rPr lang="en-US" sz="1500" b="1" dirty="0">
                <a:solidFill>
                  <a:srgbClr val="F1F5F9"/>
                </a:solidFill>
                <a:latin typeface="Calibri" pitchFamily="34" charset="0"/>
                <a:ea typeface="Calibri" pitchFamily="34" charset="-122"/>
                <a:cs typeface="Calibri" pitchFamily="34" charset="-120"/>
              </a:rPr>
              <a:t>créditos · plan 2011</a:t>
            </a:r>
            <a:endParaRPr lang="en-US" sz="1500" dirty="0"/>
          </a:p>
        </p:txBody>
      </p:sp>
      <p:sp>
        <p:nvSpPr>
          <p:cNvPr id="10" name="Text 7"/>
          <p:cNvSpPr txBox="1"/>
          <p:nvPr/>
        </p:nvSpPr>
        <p:spPr>
          <a:xfrm>
            <a:off x="914400" y="2788920"/>
            <a:ext cx="2011680" cy="411480"/>
          </a:xfrm>
          <a:prstGeom prst="rect">
            <a:avLst/>
          </a:prstGeom>
          <a:noFill/>
          <a:ln/>
        </p:spPr>
        <p:txBody>
          <a:bodyPr wrap="square" lIns="0" tIns="0" rIns="0" bIns="0" rtlCol="0" anchor="ctr"/>
          <a:lstStyle/>
          <a:p>
            <a:pPr marL="0" indent="0" algn="ctr">
              <a:buNone/>
            </a:pPr>
            <a:r>
              <a:rPr lang="en-US" sz="1150" dirty="0">
                <a:solidFill>
                  <a:srgbClr val="9FB0C8"/>
                </a:solidFill>
                <a:latin typeface="Calibri" pitchFamily="34" charset="0"/>
                <a:ea typeface="Calibri" pitchFamily="34" charset="-122"/>
                <a:cs typeface="Calibri" pitchFamily="34" charset="-120"/>
              </a:rPr>
              <a:t>códigos 602xxx</a:t>
            </a:r>
            <a:endParaRPr lang="en-US" sz="1150" dirty="0"/>
          </a:p>
        </p:txBody>
      </p:sp>
      <p:sp>
        <p:nvSpPr>
          <p:cNvPr id="11" name="Shape 8"/>
          <p:cNvSpPr/>
          <p:nvPr/>
        </p:nvSpPr>
        <p:spPr>
          <a:xfrm>
            <a:off x="3291840" y="1554480"/>
            <a:ext cx="2377440" cy="1737360"/>
          </a:xfrm>
          <a:prstGeom prst="roundRect">
            <a:avLst>
              <a:gd name="adj" fmla="val 4211"/>
            </a:avLst>
          </a:prstGeom>
          <a:solidFill>
            <a:srgbClr val="132238"/>
          </a:solidFill>
          <a:ln w="9525">
            <a:solidFill>
              <a:srgbClr val="27406A"/>
            </a:solidFill>
            <a:prstDash val="solid"/>
          </a:ln>
        </p:spPr>
      </p:sp>
      <p:sp>
        <p:nvSpPr>
          <p:cNvPr id="12" name="Text 9"/>
          <p:cNvSpPr txBox="1"/>
          <p:nvPr/>
        </p:nvSpPr>
        <p:spPr>
          <a:xfrm>
            <a:off x="3474720" y="1691640"/>
            <a:ext cx="2011680" cy="777240"/>
          </a:xfrm>
          <a:prstGeom prst="rect">
            <a:avLst/>
          </a:prstGeom>
          <a:noFill/>
          <a:ln/>
        </p:spPr>
        <p:txBody>
          <a:bodyPr wrap="square" lIns="0" tIns="0" rIns="0" bIns="0" rtlCol="0" anchor="ctr"/>
          <a:lstStyle/>
          <a:p>
            <a:pPr marL="0" indent="0" algn="ctr">
              <a:buNone/>
            </a:pPr>
            <a:r>
              <a:rPr lang="en-US" sz="4400" b="1" dirty="0">
                <a:solidFill>
                  <a:srgbClr val="38BDF8"/>
                </a:solidFill>
                <a:latin typeface="Calibri" pitchFamily="34" charset="0"/>
                <a:ea typeface="Calibri" pitchFamily="34" charset="-122"/>
                <a:cs typeface="Calibri" pitchFamily="34" charset="-120"/>
              </a:rPr>
              <a:t>165</a:t>
            </a:r>
            <a:endParaRPr lang="en-US" sz="4400" dirty="0"/>
          </a:p>
        </p:txBody>
      </p:sp>
      <p:sp>
        <p:nvSpPr>
          <p:cNvPr id="13" name="Text 10"/>
          <p:cNvSpPr txBox="1"/>
          <p:nvPr/>
        </p:nvSpPr>
        <p:spPr>
          <a:xfrm>
            <a:off x="3474720" y="2468880"/>
            <a:ext cx="2011680" cy="320040"/>
          </a:xfrm>
          <a:prstGeom prst="rect">
            <a:avLst/>
          </a:prstGeom>
          <a:noFill/>
          <a:ln/>
        </p:spPr>
        <p:txBody>
          <a:bodyPr wrap="square" lIns="0" tIns="0" rIns="0" bIns="0" rtlCol="0" anchor="ctr"/>
          <a:lstStyle/>
          <a:p>
            <a:pPr marL="0" indent="0" algn="ctr">
              <a:buNone/>
            </a:pPr>
            <a:r>
              <a:rPr lang="en-US" sz="1500" b="1" dirty="0">
                <a:solidFill>
                  <a:srgbClr val="F1F5F9"/>
                </a:solidFill>
                <a:latin typeface="Calibri" pitchFamily="34" charset="0"/>
                <a:ea typeface="Calibri" pitchFamily="34" charset="-122"/>
                <a:cs typeface="Calibri" pitchFamily="34" charset="-120"/>
              </a:rPr>
              <a:t>créditos · plan 2018</a:t>
            </a:r>
            <a:endParaRPr lang="en-US" sz="1500" dirty="0"/>
          </a:p>
        </p:txBody>
      </p:sp>
      <p:sp>
        <p:nvSpPr>
          <p:cNvPr id="14" name="Text 11"/>
          <p:cNvSpPr txBox="1"/>
          <p:nvPr/>
        </p:nvSpPr>
        <p:spPr>
          <a:xfrm>
            <a:off x="3474720" y="2788920"/>
            <a:ext cx="2011680" cy="411480"/>
          </a:xfrm>
          <a:prstGeom prst="rect">
            <a:avLst/>
          </a:prstGeom>
          <a:noFill/>
          <a:ln/>
        </p:spPr>
        <p:txBody>
          <a:bodyPr wrap="square" lIns="0" tIns="0" rIns="0" bIns="0" rtlCol="0" anchor="ctr"/>
          <a:lstStyle/>
          <a:p>
            <a:pPr marL="0" indent="0" algn="ctr">
              <a:buNone/>
            </a:pPr>
            <a:r>
              <a:rPr lang="en-US" sz="1150" dirty="0">
                <a:solidFill>
                  <a:srgbClr val="9FB0C8"/>
                </a:solidFill>
                <a:latin typeface="Calibri" pitchFamily="34" charset="0"/>
                <a:ea typeface="Calibri" pitchFamily="34" charset="-122"/>
                <a:cs typeface="Calibri" pitchFamily="34" charset="-120"/>
              </a:rPr>
              <a:t>códigos 603xxx</a:t>
            </a:r>
            <a:endParaRPr lang="en-US" sz="1150" dirty="0"/>
          </a:p>
        </p:txBody>
      </p:sp>
      <p:sp>
        <p:nvSpPr>
          <p:cNvPr id="15" name="Shape 12"/>
          <p:cNvSpPr/>
          <p:nvPr/>
        </p:nvSpPr>
        <p:spPr>
          <a:xfrm>
            <a:off x="731520" y="3474720"/>
            <a:ext cx="2377440" cy="1737360"/>
          </a:xfrm>
          <a:prstGeom prst="roundRect">
            <a:avLst>
              <a:gd name="adj" fmla="val 4211"/>
            </a:avLst>
          </a:prstGeom>
          <a:solidFill>
            <a:srgbClr val="132238"/>
          </a:solidFill>
          <a:ln w="9525">
            <a:solidFill>
              <a:srgbClr val="27406A"/>
            </a:solidFill>
            <a:prstDash val="solid"/>
          </a:ln>
        </p:spPr>
      </p:sp>
      <p:sp>
        <p:nvSpPr>
          <p:cNvPr id="16" name="Text 13"/>
          <p:cNvSpPr txBox="1"/>
          <p:nvPr/>
        </p:nvSpPr>
        <p:spPr>
          <a:xfrm>
            <a:off x="914400" y="3611880"/>
            <a:ext cx="2011680" cy="777240"/>
          </a:xfrm>
          <a:prstGeom prst="rect">
            <a:avLst/>
          </a:prstGeom>
          <a:noFill/>
          <a:ln/>
        </p:spPr>
        <p:txBody>
          <a:bodyPr wrap="square" lIns="0" tIns="0" rIns="0" bIns="0" rtlCol="0" anchor="ctr"/>
          <a:lstStyle/>
          <a:p>
            <a:pPr marL="0" indent="0" algn="ctr">
              <a:buNone/>
            </a:pPr>
            <a:r>
              <a:rPr lang="en-US" sz="4400" b="1" dirty="0">
                <a:solidFill>
                  <a:srgbClr val="34D399"/>
                </a:solidFill>
                <a:latin typeface="Calibri" pitchFamily="34" charset="0"/>
                <a:ea typeface="Calibri" pitchFamily="34" charset="-122"/>
                <a:cs typeface="Calibri" pitchFamily="34" charset="-120"/>
              </a:rPr>
              <a:t>72</a:t>
            </a:r>
            <a:endParaRPr lang="en-US" sz="4400" dirty="0"/>
          </a:p>
        </p:txBody>
      </p:sp>
      <p:sp>
        <p:nvSpPr>
          <p:cNvPr id="17" name="Text 14"/>
          <p:cNvSpPr txBox="1"/>
          <p:nvPr/>
        </p:nvSpPr>
        <p:spPr>
          <a:xfrm>
            <a:off x="914400" y="4389120"/>
            <a:ext cx="2011680" cy="320040"/>
          </a:xfrm>
          <a:prstGeom prst="rect">
            <a:avLst/>
          </a:prstGeom>
          <a:noFill/>
          <a:ln/>
        </p:spPr>
        <p:txBody>
          <a:bodyPr wrap="square" lIns="0" tIns="0" rIns="0" bIns="0" rtlCol="0" anchor="ctr"/>
          <a:lstStyle/>
          <a:p>
            <a:pPr marL="0" indent="0" algn="ctr">
              <a:buNone/>
            </a:pPr>
            <a:r>
              <a:rPr lang="en-US" sz="1500" b="1" dirty="0">
                <a:solidFill>
                  <a:srgbClr val="F1F5F9"/>
                </a:solidFill>
                <a:latin typeface="Calibri" pitchFamily="34" charset="0"/>
                <a:ea typeface="Calibri" pitchFamily="34" charset="-122"/>
                <a:cs typeface="Calibri" pitchFamily="34" charset="-120"/>
              </a:rPr>
              <a:t>equivalencias</a:t>
            </a:r>
            <a:endParaRPr lang="en-US" sz="1500" dirty="0"/>
          </a:p>
        </p:txBody>
      </p:sp>
      <p:sp>
        <p:nvSpPr>
          <p:cNvPr id="18" name="Text 15"/>
          <p:cNvSpPr txBox="1"/>
          <p:nvPr/>
        </p:nvSpPr>
        <p:spPr>
          <a:xfrm>
            <a:off x="914400" y="4709160"/>
            <a:ext cx="2011680" cy="411480"/>
          </a:xfrm>
          <a:prstGeom prst="rect">
            <a:avLst/>
          </a:prstGeom>
          <a:noFill/>
          <a:ln/>
        </p:spPr>
        <p:txBody>
          <a:bodyPr wrap="square" lIns="0" tIns="0" rIns="0" bIns="0" rtlCol="0" anchor="ctr"/>
          <a:lstStyle/>
          <a:p>
            <a:pPr marL="0" indent="0" algn="ctr">
              <a:buNone/>
            </a:pPr>
            <a:r>
              <a:rPr lang="en-US" sz="1150" dirty="0">
                <a:solidFill>
                  <a:srgbClr val="9FB0C8"/>
                </a:solidFill>
                <a:latin typeface="Calibri" pitchFamily="34" charset="0"/>
                <a:ea typeface="Calibri" pitchFamily="34" charset="-122"/>
                <a:cs typeface="Calibri" pitchFamily="34" charset="-120"/>
              </a:rPr>
              <a:t>Art. 1, Art. 2 e institucionales</a:t>
            </a:r>
            <a:endParaRPr lang="en-US" sz="1150" dirty="0"/>
          </a:p>
        </p:txBody>
      </p:sp>
      <p:sp>
        <p:nvSpPr>
          <p:cNvPr id="19" name="Shape 16"/>
          <p:cNvSpPr/>
          <p:nvPr/>
        </p:nvSpPr>
        <p:spPr>
          <a:xfrm>
            <a:off x="3291840" y="3474720"/>
            <a:ext cx="2377440" cy="1737360"/>
          </a:xfrm>
          <a:prstGeom prst="roundRect">
            <a:avLst>
              <a:gd name="adj" fmla="val 4211"/>
            </a:avLst>
          </a:prstGeom>
          <a:solidFill>
            <a:srgbClr val="132238"/>
          </a:solidFill>
          <a:ln w="9525">
            <a:solidFill>
              <a:srgbClr val="27406A"/>
            </a:solidFill>
            <a:prstDash val="solid"/>
          </a:ln>
        </p:spPr>
      </p:sp>
      <p:sp>
        <p:nvSpPr>
          <p:cNvPr id="20" name="Text 17"/>
          <p:cNvSpPr txBox="1"/>
          <p:nvPr/>
        </p:nvSpPr>
        <p:spPr>
          <a:xfrm>
            <a:off x="3474720" y="3611880"/>
            <a:ext cx="2011680" cy="777240"/>
          </a:xfrm>
          <a:prstGeom prst="rect">
            <a:avLst/>
          </a:prstGeom>
          <a:noFill/>
          <a:ln/>
        </p:spPr>
        <p:txBody>
          <a:bodyPr wrap="square" lIns="0" tIns="0" rIns="0" bIns="0" rtlCol="0" anchor="ctr"/>
          <a:lstStyle/>
          <a:p>
            <a:pPr marL="0" indent="0" algn="ctr">
              <a:buNone/>
            </a:pPr>
            <a:r>
              <a:rPr lang="en-US" sz="4400" b="1" dirty="0">
                <a:solidFill>
                  <a:srgbClr val="A78BFA"/>
                </a:solidFill>
                <a:latin typeface="Calibri" pitchFamily="34" charset="0"/>
                <a:ea typeface="Calibri" pitchFamily="34" charset="-122"/>
                <a:cs typeface="Calibri" pitchFamily="34" charset="-120"/>
              </a:rPr>
              <a:t>24</a:t>
            </a:r>
            <a:endParaRPr lang="en-US" sz="4400" dirty="0"/>
          </a:p>
        </p:txBody>
      </p:sp>
      <p:sp>
        <p:nvSpPr>
          <p:cNvPr id="21" name="Text 18"/>
          <p:cNvSpPr txBox="1"/>
          <p:nvPr/>
        </p:nvSpPr>
        <p:spPr>
          <a:xfrm>
            <a:off x="3474720" y="4389120"/>
            <a:ext cx="2011680" cy="320040"/>
          </a:xfrm>
          <a:prstGeom prst="rect">
            <a:avLst/>
          </a:prstGeom>
          <a:noFill/>
          <a:ln/>
        </p:spPr>
        <p:txBody>
          <a:bodyPr wrap="square" lIns="0" tIns="0" rIns="0" bIns="0" rtlCol="0" anchor="ctr"/>
          <a:lstStyle/>
          <a:p>
            <a:pPr marL="0" indent="0" algn="ctr">
              <a:buNone/>
            </a:pPr>
            <a:r>
              <a:rPr lang="en-US" sz="1500" b="1" dirty="0">
                <a:solidFill>
                  <a:srgbClr val="F1F5F9"/>
                </a:solidFill>
                <a:latin typeface="Calibri" pitchFamily="34" charset="0"/>
                <a:ea typeface="Calibri" pitchFamily="34" charset="-122"/>
                <a:cs typeface="Calibri" pitchFamily="34" charset="-120"/>
              </a:rPr>
              <a:t>pruebas automáticas</a:t>
            </a:r>
            <a:endParaRPr lang="en-US" sz="1500" dirty="0"/>
          </a:p>
        </p:txBody>
      </p:sp>
      <p:sp>
        <p:nvSpPr>
          <p:cNvPr id="22" name="Text 19"/>
          <p:cNvSpPr txBox="1"/>
          <p:nvPr/>
        </p:nvSpPr>
        <p:spPr>
          <a:xfrm>
            <a:off x="3474720" y="4709160"/>
            <a:ext cx="2011680" cy="411480"/>
          </a:xfrm>
          <a:prstGeom prst="rect">
            <a:avLst/>
          </a:prstGeom>
          <a:noFill/>
          <a:ln/>
        </p:spPr>
        <p:txBody>
          <a:bodyPr wrap="square" lIns="0" tIns="0" rIns="0" bIns="0" rtlCol="0" anchor="ctr"/>
          <a:lstStyle/>
          <a:p>
            <a:pPr marL="0" indent="0" algn="ctr">
              <a:buNone/>
            </a:pPr>
            <a:r>
              <a:rPr lang="en-US" sz="1150" dirty="0">
                <a:solidFill>
                  <a:srgbClr val="9FB0C8"/>
                </a:solidFill>
                <a:latin typeface="Calibri" pitchFamily="34" charset="0"/>
                <a:ea typeface="Calibri" pitchFamily="34" charset="-122"/>
                <a:cs typeface="Calibri" pitchFamily="34" charset="-120"/>
              </a:rPr>
              <a:t>ninguna cifra actual cambia</a:t>
            </a:r>
            <a:endParaRPr lang="en-US" sz="1150" dirty="0"/>
          </a:p>
        </p:txBody>
      </p:sp>
      <p:sp>
        <p:nvSpPr>
          <p:cNvPr id="23" name="Shape 20"/>
          <p:cNvSpPr/>
          <p:nvPr/>
        </p:nvSpPr>
        <p:spPr>
          <a:xfrm>
            <a:off x="5989320" y="1554480"/>
            <a:ext cx="5166360" cy="2057400"/>
          </a:xfrm>
          <a:prstGeom prst="roundRect">
            <a:avLst>
              <a:gd name="adj" fmla="val 3556"/>
            </a:avLst>
          </a:prstGeom>
          <a:solidFill>
            <a:srgbClr val="132238"/>
          </a:solidFill>
          <a:ln w="9525">
            <a:solidFill>
              <a:srgbClr val="27406A"/>
            </a:solidFill>
            <a:prstDash val="solid"/>
          </a:ln>
        </p:spPr>
      </p:sp>
      <p:sp>
        <p:nvSpPr>
          <p:cNvPr id="24" name="Text 21"/>
          <p:cNvSpPr txBox="1"/>
          <p:nvPr/>
        </p:nvSpPr>
        <p:spPr>
          <a:xfrm>
            <a:off x="6217920" y="1645920"/>
            <a:ext cx="4754880" cy="1874520"/>
          </a:xfrm>
          <a:prstGeom prst="rect">
            <a:avLst/>
          </a:prstGeom>
          <a:noFill/>
          <a:ln/>
        </p:spPr>
        <p:txBody>
          <a:bodyPr wrap="square" lIns="0" tIns="0" rIns="0" bIns="0" rtlCol="0" anchor="t"/>
          <a:lstStyle/>
          <a:p>
            <a:pPr marL="0" indent="0">
              <a:buNone/>
            </a:pPr>
            <a:r>
              <a:rPr lang="en-US" sz="1400" b="1" dirty="0">
                <a:solidFill>
                  <a:srgbClr val="38BDF8"/>
                </a:solidFill>
                <a:latin typeface="Calibri" pitchFamily="34" charset="0"/>
                <a:ea typeface="Calibri" pitchFamily="34" charset="-122"/>
                <a:cs typeface="Calibri" pitchFamily="34" charset="-120"/>
              </a:rPr>
              <a:t>Por qué importa</a:t>
            </a:r>
            <a:endParaRPr lang="en-US" sz="1400" dirty="0"/>
          </a:p>
          <a:p>
            <a:pPr marL="0" indent="0">
              <a:buNone/>
            </a:pPr>
            <a:r>
              <a:rPr lang="en-US" sz="1400" dirty="0">
                <a:solidFill>
                  <a:srgbClr val="F1F5F9"/>
                </a:solidFill>
                <a:latin typeface="Calibri" pitchFamily="34" charset="0"/>
                <a:ea typeface="Calibri" pitchFamily="34" charset="-122"/>
                <a:cs typeface="Calibri" pitchFamily="34" charset="-120"/>
              </a:rPr>
              <a:t>Reprobar Matemáticas II (2011) y luego Cálculo integral (2018) es repetir el mismo curso: cuenta para la 4.ª reprobación (art. 19) y la repitencia (art. 21). Sin la capa, pasa inadvertido.</a:t>
            </a:r>
            <a:endParaRPr lang="en-US" sz="1400" dirty="0"/>
          </a:p>
        </p:txBody>
      </p:sp>
      <p:sp>
        <p:nvSpPr>
          <p:cNvPr id="25" name="Shape 22"/>
          <p:cNvSpPr/>
          <p:nvPr/>
        </p:nvSpPr>
        <p:spPr>
          <a:xfrm>
            <a:off x="5989320" y="3749040"/>
            <a:ext cx="5166360" cy="1463040"/>
          </a:xfrm>
          <a:prstGeom prst="roundRect">
            <a:avLst>
              <a:gd name="adj" fmla="val 5000"/>
            </a:avLst>
          </a:prstGeom>
          <a:solidFill>
            <a:srgbClr val="132238"/>
          </a:solidFill>
          <a:ln w="9525">
            <a:solidFill>
              <a:srgbClr val="27406A"/>
            </a:solidFill>
            <a:prstDash val="solid"/>
          </a:ln>
        </p:spPr>
      </p:sp>
      <p:sp>
        <p:nvSpPr>
          <p:cNvPr id="26" name="Text 23"/>
          <p:cNvSpPr txBox="1"/>
          <p:nvPr/>
        </p:nvSpPr>
        <p:spPr>
          <a:xfrm>
            <a:off x="6217920" y="3822192"/>
            <a:ext cx="4754880" cy="1325880"/>
          </a:xfrm>
          <a:prstGeom prst="rect">
            <a:avLst/>
          </a:prstGeom>
          <a:noFill/>
          <a:ln/>
        </p:spPr>
        <p:txBody>
          <a:bodyPr wrap="square" lIns="0" tIns="0" rIns="0" bIns="0" rtlCol="0" anchor="t"/>
          <a:lstStyle/>
          <a:p>
            <a:pPr marL="0" indent="0">
              <a:buNone/>
            </a:pPr>
            <a:r>
              <a:rPr lang="en-US" sz="1350" b="1" dirty="0">
                <a:solidFill>
                  <a:srgbClr val="FBBF24"/>
                </a:solidFill>
                <a:latin typeface="Calibri" pitchFamily="34" charset="0"/>
                <a:ea typeface="Calibri" pitchFamily="34" charset="-122"/>
                <a:cs typeface="Calibri" pitchFamily="34" charset="-120"/>
              </a:rPr>
              <a:t>1.er semestre del plan 2018 (simulado)</a:t>
            </a:r>
            <a:endParaRPr lang="en-US" sz="1350" dirty="0"/>
          </a:p>
          <a:p>
            <a:pPr marL="0" indent="0">
              <a:buNone/>
            </a:pPr>
            <a:r>
              <a:rPr lang="en-US" sz="1350" dirty="0">
                <a:solidFill>
                  <a:srgbClr val="F1F5F9"/>
                </a:solidFill>
                <a:latin typeface="Calibri" pitchFamily="34" charset="0"/>
                <a:ea typeface="Calibri" pitchFamily="34" charset="-122"/>
                <a:cs typeface="Calibri" pitchFamily="34" charset="-120"/>
              </a:rPr>
              <a:t>AUC-PR 0,749 sin reentrenar (ref. 0,751): el orden se conserva. El promedio sube +0,125 → revisar umbrales con la primera cohorte real.</a:t>
            </a:r>
            <a:endParaRPr lang="en-US" sz="1350" dirty="0"/>
          </a:p>
        </p:txBody>
      </p:sp>
      <p:sp>
        <p:nvSpPr>
          <p:cNvPr id="27" name="Shape 24"/>
          <p:cNvSpPr/>
          <p:nvPr/>
        </p:nvSpPr>
        <p:spPr>
          <a:xfrm>
            <a:off x="731520" y="5440680"/>
            <a:ext cx="10424160" cy="594360"/>
          </a:xfrm>
          <a:prstGeom prst="roundRect">
            <a:avLst>
              <a:gd name="adj" fmla="val 12308"/>
            </a:avLst>
          </a:prstGeom>
          <a:solidFill>
            <a:srgbClr val="0F2A44"/>
          </a:solidFill>
          <a:ln w="9525">
            <a:solidFill>
              <a:srgbClr val="27406A"/>
            </a:solidFill>
            <a:prstDash val="solid"/>
          </a:ln>
        </p:spPr>
      </p:sp>
      <p:sp>
        <p:nvSpPr>
          <p:cNvPr id="28" name="Text 25"/>
          <p:cNvSpPr txBox="1"/>
          <p:nvPr/>
        </p:nvSpPr>
        <p:spPr>
          <a:xfrm>
            <a:off x="960120" y="5486400"/>
            <a:ext cx="9966960" cy="502920"/>
          </a:xfrm>
          <a:prstGeom prst="rect">
            <a:avLst/>
          </a:prstGeom>
          <a:noFill/>
          <a:ln/>
        </p:spPr>
        <p:txBody>
          <a:bodyPr wrap="square" lIns="0" tIns="0" rIns="0" bIns="0" rtlCol="0" anchor="ctr"/>
          <a:lstStyle/>
          <a:p>
            <a:pPr marL="0" indent="0">
              <a:buNone/>
            </a:pPr>
            <a:r>
              <a:rPr lang="en-US" sz="1450" b="1" dirty="0">
                <a:solidFill>
                  <a:srgbClr val="FBBF24"/>
                </a:solidFill>
                <a:latin typeface="Calibri" pitchFamily="34" charset="0"/>
                <a:ea typeface="Calibri" pitchFamily="34" charset="-122"/>
                <a:cs typeface="Calibri" pitchFamily="34" charset="-120"/>
              </a:rPr>
              <a:t>Hallazgo:  </a:t>
            </a:r>
            <a:r>
              <a:rPr lang="en-US" sz="1450" dirty="0">
                <a:solidFill>
                  <a:srgbClr val="F1F5F9"/>
                </a:solidFill>
                <a:latin typeface="Calibri" pitchFamily="34" charset="0"/>
                <a:ea typeface="Calibri" pitchFamily="34" charset="-122"/>
                <a:cs typeface="Calibri" pitchFamily="34" charset="-120"/>
              </a:rPr>
              <a:t>la cohorte 2018-1 cursó el plan 2011 en la práctica; «sin primer semestre» identifica ingresos por homologación.</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tmp/claude-0/deck/logo.png"/>
          <p:cNvPicPr>
            <a:picLocks noChangeAspect="1"/>
          </p:cNvPicPr>
          <p:nvPr/>
        </p:nvPicPr>
        <p:blipFill>
          <a:blip r:embed="rId4"/>
          <a:stretch>
            <a:fillRect/>
          </a:stretch>
        </p:blipFill>
        <p:spPr>
          <a:xfrm>
            <a:off x="11356848" y="5870448"/>
            <a:ext cx="713232" cy="713232"/>
          </a:xfrm>
          <a:prstGeom prst="rect">
            <a:avLst/>
          </a:prstGeom>
        </p:spPr>
      </p:pic>
      <p:sp>
        <p:nvSpPr>
          <p:cNvPr id="3" name="Text 0"/>
          <p:cNvSpPr txBox="1"/>
          <p:nvPr/>
        </p:nvSpPr>
        <p:spPr>
          <a:xfrm>
            <a:off x="10835640" y="6053328"/>
            <a:ext cx="457200" cy="274320"/>
          </a:xfrm>
          <a:prstGeom prst="rect">
            <a:avLst/>
          </a:prstGeom>
          <a:noFill/>
          <a:ln/>
        </p:spPr>
        <p:txBody>
          <a:bodyPr wrap="square" lIns="0" tIns="0" rIns="0" bIns="0" rtlCol="0" anchor="ctr"/>
          <a:lstStyle/>
          <a:p>
            <a:pPr marL="0" indent="0" algn="r">
              <a:buNone/>
            </a:pPr>
            <a:r>
              <a:rPr lang="en-US" sz="1000" dirty="0">
                <a:solidFill>
                  <a:srgbClr val="9FB0C8"/>
                </a:solidFill>
                <a:latin typeface="Calibri" pitchFamily="34" charset="0"/>
                <a:ea typeface="Calibri" pitchFamily="34" charset="-122"/>
                <a:cs typeface="Calibri" pitchFamily="34" charset="-120"/>
              </a:rPr>
              <a:t>10</a:t>
            </a:r>
            <a:endParaRPr lang="en-US" sz="1000" dirty="0"/>
          </a:p>
        </p:txBody>
      </p:sp>
      <p:sp>
        <p:nvSpPr>
          <p:cNvPr id="4" name="Shape 1"/>
          <p:cNvSpPr/>
          <p:nvPr/>
        </p:nvSpPr>
        <p:spPr>
          <a:xfrm>
            <a:off x="566928" y="457200"/>
            <a:ext cx="50292" cy="420624"/>
          </a:xfrm>
          <a:prstGeom prst="rect">
            <a:avLst/>
          </a:prstGeom>
          <a:solidFill>
            <a:srgbClr val="38BDF8"/>
          </a:solidFill>
          <a:ln w="12700">
            <a:solidFill>
              <a:srgbClr val="38BDF8"/>
            </a:solidFill>
            <a:prstDash val="solid"/>
          </a:ln>
        </p:spPr>
      </p:sp>
      <p:sp>
        <p:nvSpPr>
          <p:cNvPr id="5" name="Text 2"/>
          <p:cNvSpPr txBox="1"/>
          <p:nvPr/>
        </p:nvSpPr>
        <p:spPr>
          <a:xfrm>
            <a:off x="731520" y="347472"/>
            <a:ext cx="10607040" cy="640080"/>
          </a:xfrm>
          <a:prstGeom prst="rect">
            <a:avLst/>
          </a:prstGeom>
          <a:noFill/>
          <a:ln/>
        </p:spPr>
        <p:txBody>
          <a:bodyPr wrap="square" lIns="0" tIns="0" rIns="0" bIns="0" rtlCol="0" anchor="ctr"/>
          <a:lstStyle/>
          <a:p>
            <a:pPr marL="0" indent="0">
              <a:buNone/>
            </a:pPr>
            <a:r>
              <a:rPr lang="en-US" sz="3000" b="1" dirty="0">
                <a:solidFill>
                  <a:srgbClr val="F1F5F9"/>
                </a:solidFill>
                <a:latin typeface="Calibri" pitchFamily="34" charset="0"/>
                <a:ea typeface="Calibri" pitchFamily="34" charset="-122"/>
                <a:cs typeface="Calibri" pitchFamily="34" charset="-120"/>
              </a:rPr>
              <a:t>TRAYECTA: alerta y trayectoria académica</a:t>
            </a:r>
            <a:endParaRPr lang="en-US" sz="3000" dirty="0"/>
          </a:p>
        </p:txBody>
      </p:sp>
      <p:sp>
        <p:nvSpPr>
          <p:cNvPr id="6" name="Text 3"/>
          <p:cNvSpPr txBox="1"/>
          <p:nvPr/>
        </p:nvSpPr>
        <p:spPr>
          <a:xfrm>
            <a:off x="731520" y="969264"/>
            <a:ext cx="10607040" cy="365760"/>
          </a:xfrm>
          <a:prstGeom prst="rect">
            <a:avLst/>
          </a:prstGeom>
          <a:noFill/>
          <a:ln/>
        </p:spPr>
        <p:txBody>
          <a:bodyPr wrap="square" lIns="0" tIns="0" rIns="0" bIns="0" rtlCol="0" anchor="ctr"/>
          <a:lstStyle/>
          <a:p>
            <a:pPr marL="0" indent="0">
              <a:buNone/>
            </a:pPr>
            <a:r>
              <a:rPr lang="en-US" sz="1400" dirty="0">
                <a:solidFill>
                  <a:srgbClr val="9FB0C8"/>
                </a:solidFill>
                <a:latin typeface="Calibri" pitchFamily="34" charset="0"/>
                <a:ea typeface="Calibri" pitchFamily="34" charset="-122"/>
                <a:cs typeface="Calibri" pitchFamily="34" charset="-120"/>
              </a:rPr>
              <a:t>Referencia: SPADIES (MEN) — a escala de programa y con el reglamento de la Universidad</a:t>
            </a:r>
            <a:endParaRPr lang="en-US" sz="1400" dirty="0"/>
          </a:p>
        </p:txBody>
      </p:sp>
      <p:sp>
        <p:nvSpPr>
          <p:cNvPr id="7" name="Shape 4"/>
          <p:cNvSpPr/>
          <p:nvPr/>
        </p:nvSpPr>
        <p:spPr>
          <a:xfrm>
            <a:off x="731520" y="1645920"/>
            <a:ext cx="1783080" cy="1417320"/>
          </a:xfrm>
          <a:prstGeom prst="roundRect">
            <a:avLst>
              <a:gd name="adj" fmla="val 6452"/>
            </a:avLst>
          </a:prstGeom>
          <a:solidFill>
            <a:srgbClr val="132238"/>
          </a:solidFill>
          <a:ln w="19050">
            <a:solidFill>
              <a:srgbClr val="9FB0C8"/>
            </a:solidFill>
            <a:prstDash val="solid"/>
          </a:ln>
        </p:spPr>
      </p:sp>
      <p:sp>
        <p:nvSpPr>
          <p:cNvPr id="8" name="Text 5"/>
          <p:cNvSpPr txBox="1"/>
          <p:nvPr/>
        </p:nvSpPr>
        <p:spPr>
          <a:xfrm>
            <a:off x="777240" y="1691640"/>
            <a:ext cx="1691640" cy="1325880"/>
          </a:xfrm>
          <a:prstGeom prst="rect">
            <a:avLst/>
          </a:prstGeom>
          <a:noFill/>
          <a:ln/>
        </p:spPr>
        <p:txBody>
          <a:bodyPr wrap="square" lIns="0" tIns="0" rIns="0" bIns="0" rtlCol="0" anchor="ctr"/>
          <a:lstStyle/>
          <a:p>
            <a:pPr marL="0" indent="0" algn="ctr">
              <a:buNone/>
            </a:pPr>
            <a:r>
              <a:rPr lang="en-US" sz="1600" b="1" dirty="0">
                <a:solidFill>
                  <a:srgbClr val="9FB0C8"/>
                </a:solidFill>
                <a:latin typeface="Calibri" pitchFamily="34" charset="0"/>
                <a:ea typeface="Calibri" pitchFamily="34" charset="-122"/>
                <a:cs typeface="Calibri" pitchFamily="34" charset="-120"/>
              </a:rPr>
              <a:t>Extracto SIIF</a:t>
            </a:r>
            <a:endParaRPr lang="en-US" sz="1600" dirty="0"/>
          </a:p>
          <a:p>
            <a:pPr marL="0" indent="0" algn="ctr">
              <a:buNone/>
            </a:pPr>
            <a:r>
              <a:rPr lang="en-US" sz="1200" dirty="0">
                <a:solidFill>
                  <a:srgbClr val="F1F5F9"/>
                </a:solidFill>
                <a:latin typeface="Calibri" pitchFamily="34" charset="0"/>
                <a:ea typeface="Calibri" pitchFamily="34" charset="-122"/>
                <a:cs typeface="Calibri" pitchFamily="34" charset="-120"/>
              </a:rPr>
              <a:t>notas + SABER 11</a:t>
            </a:r>
            <a:endParaRPr lang="en-US" sz="1600" dirty="0"/>
          </a:p>
          <a:p>
            <a:pPr marL="0" indent="0" algn="ctr">
              <a:buNone/>
            </a:pPr>
            <a:r>
              <a:rPr lang="en-US" sz="1200" dirty="0">
                <a:solidFill>
                  <a:srgbClr val="F1F5F9"/>
                </a:solidFill>
                <a:latin typeface="Calibri" pitchFamily="34" charset="0"/>
                <a:ea typeface="Calibri" pitchFamily="34" charset="-122"/>
                <a:cs typeface="Calibri" pitchFamily="34" charset="-120"/>
              </a:rPr>
              <a:t>sin nombres</a:t>
            </a:r>
            <a:endParaRPr lang="en-US" sz="1600" dirty="0"/>
          </a:p>
        </p:txBody>
      </p:sp>
      <p:sp>
        <p:nvSpPr>
          <p:cNvPr id="9" name="Text 6"/>
          <p:cNvSpPr txBox="1"/>
          <p:nvPr/>
        </p:nvSpPr>
        <p:spPr>
          <a:xfrm>
            <a:off x="2514600" y="2103120"/>
            <a:ext cx="347472" cy="457200"/>
          </a:xfrm>
          <a:prstGeom prst="rect">
            <a:avLst/>
          </a:prstGeom>
          <a:noFill/>
          <a:ln/>
        </p:spPr>
        <p:txBody>
          <a:bodyPr wrap="square" lIns="0" tIns="0" rIns="0" bIns="0" rtlCol="0" anchor="ctr"/>
          <a:lstStyle/>
          <a:p>
            <a:pPr marL="0" indent="0" algn="ctr">
              <a:buNone/>
            </a:pPr>
            <a:r>
              <a:rPr lang="en-US" sz="2000" dirty="0">
                <a:solidFill>
                  <a:srgbClr val="9FB0C8"/>
                </a:solidFill>
                <a:latin typeface="Calibri" pitchFamily="34" charset="0"/>
                <a:ea typeface="Calibri" pitchFamily="34" charset="-122"/>
                <a:cs typeface="Calibri" pitchFamily="34" charset="-120"/>
              </a:rPr>
              <a:t>➜</a:t>
            </a:r>
            <a:endParaRPr lang="en-US" sz="2000" dirty="0"/>
          </a:p>
        </p:txBody>
      </p:sp>
      <p:sp>
        <p:nvSpPr>
          <p:cNvPr id="10" name="Shape 7"/>
          <p:cNvSpPr/>
          <p:nvPr/>
        </p:nvSpPr>
        <p:spPr>
          <a:xfrm>
            <a:off x="2862072" y="1645920"/>
            <a:ext cx="1783080" cy="1417320"/>
          </a:xfrm>
          <a:prstGeom prst="roundRect">
            <a:avLst>
              <a:gd name="adj" fmla="val 6452"/>
            </a:avLst>
          </a:prstGeom>
          <a:solidFill>
            <a:srgbClr val="132238"/>
          </a:solidFill>
          <a:ln w="19050">
            <a:solidFill>
              <a:srgbClr val="FBBF24"/>
            </a:solidFill>
            <a:prstDash val="solid"/>
          </a:ln>
        </p:spPr>
      </p:sp>
      <p:sp>
        <p:nvSpPr>
          <p:cNvPr id="11" name="Text 8"/>
          <p:cNvSpPr txBox="1"/>
          <p:nvPr/>
        </p:nvSpPr>
        <p:spPr>
          <a:xfrm>
            <a:off x="2907792" y="1691640"/>
            <a:ext cx="1691640" cy="1325880"/>
          </a:xfrm>
          <a:prstGeom prst="rect">
            <a:avLst/>
          </a:prstGeom>
          <a:noFill/>
          <a:ln/>
        </p:spPr>
        <p:txBody>
          <a:bodyPr wrap="square" lIns="0" tIns="0" rIns="0" bIns="0" rtlCol="0" anchor="ctr"/>
          <a:lstStyle/>
          <a:p>
            <a:pPr marL="0" indent="0" algn="ctr">
              <a:buNone/>
            </a:pPr>
            <a:r>
              <a:rPr lang="en-US" sz="1600" b="1" dirty="0">
                <a:solidFill>
                  <a:srgbClr val="FBBF24"/>
                </a:solidFill>
                <a:latin typeface="Calibri" pitchFamily="34" charset="0"/>
                <a:ea typeface="Calibri" pitchFamily="34" charset="-122"/>
                <a:cs typeface="Calibri" pitchFamily="34" charset="-120"/>
              </a:rPr>
              <a:t>Equivalencias</a:t>
            </a:r>
            <a:endParaRPr lang="en-US" sz="1600" dirty="0"/>
          </a:p>
          <a:p>
            <a:pPr marL="0" indent="0" algn="ctr">
              <a:buNone/>
            </a:pPr>
            <a:r>
              <a:rPr lang="en-US" sz="1200" dirty="0">
                <a:solidFill>
                  <a:srgbClr val="F1F5F9"/>
                </a:solidFill>
                <a:latin typeface="Calibri" pitchFamily="34" charset="0"/>
                <a:ea typeface="Calibri" pitchFamily="34" charset="-122"/>
                <a:cs typeface="Calibri" pitchFamily="34" charset="-120"/>
              </a:rPr>
              <a:t>plan 2011 / 2018</a:t>
            </a:r>
            <a:endParaRPr lang="en-US" sz="1600" dirty="0"/>
          </a:p>
          <a:p>
            <a:pPr marL="0" indent="0" algn="ctr">
              <a:buNone/>
            </a:pPr>
            <a:r>
              <a:rPr lang="en-US" sz="1200" dirty="0">
                <a:solidFill>
                  <a:srgbClr val="F1F5F9"/>
                </a:solidFill>
                <a:latin typeface="Calibri" pitchFamily="34" charset="0"/>
                <a:ea typeface="Calibri" pitchFamily="34" charset="-122"/>
                <a:cs typeface="Calibri" pitchFamily="34" charset="-120"/>
              </a:rPr>
              <a:t>validación de códigos</a:t>
            </a:r>
            <a:endParaRPr lang="en-US" sz="1600" dirty="0"/>
          </a:p>
        </p:txBody>
      </p:sp>
      <p:sp>
        <p:nvSpPr>
          <p:cNvPr id="12" name="Text 9"/>
          <p:cNvSpPr txBox="1"/>
          <p:nvPr/>
        </p:nvSpPr>
        <p:spPr>
          <a:xfrm>
            <a:off x="4645152" y="2103120"/>
            <a:ext cx="347472" cy="457200"/>
          </a:xfrm>
          <a:prstGeom prst="rect">
            <a:avLst/>
          </a:prstGeom>
          <a:noFill/>
          <a:ln/>
        </p:spPr>
        <p:txBody>
          <a:bodyPr wrap="square" lIns="0" tIns="0" rIns="0" bIns="0" rtlCol="0" anchor="ctr"/>
          <a:lstStyle/>
          <a:p>
            <a:pPr marL="0" indent="0" algn="ctr">
              <a:buNone/>
            </a:pPr>
            <a:r>
              <a:rPr lang="en-US" sz="2000" dirty="0">
                <a:solidFill>
                  <a:srgbClr val="9FB0C8"/>
                </a:solidFill>
                <a:latin typeface="Calibri" pitchFamily="34" charset="0"/>
                <a:ea typeface="Calibri" pitchFamily="34" charset="-122"/>
                <a:cs typeface="Calibri" pitchFamily="34" charset="-120"/>
              </a:rPr>
              <a:t>➜</a:t>
            </a:r>
            <a:endParaRPr lang="en-US" sz="2000" dirty="0"/>
          </a:p>
        </p:txBody>
      </p:sp>
      <p:sp>
        <p:nvSpPr>
          <p:cNvPr id="13" name="Shape 10"/>
          <p:cNvSpPr/>
          <p:nvPr/>
        </p:nvSpPr>
        <p:spPr>
          <a:xfrm>
            <a:off x="4992624" y="1645920"/>
            <a:ext cx="1783080" cy="1417320"/>
          </a:xfrm>
          <a:prstGeom prst="roundRect">
            <a:avLst>
              <a:gd name="adj" fmla="val 6452"/>
            </a:avLst>
          </a:prstGeom>
          <a:solidFill>
            <a:srgbClr val="132238"/>
          </a:solidFill>
          <a:ln w="19050">
            <a:solidFill>
              <a:srgbClr val="34D399"/>
            </a:solidFill>
            <a:prstDash val="solid"/>
          </a:ln>
        </p:spPr>
      </p:sp>
      <p:sp>
        <p:nvSpPr>
          <p:cNvPr id="14" name="Text 11"/>
          <p:cNvSpPr txBox="1"/>
          <p:nvPr/>
        </p:nvSpPr>
        <p:spPr>
          <a:xfrm>
            <a:off x="5038344" y="1691640"/>
            <a:ext cx="1691640" cy="1325880"/>
          </a:xfrm>
          <a:prstGeom prst="rect">
            <a:avLst/>
          </a:prstGeom>
          <a:noFill/>
          <a:ln/>
        </p:spPr>
        <p:txBody>
          <a:bodyPr wrap="square" lIns="0" tIns="0" rIns="0" bIns="0" rtlCol="0" anchor="ctr"/>
          <a:lstStyle/>
          <a:p>
            <a:pPr marL="0" indent="0" algn="ctr">
              <a:buNone/>
            </a:pPr>
            <a:r>
              <a:rPr lang="en-US" sz="1600" b="1" dirty="0">
                <a:solidFill>
                  <a:srgbClr val="34D399"/>
                </a:solidFill>
                <a:latin typeface="Calibri" pitchFamily="34" charset="0"/>
                <a:ea typeface="Calibri" pitchFamily="34" charset="-122"/>
                <a:cs typeface="Calibri" pitchFamily="34" charset="-120"/>
              </a:rPr>
              <a:t>Reglas</a:t>
            </a:r>
            <a:endParaRPr lang="en-US" sz="1600" dirty="0"/>
          </a:p>
          <a:p>
            <a:pPr marL="0" indent="0" algn="ctr">
              <a:buNone/>
            </a:pPr>
            <a:r>
              <a:rPr lang="en-US" sz="1200" dirty="0">
                <a:solidFill>
                  <a:srgbClr val="F1F5F9"/>
                </a:solidFill>
                <a:latin typeface="Calibri" pitchFamily="34" charset="0"/>
                <a:ea typeface="Calibri" pitchFamily="34" charset="-122"/>
                <a:cs typeface="Calibri" pitchFamily="34" charset="-120"/>
              </a:rPr>
              <a:t>arts. 19, 20, 21</a:t>
            </a:r>
            <a:endParaRPr lang="en-US" sz="1600" dirty="0"/>
          </a:p>
          <a:p>
            <a:pPr marL="0" indent="0" algn="ctr">
              <a:buNone/>
            </a:pPr>
            <a:r>
              <a:rPr lang="en-US" sz="1200" dirty="0">
                <a:solidFill>
                  <a:srgbClr val="F1F5F9"/>
                </a:solidFill>
                <a:latin typeface="Calibri" pitchFamily="34" charset="0"/>
                <a:ea typeface="Calibri" pitchFamily="34" charset="-122"/>
                <a:cs typeface="Calibri" pitchFamily="34" charset="-120"/>
              </a:rPr>
              <a:t>semestre a semestre</a:t>
            </a:r>
            <a:endParaRPr lang="en-US" sz="1600" dirty="0"/>
          </a:p>
        </p:txBody>
      </p:sp>
      <p:sp>
        <p:nvSpPr>
          <p:cNvPr id="15" name="Text 12"/>
          <p:cNvSpPr txBox="1"/>
          <p:nvPr/>
        </p:nvSpPr>
        <p:spPr>
          <a:xfrm>
            <a:off x="6775704" y="2103120"/>
            <a:ext cx="347472" cy="457200"/>
          </a:xfrm>
          <a:prstGeom prst="rect">
            <a:avLst/>
          </a:prstGeom>
          <a:noFill/>
          <a:ln/>
        </p:spPr>
        <p:txBody>
          <a:bodyPr wrap="square" lIns="0" tIns="0" rIns="0" bIns="0" rtlCol="0" anchor="ctr"/>
          <a:lstStyle/>
          <a:p>
            <a:pPr marL="0" indent="0" algn="ctr">
              <a:buNone/>
            </a:pPr>
            <a:r>
              <a:rPr lang="en-US" sz="2000" dirty="0">
                <a:solidFill>
                  <a:srgbClr val="9FB0C8"/>
                </a:solidFill>
                <a:latin typeface="Calibri" pitchFamily="34" charset="0"/>
                <a:ea typeface="Calibri" pitchFamily="34" charset="-122"/>
                <a:cs typeface="Calibri" pitchFamily="34" charset="-120"/>
              </a:rPr>
              <a:t>➜</a:t>
            </a:r>
            <a:endParaRPr lang="en-US" sz="2000" dirty="0"/>
          </a:p>
        </p:txBody>
      </p:sp>
      <p:sp>
        <p:nvSpPr>
          <p:cNvPr id="16" name="Shape 13"/>
          <p:cNvSpPr/>
          <p:nvPr/>
        </p:nvSpPr>
        <p:spPr>
          <a:xfrm>
            <a:off x="7123176" y="1645920"/>
            <a:ext cx="1783080" cy="1417320"/>
          </a:xfrm>
          <a:prstGeom prst="roundRect">
            <a:avLst>
              <a:gd name="adj" fmla="val 6452"/>
            </a:avLst>
          </a:prstGeom>
          <a:solidFill>
            <a:srgbClr val="132238"/>
          </a:solidFill>
          <a:ln w="19050">
            <a:solidFill>
              <a:srgbClr val="38BDF8"/>
            </a:solidFill>
            <a:prstDash val="solid"/>
          </a:ln>
        </p:spPr>
      </p:sp>
      <p:sp>
        <p:nvSpPr>
          <p:cNvPr id="17" name="Text 14"/>
          <p:cNvSpPr txBox="1"/>
          <p:nvPr/>
        </p:nvSpPr>
        <p:spPr>
          <a:xfrm>
            <a:off x="7168896" y="1691640"/>
            <a:ext cx="1691640" cy="1325880"/>
          </a:xfrm>
          <a:prstGeom prst="rect">
            <a:avLst/>
          </a:prstGeom>
          <a:noFill/>
          <a:ln/>
        </p:spPr>
        <p:txBody>
          <a:bodyPr wrap="square" lIns="0" tIns="0" rIns="0" bIns="0" rtlCol="0" anchor="ctr"/>
          <a:lstStyle/>
          <a:p>
            <a:pPr marL="0" indent="0" algn="ctr">
              <a:buNone/>
            </a:pPr>
            <a:r>
              <a:rPr lang="en-US" sz="1600" b="1" dirty="0">
                <a:solidFill>
                  <a:srgbClr val="38BDF8"/>
                </a:solidFill>
                <a:latin typeface="Calibri" pitchFamily="34" charset="0"/>
                <a:ea typeface="Calibri" pitchFamily="34" charset="-122"/>
                <a:cs typeface="Calibri" pitchFamily="34" charset="-120"/>
              </a:rPr>
              <a:t>Modelos</a:t>
            </a:r>
            <a:endParaRPr lang="en-US" sz="1600" dirty="0"/>
          </a:p>
          <a:p>
            <a:pPr marL="0" indent="0" algn="ctr">
              <a:buNone/>
            </a:pPr>
            <a:r>
              <a:rPr lang="en-US" sz="1200" dirty="0">
                <a:solidFill>
                  <a:srgbClr val="F1F5F9"/>
                </a:solidFill>
                <a:latin typeface="Calibri" pitchFamily="34" charset="0"/>
                <a:ea typeface="Calibri" pitchFamily="34" charset="-122"/>
                <a:cs typeface="Calibri" pitchFamily="34" charset="-120"/>
              </a:rPr>
              <a:t>alerta art. 19</a:t>
            </a:r>
            <a:endParaRPr lang="en-US" sz="1600" dirty="0"/>
          </a:p>
          <a:p>
            <a:pPr marL="0" indent="0" algn="ctr">
              <a:buNone/>
            </a:pPr>
            <a:r>
              <a:rPr lang="en-US" sz="1200" dirty="0">
                <a:solidFill>
                  <a:srgbClr val="F1F5F9"/>
                </a:solidFill>
                <a:latin typeface="Calibri" pitchFamily="34" charset="0"/>
                <a:ea typeface="Calibri" pitchFamily="34" charset="-122"/>
                <a:cs typeface="Calibri" pitchFamily="34" charset="-120"/>
              </a:rPr>
              <a:t>graduación</a:t>
            </a:r>
            <a:endParaRPr lang="en-US" sz="1600" dirty="0"/>
          </a:p>
        </p:txBody>
      </p:sp>
      <p:sp>
        <p:nvSpPr>
          <p:cNvPr id="18" name="Text 15"/>
          <p:cNvSpPr txBox="1"/>
          <p:nvPr/>
        </p:nvSpPr>
        <p:spPr>
          <a:xfrm>
            <a:off x="8906256" y="2103120"/>
            <a:ext cx="347472" cy="457200"/>
          </a:xfrm>
          <a:prstGeom prst="rect">
            <a:avLst/>
          </a:prstGeom>
          <a:noFill/>
          <a:ln/>
        </p:spPr>
        <p:txBody>
          <a:bodyPr wrap="square" lIns="0" tIns="0" rIns="0" bIns="0" rtlCol="0" anchor="ctr"/>
          <a:lstStyle/>
          <a:p>
            <a:pPr marL="0" indent="0" algn="ctr">
              <a:buNone/>
            </a:pPr>
            <a:r>
              <a:rPr lang="en-US" sz="2000" dirty="0">
                <a:solidFill>
                  <a:srgbClr val="9FB0C8"/>
                </a:solidFill>
                <a:latin typeface="Calibri" pitchFamily="34" charset="0"/>
                <a:ea typeface="Calibri" pitchFamily="34" charset="-122"/>
                <a:cs typeface="Calibri" pitchFamily="34" charset="-120"/>
              </a:rPr>
              <a:t>➜</a:t>
            </a:r>
            <a:endParaRPr lang="en-US" sz="2000" dirty="0"/>
          </a:p>
        </p:txBody>
      </p:sp>
      <p:sp>
        <p:nvSpPr>
          <p:cNvPr id="19" name="Shape 16"/>
          <p:cNvSpPr/>
          <p:nvPr/>
        </p:nvSpPr>
        <p:spPr>
          <a:xfrm>
            <a:off x="9253728" y="1645920"/>
            <a:ext cx="1783080" cy="1417320"/>
          </a:xfrm>
          <a:prstGeom prst="roundRect">
            <a:avLst>
              <a:gd name="adj" fmla="val 6452"/>
            </a:avLst>
          </a:prstGeom>
          <a:solidFill>
            <a:srgbClr val="132238"/>
          </a:solidFill>
          <a:ln w="19050">
            <a:solidFill>
              <a:srgbClr val="A78BFA"/>
            </a:solidFill>
            <a:prstDash val="solid"/>
          </a:ln>
        </p:spPr>
      </p:sp>
      <p:sp>
        <p:nvSpPr>
          <p:cNvPr id="20" name="Text 17"/>
          <p:cNvSpPr txBox="1"/>
          <p:nvPr/>
        </p:nvSpPr>
        <p:spPr>
          <a:xfrm>
            <a:off x="9299448" y="1691640"/>
            <a:ext cx="1691640" cy="1325880"/>
          </a:xfrm>
          <a:prstGeom prst="rect">
            <a:avLst/>
          </a:prstGeom>
          <a:noFill/>
          <a:ln/>
        </p:spPr>
        <p:txBody>
          <a:bodyPr wrap="square" lIns="0" tIns="0" rIns="0" bIns="0" rtlCol="0" anchor="ctr"/>
          <a:lstStyle/>
          <a:p>
            <a:pPr marL="0" indent="0" algn="ctr">
              <a:buNone/>
            </a:pPr>
            <a:r>
              <a:rPr lang="en-US" sz="1600" b="1" dirty="0">
                <a:solidFill>
                  <a:srgbClr val="A78BFA"/>
                </a:solidFill>
                <a:latin typeface="Calibri" pitchFamily="34" charset="0"/>
                <a:ea typeface="Calibri" pitchFamily="34" charset="-122"/>
                <a:cs typeface="Calibri" pitchFamily="34" charset="-120"/>
              </a:rPr>
              <a:t>Pantallas</a:t>
            </a:r>
            <a:endParaRPr lang="en-US" sz="1600" dirty="0"/>
          </a:p>
          <a:p>
            <a:pPr marL="0" indent="0" algn="ctr">
              <a:buNone/>
            </a:pPr>
            <a:r>
              <a:rPr lang="en-US" sz="1200" dirty="0">
                <a:solidFill>
                  <a:srgbClr val="F1F5F9"/>
                </a:solidFill>
                <a:latin typeface="Calibri" pitchFamily="34" charset="0"/>
                <a:ea typeface="Calibri" pitchFamily="34" charset="-122"/>
                <a:cs typeface="Calibri" pitchFamily="34" charset="-120"/>
              </a:rPr>
              <a:t>cohorte · ficha</a:t>
            </a:r>
            <a:endParaRPr lang="en-US" sz="1600" dirty="0"/>
          </a:p>
          <a:p>
            <a:pPr marL="0" indent="0" algn="ctr">
              <a:buNone/>
            </a:pPr>
            <a:r>
              <a:rPr lang="en-US" sz="1200" dirty="0">
                <a:solidFill>
                  <a:srgbClr val="F1F5F9"/>
                </a:solidFill>
                <a:latin typeface="Calibri" pitchFamily="34" charset="0"/>
                <a:ea typeface="Calibri" pitchFamily="34" charset="-122"/>
                <a:cs typeface="Calibri" pitchFamily="34" charset="-120"/>
              </a:rPr>
              <a:t>carga · evidencia</a:t>
            </a:r>
            <a:endParaRPr lang="en-US" sz="16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731520" y="3429000"/>
          <a:ext cx="10424160" cy="2011680"/>
        </p:xfrm>
        <a:graphic>
          <a:graphicData uri="http://schemas.openxmlformats.org/drawingml/2006/table">
            <a:tbl>
              <a:tblPr/>
              <a:tblGrid>
                <a:gridCol w="219456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4389120">
                  <a:extLst>
                    <a:ext uri="{9D8B030D-6E8A-4147-A177-3AD203B41FA5}">
                      <a16:colId xmlns:a16="http://schemas.microsoft.com/office/drawing/2014/main" val="20002"/>
                    </a:ext>
                  </a:extLst>
                </a:gridCol>
              </a:tblGrid>
              <a:tr h="402336">
                <a:tc>
                  <a:txBody>
                    <a:bodyPr/>
                    <a:lstStyle/>
                    <a:p>
                      <a:pPr marL="0" indent="0">
                        <a:buNone/>
                      </a:pPr>
                      <a:endParaRPr lang="en-US" sz="1250" dirty="0">
                        <a:latin typeface="Calibri" charset="0"/>
                        <a:ea typeface="Calibri" charset="0"/>
                        <a:cs typeface="Calibri" charset="0"/>
                      </a:endParaRPr>
                    </a:p>
                  </a:txBody>
                  <a:tcPr>
                    <a:lnL w="6350" cap="flat" cmpd="sng" algn="ctr">
                      <a:solidFill>
                        <a:srgbClr val="27406A"/>
                      </a:solidFill>
                      <a:prstDash val="solid"/>
                      <a:round/>
                      <a:headEnd type="none" w="med" len="med"/>
                      <a:tailEnd type="none" w="med" len="med"/>
                    </a:lnL>
                    <a:lnR w="6350" cap="flat" cmpd="sng" algn="ctr">
                      <a:solidFill>
                        <a:srgbClr val="27406A"/>
                      </a:solidFill>
                      <a:prstDash val="solid"/>
                      <a:round/>
                      <a:headEnd type="none" w="med" len="med"/>
                      <a:tailEnd type="none" w="med" len="med"/>
                    </a:lnR>
                    <a:lnT w="6350" cap="flat" cmpd="sng" algn="ctr">
                      <a:solidFill>
                        <a:srgbClr val="27406A"/>
                      </a:solidFill>
                      <a:prstDash val="solid"/>
                      <a:round/>
                      <a:headEnd type="none" w="med" len="med"/>
                      <a:tailEnd type="none" w="med" len="med"/>
                    </a:lnT>
                    <a:lnB w="6350" cap="flat" cmpd="sng" algn="ctr">
                      <a:solidFill>
                        <a:srgbClr val="27406A"/>
                      </a:solidFill>
                      <a:prstDash val="solid"/>
                      <a:round/>
                      <a:headEnd type="none" w="med" len="med"/>
                      <a:tailEnd type="none" w="med" len="med"/>
                    </a:lnB>
                    <a:solidFill>
                      <a:srgbClr val="0F2A44"/>
                    </a:solidFill>
                  </a:tcPr>
                </a:tc>
                <a:tc>
                  <a:txBody>
                    <a:bodyPr/>
                    <a:lstStyle/>
                    <a:p>
                      <a:pPr marL="0" indent="0">
                        <a:buNone/>
                      </a:pPr>
                      <a:r>
                        <a:rPr lang="en-US" sz="1250" b="1" dirty="0">
                          <a:solidFill>
                            <a:srgbClr val="9FB0C8"/>
                          </a:solidFill>
                          <a:latin typeface="Calibri" pitchFamily="34" charset="0"/>
                          <a:ea typeface="Calibri" pitchFamily="34" charset="-122"/>
                          <a:cs typeface="Calibri" pitchFamily="34" charset="-120"/>
                        </a:rPr>
                        <a:t>SPADIES (referencia nacional)</a:t>
                      </a:r>
                      <a:endParaRPr lang="en-US" sz="1250" dirty="0">
                        <a:latin typeface="Calibri" charset="0"/>
                        <a:ea typeface="Calibri" charset="0"/>
                        <a:cs typeface="Calibri" charset="0"/>
                      </a:endParaRPr>
                    </a:p>
                  </a:txBody>
                  <a:tcPr>
                    <a:lnL w="6350" cap="flat" cmpd="sng" algn="ctr">
                      <a:solidFill>
                        <a:srgbClr val="27406A"/>
                      </a:solidFill>
                      <a:prstDash val="solid"/>
                      <a:round/>
                      <a:headEnd type="none" w="med" len="med"/>
                      <a:tailEnd type="none" w="med" len="med"/>
                    </a:lnL>
                    <a:lnR w="6350" cap="flat" cmpd="sng" algn="ctr">
                      <a:solidFill>
                        <a:srgbClr val="27406A"/>
                      </a:solidFill>
                      <a:prstDash val="solid"/>
                      <a:round/>
                      <a:headEnd type="none" w="med" len="med"/>
                      <a:tailEnd type="none" w="med" len="med"/>
                    </a:lnR>
                    <a:lnT w="6350" cap="flat" cmpd="sng" algn="ctr">
                      <a:solidFill>
                        <a:srgbClr val="27406A"/>
                      </a:solidFill>
                      <a:prstDash val="solid"/>
                      <a:round/>
                      <a:headEnd type="none" w="med" len="med"/>
                      <a:tailEnd type="none" w="med" len="med"/>
                    </a:lnT>
                    <a:lnB w="6350" cap="flat" cmpd="sng" algn="ctr">
                      <a:solidFill>
                        <a:srgbClr val="27406A"/>
                      </a:solidFill>
                      <a:prstDash val="solid"/>
                      <a:round/>
                      <a:headEnd type="none" w="med" len="med"/>
                      <a:tailEnd type="none" w="med" len="med"/>
                    </a:lnB>
                    <a:solidFill>
                      <a:srgbClr val="0F2A44"/>
                    </a:solidFill>
                  </a:tcPr>
                </a:tc>
                <a:tc>
                  <a:txBody>
                    <a:bodyPr/>
                    <a:lstStyle/>
                    <a:p>
                      <a:pPr marL="0" indent="0">
                        <a:buNone/>
                      </a:pPr>
                      <a:r>
                        <a:rPr lang="en-US" sz="1250" b="1" dirty="0">
                          <a:solidFill>
                            <a:srgbClr val="9FB0C8"/>
                          </a:solidFill>
                          <a:latin typeface="Calibri" pitchFamily="34" charset="0"/>
                          <a:ea typeface="Calibri" pitchFamily="34" charset="-122"/>
                          <a:cs typeface="Calibri" pitchFamily="34" charset="-120"/>
                        </a:rPr>
                        <a:t>TRAYECTA (este trabajo)</a:t>
                      </a:r>
                      <a:endParaRPr lang="en-US" sz="1250" dirty="0">
                        <a:latin typeface="Calibri" charset="0"/>
                        <a:ea typeface="Calibri" charset="0"/>
                        <a:cs typeface="Calibri" charset="0"/>
                      </a:endParaRPr>
                    </a:p>
                  </a:txBody>
                  <a:tcPr>
                    <a:lnL w="6350" cap="flat" cmpd="sng" algn="ctr">
                      <a:solidFill>
                        <a:srgbClr val="27406A"/>
                      </a:solidFill>
                      <a:prstDash val="solid"/>
                      <a:round/>
                      <a:headEnd type="none" w="med" len="med"/>
                      <a:tailEnd type="none" w="med" len="med"/>
                    </a:lnL>
                    <a:lnR w="6350" cap="flat" cmpd="sng" algn="ctr">
                      <a:solidFill>
                        <a:srgbClr val="27406A"/>
                      </a:solidFill>
                      <a:prstDash val="solid"/>
                      <a:round/>
                      <a:headEnd type="none" w="med" len="med"/>
                      <a:tailEnd type="none" w="med" len="med"/>
                    </a:lnR>
                    <a:lnT w="6350" cap="flat" cmpd="sng" algn="ctr">
                      <a:solidFill>
                        <a:srgbClr val="27406A"/>
                      </a:solidFill>
                      <a:prstDash val="solid"/>
                      <a:round/>
                      <a:headEnd type="none" w="med" len="med"/>
                      <a:tailEnd type="none" w="med" len="med"/>
                    </a:lnT>
                    <a:lnB w="6350" cap="flat" cmpd="sng" algn="ctr">
                      <a:solidFill>
                        <a:srgbClr val="27406A"/>
                      </a:solidFill>
                      <a:prstDash val="solid"/>
                      <a:round/>
                      <a:headEnd type="none" w="med" len="med"/>
                      <a:tailEnd type="none" w="med" len="med"/>
                    </a:lnB>
                    <a:solidFill>
                      <a:srgbClr val="0F2A44"/>
                    </a:solidFill>
                  </a:tcPr>
                </a:tc>
                <a:extLst>
                  <a:ext uri="{0D108BD9-81ED-4DB2-BD59-A6C34878D82A}">
                    <a16:rowId xmlns:a16="http://schemas.microsoft.com/office/drawing/2014/main" val="10000"/>
                  </a:ext>
                </a:extLst>
              </a:tr>
              <a:tr h="402336">
                <a:tc>
                  <a:txBody>
                    <a:bodyPr/>
                    <a:lstStyle/>
                    <a:p>
                      <a:pPr marL="0" indent="0">
                        <a:buNone/>
                      </a:pPr>
                      <a:r>
                        <a:rPr lang="en-US" sz="1300" dirty="0">
                          <a:solidFill>
                            <a:srgbClr val="9FB0C8"/>
                          </a:solidFill>
                          <a:latin typeface="Calibri" pitchFamily="34" charset="0"/>
                          <a:ea typeface="Calibri" pitchFamily="34" charset="-122"/>
                          <a:cs typeface="Calibri" pitchFamily="34" charset="-120"/>
                        </a:rPr>
                        <a:t>Unidad</a:t>
                      </a:r>
                      <a:endParaRPr lang="en-US" sz="1300" dirty="0">
                        <a:latin typeface="Calibri" charset="0"/>
                        <a:ea typeface="Calibri" charset="0"/>
                        <a:cs typeface="Calibri" charset="0"/>
                      </a:endParaRPr>
                    </a:p>
                  </a:txBody>
                  <a:tcPr>
                    <a:lnL w="6350" cap="flat" cmpd="sng" algn="ctr">
                      <a:solidFill>
                        <a:srgbClr val="27406A"/>
                      </a:solidFill>
                      <a:prstDash val="solid"/>
                      <a:round/>
                      <a:headEnd type="none" w="med" len="med"/>
                      <a:tailEnd type="none" w="med" len="med"/>
                    </a:lnL>
                    <a:lnR w="6350" cap="flat" cmpd="sng" algn="ctr">
                      <a:solidFill>
                        <a:srgbClr val="27406A"/>
                      </a:solidFill>
                      <a:prstDash val="solid"/>
                      <a:round/>
                      <a:headEnd type="none" w="med" len="med"/>
                      <a:tailEnd type="none" w="med" len="med"/>
                    </a:lnR>
                    <a:lnT w="6350" cap="flat" cmpd="sng" algn="ctr">
                      <a:solidFill>
                        <a:srgbClr val="27406A"/>
                      </a:solidFill>
                      <a:prstDash val="solid"/>
                      <a:round/>
                      <a:headEnd type="none" w="med" len="med"/>
                      <a:tailEnd type="none" w="med" len="med"/>
                    </a:lnT>
                    <a:lnB w="6350" cap="flat" cmpd="sng" algn="ctr">
                      <a:solidFill>
                        <a:srgbClr val="27406A"/>
                      </a:solidFill>
                      <a:prstDash val="solid"/>
                      <a:round/>
                      <a:headEnd type="none" w="med" len="med"/>
                      <a:tailEnd type="none" w="med" len="med"/>
                    </a:lnB>
                    <a:solidFill>
                      <a:srgbClr val="132238"/>
                    </a:solidFill>
                  </a:tcPr>
                </a:tc>
                <a:tc>
                  <a:txBody>
                    <a:bodyPr/>
                    <a:lstStyle/>
                    <a:p>
                      <a:pPr marL="0" indent="0">
                        <a:buNone/>
                      </a:pPr>
                      <a:r>
                        <a:rPr lang="en-US" sz="1300" dirty="0">
                          <a:solidFill>
                            <a:srgbClr val="F1F5F9"/>
                          </a:solidFill>
                          <a:latin typeface="Calibri" pitchFamily="34" charset="0"/>
                          <a:ea typeface="Calibri" pitchFamily="34" charset="-122"/>
                          <a:cs typeface="Calibri" pitchFamily="34" charset="-120"/>
                        </a:rPr>
                        <a:t>cohortes de las instituciones del país</a:t>
                      </a:r>
                      <a:endParaRPr lang="en-US" sz="1300" dirty="0">
                        <a:latin typeface="Calibri" charset="0"/>
                        <a:ea typeface="Calibri" charset="0"/>
                        <a:cs typeface="Calibri" charset="0"/>
                      </a:endParaRPr>
                    </a:p>
                  </a:txBody>
                  <a:tcPr>
                    <a:lnL w="6350" cap="flat" cmpd="sng" algn="ctr">
                      <a:solidFill>
                        <a:srgbClr val="27406A"/>
                      </a:solidFill>
                      <a:prstDash val="solid"/>
                      <a:round/>
                      <a:headEnd type="none" w="med" len="med"/>
                      <a:tailEnd type="none" w="med" len="med"/>
                    </a:lnL>
                    <a:lnR w="6350" cap="flat" cmpd="sng" algn="ctr">
                      <a:solidFill>
                        <a:srgbClr val="27406A"/>
                      </a:solidFill>
                      <a:prstDash val="solid"/>
                      <a:round/>
                      <a:headEnd type="none" w="med" len="med"/>
                      <a:tailEnd type="none" w="med" len="med"/>
                    </a:lnR>
                    <a:lnT w="6350" cap="flat" cmpd="sng" algn="ctr">
                      <a:solidFill>
                        <a:srgbClr val="27406A"/>
                      </a:solidFill>
                      <a:prstDash val="solid"/>
                      <a:round/>
                      <a:headEnd type="none" w="med" len="med"/>
                      <a:tailEnd type="none" w="med" len="med"/>
                    </a:lnT>
                    <a:lnB w="6350" cap="flat" cmpd="sng" algn="ctr">
                      <a:solidFill>
                        <a:srgbClr val="27406A"/>
                      </a:solidFill>
                      <a:prstDash val="solid"/>
                      <a:round/>
                      <a:headEnd type="none" w="med" len="med"/>
                      <a:tailEnd type="none" w="med" len="med"/>
                    </a:lnB>
                    <a:solidFill>
                      <a:srgbClr val="132238"/>
                    </a:solidFill>
                  </a:tcPr>
                </a:tc>
                <a:tc>
                  <a:txBody>
                    <a:bodyPr/>
                    <a:lstStyle/>
                    <a:p>
                      <a:pPr marL="0" indent="0">
                        <a:buNone/>
                      </a:pPr>
                      <a:r>
                        <a:rPr lang="en-US" sz="1300" dirty="0">
                          <a:solidFill>
                            <a:srgbClr val="F1F5F9"/>
                          </a:solidFill>
                          <a:latin typeface="Calibri" pitchFamily="34" charset="0"/>
                          <a:ea typeface="Calibri" pitchFamily="34" charset="-122"/>
                          <a:cs typeface="Calibri" pitchFamily="34" charset="-120"/>
                        </a:rPr>
                        <a:t>programa: Ing. de Sistemas</a:t>
                      </a:r>
                      <a:endParaRPr lang="en-US" sz="1300" dirty="0">
                        <a:latin typeface="Calibri" charset="0"/>
                        <a:ea typeface="Calibri" charset="0"/>
                        <a:cs typeface="Calibri" charset="0"/>
                      </a:endParaRPr>
                    </a:p>
                  </a:txBody>
                  <a:tcPr>
                    <a:lnL w="6350" cap="flat" cmpd="sng" algn="ctr">
                      <a:solidFill>
                        <a:srgbClr val="27406A"/>
                      </a:solidFill>
                      <a:prstDash val="solid"/>
                      <a:round/>
                      <a:headEnd type="none" w="med" len="med"/>
                      <a:tailEnd type="none" w="med" len="med"/>
                    </a:lnL>
                    <a:lnR w="6350" cap="flat" cmpd="sng" algn="ctr">
                      <a:solidFill>
                        <a:srgbClr val="27406A"/>
                      </a:solidFill>
                      <a:prstDash val="solid"/>
                      <a:round/>
                      <a:headEnd type="none" w="med" len="med"/>
                      <a:tailEnd type="none" w="med" len="med"/>
                    </a:lnR>
                    <a:lnT w="6350" cap="flat" cmpd="sng" algn="ctr">
                      <a:solidFill>
                        <a:srgbClr val="27406A"/>
                      </a:solidFill>
                      <a:prstDash val="solid"/>
                      <a:round/>
                      <a:headEnd type="none" w="med" len="med"/>
                      <a:tailEnd type="none" w="med" len="med"/>
                    </a:lnT>
                    <a:lnB w="6350" cap="flat" cmpd="sng" algn="ctr">
                      <a:solidFill>
                        <a:srgbClr val="27406A"/>
                      </a:solidFill>
                      <a:prstDash val="solid"/>
                      <a:round/>
                      <a:headEnd type="none" w="med" len="med"/>
                      <a:tailEnd type="none" w="med" len="med"/>
                    </a:lnB>
                    <a:solidFill>
                      <a:srgbClr val="132238"/>
                    </a:solidFill>
                  </a:tcPr>
                </a:tc>
                <a:extLst>
                  <a:ext uri="{0D108BD9-81ED-4DB2-BD59-A6C34878D82A}">
                    <a16:rowId xmlns:a16="http://schemas.microsoft.com/office/drawing/2014/main" val="10001"/>
                  </a:ext>
                </a:extLst>
              </a:tr>
              <a:tr h="402336">
                <a:tc>
                  <a:txBody>
                    <a:bodyPr/>
                    <a:lstStyle/>
                    <a:p>
                      <a:pPr marL="0" indent="0">
                        <a:buNone/>
                      </a:pPr>
                      <a:r>
                        <a:rPr lang="en-US" sz="1300" dirty="0">
                          <a:solidFill>
                            <a:srgbClr val="9FB0C8"/>
                          </a:solidFill>
                          <a:latin typeface="Calibri" pitchFamily="34" charset="0"/>
                          <a:ea typeface="Calibri" pitchFamily="34" charset="-122"/>
                          <a:cs typeface="Calibri" pitchFamily="34" charset="-120"/>
                        </a:rPr>
                        <a:t>Criterio de riesgo</a:t>
                      </a:r>
                      <a:endParaRPr lang="en-US" sz="1300" dirty="0">
                        <a:latin typeface="Calibri" charset="0"/>
                        <a:ea typeface="Calibri" charset="0"/>
                        <a:cs typeface="Calibri" charset="0"/>
                      </a:endParaRPr>
                    </a:p>
                  </a:txBody>
                  <a:tcPr>
                    <a:lnL w="6350" cap="flat" cmpd="sng" algn="ctr">
                      <a:solidFill>
                        <a:srgbClr val="27406A"/>
                      </a:solidFill>
                      <a:prstDash val="solid"/>
                      <a:round/>
                      <a:headEnd type="none" w="med" len="med"/>
                      <a:tailEnd type="none" w="med" len="med"/>
                    </a:lnL>
                    <a:lnR w="6350" cap="flat" cmpd="sng" algn="ctr">
                      <a:solidFill>
                        <a:srgbClr val="27406A"/>
                      </a:solidFill>
                      <a:prstDash val="solid"/>
                      <a:round/>
                      <a:headEnd type="none" w="med" len="med"/>
                      <a:tailEnd type="none" w="med" len="med"/>
                    </a:lnR>
                    <a:lnT w="6350" cap="flat" cmpd="sng" algn="ctr">
                      <a:solidFill>
                        <a:srgbClr val="27406A"/>
                      </a:solidFill>
                      <a:prstDash val="solid"/>
                      <a:round/>
                      <a:headEnd type="none" w="med" len="med"/>
                      <a:tailEnd type="none" w="med" len="med"/>
                    </a:lnT>
                    <a:lnB w="6350" cap="flat" cmpd="sng" algn="ctr">
                      <a:solidFill>
                        <a:srgbClr val="27406A"/>
                      </a:solidFill>
                      <a:prstDash val="solid"/>
                      <a:round/>
                      <a:headEnd type="none" w="med" len="med"/>
                      <a:tailEnd type="none" w="med" len="med"/>
                    </a:lnB>
                    <a:solidFill>
                      <a:srgbClr val="132238"/>
                    </a:solidFill>
                  </a:tcPr>
                </a:tc>
                <a:tc>
                  <a:txBody>
                    <a:bodyPr/>
                    <a:lstStyle/>
                    <a:p>
                      <a:pPr marL="0" indent="0">
                        <a:buNone/>
                      </a:pPr>
                      <a:r>
                        <a:rPr lang="en-US" sz="1300" dirty="0">
                          <a:solidFill>
                            <a:srgbClr val="F1F5F9"/>
                          </a:solidFill>
                          <a:latin typeface="Calibri" pitchFamily="34" charset="0"/>
                          <a:ea typeface="Calibri" pitchFamily="34" charset="-122"/>
                          <a:cs typeface="Calibri" pitchFamily="34" charset="-120"/>
                        </a:rPr>
                        <a:t>deserción</a:t>
                      </a:r>
                      <a:endParaRPr lang="en-US" sz="1300" dirty="0">
                        <a:latin typeface="Calibri" charset="0"/>
                        <a:ea typeface="Calibri" charset="0"/>
                        <a:cs typeface="Calibri" charset="0"/>
                      </a:endParaRPr>
                    </a:p>
                  </a:txBody>
                  <a:tcPr>
                    <a:lnL w="6350" cap="flat" cmpd="sng" algn="ctr">
                      <a:solidFill>
                        <a:srgbClr val="27406A"/>
                      </a:solidFill>
                      <a:prstDash val="solid"/>
                      <a:round/>
                      <a:headEnd type="none" w="med" len="med"/>
                      <a:tailEnd type="none" w="med" len="med"/>
                    </a:lnL>
                    <a:lnR w="6350" cap="flat" cmpd="sng" algn="ctr">
                      <a:solidFill>
                        <a:srgbClr val="27406A"/>
                      </a:solidFill>
                      <a:prstDash val="solid"/>
                      <a:round/>
                      <a:headEnd type="none" w="med" len="med"/>
                      <a:tailEnd type="none" w="med" len="med"/>
                    </a:lnR>
                    <a:lnT w="6350" cap="flat" cmpd="sng" algn="ctr">
                      <a:solidFill>
                        <a:srgbClr val="27406A"/>
                      </a:solidFill>
                      <a:prstDash val="solid"/>
                      <a:round/>
                      <a:headEnd type="none" w="med" len="med"/>
                      <a:tailEnd type="none" w="med" len="med"/>
                    </a:lnT>
                    <a:lnB w="6350" cap="flat" cmpd="sng" algn="ctr">
                      <a:solidFill>
                        <a:srgbClr val="27406A"/>
                      </a:solidFill>
                      <a:prstDash val="solid"/>
                      <a:round/>
                      <a:headEnd type="none" w="med" len="med"/>
                      <a:tailEnd type="none" w="med" len="med"/>
                    </a:lnB>
                    <a:solidFill>
                      <a:srgbClr val="132238"/>
                    </a:solidFill>
                  </a:tcPr>
                </a:tc>
                <a:tc>
                  <a:txBody>
                    <a:bodyPr/>
                    <a:lstStyle/>
                    <a:p>
                      <a:pPr marL="0" indent="0">
                        <a:buNone/>
                      </a:pPr>
                      <a:r>
                        <a:rPr lang="en-US" sz="1300" dirty="0">
                          <a:solidFill>
                            <a:srgbClr val="F1F5F9"/>
                          </a:solidFill>
                          <a:latin typeface="Calibri" pitchFamily="34" charset="0"/>
                          <a:ea typeface="Calibri" pitchFamily="34" charset="-122"/>
                          <a:cs typeface="Calibri" pitchFamily="34" charset="-120"/>
                        </a:rPr>
                        <a:t>Reglamento Estudiantil: arts. 19, 20 y 21</a:t>
                      </a:r>
                      <a:endParaRPr lang="en-US" sz="1300" dirty="0">
                        <a:latin typeface="Calibri" charset="0"/>
                        <a:ea typeface="Calibri" charset="0"/>
                        <a:cs typeface="Calibri" charset="0"/>
                      </a:endParaRPr>
                    </a:p>
                  </a:txBody>
                  <a:tcPr>
                    <a:lnL w="6350" cap="flat" cmpd="sng" algn="ctr">
                      <a:solidFill>
                        <a:srgbClr val="27406A"/>
                      </a:solidFill>
                      <a:prstDash val="solid"/>
                      <a:round/>
                      <a:headEnd type="none" w="med" len="med"/>
                      <a:tailEnd type="none" w="med" len="med"/>
                    </a:lnL>
                    <a:lnR w="6350" cap="flat" cmpd="sng" algn="ctr">
                      <a:solidFill>
                        <a:srgbClr val="27406A"/>
                      </a:solidFill>
                      <a:prstDash val="solid"/>
                      <a:round/>
                      <a:headEnd type="none" w="med" len="med"/>
                      <a:tailEnd type="none" w="med" len="med"/>
                    </a:lnR>
                    <a:lnT w="6350" cap="flat" cmpd="sng" algn="ctr">
                      <a:solidFill>
                        <a:srgbClr val="27406A"/>
                      </a:solidFill>
                      <a:prstDash val="solid"/>
                      <a:round/>
                      <a:headEnd type="none" w="med" len="med"/>
                      <a:tailEnd type="none" w="med" len="med"/>
                    </a:lnT>
                    <a:lnB w="6350" cap="flat" cmpd="sng" algn="ctr">
                      <a:solidFill>
                        <a:srgbClr val="27406A"/>
                      </a:solidFill>
                      <a:prstDash val="solid"/>
                      <a:round/>
                      <a:headEnd type="none" w="med" len="med"/>
                      <a:tailEnd type="none" w="med" len="med"/>
                    </a:lnB>
                    <a:solidFill>
                      <a:srgbClr val="132238"/>
                    </a:solidFill>
                  </a:tcPr>
                </a:tc>
                <a:extLst>
                  <a:ext uri="{0D108BD9-81ED-4DB2-BD59-A6C34878D82A}">
                    <a16:rowId xmlns:a16="http://schemas.microsoft.com/office/drawing/2014/main" val="10002"/>
                  </a:ext>
                </a:extLst>
              </a:tr>
              <a:tr h="402336">
                <a:tc>
                  <a:txBody>
                    <a:bodyPr/>
                    <a:lstStyle/>
                    <a:p>
                      <a:pPr marL="0" indent="0">
                        <a:buNone/>
                      </a:pPr>
                      <a:r>
                        <a:rPr lang="en-US" sz="1300" dirty="0">
                          <a:solidFill>
                            <a:srgbClr val="9FB0C8"/>
                          </a:solidFill>
                          <a:latin typeface="Calibri" pitchFamily="34" charset="0"/>
                          <a:ea typeface="Calibri" pitchFamily="34" charset="-122"/>
                          <a:cs typeface="Calibri" pitchFamily="34" charset="-120"/>
                        </a:rPr>
                        <a:t>Planes de estudio</a:t>
                      </a:r>
                      <a:endParaRPr lang="en-US" sz="1300" dirty="0">
                        <a:latin typeface="Calibri" charset="0"/>
                        <a:ea typeface="Calibri" charset="0"/>
                        <a:cs typeface="Calibri" charset="0"/>
                      </a:endParaRPr>
                    </a:p>
                  </a:txBody>
                  <a:tcPr>
                    <a:lnL w="6350" cap="flat" cmpd="sng" algn="ctr">
                      <a:solidFill>
                        <a:srgbClr val="27406A"/>
                      </a:solidFill>
                      <a:prstDash val="solid"/>
                      <a:round/>
                      <a:headEnd type="none" w="med" len="med"/>
                      <a:tailEnd type="none" w="med" len="med"/>
                    </a:lnL>
                    <a:lnR w="6350" cap="flat" cmpd="sng" algn="ctr">
                      <a:solidFill>
                        <a:srgbClr val="27406A"/>
                      </a:solidFill>
                      <a:prstDash val="solid"/>
                      <a:round/>
                      <a:headEnd type="none" w="med" len="med"/>
                      <a:tailEnd type="none" w="med" len="med"/>
                    </a:lnR>
                    <a:lnT w="6350" cap="flat" cmpd="sng" algn="ctr">
                      <a:solidFill>
                        <a:srgbClr val="27406A"/>
                      </a:solidFill>
                      <a:prstDash val="solid"/>
                      <a:round/>
                      <a:headEnd type="none" w="med" len="med"/>
                      <a:tailEnd type="none" w="med" len="med"/>
                    </a:lnT>
                    <a:lnB w="6350" cap="flat" cmpd="sng" algn="ctr">
                      <a:solidFill>
                        <a:srgbClr val="27406A"/>
                      </a:solidFill>
                      <a:prstDash val="solid"/>
                      <a:round/>
                      <a:headEnd type="none" w="med" len="med"/>
                      <a:tailEnd type="none" w="med" len="med"/>
                    </a:lnB>
                    <a:solidFill>
                      <a:srgbClr val="132238"/>
                    </a:solidFill>
                  </a:tcPr>
                </a:tc>
                <a:tc>
                  <a:txBody>
                    <a:bodyPr/>
                    <a:lstStyle/>
                    <a:p>
                      <a:pPr marL="0" indent="0">
                        <a:buNone/>
                      </a:pPr>
                      <a:r>
                        <a:rPr lang="en-US" sz="1300" dirty="0">
                          <a:solidFill>
                            <a:srgbClr val="F1F5F9"/>
                          </a:solidFill>
                          <a:latin typeface="Calibri" pitchFamily="34" charset="0"/>
                          <a:ea typeface="Calibri" pitchFamily="34" charset="-122"/>
                          <a:cs typeface="Calibri" pitchFamily="34" charset="-120"/>
                        </a:rPr>
                        <a:t>fuera de su alcance (escala nacional)</a:t>
                      </a:r>
                      <a:endParaRPr lang="en-US" sz="1300" dirty="0">
                        <a:latin typeface="Calibri" charset="0"/>
                        <a:ea typeface="Calibri" charset="0"/>
                        <a:cs typeface="Calibri" charset="0"/>
                      </a:endParaRPr>
                    </a:p>
                  </a:txBody>
                  <a:tcPr>
                    <a:lnL w="6350" cap="flat" cmpd="sng" algn="ctr">
                      <a:solidFill>
                        <a:srgbClr val="27406A"/>
                      </a:solidFill>
                      <a:prstDash val="solid"/>
                      <a:round/>
                      <a:headEnd type="none" w="med" len="med"/>
                      <a:tailEnd type="none" w="med" len="med"/>
                    </a:lnL>
                    <a:lnR w="6350" cap="flat" cmpd="sng" algn="ctr">
                      <a:solidFill>
                        <a:srgbClr val="27406A"/>
                      </a:solidFill>
                      <a:prstDash val="solid"/>
                      <a:round/>
                      <a:headEnd type="none" w="med" len="med"/>
                      <a:tailEnd type="none" w="med" len="med"/>
                    </a:lnR>
                    <a:lnT w="6350" cap="flat" cmpd="sng" algn="ctr">
                      <a:solidFill>
                        <a:srgbClr val="27406A"/>
                      </a:solidFill>
                      <a:prstDash val="solid"/>
                      <a:round/>
                      <a:headEnd type="none" w="med" len="med"/>
                      <a:tailEnd type="none" w="med" len="med"/>
                    </a:lnT>
                    <a:lnB w="6350" cap="flat" cmpd="sng" algn="ctr">
                      <a:solidFill>
                        <a:srgbClr val="27406A"/>
                      </a:solidFill>
                      <a:prstDash val="solid"/>
                      <a:round/>
                      <a:headEnd type="none" w="med" len="med"/>
                      <a:tailEnd type="none" w="med" len="med"/>
                    </a:lnB>
                    <a:solidFill>
                      <a:srgbClr val="132238"/>
                    </a:solidFill>
                  </a:tcPr>
                </a:tc>
                <a:tc>
                  <a:txBody>
                    <a:bodyPr/>
                    <a:lstStyle/>
                    <a:p>
                      <a:pPr marL="0" indent="0">
                        <a:buNone/>
                      </a:pPr>
                      <a:r>
                        <a:rPr lang="en-US" sz="1300" dirty="0">
                          <a:solidFill>
                            <a:srgbClr val="F1F5F9"/>
                          </a:solidFill>
                          <a:latin typeface="Calibri" pitchFamily="34" charset="0"/>
                          <a:ea typeface="Calibri" pitchFamily="34" charset="-122"/>
                          <a:cs typeface="Calibri" pitchFamily="34" charset="-120"/>
                        </a:rPr>
                        <a:t>equivalencias 2011 ↔ 2018 (Res. 036)</a:t>
                      </a:r>
                      <a:endParaRPr lang="en-US" sz="1300" dirty="0">
                        <a:latin typeface="Calibri" charset="0"/>
                        <a:ea typeface="Calibri" charset="0"/>
                        <a:cs typeface="Calibri" charset="0"/>
                      </a:endParaRPr>
                    </a:p>
                  </a:txBody>
                  <a:tcPr>
                    <a:lnL w="6350" cap="flat" cmpd="sng" algn="ctr">
                      <a:solidFill>
                        <a:srgbClr val="27406A"/>
                      </a:solidFill>
                      <a:prstDash val="solid"/>
                      <a:round/>
                      <a:headEnd type="none" w="med" len="med"/>
                      <a:tailEnd type="none" w="med" len="med"/>
                    </a:lnL>
                    <a:lnR w="6350" cap="flat" cmpd="sng" algn="ctr">
                      <a:solidFill>
                        <a:srgbClr val="27406A"/>
                      </a:solidFill>
                      <a:prstDash val="solid"/>
                      <a:round/>
                      <a:headEnd type="none" w="med" len="med"/>
                      <a:tailEnd type="none" w="med" len="med"/>
                    </a:lnR>
                    <a:lnT w="6350" cap="flat" cmpd="sng" algn="ctr">
                      <a:solidFill>
                        <a:srgbClr val="27406A"/>
                      </a:solidFill>
                      <a:prstDash val="solid"/>
                      <a:round/>
                      <a:headEnd type="none" w="med" len="med"/>
                      <a:tailEnd type="none" w="med" len="med"/>
                    </a:lnT>
                    <a:lnB w="6350" cap="flat" cmpd="sng" algn="ctr">
                      <a:solidFill>
                        <a:srgbClr val="27406A"/>
                      </a:solidFill>
                      <a:prstDash val="solid"/>
                      <a:round/>
                      <a:headEnd type="none" w="med" len="med"/>
                      <a:tailEnd type="none" w="med" len="med"/>
                    </a:lnB>
                    <a:solidFill>
                      <a:srgbClr val="132238"/>
                    </a:solidFill>
                  </a:tcPr>
                </a:tc>
                <a:extLst>
                  <a:ext uri="{0D108BD9-81ED-4DB2-BD59-A6C34878D82A}">
                    <a16:rowId xmlns:a16="http://schemas.microsoft.com/office/drawing/2014/main" val="10003"/>
                  </a:ext>
                </a:extLst>
              </a:tr>
              <a:tr h="402336">
                <a:tc>
                  <a:txBody>
                    <a:bodyPr/>
                    <a:lstStyle/>
                    <a:p>
                      <a:pPr marL="0" indent="0">
                        <a:buNone/>
                      </a:pPr>
                      <a:r>
                        <a:rPr lang="en-US" sz="1300" dirty="0">
                          <a:solidFill>
                            <a:srgbClr val="9FB0C8"/>
                          </a:solidFill>
                          <a:latin typeface="Calibri" pitchFamily="34" charset="0"/>
                          <a:ea typeface="Calibri" pitchFamily="34" charset="-122"/>
                          <a:cs typeface="Calibri" pitchFamily="34" charset="-120"/>
                        </a:rPr>
                        <a:t>Evidencia del modelo</a:t>
                      </a:r>
                      <a:endParaRPr lang="en-US" sz="1300" dirty="0">
                        <a:latin typeface="Calibri" charset="0"/>
                        <a:ea typeface="Calibri" charset="0"/>
                        <a:cs typeface="Calibri" charset="0"/>
                      </a:endParaRPr>
                    </a:p>
                  </a:txBody>
                  <a:tcPr>
                    <a:lnL w="6350" cap="flat" cmpd="sng" algn="ctr">
                      <a:solidFill>
                        <a:srgbClr val="27406A"/>
                      </a:solidFill>
                      <a:prstDash val="solid"/>
                      <a:round/>
                      <a:headEnd type="none" w="med" len="med"/>
                      <a:tailEnd type="none" w="med" len="med"/>
                    </a:lnL>
                    <a:lnR w="6350" cap="flat" cmpd="sng" algn="ctr">
                      <a:solidFill>
                        <a:srgbClr val="27406A"/>
                      </a:solidFill>
                      <a:prstDash val="solid"/>
                      <a:round/>
                      <a:headEnd type="none" w="med" len="med"/>
                      <a:tailEnd type="none" w="med" len="med"/>
                    </a:lnR>
                    <a:lnT w="6350" cap="flat" cmpd="sng" algn="ctr">
                      <a:solidFill>
                        <a:srgbClr val="27406A"/>
                      </a:solidFill>
                      <a:prstDash val="solid"/>
                      <a:round/>
                      <a:headEnd type="none" w="med" len="med"/>
                      <a:tailEnd type="none" w="med" len="med"/>
                    </a:lnT>
                    <a:lnB w="6350" cap="flat" cmpd="sng" algn="ctr">
                      <a:solidFill>
                        <a:srgbClr val="27406A"/>
                      </a:solidFill>
                      <a:prstDash val="solid"/>
                      <a:round/>
                      <a:headEnd type="none" w="med" len="med"/>
                      <a:tailEnd type="none" w="med" len="med"/>
                    </a:lnB>
                    <a:solidFill>
                      <a:srgbClr val="132238"/>
                    </a:solidFill>
                  </a:tcPr>
                </a:tc>
                <a:tc>
                  <a:txBody>
                    <a:bodyPr/>
                    <a:lstStyle/>
                    <a:p>
                      <a:pPr marL="0" indent="0">
                        <a:buNone/>
                      </a:pPr>
                      <a:r>
                        <a:rPr lang="en-US" sz="1300" dirty="0">
                          <a:solidFill>
                            <a:srgbClr val="F1F5F9"/>
                          </a:solidFill>
                          <a:latin typeface="Calibri" pitchFamily="34" charset="0"/>
                          <a:ea typeface="Calibri" pitchFamily="34" charset="-122"/>
                          <a:cs typeface="Calibri" pitchFamily="34" charset="-120"/>
                        </a:rPr>
                        <a:t>indicadores agregados</a:t>
                      </a:r>
                      <a:endParaRPr lang="en-US" sz="1300" dirty="0">
                        <a:latin typeface="Calibri" charset="0"/>
                        <a:ea typeface="Calibri" charset="0"/>
                        <a:cs typeface="Calibri" charset="0"/>
                      </a:endParaRPr>
                    </a:p>
                  </a:txBody>
                  <a:tcPr>
                    <a:lnL w="6350" cap="flat" cmpd="sng" algn="ctr">
                      <a:solidFill>
                        <a:srgbClr val="27406A"/>
                      </a:solidFill>
                      <a:prstDash val="solid"/>
                      <a:round/>
                      <a:headEnd type="none" w="med" len="med"/>
                      <a:tailEnd type="none" w="med" len="med"/>
                    </a:lnL>
                    <a:lnR w="6350" cap="flat" cmpd="sng" algn="ctr">
                      <a:solidFill>
                        <a:srgbClr val="27406A"/>
                      </a:solidFill>
                      <a:prstDash val="solid"/>
                      <a:round/>
                      <a:headEnd type="none" w="med" len="med"/>
                      <a:tailEnd type="none" w="med" len="med"/>
                    </a:lnR>
                    <a:lnT w="6350" cap="flat" cmpd="sng" algn="ctr">
                      <a:solidFill>
                        <a:srgbClr val="27406A"/>
                      </a:solidFill>
                      <a:prstDash val="solid"/>
                      <a:round/>
                      <a:headEnd type="none" w="med" len="med"/>
                      <a:tailEnd type="none" w="med" len="med"/>
                    </a:lnT>
                    <a:lnB w="6350" cap="flat" cmpd="sng" algn="ctr">
                      <a:solidFill>
                        <a:srgbClr val="27406A"/>
                      </a:solidFill>
                      <a:prstDash val="solid"/>
                      <a:round/>
                      <a:headEnd type="none" w="med" len="med"/>
                      <a:tailEnd type="none" w="med" len="med"/>
                    </a:lnB>
                    <a:solidFill>
                      <a:srgbClr val="132238"/>
                    </a:solidFill>
                  </a:tcPr>
                </a:tc>
                <a:tc>
                  <a:txBody>
                    <a:bodyPr/>
                    <a:lstStyle/>
                    <a:p>
                      <a:pPr marL="0" indent="0">
                        <a:buNone/>
                      </a:pPr>
                      <a:r>
                        <a:rPr lang="en-US" sz="1300" dirty="0">
                          <a:solidFill>
                            <a:srgbClr val="F1F5F9"/>
                          </a:solidFill>
                          <a:latin typeface="Calibri" pitchFamily="34" charset="0"/>
                          <a:ea typeface="Calibri" pitchFamily="34" charset="-122"/>
                          <a:cs typeface="Calibri" pitchFamily="34" charset="-120"/>
                        </a:rPr>
                        <a:t>métricas, límites y resultados negativos en pantalla</a:t>
                      </a:r>
                      <a:endParaRPr lang="en-US" sz="1300" dirty="0">
                        <a:latin typeface="Calibri" charset="0"/>
                        <a:ea typeface="Calibri" charset="0"/>
                        <a:cs typeface="Calibri" charset="0"/>
                      </a:endParaRPr>
                    </a:p>
                  </a:txBody>
                  <a:tcPr>
                    <a:lnL w="6350" cap="flat" cmpd="sng" algn="ctr">
                      <a:solidFill>
                        <a:srgbClr val="27406A"/>
                      </a:solidFill>
                      <a:prstDash val="solid"/>
                      <a:round/>
                      <a:headEnd type="none" w="med" len="med"/>
                      <a:tailEnd type="none" w="med" len="med"/>
                    </a:lnL>
                    <a:lnR w="6350" cap="flat" cmpd="sng" algn="ctr">
                      <a:solidFill>
                        <a:srgbClr val="27406A"/>
                      </a:solidFill>
                      <a:prstDash val="solid"/>
                      <a:round/>
                      <a:headEnd type="none" w="med" len="med"/>
                      <a:tailEnd type="none" w="med" len="med"/>
                    </a:lnR>
                    <a:lnT w="6350" cap="flat" cmpd="sng" algn="ctr">
                      <a:solidFill>
                        <a:srgbClr val="27406A"/>
                      </a:solidFill>
                      <a:prstDash val="solid"/>
                      <a:round/>
                      <a:headEnd type="none" w="med" len="med"/>
                      <a:tailEnd type="none" w="med" len="med"/>
                    </a:lnT>
                    <a:lnB w="6350" cap="flat" cmpd="sng" algn="ctr">
                      <a:solidFill>
                        <a:srgbClr val="27406A"/>
                      </a:solidFill>
                      <a:prstDash val="solid"/>
                      <a:round/>
                      <a:headEnd type="none" w="med" len="med"/>
                      <a:tailEnd type="none" w="med" len="med"/>
                    </a:lnB>
                    <a:solidFill>
                      <a:srgbClr val="132238"/>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tmp/claude-0/deck/logo.png"/>
          <p:cNvPicPr>
            <a:picLocks noChangeAspect="1"/>
          </p:cNvPicPr>
          <p:nvPr/>
        </p:nvPicPr>
        <p:blipFill>
          <a:blip r:embed="rId4"/>
          <a:stretch>
            <a:fillRect/>
          </a:stretch>
        </p:blipFill>
        <p:spPr>
          <a:xfrm>
            <a:off x="11356848" y="5870448"/>
            <a:ext cx="713232" cy="713232"/>
          </a:xfrm>
          <a:prstGeom prst="rect">
            <a:avLst/>
          </a:prstGeom>
        </p:spPr>
      </p:pic>
      <p:sp>
        <p:nvSpPr>
          <p:cNvPr id="3" name="Text 0"/>
          <p:cNvSpPr txBox="1"/>
          <p:nvPr/>
        </p:nvSpPr>
        <p:spPr>
          <a:xfrm>
            <a:off x="10835640" y="6053328"/>
            <a:ext cx="457200" cy="274320"/>
          </a:xfrm>
          <a:prstGeom prst="rect">
            <a:avLst/>
          </a:prstGeom>
          <a:noFill/>
          <a:ln/>
        </p:spPr>
        <p:txBody>
          <a:bodyPr wrap="square" lIns="0" tIns="0" rIns="0" bIns="0" rtlCol="0" anchor="ctr"/>
          <a:lstStyle/>
          <a:p>
            <a:pPr marL="0" indent="0" algn="r">
              <a:buNone/>
            </a:pPr>
            <a:r>
              <a:rPr lang="en-US" sz="1000" dirty="0">
                <a:solidFill>
                  <a:srgbClr val="9FB0C8"/>
                </a:solidFill>
                <a:latin typeface="Calibri" pitchFamily="34" charset="0"/>
                <a:ea typeface="Calibri" pitchFamily="34" charset="-122"/>
                <a:cs typeface="Calibri" pitchFamily="34" charset="-120"/>
              </a:rPr>
              <a:t>11</a:t>
            </a:r>
            <a:endParaRPr lang="en-US" sz="1000" dirty="0"/>
          </a:p>
        </p:txBody>
      </p:sp>
      <p:sp>
        <p:nvSpPr>
          <p:cNvPr id="4" name="Shape 1"/>
          <p:cNvSpPr/>
          <p:nvPr/>
        </p:nvSpPr>
        <p:spPr>
          <a:xfrm>
            <a:off x="566928" y="457200"/>
            <a:ext cx="50292" cy="420624"/>
          </a:xfrm>
          <a:prstGeom prst="rect">
            <a:avLst/>
          </a:prstGeom>
          <a:solidFill>
            <a:srgbClr val="38BDF8"/>
          </a:solidFill>
          <a:ln w="12700">
            <a:solidFill>
              <a:srgbClr val="38BDF8"/>
            </a:solidFill>
            <a:prstDash val="solid"/>
          </a:ln>
        </p:spPr>
      </p:sp>
      <p:sp>
        <p:nvSpPr>
          <p:cNvPr id="5" name="Text 2"/>
          <p:cNvSpPr txBox="1"/>
          <p:nvPr/>
        </p:nvSpPr>
        <p:spPr>
          <a:xfrm>
            <a:off x="731520" y="347472"/>
            <a:ext cx="10607040" cy="640080"/>
          </a:xfrm>
          <a:prstGeom prst="rect">
            <a:avLst/>
          </a:prstGeom>
          <a:noFill/>
          <a:ln/>
        </p:spPr>
        <p:txBody>
          <a:bodyPr wrap="square" lIns="0" tIns="0" rIns="0" bIns="0" rtlCol="0" anchor="ctr"/>
          <a:lstStyle/>
          <a:p>
            <a:pPr marL="0" indent="0">
              <a:buNone/>
            </a:pPr>
            <a:r>
              <a:rPr lang="en-US" sz="3000" b="1" dirty="0">
                <a:solidFill>
                  <a:srgbClr val="F1F5F9"/>
                </a:solidFill>
                <a:latin typeface="Calibri" pitchFamily="34" charset="0"/>
                <a:ea typeface="Calibri" pitchFamily="34" charset="-122"/>
                <a:cs typeface="Calibri" pitchFamily="34" charset="-120"/>
              </a:rPr>
              <a:t>Demostración · panorama de la cohorte</a:t>
            </a:r>
            <a:endParaRPr lang="en-US" sz="3000" dirty="0"/>
          </a:p>
        </p:txBody>
      </p:sp>
      <p:sp>
        <p:nvSpPr>
          <p:cNvPr id="6" name="Text 3"/>
          <p:cNvSpPr txBox="1"/>
          <p:nvPr/>
        </p:nvSpPr>
        <p:spPr>
          <a:xfrm>
            <a:off x="731520" y="969264"/>
            <a:ext cx="10607040" cy="365760"/>
          </a:xfrm>
          <a:prstGeom prst="rect">
            <a:avLst/>
          </a:prstGeom>
          <a:noFill/>
          <a:ln/>
        </p:spPr>
        <p:txBody>
          <a:bodyPr wrap="square" lIns="0" tIns="0" rIns="0" bIns="0" rtlCol="0" anchor="ctr"/>
          <a:lstStyle/>
          <a:p>
            <a:pPr marL="0" indent="0">
              <a:buNone/>
            </a:pPr>
            <a:r>
              <a:rPr lang="en-US" sz="1400" dirty="0">
                <a:solidFill>
                  <a:srgbClr val="9FB0C8"/>
                </a:solidFill>
                <a:latin typeface="Calibri" pitchFamily="34" charset="0"/>
                <a:ea typeface="Calibri" pitchFamily="34" charset="-122"/>
                <a:cs typeface="Calibri" pitchFamily="34" charset="-120"/>
              </a:rPr>
              <a:t>Cohorte sintética: ningún estudiante real · modelos entrenados con los datos reales</a:t>
            </a:r>
            <a:endParaRPr lang="en-US" sz="1400" dirty="0"/>
          </a:p>
        </p:txBody>
      </p:sp>
      <p:pic>
        <p:nvPicPr>
          <p:cNvPr id="7" name="Image 1" descr="/tmp/claude-0/deck/s_panorama.jpg"/>
          <p:cNvPicPr>
            <a:picLocks noChangeAspect="1"/>
          </p:cNvPicPr>
          <p:nvPr/>
        </p:nvPicPr>
        <p:blipFill>
          <a:blip r:embed="rId5"/>
          <a:srcRect/>
          <a:stretch/>
        </p:blipFill>
        <p:spPr>
          <a:xfrm>
            <a:off x="1097280" y="1463040"/>
            <a:ext cx="8778240" cy="4937760"/>
          </a:xfrm>
          <a:prstGeom prst="rect">
            <a:avLst/>
          </a:prstGeom>
        </p:spPr>
      </p:pic>
      <p:sp>
        <p:nvSpPr>
          <p:cNvPr id="8" name="Shape 4"/>
          <p:cNvSpPr/>
          <p:nvPr/>
        </p:nvSpPr>
        <p:spPr>
          <a:xfrm>
            <a:off x="1097280" y="1463040"/>
            <a:ext cx="8778240" cy="4937760"/>
          </a:xfrm>
          <a:prstGeom prst="roundRect">
            <a:avLst>
              <a:gd name="adj" fmla="val 926"/>
            </a:avLst>
          </a:prstGeom>
          <a:ln w="12700">
            <a:solidFill>
              <a:srgbClr val="27406A"/>
            </a:solidFill>
            <a:prstDash val="solid"/>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tmp/claude-0/deck/logo.png"/>
          <p:cNvPicPr>
            <a:picLocks noChangeAspect="1"/>
          </p:cNvPicPr>
          <p:nvPr/>
        </p:nvPicPr>
        <p:blipFill>
          <a:blip r:embed="rId4"/>
          <a:stretch>
            <a:fillRect/>
          </a:stretch>
        </p:blipFill>
        <p:spPr>
          <a:xfrm>
            <a:off x="11356848" y="5870448"/>
            <a:ext cx="713232" cy="713232"/>
          </a:xfrm>
          <a:prstGeom prst="rect">
            <a:avLst/>
          </a:prstGeom>
        </p:spPr>
      </p:pic>
      <p:sp>
        <p:nvSpPr>
          <p:cNvPr id="3" name="Text 0"/>
          <p:cNvSpPr txBox="1"/>
          <p:nvPr/>
        </p:nvSpPr>
        <p:spPr>
          <a:xfrm>
            <a:off x="10835640" y="6053328"/>
            <a:ext cx="457200" cy="274320"/>
          </a:xfrm>
          <a:prstGeom prst="rect">
            <a:avLst/>
          </a:prstGeom>
          <a:noFill/>
          <a:ln/>
        </p:spPr>
        <p:txBody>
          <a:bodyPr wrap="square" lIns="0" tIns="0" rIns="0" bIns="0" rtlCol="0" anchor="ctr"/>
          <a:lstStyle/>
          <a:p>
            <a:pPr marL="0" indent="0" algn="r">
              <a:buNone/>
            </a:pPr>
            <a:r>
              <a:rPr lang="en-US" sz="1000" dirty="0">
                <a:solidFill>
                  <a:srgbClr val="9FB0C8"/>
                </a:solidFill>
                <a:latin typeface="Calibri" pitchFamily="34" charset="0"/>
                <a:ea typeface="Calibri" pitchFamily="34" charset="-122"/>
                <a:cs typeface="Calibri" pitchFamily="34" charset="-120"/>
              </a:rPr>
              <a:t>12</a:t>
            </a:r>
            <a:endParaRPr lang="en-US" sz="1000" dirty="0"/>
          </a:p>
        </p:txBody>
      </p:sp>
      <p:sp>
        <p:nvSpPr>
          <p:cNvPr id="4" name="Shape 1"/>
          <p:cNvSpPr/>
          <p:nvPr/>
        </p:nvSpPr>
        <p:spPr>
          <a:xfrm>
            <a:off x="566928" y="457200"/>
            <a:ext cx="50292" cy="420624"/>
          </a:xfrm>
          <a:prstGeom prst="rect">
            <a:avLst/>
          </a:prstGeom>
          <a:solidFill>
            <a:srgbClr val="38BDF8"/>
          </a:solidFill>
          <a:ln w="12700">
            <a:solidFill>
              <a:srgbClr val="38BDF8"/>
            </a:solidFill>
            <a:prstDash val="solid"/>
          </a:ln>
        </p:spPr>
      </p:sp>
      <p:sp>
        <p:nvSpPr>
          <p:cNvPr id="5" name="Text 2"/>
          <p:cNvSpPr txBox="1"/>
          <p:nvPr/>
        </p:nvSpPr>
        <p:spPr>
          <a:xfrm>
            <a:off x="731520" y="347472"/>
            <a:ext cx="10607040" cy="640080"/>
          </a:xfrm>
          <a:prstGeom prst="rect">
            <a:avLst/>
          </a:prstGeom>
          <a:noFill/>
          <a:ln/>
        </p:spPr>
        <p:txBody>
          <a:bodyPr wrap="square" lIns="0" tIns="0" rIns="0" bIns="0" rtlCol="0" anchor="ctr"/>
          <a:lstStyle/>
          <a:p>
            <a:pPr marL="0" indent="0">
              <a:buNone/>
            </a:pPr>
            <a:r>
              <a:rPr lang="en-US" sz="3000" b="1" dirty="0">
                <a:solidFill>
                  <a:srgbClr val="F1F5F9"/>
                </a:solidFill>
                <a:latin typeface="Calibri" pitchFamily="34" charset="0"/>
                <a:ea typeface="Calibri" pitchFamily="34" charset="-122"/>
                <a:cs typeface="Calibri" pitchFamily="34" charset="-120"/>
              </a:rPr>
              <a:t>Demostración · ficha del estudiante y carga de cohortes</a:t>
            </a:r>
            <a:endParaRPr lang="en-US" sz="3000" dirty="0"/>
          </a:p>
        </p:txBody>
      </p:sp>
      <p:sp>
        <p:nvSpPr>
          <p:cNvPr id="6" name="Text 3"/>
          <p:cNvSpPr txBox="1"/>
          <p:nvPr/>
        </p:nvSpPr>
        <p:spPr>
          <a:xfrm>
            <a:off x="731520" y="969264"/>
            <a:ext cx="10607040" cy="365760"/>
          </a:xfrm>
          <a:prstGeom prst="rect">
            <a:avLst/>
          </a:prstGeom>
          <a:noFill/>
          <a:ln/>
        </p:spPr>
        <p:txBody>
          <a:bodyPr wrap="square" lIns="0" tIns="0" rIns="0" bIns="0" rtlCol="0" anchor="ctr"/>
          <a:lstStyle/>
          <a:p>
            <a:pPr marL="0" indent="0">
              <a:buNone/>
            </a:pPr>
            <a:r>
              <a:rPr lang="en-US" sz="1400" dirty="0">
                <a:solidFill>
                  <a:srgbClr val="9FB0C8"/>
                </a:solidFill>
                <a:latin typeface="Calibri" pitchFamily="34" charset="0"/>
                <a:ea typeface="Calibri" pitchFamily="34" charset="-122"/>
                <a:cs typeface="Calibri" pitchFamily="34" charset="-120"/>
              </a:rPr>
              <a:t>Trayectoria semestre a semestre con las condiciones del reglamento · validación de planes</a:t>
            </a:r>
            <a:endParaRPr lang="en-US" sz="1400" dirty="0"/>
          </a:p>
        </p:txBody>
      </p:sp>
      <p:pic>
        <p:nvPicPr>
          <p:cNvPr id="7" name="Image 1" descr="/tmp/claude-0/deck/s_ficha.jpg"/>
          <p:cNvPicPr>
            <a:picLocks noChangeAspect="1"/>
          </p:cNvPicPr>
          <p:nvPr/>
        </p:nvPicPr>
        <p:blipFill>
          <a:blip r:embed="rId5"/>
          <a:stretch>
            <a:fillRect/>
          </a:stretch>
        </p:blipFill>
        <p:spPr>
          <a:xfrm>
            <a:off x="731520" y="1508760"/>
            <a:ext cx="6035040" cy="4306824"/>
          </a:xfrm>
          <a:prstGeom prst="rect">
            <a:avLst/>
          </a:prstGeom>
        </p:spPr>
      </p:pic>
      <p:pic>
        <p:nvPicPr>
          <p:cNvPr id="8" name="Image 2" descr="/tmp/claude-0/deck/s_carga.jpg"/>
          <p:cNvPicPr>
            <a:picLocks noChangeAspect="1"/>
          </p:cNvPicPr>
          <p:nvPr/>
        </p:nvPicPr>
        <p:blipFill>
          <a:blip r:embed="rId6"/>
          <a:stretch>
            <a:fillRect/>
          </a:stretch>
        </p:blipFill>
        <p:spPr>
          <a:xfrm>
            <a:off x="6995160" y="1508760"/>
            <a:ext cx="4160520" cy="2971800"/>
          </a:xfrm>
          <a:prstGeom prst="rect">
            <a:avLst/>
          </a:prstGeom>
        </p:spPr>
      </p:pic>
      <p:sp>
        <p:nvSpPr>
          <p:cNvPr id="9" name="Text 4"/>
          <p:cNvSpPr txBox="1"/>
          <p:nvPr/>
        </p:nvSpPr>
        <p:spPr>
          <a:xfrm>
            <a:off x="6995160" y="4617720"/>
            <a:ext cx="4160520" cy="1188720"/>
          </a:xfrm>
          <a:prstGeom prst="rect">
            <a:avLst/>
          </a:prstGeom>
          <a:noFill/>
          <a:ln/>
        </p:spPr>
        <p:txBody>
          <a:bodyPr wrap="square" lIns="0" tIns="0" rIns="0" bIns="0" rtlCol="0" anchor="t"/>
          <a:lstStyle/>
          <a:p>
            <a:pPr marL="0" indent="0">
              <a:buNone/>
            </a:pPr>
            <a:r>
              <a:rPr lang="en-US" sz="1350" b="1" dirty="0">
                <a:solidFill>
                  <a:srgbClr val="38BDF8"/>
                </a:solidFill>
                <a:latin typeface="Calibri" pitchFamily="34" charset="0"/>
                <a:ea typeface="Calibri" pitchFamily="34" charset="-122"/>
                <a:cs typeface="Calibri" pitchFamily="34" charset="-120"/>
              </a:rPr>
              <a:t>Al cargar una cohorte</a:t>
            </a:r>
            <a:endParaRPr lang="en-US" sz="1350" dirty="0"/>
          </a:p>
          <a:p>
            <a:pPr marL="0" indent="0">
              <a:buNone/>
            </a:pPr>
            <a:r>
              <a:rPr lang="en-US" sz="1350" dirty="0">
                <a:solidFill>
                  <a:srgbClr val="F1F5F9"/>
                </a:solidFill>
                <a:latin typeface="Calibri" pitchFamily="34" charset="0"/>
                <a:ea typeface="Calibri" pitchFamily="34" charset="-122"/>
                <a:cs typeface="Calibri" pitchFamily="34" charset="-120"/>
              </a:rPr>
              <a:t>detecta el plan, valida los códigos contra el catálogo oficial y avisa si algún estudiante mezcla planes.</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tmp/claude-0/deck/logo.png"/>
          <p:cNvPicPr>
            <a:picLocks noChangeAspect="1"/>
          </p:cNvPicPr>
          <p:nvPr/>
        </p:nvPicPr>
        <p:blipFill>
          <a:blip r:embed="rId4"/>
          <a:stretch>
            <a:fillRect/>
          </a:stretch>
        </p:blipFill>
        <p:spPr>
          <a:xfrm>
            <a:off x="11356848" y="5870448"/>
            <a:ext cx="713232" cy="713232"/>
          </a:xfrm>
          <a:prstGeom prst="rect">
            <a:avLst/>
          </a:prstGeom>
        </p:spPr>
      </p:pic>
      <p:sp>
        <p:nvSpPr>
          <p:cNvPr id="3" name="Text 0"/>
          <p:cNvSpPr txBox="1"/>
          <p:nvPr/>
        </p:nvSpPr>
        <p:spPr>
          <a:xfrm>
            <a:off x="10835640" y="6053328"/>
            <a:ext cx="457200" cy="274320"/>
          </a:xfrm>
          <a:prstGeom prst="rect">
            <a:avLst/>
          </a:prstGeom>
          <a:noFill/>
          <a:ln/>
        </p:spPr>
        <p:txBody>
          <a:bodyPr wrap="square" lIns="0" tIns="0" rIns="0" bIns="0" rtlCol="0" anchor="ctr"/>
          <a:lstStyle/>
          <a:p>
            <a:pPr marL="0" indent="0" algn="r">
              <a:buNone/>
            </a:pPr>
            <a:r>
              <a:rPr lang="en-US" sz="1000" dirty="0">
                <a:solidFill>
                  <a:srgbClr val="9FB0C8"/>
                </a:solidFill>
                <a:latin typeface="Calibri" pitchFamily="34" charset="0"/>
                <a:ea typeface="Calibri" pitchFamily="34" charset="-122"/>
                <a:cs typeface="Calibri" pitchFamily="34" charset="-120"/>
              </a:rPr>
              <a:t>13</a:t>
            </a:r>
            <a:endParaRPr lang="en-US" sz="1000" dirty="0"/>
          </a:p>
        </p:txBody>
      </p:sp>
      <p:sp>
        <p:nvSpPr>
          <p:cNvPr id="4" name="Shape 1"/>
          <p:cNvSpPr/>
          <p:nvPr/>
        </p:nvSpPr>
        <p:spPr>
          <a:xfrm>
            <a:off x="566928" y="457200"/>
            <a:ext cx="50292" cy="420624"/>
          </a:xfrm>
          <a:prstGeom prst="rect">
            <a:avLst/>
          </a:prstGeom>
          <a:solidFill>
            <a:srgbClr val="38BDF8"/>
          </a:solidFill>
          <a:ln w="12700">
            <a:solidFill>
              <a:srgbClr val="38BDF8"/>
            </a:solidFill>
            <a:prstDash val="solid"/>
          </a:ln>
        </p:spPr>
      </p:sp>
      <p:sp>
        <p:nvSpPr>
          <p:cNvPr id="5" name="Text 2"/>
          <p:cNvSpPr txBox="1"/>
          <p:nvPr/>
        </p:nvSpPr>
        <p:spPr>
          <a:xfrm>
            <a:off x="731520" y="347472"/>
            <a:ext cx="10607040" cy="640080"/>
          </a:xfrm>
          <a:prstGeom prst="rect">
            <a:avLst/>
          </a:prstGeom>
          <a:noFill/>
          <a:ln/>
        </p:spPr>
        <p:txBody>
          <a:bodyPr wrap="square" lIns="0" tIns="0" rIns="0" bIns="0" rtlCol="0" anchor="ctr"/>
          <a:lstStyle/>
          <a:p>
            <a:pPr marL="0" indent="0">
              <a:buNone/>
            </a:pPr>
            <a:r>
              <a:rPr lang="en-US" sz="3000" b="1" dirty="0">
                <a:solidFill>
                  <a:srgbClr val="F1F5F9"/>
                </a:solidFill>
                <a:latin typeface="Calibri" pitchFamily="34" charset="0"/>
                <a:ea typeface="Calibri" pitchFamily="34" charset="-122"/>
                <a:cs typeface="Calibri" pitchFamily="34" charset="-120"/>
              </a:rPr>
              <a:t>Conclusiones</a:t>
            </a:r>
            <a:endParaRPr lang="en-US" sz="3000" dirty="0"/>
          </a:p>
        </p:txBody>
      </p:sp>
      <p:sp>
        <p:nvSpPr>
          <p:cNvPr id="6" name="Shape 3"/>
          <p:cNvSpPr/>
          <p:nvPr/>
        </p:nvSpPr>
        <p:spPr>
          <a:xfrm>
            <a:off x="731520" y="1417320"/>
            <a:ext cx="5120640" cy="2011680"/>
          </a:xfrm>
          <a:prstGeom prst="roundRect">
            <a:avLst>
              <a:gd name="adj" fmla="val 3636"/>
            </a:avLst>
          </a:prstGeom>
          <a:solidFill>
            <a:srgbClr val="132238"/>
          </a:solidFill>
          <a:ln w="9525">
            <a:solidFill>
              <a:srgbClr val="27406A"/>
            </a:solidFill>
            <a:prstDash val="solid"/>
          </a:ln>
        </p:spPr>
      </p:sp>
      <p:sp>
        <p:nvSpPr>
          <p:cNvPr id="7" name="Shape 4"/>
          <p:cNvSpPr/>
          <p:nvPr/>
        </p:nvSpPr>
        <p:spPr>
          <a:xfrm>
            <a:off x="1005840" y="1737360"/>
            <a:ext cx="685800" cy="685800"/>
          </a:xfrm>
          <a:prstGeom prst="ellipse">
            <a:avLst/>
          </a:prstGeom>
          <a:solidFill>
            <a:srgbClr val="38BDF8"/>
          </a:solidFill>
          <a:ln w="12700">
            <a:solidFill>
              <a:srgbClr val="38BDF8"/>
            </a:solidFill>
            <a:prstDash val="solid"/>
          </a:ln>
        </p:spPr>
      </p:sp>
      <p:sp>
        <p:nvSpPr>
          <p:cNvPr id="8" name="Text 5"/>
          <p:cNvSpPr txBox="1"/>
          <p:nvPr/>
        </p:nvSpPr>
        <p:spPr>
          <a:xfrm>
            <a:off x="1005840" y="1737360"/>
            <a:ext cx="685800" cy="685800"/>
          </a:xfrm>
          <a:prstGeom prst="rect">
            <a:avLst/>
          </a:prstGeom>
          <a:noFill/>
          <a:ln/>
        </p:spPr>
        <p:txBody>
          <a:bodyPr wrap="square" lIns="0" tIns="0" rIns="0" bIns="0" rtlCol="0" anchor="ctr"/>
          <a:lstStyle/>
          <a:p>
            <a:pPr marL="0" indent="0" algn="ctr">
              <a:buNone/>
            </a:pPr>
            <a:r>
              <a:rPr lang="en-US" sz="2400" b="1" dirty="0">
                <a:solidFill>
                  <a:srgbClr val="0B1628"/>
                </a:solidFill>
                <a:latin typeface="Calibri" pitchFamily="34" charset="0"/>
                <a:ea typeface="Calibri" pitchFamily="34" charset="-122"/>
                <a:cs typeface="Calibri" pitchFamily="34" charset="-120"/>
              </a:rPr>
              <a:t>1</a:t>
            </a:r>
            <a:endParaRPr lang="en-US" sz="2400" dirty="0"/>
          </a:p>
        </p:txBody>
      </p:sp>
      <p:sp>
        <p:nvSpPr>
          <p:cNvPr id="9" name="Text 6"/>
          <p:cNvSpPr txBox="1"/>
          <p:nvPr/>
        </p:nvSpPr>
        <p:spPr>
          <a:xfrm>
            <a:off x="1920240" y="1645920"/>
            <a:ext cx="3749040" cy="1600200"/>
          </a:xfrm>
          <a:prstGeom prst="rect">
            <a:avLst/>
          </a:prstGeom>
          <a:noFill/>
          <a:ln/>
        </p:spPr>
        <p:txBody>
          <a:bodyPr wrap="square" lIns="0" tIns="0" rIns="0" bIns="0" rtlCol="0" anchor="ctr"/>
          <a:lstStyle/>
          <a:p>
            <a:pPr marL="0" indent="0">
              <a:buNone/>
            </a:pPr>
            <a:r>
              <a:rPr lang="en-US" sz="1800" b="1" dirty="0">
                <a:solidFill>
                  <a:srgbClr val="F1F5F9"/>
                </a:solidFill>
                <a:latin typeface="Calibri" pitchFamily="34" charset="0"/>
                <a:ea typeface="Calibri" pitchFamily="34" charset="-122"/>
                <a:cs typeface="Calibri" pitchFamily="34" charset="-120"/>
              </a:rPr>
              <a:t>Random Forest es el algoritmo más adecuado</a:t>
            </a:r>
            <a:endParaRPr lang="en-US" sz="1800" dirty="0"/>
          </a:p>
          <a:p>
            <a:pPr marL="0" indent="0">
              <a:buNone/>
            </a:pPr>
            <a:r>
              <a:rPr lang="en-US" sz="1400" dirty="0">
                <a:solidFill>
                  <a:srgbClr val="9FB0C8"/>
                </a:solidFill>
                <a:latin typeface="Calibri" pitchFamily="34" charset="0"/>
                <a:ea typeface="Calibri" pitchFamily="34" charset="-122"/>
                <a:cs typeface="Calibri" pitchFamily="34" charset="-120"/>
              </a:rPr>
              <a:t>en el paper y bajo un protocolo anidado y pre-registrado: AUC-PR 0,745 (3,1 × el azar).</a:t>
            </a:r>
            <a:endParaRPr lang="en-US" sz="1800" dirty="0"/>
          </a:p>
        </p:txBody>
      </p:sp>
      <p:sp>
        <p:nvSpPr>
          <p:cNvPr id="10" name="Shape 7"/>
          <p:cNvSpPr/>
          <p:nvPr/>
        </p:nvSpPr>
        <p:spPr>
          <a:xfrm>
            <a:off x="6035040" y="1417320"/>
            <a:ext cx="5120640" cy="2011680"/>
          </a:xfrm>
          <a:prstGeom prst="roundRect">
            <a:avLst>
              <a:gd name="adj" fmla="val 3636"/>
            </a:avLst>
          </a:prstGeom>
          <a:solidFill>
            <a:srgbClr val="132238"/>
          </a:solidFill>
          <a:ln w="9525">
            <a:solidFill>
              <a:srgbClr val="27406A"/>
            </a:solidFill>
            <a:prstDash val="solid"/>
          </a:ln>
        </p:spPr>
      </p:sp>
      <p:sp>
        <p:nvSpPr>
          <p:cNvPr id="11" name="Shape 8"/>
          <p:cNvSpPr/>
          <p:nvPr/>
        </p:nvSpPr>
        <p:spPr>
          <a:xfrm>
            <a:off x="6309360" y="1737360"/>
            <a:ext cx="685800" cy="685800"/>
          </a:xfrm>
          <a:prstGeom prst="ellipse">
            <a:avLst/>
          </a:prstGeom>
          <a:solidFill>
            <a:srgbClr val="FBBF24"/>
          </a:solidFill>
          <a:ln w="12700">
            <a:solidFill>
              <a:srgbClr val="FBBF24"/>
            </a:solidFill>
            <a:prstDash val="solid"/>
          </a:ln>
        </p:spPr>
      </p:sp>
      <p:sp>
        <p:nvSpPr>
          <p:cNvPr id="12" name="Text 9"/>
          <p:cNvSpPr txBox="1"/>
          <p:nvPr/>
        </p:nvSpPr>
        <p:spPr>
          <a:xfrm>
            <a:off x="6309360" y="1737360"/>
            <a:ext cx="685800" cy="685800"/>
          </a:xfrm>
          <a:prstGeom prst="rect">
            <a:avLst/>
          </a:prstGeom>
          <a:noFill/>
          <a:ln/>
        </p:spPr>
        <p:txBody>
          <a:bodyPr wrap="square" lIns="0" tIns="0" rIns="0" bIns="0" rtlCol="0" anchor="ctr"/>
          <a:lstStyle/>
          <a:p>
            <a:pPr marL="0" indent="0" algn="ctr">
              <a:buNone/>
            </a:pPr>
            <a:r>
              <a:rPr lang="en-US" sz="2400" b="1" dirty="0">
                <a:solidFill>
                  <a:srgbClr val="0B1628"/>
                </a:solidFill>
                <a:latin typeface="Calibri" pitchFamily="34" charset="0"/>
                <a:ea typeface="Calibri" pitchFamily="34" charset="-122"/>
                <a:cs typeface="Calibri" pitchFamily="34" charset="-120"/>
              </a:rPr>
              <a:t>2</a:t>
            </a:r>
            <a:endParaRPr lang="en-US" sz="2400" dirty="0"/>
          </a:p>
        </p:txBody>
      </p:sp>
      <p:sp>
        <p:nvSpPr>
          <p:cNvPr id="13" name="Text 10"/>
          <p:cNvSpPr txBox="1"/>
          <p:nvPr/>
        </p:nvSpPr>
        <p:spPr>
          <a:xfrm>
            <a:off x="7223760" y="1645920"/>
            <a:ext cx="3749040" cy="1600200"/>
          </a:xfrm>
          <a:prstGeom prst="rect">
            <a:avLst/>
          </a:prstGeom>
          <a:noFill/>
          <a:ln/>
        </p:spPr>
        <p:txBody>
          <a:bodyPr wrap="square" lIns="0" tIns="0" rIns="0" bIns="0" rtlCol="0" anchor="ctr"/>
          <a:lstStyle/>
          <a:p>
            <a:pPr marL="0" indent="0">
              <a:buNone/>
            </a:pPr>
            <a:r>
              <a:rPr lang="en-US" sz="1800" b="1" dirty="0">
                <a:solidFill>
                  <a:srgbClr val="F1F5F9"/>
                </a:solidFill>
                <a:latin typeface="Calibri" pitchFamily="34" charset="0"/>
                <a:ea typeface="Calibri" pitchFamily="34" charset="-122"/>
                <a:cs typeface="Calibri" pitchFamily="34" charset="-120"/>
              </a:rPr>
              <a:t>El 1.er semestre concentra la señal</a:t>
            </a:r>
            <a:endParaRPr lang="en-US" sz="1800" dirty="0"/>
          </a:p>
          <a:p>
            <a:pPr marL="0" indent="0">
              <a:buNone/>
            </a:pPr>
            <a:r>
              <a:rPr lang="en-US" sz="1400" dirty="0">
                <a:solidFill>
                  <a:srgbClr val="9FB0C8"/>
                </a:solidFill>
                <a:latin typeface="Calibri" pitchFamily="34" charset="0"/>
                <a:ea typeface="Calibri" pitchFamily="34" charset="-122"/>
                <a:cs typeface="Calibri" pitchFamily="34" charset="-120"/>
              </a:rPr>
              <a:t>la alerta llega al cierre del primer periodo, cuando ocurre el abandono.</a:t>
            </a:r>
            <a:endParaRPr lang="en-US" sz="1800" dirty="0"/>
          </a:p>
        </p:txBody>
      </p:sp>
      <p:sp>
        <p:nvSpPr>
          <p:cNvPr id="14" name="Shape 11"/>
          <p:cNvSpPr/>
          <p:nvPr/>
        </p:nvSpPr>
        <p:spPr>
          <a:xfrm>
            <a:off x="731520" y="3657600"/>
            <a:ext cx="5120640" cy="2011680"/>
          </a:xfrm>
          <a:prstGeom prst="roundRect">
            <a:avLst>
              <a:gd name="adj" fmla="val 3636"/>
            </a:avLst>
          </a:prstGeom>
          <a:solidFill>
            <a:srgbClr val="132238"/>
          </a:solidFill>
          <a:ln w="9525">
            <a:solidFill>
              <a:srgbClr val="27406A"/>
            </a:solidFill>
            <a:prstDash val="solid"/>
          </a:ln>
        </p:spPr>
      </p:sp>
      <p:sp>
        <p:nvSpPr>
          <p:cNvPr id="15" name="Shape 12"/>
          <p:cNvSpPr/>
          <p:nvPr/>
        </p:nvSpPr>
        <p:spPr>
          <a:xfrm>
            <a:off x="1005840" y="3977640"/>
            <a:ext cx="685800" cy="685800"/>
          </a:xfrm>
          <a:prstGeom prst="ellipse">
            <a:avLst/>
          </a:prstGeom>
          <a:solidFill>
            <a:srgbClr val="F87171"/>
          </a:solidFill>
          <a:ln w="12700">
            <a:solidFill>
              <a:srgbClr val="F87171"/>
            </a:solidFill>
            <a:prstDash val="solid"/>
          </a:ln>
        </p:spPr>
      </p:sp>
      <p:sp>
        <p:nvSpPr>
          <p:cNvPr id="16" name="Text 13"/>
          <p:cNvSpPr txBox="1"/>
          <p:nvPr/>
        </p:nvSpPr>
        <p:spPr>
          <a:xfrm>
            <a:off x="1005840" y="3977640"/>
            <a:ext cx="685800" cy="685800"/>
          </a:xfrm>
          <a:prstGeom prst="rect">
            <a:avLst/>
          </a:prstGeom>
          <a:noFill/>
          <a:ln/>
        </p:spPr>
        <p:txBody>
          <a:bodyPr wrap="square" lIns="0" tIns="0" rIns="0" bIns="0" rtlCol="0" anchor="ctr"/>
          <a:lstStyle/>
          <a:p>
            <a:pPr marL="0" indent="0" algn="ctr">
              <a:buNone/>
            </a:pPr>
            <a:r>
              <a:rPr lang="en-US" sz="2400" b="1" dirty="0">
                <a:solidFill>
                  <a:srgbClr val="0B1628"/>
                </a:solidFill>
                <a:latin typeface="Calibri" pitchFamily="34" charset="0"/>
                <a:ea typeface="Calibri" pitchFamily="34" charset="-122"/>
                <a:cs typeface="Calibri" pitchFamily="34" charset="-120"/>
              </a:rPr>
              <a:t>3</a:t>
            </a:r>
            <a:endParaRPr lang="en-US" sz="2400" dirty="0"/>
          </a:p>
        </p:txBody>
      </p:sp>
      <p:sp>
        <p:nvSpPr>
          <p:cNvPr id="17" name="Text 14"/>
          <p:cNvSpPr txBox="1"/>
          <p:nvPr/>
        </p:nvSpPr>
        <p:spPr>
          <a:xfrm>
            <a:off x="1920240" y="3886200"/>
            <a:ext cx="3749040" cy="1600200"/>
          </a:xfrm>
          <a:prstGeom prst="rect">
            <a:avLst/>
          </a:prstGeom>
          <a:noFill/>
          <a:ln/>
        </p:spPr>
        <p:txBody>
          <a:bodyPr wrap="square" lIns="0" tIns="0" rIns="0" bIns="0" rtlCol="0" anchor="ctr"/>
          <a:lstStyle/>
          <a:p>
            <a:pPr marL="0" indent="0">
              <a:buNone/>
            </a:pPr>
            <a:r>
              <a:rPr lang="en-US" sz="1800" b="1" dirty="0">
                <a:solidFill>
                  <a:srgbClr val="F1F5F9"/>
                </a:solidFill>
                <a:latin typeface="Calibri" pitchFamily="34" charset="0"/>
                <a:ea typeface="Calibri" pitchFamily="34" charset="-122"/>
                <a:cs typeface="Calibri" pitchFamily="34" charset="-120"/>
              </a:rPr>
              <a:t>El diseño pesa más que el algoritmo</a:t>
            </a:r>
            <a:endParaRPr lang="en-US" sz="1800" dirty="0"/>
          </a:p>
          <a:p>
            <a:pPr marL="0" indent="0">
              <a:buNone/>
            </a:pPr>
            <a:r>
              <a:rPr lang="en-US" sz="1400" dirty="0">
                <a:solidFill>
                  <a:srgbClr val="9FB0C8"/>
                </a:solidFill>
                <a:latin typeface="Calibri" pitchFamily="34" charset="0"/>
                <a:ea typeface="Calibri" pitchFamily="34" charset="-122"/>
                <a:cs typeface="Calibri" pitchFamily="34" charset="-120"/>
              </a:rPr>
              <a:t>sesgos medidos de hasta +0,15 de AUC-PR por fugas de información.</a:t>
            </a:r>
            <a:endParaRPr lang="en-US" sz="1800" dirty="0"/>
          </a:p>
        </p:txBody>
      </p:sp>
      <p:sp>
        <p:nvSpPr>
          <p:cNvPr id="18" name="Shape 15"/>
          <p:cNvSpPr/>
          <p:nvPr/>
        </p:nvSpPr>
        <p:spPr>
          <a:xfrm>
            <a:off x="6035040" y="3657600"/>
            <a:ext cx="5120640" cy="2011680"/>
          </a:xfrm>
          <a:prstGeom prst="roundRect">
            <a:avLst>
              <a:gd name="adj" fmla="val 3636"/>
            </a:avLst>
          </a:prstGeom>
          <a:solidFill>
            <a:srgbClr val="132238"/>
          </a:solidFill>
          <a:ln w="9525">
            <a:solidFill>
              <a:srgbClr val="27406A"/>
            </a:solidFill>
            <a:prstDash val="solid"/>
          </a:ln>
        </p:spPr>
      </p:sp>
      <p:sp>
        <p:nvSpPr>
          <p:cNvPr id="19" name="Shape 16"/>
          <p:cNvSpPr/>
          <p:nvPr/>
        </p:nvSpPr>
        <p:spPr>
          <a:xfrm>
            <a:off x="6309360" y="3977640"/>
            <a:ext cx="685800" cy="685800"/>
          </a:xfrm>
          <a:prstGeom prst="ellipse">
            <a:avLst/>
          </a:prstGeom>
          <a:solidFill>
            <a:srgbClr val="34D399"/>
          </a:solidFill>
          <a:ln w="12700">
            <a:solidFill>
              <a:srgbClr val="34D399"/>
            </a:solidFill>
            <a:prstDash val="solid"/>
          </a:ln>
        </p:spPr>
      </p:sp>
      <p:sp>
        <p:nvSpPr>
          <p:cNvPr id="20" name="Text 17"/>
          <p:cNvSpPr txBox="1"/>
          <p:nvPr/>
        </p:nvSpPr>
        <p:spPr>
          <a:xfrm>
            <a:off x="6309360" y="3977640"/>
            <a:ext cx="685800" cy="685800"/>
          </a:xfrm>
          <a:prstGeom prst="rect">
            <a:avLst/>
          </a:prstGeom>
          <a:noFill/>
          <a:ln/>
        </p:spPr>
        <p:txBody>
          <a:bodyPr wrap="square" lIns="0" tIns="0" rIns="0" bIns="0" rtlCol="0" anchor="ctr"/>
          <a:lstStyle/>
          <a:p>
            <a:pPr marL="0" indent="0" algn="ctr">
              <a:buNone/>
            </a:pPr>
            <a:r>
              <a:rPr lang="en-US" sz="2400" b="1" dirty="0">
                <a:solidFill>
                  <a:srgbClr val="0B1628"/>
                </a:solidFill>
                <a:latin typeface="Calibri" pitchFamily="34" charset="0"/>
                <a:ea typeface="Calibri" pitchFamily="34" charset="-122"/>
                <a:cs typeface="Calibri" pitchFamily="34" charset="-120"/>
              </a:rPr>
              <a:t>4</a:t>
            </a:r>
            <a:endParaRPr lang="en-US" sz="2400" dirty="0"/>
          </a:p>
        </p:txBody>
      </p:sp>
      <p:sp>
        <p:nvSpPr>
          <p:cNvPr id="21" name="Text 18"/>
          <p:cNvSpPr txBox="1"/>
          <p:nvPr/>
        </p:nvSpPr>
        <p:spPr>
          <a:xfrm>
            <a:off x="7223760" y="3886200"/>
            <a:ext cx="3749040" cy="1600200"/>
          </a:xfrm>
          <a:prstGeom prst="rect">
            <a:avLst/>
          </a:prstGeom>
          <a:noFill/>
          <a:ln/>
        </p:spPr>
        <p:txBody>
          <a:bodyPr wrap="square" lIns="0" tIns="0" rIns="0" bIns="0" rtlCol="0" anchor="ctr"/>
          <a:lstStyle/>
          <a:p>
            <a:pPr marL="0" indent="0">
              <a:buNone/>
            </a:pPr>
            <a:r>
              <a:rPr lang="en-US" sz="1800" b="1" dirty="0">
                <a:solidFill>
                  <a:srgbClr val="F1F5F9"/>
                </a:solidFill>
                <a:latin typeface="Calibri" pitchFamily="34" charset="0"/>
                <a:ea typeface="Calibri" pitchFamily="34" charset="-122"/>
                <a:cs typeface="Calibri" pitchFamily="34" charset="-120"/>
              </a:rPr>
              <a:t>Un modelo honesto cabe en un producto</a:t>
            </a:r>
            <a:endParaRPr lang="en-US" sz="1800" dirty="0"/>
          </a:p>
          <a:p>
            <a:pPr marL="0" indent="0">
              <a:buNone/>
            </a:pPr>
            <a:r>
              <a:rPr lang="en-US" sz="1400" dirty="0">
                <a:solidFill>
                  <a:srgbClr val="9FB0C8"/>
                </a:solidFill>
                <a:latin typeface="Calibri" pitchFamily="34" charset="0"/>
                <a:ea typeface="Calibri" pitchFamily="34" charset="-122"/>
                <a:cs typeface="Calibri" pitchFamily="34" charset="-120"/>
              </a:rPr>
              <a:t>TRAYECTA predice donde hay señal y aplica el reglamento donde no la hay.</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tmp/claude-0/deck/logo.png"/>
          <p:cNvPicPr>
            <a:picLocks noChangeAspect="1"/>
          </p:cNvPicPr>
          <p:nvPr/>
        </p:nvPicPr>
        <p:blipFill>
          <a:blip r:embed="rId4"/>
          <a:stretch>
            <a:fillRect/>
          </a:stretch>
        </p:blipFill>
        <p:spPr>
          <a:xfrm>
            <a:off x="11356848" y="5870448"/>
            <a:ext cx="713232" cy="713232"/>
          </a:xfrm>
          <a:prstGeom prst="rect">
            <a:avLst/>
          </a:prstGeom>
        </p:spPr>
      </p:pic>
      <p:sp>
        <p:nvSpPr>
          <p:cNvPr id="3" name="Text 0"/>
          <p:cNvSpPr txBox="1"/>
          <p:nvPr/>
        </p:nvSpPr>
        <p:spPr>
          <a:xfrm>
            <a:off x="10835640" y="6053328"/>
            <a:ext cx="457200" cy="274320"/>
          </a:xfrm>
          <a:prstGeom prst="rect">
            <a:avLst/>
          </a:prstGeom>
          <a:noFill/>
          <a:ln/>
        </p:spPr>
        <p:txBody>
          <a:bodyPr wrap="square" lIns="0" tIns="0" rIns="0" bIns="0" rtlCol="0" anchor="ctr"/>
          <a:lstStyle/>
          <a:p>
            <a:pPr marL="0" indent="0" algn="r">
              <a:buNone/>
            </a:pPr>
            <a:r>
              <a:rPr lang="en-US" sz="1000" dirty="0">
                <a:solidFill>
                  <a:srgbClr val="9FB0C8"/>
                </a:solidFill>
                <a:latin typeface="Calibri" pitchFamily="34" charset="0"/>
                <a:ea typeface="Calibri" pitchFamily="34" charset="-122"/>
                <a:cs typeface="Calibri" pitchFamily="34" charset="-120"/>
              </a:rPr>
              <a:t>14</a:t>
            </a:r>
            <a:endParaRPr lang="en-US" sz="1000" dirty="0"/>
          </a:p>
        </p:txBody>
      </p:sp>
      <p:sp>
        <p:nvSpPr>
          <p:cNvPr id="4" name="Shape 1"/>
          <p:cNvSpPr/>
          <p:nvPr/>
        </p:nvSpPr>
        <p:spPr>
          <a:xfrm>
            <a:off x="566928" y="457200"/>
            <a:ext cx="50292" cy="420624"/>
          </a:xfrm>
          <a:prstGeom prst="rect">
            <a:avLst/>
          </a:prstGeom>
          <a:solidFill>
            <a:srgbClr val="38BDF8"/>
          </a:solidFill>
          <a:ln w="12700">
            <a:solidFill>
              <a:srgbClr val="38BDF8"/>
            </a:solidFill>
            <a:prstDash val="solid"/>
          </a:ln>
        </p:spPr>
      </p:sp>
      <p:sp>
        <p:nvSpPr>
          <p:cNvPr id="5" name="Text 2"/>
          <p:cNvSpPr txBox="1"/>
          <p:nvPr/>
        </p:nvSpPr>
        <p:spPr>
          <a:xfrm>
            <a:off x="731520" y="347472"/>
            <a:ext cx="10607040" cy="640080"/>
          </a:xfrm>
          <a:prstGeom prst="rect">
            <a:avLst/>
          </a:prstGeom>
          <a:noFill/>
          <a:ln/>
        </p:spPr>
        <p:txBody>
          <a:bodyPr wrap="square" lIns="0" tIns="0" rIns="0" bIns="0" rtlCol="0" anchor="ctr"/>
          <a:lstStyle/>
          <a:p>
            <a:pPr marL="0" indent="0">
              <a:buNone/>
            </a:pPr>
            <a:r>
              <a:rPr lang="en-US" sz="3000" b="1" dirty="0">
                <a:solidFill>
                  <a:srgbClr val="F1F5F9"/>
                </a:solidFill>
                <a:latin typeface="Calibri" pitchFamily="34" charset="0"/>
                <a:ea typeface="Calibri" pitchFamily="34" charset="-122"/>
                <a:cs typeface="Calibri" pitchFamily="34" charset="-120"/>
              </a:rPr>
              <a:t>Límites y siguiente paso</a:t>
            </a:r>
            <a:endParaRPr lang="en-US" sz="3000" dirty="0"/>
          </a:p>
        </p:txBody>
      </p:sp>
      <p:sp>
        <p:nvSpPr>
          <p:cNvPr id="6" name="Text 3"/>
          <p:cNvSpPr txBox="1"/>
          <p:nvPr/>
        </p:nvSpPr>
        <p:spPr>
          <a:xfrm>
            <a:off x="731520" y="1463040"/>
            <a:ext cx="6035040" cy="347472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rgbClr val="F1F5F9"/>
                </a:solidFill>
                <a:latin typeface="Calibri" pitchFamily="34" charset="0"/>
                <a:ea typeface="Calibri" pitchFamily="34" charset="-122"/>
                <a:cs typeface="Calibri" pitchFamily="34" charset="-120"/>
              </a:rPr>
              <a:t>Sin validación externa: estudio exploratorio (80 casos, remuestreo).</a:t>
            </a:r>
            <a:endParaRPr lang="en-US" sz="1700" dirty="0"/>
          </a:p>
          <a:p>
            <a:pPr marL="342900" indent="-342900">
              <a:spcAft>
                <a:spcPts val="600"/>
              </a:spcAft>
              <a:buSzPct val="100000"/>
              <a:buChar char="▸"/>
            </a:pPr>
            <a:r>
              <a:rPr lang="en-US" sz="1700" dirty="0">
                <a:solidFill>
                  <a:srgbClr val="F1F5F9"/>
                </a:solidFill>
                <a:latin typeface="Calibri" pitchFamily="34" charset="0"/>
                <a:ea typeface="Calibri" pitchFamily="34" charset="-122"/>
                <a:cs typeface="Calibri" pitchFamily="34" charset="-120"/>
              </a:rPr>
              <a:t>Etiquetas del reglamento vigente aplicadas a cohortes de 2017-2018.</a:t>
            </a:r>
            <a:endParaRPr lang="en-US" sz="1700" dirty="0"/>
          </a:p>
          <a:p>
            <a:pPr marL="342900" indent="-342900">
              <a:spcAft>
                <a:spcPts val="600"/>
              </a:spcAft>
              <a:buSzPct val="100000"/>
              <a:buChar char="▸"/>
            </a:pPr>
            <a:r>
              <a:rPr lang="en-US" sz="1700" dirty="0">
                <a:solidFill>
                  <a:srgbClr val="F1F5F9"/>
                </a:solidFill>
                <a:latin typeface="Calibri" pitchFamily="34" charset="0"/>
                <a:ea typeface="Calibri" pitchFamily="34" charset="-122"/>
                <a:cs typeface="Calibri" pitchFamily="34" charset="-120"/>
              </a:rPr>
              <a:t>Cohortes nuevas solicitadas a la Oficina de Sistemas: validar el modelo tal como está, sin reajustarlo.</a:t>
            </a:r>
            <a:endParaRPr lang="en-US" sz="1700" dirty="0"/>
          </a:p>
          <a:p>
            <a:pPr marL="342900" indent="-342900">
              <a:spcAft>
                <a:spcPts val="600"/>
              </a:spcAft>
              <a:buSzPct val="100000"/>
              <a:buChar char="▸"/>
            </a:pPr>
            <a:r>
              <a:rPr lang="en-US" sz="1700" dirty="0">
                <a:solidFill>
                  <a:srgbClr val="F1F5F9"/>
                </a:solidFill>
                <a:latin typeface="Calibri" pitchFamily="34" charset="0"/>
                <a:ea typeface="Calibri" pitchFamily="34" charset="-122"/>
                <a:cs typeface="Calibri" pitchFamily="34" charset="-120"/>
              </a:rPr>
              <a:t>Extender a Ing. Electrónica y Biología (modelos por programa).</a:t>
            </a:r>
            <a:endParaRPr lang="en-US" sz="1700" dirty="0"/>
          </a:p>
        </p:txBody>
      </p:sp>
      <p:sp>
        <p:nvSpPr>
          <p:cNvPr id="7" name="Shape 4"/>
          <p:cNvSpPr/>
          <p:nvPr/>
        </p:nvSpPr>
        <p:spPr>
          <a:xfrm>
            <a:off x="7223760" y="1463040"/>
            <a:ext cx="3931920" cy="3291840"/>
          </a:xfrm>
          <a:prstGeom prst="roundRect">
            <a:avLst>
              <a:gd name="adj" fmla="val 2222"/>
            </a:avLst>
          </a:prstGeom>
          <a:solidFill>
            <a:srgbClr val="0F2A44"/>
          </a:solidFill>
          <a:ln w="9525">
            <a:solidFill>
              <a:srgbClr val="27406A"/>
            </a:solidFill>
            <a:prstDash val="solid"/>
          </a:ln>
        </p:spPr>
      </p:sp>
      <p:sp>
        <p:nvSpPr>
          <p:cNvPr id="8" name="Text 5"/>
          <p:cNvSpPr txBox="1"/>
          <p:nvPr/>
        </p:nvSpPr>
        <p:spPr>
          <a:xfrm>
            <a:off x="7315200" y="1554480"/>
            <a:ext cx="3749040" cy="3108960"/>
          </a:xfrm>
          <a:prstGeom prst="rect">
            <a:avLst/>
          </a:prstGeom>
          <a:noFill/>
          <a:ln/>
        </p:spPr>
        <p:txBody>
          <a:bodyPr wrap="square" lIns="0" tIns="0" rIns="0" bIns="0" rtlCol="0" anchor="ctr"/>
          <a:lstStyle/>
          <a:p>
            <a:pPr marL="0" indent="0" algn="ctr">
              <a:buNone/>
            </a:pPr>
            <a:r>
              <a:rPr lang="en-US" sz="4000" b="1" dirty="0">
                <a:solidFill>
                  <a:srgbClr val="38BDF8"/>
                </a:solidFill>
                <a:latin typeface="Calibri" pitchFamily="34" charset="0"/>
                <a:ea typeface="Calibri" pitchFamily="34" charset="-122"/>
                <a:cs typeface="Calibri" pitchFamily="34" charset="-120"/>
              </a:rPr>
              <a:t>¡Gracias!</a:t>
            </a:r>
            <a:endParaRPr lang="en-US" sz="4000" dirty="0"/>
          </a:p>
          <a:p>
            <a:pPr marL="0" indent="0" algn="ctr">
              <a:buNone/>
            </a:pPr>
            <a:r>
              <a:rPr lang="en-US" sz="2200" dirty="0">
                <a:solidFill>
                  <a:srgbClr val="F1F5F9"/>
                </a:solidFill>
                <a:latin typeface="Calibri" pitchFamily="34" charset="0"/>
                <a:ea typeface="Calibri" pitchFamily="34" charset="-122"/>
                <a:cs typeface="Calibri" pitchFamily="34" charset="-120"/>
              </a:rPr>
              <a:t>Preguntas</a:t>
            </a:r>
            <a:endParaRPr lang="en-US" sz="4000" dirty="0"/>
          </a:p>
          <a:p>
            <a:pPr marL="0" indent="0" algn="ctr">
              <a:buNone/>
            </a:pPr>
            <a:r>
              <a:rPr lang="en-US" sz="1000" dirty="0">
                <a:solidFill>
                  <a:srgbClr val="000000"/>
                </a:solidFill>
                <a:latin typeface="Calibri" pitchFamily="34" charset="0"/>
                <a:ea typeface="Calibri" pitchFamily="34" charset="-122"/>
                <a:cs typeface="Calibri" pitchFamily="34" charset="-120"/>
              </a:rPr>
              <a:t> </a:t>
            </a:r>
            <a:endParaRPr lang="en-US" sz="4000" dirty="0"/>
          </a:p>
          <a:p>
            <a:pPr marL="0" indent="0" algn="ctr">
              <a:buNone/>
            </a:pPr>
            <a:r>
              <a:rPr lang="en-US" sz="1400" dirty="0">
                <a:solidFill>
                  <a:srgbClr val="9FB0C8"/>
                </a:solidFill>
                <a:latin typeface="Calibri" pitchFamily="34" charset="0"/>
                <a:ea typeface="Calibri" pitchFamily="34" charset="-122"/>
                <a:cs typeface="Calibri" pitchFamily="34" charset="-120"/>
              </a:rPr>
              <a:t>joan.martinez@unillanos.edu.co</a:t>
            </a:r>
            <a:endParaRPr lang="en-US" sz="4000" dirty="0"/>
          </a:p>
        </p:txBody>
      </p:sp>
      <p:sp>
        <p:nvSpPr>
          <p:cNvPr id="9" name="Text 6"/>
          <p:cNvSpPr txBox="1"/>
          <p:nvPr/>
        </p:nvSpPr>
        <p:spPr>
          <a:xfrm>
            <a:off x="731520" y="5257800"/>
            <a:ext cx="10424160" cy="365760"/>
          </a:xfrm>
          <a:prstGeom prst="rect">
            <a:avLst/>
          </a:prstGeom>
          <a:noFill/>
          <a:ln/>
        </p:spPr>
        <p:txBody>
          <a:bodyPr wrap="square" lIns="0" tIns="0" rIns="0" bIns="0" rtlCol="0" anchor="ctr"/>
          <a:lstStyle/>
          <a:p>
            <a:pPr marL="0" indent="0">
              <a:buNone/>
            </a:pPr>
            <a:r>
              <a:rPr lang="en-US" sz="1250" dirty="0">
                <a:solidFill>
                  <a:srgbClr val="9FB0C8"/>
                </a:solidFill>
                <a:latin typeface="Calibri" pitchFamily="34" charset="0"/>
                <a:ea typeface="Calibri" pitchFamily="34" charset="-122"/>
                <a:cs typeface="Calibri" pitchFamily="34" charset="-120"/>
              </a:rPr>
              <a:t>Agradecimientos: proyecto DGI/Unillanos C07-02-2026-027 · Oficina de Sistemas, Universidad de los Llanos</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tmp/claude-0/deck/logo.png"/>
          <p:cNvPicPr>
            <a:picLocks noChangeAspect="1"/>
          </p:cNvPicPr>
          <p:nvPr/>
        </p:nvPicPr>
        <p:blipFill>
          <a:blip r:embed="rId4"/>
          <a:stretch>
            <a:fillRect/>
          </a:stretch>
        </p:blipFill>
        <p:spPr>
          <a:xfrm>
            <a:off x="11356848" y="5870448"/>
            <a:ext cx="713232" cy="713232"/>
          </a:xfrm>
          <a:prstGeom prst="rect">
            <a:avLst/>
          </a:prstGeom>
        </p:spPr>
      </p:pic>
      <p:sp>
        <p:nvSpPr>
          <p:cNvPr id="3" name="Text 0"/>
          <p:cNvSpPr txBox="1"/>
          <p:nvPr/>
        </p:nvSpPr>
        <p:spPr>
          <a:xfrm>
            <a:off x="10835640" y="6053328"/>
            <a:ext cx="457200" cy="274320"/>
          </a:xfrm>
          <a:prstGeom prst="rect">
            <a:avLst/>
          </a:prstGeom>
          <a:noFill/>
          <a:ln/>
        </p:spPr>
        <p:txBody>
          <a:bodyPr wrap="square" lIns="0" tIns="0" rIns="0" bIns="0" rtlCol="0" anchor="ctr"/>
          <a:lstStyle/>
          <a:p>
            <a:pPr marL="0" indent="0" algn="r">
              <a:buNone/>
            </a:pPr>
            <a:r>
              <a:rPr lang="en-US" sz="1000" dirty="0">
                <a:solidFill>
                  <a:srgbClr val="9FB0C8"/>
                </a:solidFill>
                <a:latin typeface="Calibri" pitchFamily="34" charset="0"/>
                <a:ea typeface="Calibri" pitchFamily="34" charset="-122"/>
                <a:cs typeface="Calibri" pitchFamily="34" charset="-120"/>
              </a:rPr>
              <a:t>A</a:t>
            </a:r>
            <a:endParaRPr lang="en-US" sz="1000" dirty="0"/>
          </a:p>
        </p:txBody>
      </p:sp>
      <p:sp>
        <p:nvSpPr>
          <p:cNvPr id="4" name="Shape 1"/>
          <p:cNvSpPr/>
          <p:nvPr/>
        </p:nvSpPr>
        <p:spPr>
          <a:xfrm>
            <a:off x="566928" y="457200"/>
            <a:ext cx="50292" cy="420624"/>
          </a:xfrm>
          <a:prstGeom prst="rect">
            <a:avLst/>
          </a:prstGeom>
          <a:solidFill>
            <a:srgbClr val="38BDF8"/>
          </a:solidFill>
          <a:ln w="12700">
            <a:solidFill>
              <a:srgbClr val="38BDF8"/>
            </a:solidFill>
            <a:prstDash val="solid"/>
          </a:ln>
        </p:spPr>
      </p:sp>
      <p:sp>
        <p:nvSpPr>
          <p:cNvPr id="5" name="Text 2"/>
          <p:cNvSpPr txBox="1"/>
          <p:nvPr/>
        </p:nvSpPr>
        <p:spPr>
          <a:xfrm>
            <a:off x="731520" y="347472"/>
            <a:ext cx="10607040" cy="640080"/>
          </a:xfrm>
          <a:prstGeom prst="rect">
            <a:avLst/>
          </a:prstGeom>
          <a:noFill/>
          <a:ln/>
        </p:spPr>
        <p:txBody>
          <a:bodyPr wrap="square" lIns="0" tIns="0" rIns="0" bIns="0" rtlCol="0" anchor="ctr"/>
          <a:lstStyle/>
          <a:p>
            <a:pPr marL="0" indent="0">
              <a:buNone/>
            </a:pPr>
            <a:r>
              <a:rPr lang="en-US" sz="3000" b="1" dirty="0">
                <a:solidFill>
                  <a:srgbClr val="F1F5F9"/>
                </a:solidFill>
                <a:latin typeface="Calibri" pitchFamily="34" charset="0"/>
                <a:ea typeface="Calibri" pitchFamily="34" charset="-122"/>
                <a:cs typeface="Calibri" pitchFamily="34" charset="-120"/>
              </a:rPr>
              <a:t>Anexo · respuestas preparadas</a:t>
            </a:r>
            <a:endParaRPr lang="en-US" sz="3000" dirty="0"/>
          </a:p>
        </p:txBody>
      </p:sp>
      <p:sp>
        <p:nvSpPr>
          <p:cNvPr id="6" name="Text 3"/>
          <p:cNvSpPr txBox="1"/>
          <p:nvPr/>
        </p:nvSpPr>
        <p:spPr>
          <a:xfrm>
            <a:off x="731520" y="969264"/>
            <a:ext cx="10607040" cy="365760"/>
          </a:xfrm>
          <a:prstGeom prst="rect">
            <a:avLst/>
          </a:prstGeom>
          <a:noFill/>
          <a:ln/>
        </p:spPr>
        <p:txBody>
          <a:bodyPr wrap="square" lIns="0" tIns="0" rIns="0" bIns="0" rtlCol="0" anchor="ctr"/>
          <a:lstStyle/>
          <a:p>
            <a:pPr marL="0" indent="0">
              <a:buNone/>
            </a:pPr>
            <a:r>
              <a:rPr lang="en-US" sz="1400" dirty="0">
                <a:solidFill>
                  <a:srgbClr val="9FB0C8"/>
                </a:solidFill>
                <a:latin typeface="Calibri" pitchFamily="34" charset="0"/>
                <a:ea typeface="Calibri" pitchFamily="34" charset="-122"/>
                <a:cs typeface="Calibri" pitchFamily="34" charset="-120"/>
              </a:rPr>
              <a:t>Lámina de respaldo para la sesión de preguntas</a:t>
            </a:r>
            <a:endParaRPr lang="en-US" sz="1400" dirty="0"/>
          </a:p>
        </p:txBody>
      </p:sp>
      <p:sp>
        <p:nvSpPr>
          <p:cNvPr id="7" name="Shape 4"/>
          <p:cNvSpPr/>
          <p:nvPr/>
        </p:nvSpPr>
        <p:spPr>
          <a:xfrm>
            <a:off x="731520" y="1508760"/>
            <a:ext cx="10424160" cy="731520"/>
          </a:xfrm>
          <a:prstGeom prst="roundRect">
            <a:avLst>
              <a:gd name="adj" fmla="val 10000"/>
            </a:avLst>
          </a:prstGeom>
          <a:solidFill>
            <a:srgbClr val="132238"/>
          </a:solidFill>
          <a:ln w="9525">
            <a:solidFill>
              <a:srgbClr val="27406A"/>
            </a:solidFill>
            <a:prstDash val="solid"/>
          </a:ln>
        </p:spPr>
      </p:sp>
      <p:sp>
        <p:nvSpPr>
          <p:cNvPr id="8" name="Text 5"/>
          <p:cNvSpPr txBox="1"/>
          <p:nvPr/>
        </p:nvSpPr>
        <p:spPr>
          <a:xfrm>
            <a:off x="960120" y="1554480"/>
            <a:ext cx="9966960" cy="640080"/>
          </a:xfrm>
          <a:prstGeom prst="rect">
            <a:avLst/>
          </a:prstGeom>
          <a:noFill/>
          <a:ln/>
        </p:spPr>
        <p:txBody>
          <a:bodyPr wrap="square" lIns="0" tIns="0" rIns="0" bIns="0" rtlCol="0" anchor="ctr"/>
          <a:lstStyle/>
          <a:p>
            <a:pPr marL="0" indent="0">
              <a:buNone/>
            </a:pPr>
            <a:r>
              <a:rPr lang="en-US" sz="1400" b="1" dirty="0">
                <a:solidFill>
                  <a:srgbClr val="38BDF8"/>
                </a:solidFill>
                <a:latin typeface="Calibri" pitchFamily="34" charset="0"/>
                <a:ea typeface="Calibri" pitchFamily="34" charset="-122"/>
                <a:cs typeface="Calibri" pitchFamily="34" charset="-120"/>
              </a:rPr>
              <a:t>¿Por qué el reglamento de 2022?  </a:t>
            </a:r>
            <a:r>
              <a:rPr lang="en-US" sz="1400" dirty="0">
                <a:solidFill>
                  <a:srgbClr val="F1F5F9"/>
                </a:solidFill>
                <a:latin typeface="Calibri" pitchFamily="34" charset="0"/>
                <a:ea typeface="Calibri" pitchFamily="34" charset="-122"/>
                <a:cs typeface="Calibri" pitchFamily="34" charset="-120"/>
              </a:rPr>
              <a:t>Definición operativa vigente: es la que regirá a las cohortes donde se usará el modelo (supuesto declarado).</a:t>
            </a:r>
            <a:endParaRPr lang="en-US" sz="1400" dirty="0"/>
          </a:p>
        </p:txBody>
      </p:sp>
      <p:sp>
        <p:nvSpPr>
          <p:cNvPr id="9" name="Shape 6"/>
          <p:cNvSpPr/>
          <p:nvPr/>
        </p:nvSpPr>
        <p:spPr>
          <a:xfrm>
            <a:off x="731520" y="2377440"/>
            <a:ext cx="10424160" cy="731520"/>
          </a:xfrm>
          <a:prstGeom prst="roundRect">
            <a:avLst>
              <a:gd name="adj" fmla="val 10000"/>
            </a:avLst>
          </a:prstGeom>
          <a:solidFill>
            <a:srgbClr val="132238"/>
          </a:solidFill>
          <a:ln w="9525">
            <a:solidFill>
              <a:srgbClr val="27406A"/>
            </a:solidFill>
            <a:prstDash val="solid"/>
          </a:ln>
        </p:spPr>
      </p:sp>
      <p:sp>
        <p:nvSpPr>
          <p:cNvPr id="10" name="Text 7"/>
          <p:cNvSpPr txBox="1"/>
          <p:nvPr/>
        </p:nvSpPr>
        <p:spPr>
          <a:xfrm>
            <a:off x="960120" y="2423160"/>
            <a:ext cx="9966960" cy="640080"/>
          </a:xfrm>
          <a:prstGeom prst="rect">
            <a:avLst/>
          </a:prstGeom>
          <a:noFill/>
          <a:ln/>
        </p:spPr>
        <p:txBody>
          <a:bodyPr wrap="square" lIns="0" tIns="0" rIns="0" bIns="0" rtlCol="0" anchor="ctr"/>
          <a:lstStyle/>
          <a:p>
            <a:pPr marL="0" indent="0">
              <a:buNone/>
            </a:pPr>
            <a:r>
              <a:rPr lang="en-US" sz="1400" b="1" dirty="0">
                <a:solidFill>
                  <a:srgbClr val="38BDF8"/>
                </a:solidFill>
                <a:latin typeface="Calibri" pitchFamily="34" charset="0"/>
                <a:ea typeface="Calibri" pitchFamily="34" charset="-122"/>
                <a:cs typeface="Calibri" pitchFamily="34" charset="-120"/>
              </a:rPr>
              <a:t>¿Muestra suficiente?  </a:t>
            </a:r>
            <a:r>
              <a:rPr lang="en-US" sz="1400" dirty="0">
                <a:solidFill>
                  <a:srgbClr val="F1F5F9"/>
                </a:solidFill>
                <a:latin typeface="Calibri" pitchFamily="34" charset="0"/>
                <a:ea typeface="Calibri" pitchFamily="34" charset="-122"/>
                <a:cs typeface="Calibri" pitchFamily="34" charset="-120"/>
              </a:rPr>
              <a:t>Curva de aprendizaje sin meseta: techo ≈ 0,84; duplicar la muestra aporta ≈ +0,05 de AUC-PR.</a:t>
            </a:r>
            <a:endParaRPr lang="en-US" sz="1400" dirty="0"/>
          </a:p>
        </p:txBody>
      </p:sp>
      <p:sp>
        <p:nvSpPr>
          <p:cNvPr id="11" name="Shape 8"/>
          <p:cNvSpPr/>
          <p:nvPr/>
        </p:nvSpPr>
        <p:spPr>
          <a:xfrm>
            <a:off x="731520" y="3246120"/>
            <a:ext cx="10424160" cy="731520"/>
          </a:xfrm>
          <a:prstGeom prst="roundRect">
            <a:avLst>
              <a:gd name="adj" fmla="val 10000"/>
            </a:avLst>
          </a:prstGeom>
          <a:solidFill>
            <a:srgbClr val="132238"/>
          </a:solidFill>
          <a:ln w="9525">
            <a:solidFill>
              <a:srgbClr val="27406A"/>
            </a:solidFill>
            <a:prstDash val="solid"/>
          </a:ln>
        </p:spPr>
      </p:sp>
      <p:sp>
        <p:nvSpPr>
          <p:cNvPr id="12" name="Text 9"/>
          <p:cNvSpPr txBox="1"/>
          <p:nvPr/>
        </p:nvSpPr>
        <p:spPr>
          <a:xfrm>
            <a:off x="960120" y="3291840"/>
            <a:ext cx="9966960" cy="640080"/>
          </a:xfrm>
          <a:prstGeom prst="rect">
            <a:avLst/>
          </a:prstGeom>
          <a:noFill/>
          <a:ln/>
        </p:spPr>
        <p:txBody>
          <a:bodyPr wrap="square" lIns="0" tIns="0" rIns="0" bIns="0" rtlCol="0" anchor="ctr"/>
          <a:lstStyle/>
          <a:p>
            <a:pPr marL="0" indent="0">
              <a:buNone/>
            </a:pPr>
            <a:r>
              <a:rPr lang="en-US" sz="1400" b="1" dirty="0">
                <a:solidFill>
                  <a:srgbClr val="38BDF8"/>
                </a:solidFill>
                <a:latin typeface="Calibri" pitchFamily="34" charset="0"/>
                <a:ea typeface="Calibri" pitchFamily="34" charset="-122"/>
                <a:cs typeface="Calibri" pitchFamily="34" charset="-120"/>
              </a:rPr>
              <a:t>¿Y redes profundas?  </a:t>
            </a:r>
            <a:r>
              <a:rPr lang="en-US" sz="1400" dirty="0">
                <a:solidFill>
                  <a:srgbClr val="F1F5F9"/>
                </a:solidFill>
                <a:latin typeface="Calibri" pitchFamily="34" charset="0"/>
                <a:ea typeface="Calibri" pitchFamily="34" charset="-122"/>
                <a:cs typeface="Calibri" pitchFamily="34" charset="-120"/>
              </a:rPr>
              <a:t>Con 80 casos no hay corpus de preentrenamiento que lo sostenga.</a:t>
            </a:r>
            <a:endParaRPr lang="en-US" sz="1400" dirty="0"/>
          </a:p>
        </p:txBody>
      </p:sp>
      <p:sp>
        <p:nvSpPr>
          <p:cNvPr id="13" name="Shape 10"/>
          <p:cNvSpPr/>
          <p:nvPr/>
        </p:nvSpPr>
        <p:spPr>
          <a:xfrm>
            <a:off x="731520" y="4114800"/>
            <a:ext cx="10424160" cy="731520"/>
          </a:xfrm>
          <a:prstGeom prst="roundRect">
            <a:avLst>
              <a:gd name="adj" fmla="val 10000"/>
            </a:avLst>
          </a:prstGeom>
          <a:solidFill>
            <a:srgbClr val="132238"/>
          </a:solidFill>
          <a:ln w="9525">
            <a:solidFill>
              <a:srgbClr val="27406A"/>
            </a:solidFill>
            <a:prstDash val="solid"/>
          </a:ln>
        </p:spPr>
      </p:sp>
      <p:sp>
        <p:nvSpPr>
          <p:cNvPr id="14" name="Text 11"/>
          <p:cNvSpPr txBox="1"/>
          <p:nvPr/>
        </p:nvSpPr>
        <p:spPr>
          <a:xfrm>
            <a:off x="960120" y="4160520"/>
            <a:ext cx="9966960" cy="640080"/>
          </a:xfrm>
          <a:prstGeom prst="rect">
            <a:avLst/>
          </a:prstGeom>
          <a:noFill/>
          <a:ln/>
        </p:spPr>
        <p:txBody>
          <a:bodyPr wrap="square" lIns="0" tIns="0" rIns="0" bIns="0" rtlCol="0" anchor="ctr"/>
          <a:lstStyle/>
          <a:p>
            <a:pPr marL="0" indent="0">
              <a:buNone/>
            </a:pPr>
            <a:r>
              <a:rPr lang="en-US" sz="1400" b="1" dirty="0">
                <a:solidFill>
                  <a:srgbClr val="38BDF8"/>
                </a:solidFill>
                <a:latin typeface="Calibri" pitchFamily="34" charset="0"/>
                <a:ea typeface="Calibri" pitchFamily="34" charset="-122"/>
                <a:cs typeface="Calibri" pitchFamily="34" charset="-120"/>
              </a:rPr>
              <a:t>«Sin primer semestre»  </a:t>
            </a:r>
            <a:r>
              <a:rPr lang="en-US" sz="1400" dirty="0">
                <a:solidFill>
                  <a:srgbClr val="F1F5F9"/>
                </a:solidFill>
                <a:latin typeface="Calibri" pitchFamily="34" charset="0"/>
                <a:ea typeface="Calibri" pitchFamily="34" charset="-122"/>
                <a:cs typeface="Calibri" pitchFamily="34" charset="-120"/>
              </a:rPr>
              <a:t>Identifica ingresos por homologación; sin ellos el AUC-PR es 0,756.</a:t>
            </a:r>
            <a:endParaRPr lang="en-US" sz="1400" dirty="0"/>
          </a:p>
        </p:txBody>
      </p:sp>
      <p:sp>
        <p:nvSpPr>
          <p:cNvPr id="15" name="Shape 12"/>
          <p:cNvSpPr/>
          <p:nvPr/>
        </p:nvSpPr>
        <p:spPr>
          <a:xfrm>
            <a:off x="731520" y="4983480"/>
            <a:ext cx="10424160" cy="731520"/>
          </a:xfrm>
          <a:prstGeom prst="roundRect">
            <a:avLst>
              <a:gd name="adj" fmla="val 10000"/>
            </a:avLst>
          </a:prstGeom>
          <a:solidFill>
            <a:srgbClr val="132238"/>
          </a:solidFill>
          <a:ln w="9525">
            <a:solidFill>
              <a:srgbClr val="27406A"/>
            </a:solidFill>
            <a:prstDash val="solid"/>
          </a:ln>
        </p:spPr>
      </p:sp>
      <p:sp>
        <p:nvSpPr>
          <p:cNvPr id="16" name="Text 13"/>
          <p:cNvSpPr txBox="1"/>
          <p:nvPr/>
        </p:nvSpPr>
        <p:spPr>
          <a:xfrm>
            <a:off x="960120" y="5029200"/>
            <a:ext cx="9966960" cy="640080"/>
          </a:xfrm>
          <a:prstGeom prst="rect">
            <a:avLst/>
          </a:prstGeom>
          <a:noFill/>
          <a:ln/>
        </p:spPr>
        <p:txBody>
          <a:bodyPr wrap="square" lIns="0" tIns="0" rIns="0" bIns="0" rtlCol="0" anchor="ctr"/>
          <a:lstStyle/>
          <a:p>
            <a:pPr marL="0" indent="0">
              <a:buNone/>
            </a:pPr>
            <a:r>
              <a:rPr lang="en-US" sz="1400" b="1" dirty="0">
                <a:solidFill>
                  <a:srgbClr val="38BDF8"/>
                </a:solidFill>
                <a:latin typeface="Calibri" pitchFamily="34" charset="0"/>
                <a:ea typeface="Calibri" pitchFamily="34" charset="-122"/>
                <a:cs typeface="Calibri" pitchFamily="34" charset="-120"/>
              </a:rPr>
              <a:t>¿Por qué AUC-PR?  </a:t>
            </a:r>
            <a:r>
              <a:rPr lang="en-US" sz="1400" dirty="0">
                <a:solidFill>
                  <a:srgbClr val="F1F5F9"/>
                </a:solidFill>
                <a:latin typeface="Calibri" pitchFamily="34" charset="0"/>
                <a:ea typeface="Calibri" pitchFamily="34" charset="-122"/>
                <a:cs typeface="Calibri" pitchFamily="34" charset="-120"/>
              </a:rPr>
              <a:t>La clase positiva es el 24 %: su línea base es 0,2375, no 0,5.</a:t>
            </a:r>
            <a:endParaRPr lang="en-US" sz="1400" dirty="0"/>
          </a:p>
        </p:txBody>
      </p:sp>
    </p:spTree>
  </p:cSld>
  <p:clrMapOvr>
    <a:masterClrMapping/>
  </p:clrMapOvr>
</p:sld>
</file>

<file path=ppt/theme/theme1.xml><?xml version="1.0" encoding="utf-8"?>
<a:theme xmlns:a="http://schemas.openxmlformats.org/drawingml/2006/main" name="Office Theme">
  <a:themeElements>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190</TotalTime>
  <Words>3536</Words>
  <Application>Microsoft Office PowerPoint</Application>
  <PresentationFormat>Panorámica</PresentationFormat>
  <Paragraphs>298</Paragraphs>
  <Slides>15</Slides>
  <Notes>15</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15</vt:i4>
      </vt:variant>
    </vt:vector>
  </HeadingPairs>
  <TitlesOfParts>
    <vt:vector size="19" baseType="lpstr">
      <vt:lpstr>Arial</vt:lpstr>
      <vt:lpstr>Calibri</vt:lpstr>
      <vt:lpstr>Calibri Light</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ID 129 · Aprendizaje automático para predicción del éxito académico en Ingeniería de Sistemas</dc:title>
  <dc:subject>PptxGenJS Presentation</dc:subject>
  <dc:creator>Joan D. Martínez-Hernández, Diana M. Cardona-Román, Sara C. Guerrero</dc:creator>
  <cp:lastModifiedBy>Joan David Martínez Hernández</cp:lastModifiedBy>
  <cp:revision>3</cp:revision>
  <dcterms:created xsi:type="dcterms:W3CDTF">2026-10-01T02:23:52Z</dcterms:created>
  <dcterms:modified xsi:type="dcterms:W3CDTF">2026-10-01T05:55:45Z</dcterms:modified>
</cp:coreProperties>
</file>